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8"/>
  </p:notesMasterIdLst>
  <p:sldIdLst>
    <p:sldId id="256" r:id="rId2"/>
    <p:sldId id="325" r:id="rId3"/>
    <p:sldId id="327"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300" r:id="rId45"/>
    <p:sldId id="301" r:id="rId46"/>
    <p:sldId id="302" r:id="rId47"/>
    <p:sldId id="303" r:id="rId48"/>
    <p:sldId id="304" r:id="rId49"/>
    <p:sldId id="305" r:id="rId50"/>
    <p:sldId id="306" r:id="rId51"/>
    <p:sldId id="307" r:id="rId52"/>
    <p:sldId id="308"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6" autoAdjust="0"/>
    <p:restoredTop sz="94660"/>
  </p:normalViewPr>
  <p:slideViewPr>
    <p:cSldViewPr snapToGrid="0">
      <p:cViewPr varScale="1">
        <p:scale>
          <a:sx n="68" d="100"/>
          <a:sy n="68" d="100"/>
        </p:scale>
        <p:origin x="1257" y="51"/>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E2429F-015C-4179-A144-1046E2EE8D51}" type="datetimeFigureOut">
              <a:rPr lang="zh-TW" altLang="en-US" smtClean="0"/>
              <a:t>2026/3/4</a:t>
            </a:fld>
            <a:endParaRPr lang="zh-TW" altLang="en-US"/>
          </a:p>
        </p:txBody>
      </p:sp>
      <p:sp>
        <p:nvSpPr>
          <p:cNvPr id="4" name="投影片圖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C1DF93-60DD-4A44-997B-093D89ECF171}" type="slidenum">
              <a:rPr lang="zh-TW" altLang="en-US" smtClean="0"/>
              <a:t>‹#›</a:t>
            </a:fld>
            <a:endParaRPr lang="zh-TW" altLang="en-US"/>
          </a:p>
        </p:txBody>
      </p:sp>
    </p:spTree>
    <p:extLst>
      <p:ext uri="{BB962C8B-B14F-4D97-AF65-F5344CB8AC3E}">
        <p14:creationId xmlns:p14="http://schemas.microsoft.com/office/powerpoint/2010/main" val="9730494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www.nics.nat.gov.tw/cybersecurity_resources/reference_guide/Common_Standards/" TargetMode="External"/><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影像版面配置區 5">
            <a:extLst>
              <a:ext uri="{FF2B5EF4-FFF2-40B4-BE49-F238E27FC236}">
                <a16:creationId xmlns:a16="http://schemas.microsoft.com/office/drawing/2014/main" id="{63423C74-88D9-4916-8929-4DEC3685C747}"/>
              </a:ext>
            </a:extLst>
          </p:cNvPr>
          <p:cNvSpPr>
            <a:spLocks noGrp="1" noRot="1" noChangeAspect="1"/>
          </p:cNvSpPr>
          <p:nvPr>
            <p:ph type="sldImg"/>
          </p:nvPr>
        </p:nvSpPr>
        <p:spPr>
          <a:xfrm>
            <a:off x="593725" y="366713"/>
            <a:ext cx="5838825" cy="4378325"/>
          </a:xfrm>
          <a:prstGeom prst="rect">
            <a:avLst/>
          </a:prstGeom>
        </p:spPr>
      </p:sp>
      <p:sp>
        <p:nvSpPr>
          <p:cNvPr id="7" name="備忘稿版面配置區 6">
            <a:extLst>
              <a:ext uri="{FF2B5EF4-FFF2-40B4-BE49-F238E27FC236}">
                <a16:creationId xmlns:a16="http://schemas.microsoft.com/office/drawing/2014/main" id="{B95A8CCE-942C-43E2-805E-CC7F6EDC6811}"/>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803833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en-US" altLang="zh-TW" kern="0" dirty="0" smtClean="0"/>
              <a:t>ISO</a:t>
            </a:r>
            <a:r>
              <a:rPr lang="zh-TW" altLang="en-US" kern="0" dirty="0" smtClean="0"/>
              <a:t> </a:t>
            </a:r>
            <a:r>
              <a:rPr lang="en-US" altLang="zh-TW" kern="0" dirty="0" smtClean="0"/>
              <a:t>27001</a:t>
            </a:r>
            <a:r>
              <a:rPr lang="en-US" altLang="zh-TW" kern="0" baseline="0" dirty="0" smtClean="0"/>
              <a:t> </a:t>
            </a:r>
            <a:r>
              <a:rPr lang="zh-TW" altLang="en-US" kern="0" baseline="0" dirty="0" smtClean="0"/>
              <a:t>代表</a:t>
            </a:r>
            <a:r>
              <a:rPr lang="en-US" altLang="zh-TW" kern="0" dirty="0" smtClean="0"/>
              <a:t>  </a:t>
            </a:r>
            <a:r>
              <a:rPr lang="en-US" altLang="zh-TW" sz="1200" b="0" kern="1200" dirty="0" smtClean="0">
                <a:solidFill>
                  <a:schemeClr val="tx1"/>
                </a:solidFill>
                <a:effectLst/>
                <a:latin typeface="+mn-lt"/>
                <a:ea typeface="+mn-ea"/>
                <a:cs typeface="+mn-cs"/>
              </a:rPr>
              <a:t>ISO/IEC 27001:2022Information security, cybersecurity and privacy protection — Information security management systems — Requirements</a:t>
            </a:r>
            <a:r>
              <a:rPr lang="zh-TW" altLang="en-US" sz="1200" b="0" kern="1200" dirty="0" smtClean="0">
                <a:solidFill>
                  <a:schemeClr val="tx1"/>
                </a:solidFill>
                <a:effectLst/>
                <a:latin typeface="+mn-lt"/>
                <a:ea typeface="+mn-ea"/>
                <a:cs typeface="+mn-cs"/>
              </a:rPr>
              <a:t> 國際標準</a:t>
            </a:r>
            <a:r>
              <a:rPr lang="zh-TW" altLang="en-US" sz="1200" b="0" kern="1200" dirty="0" smtClean="0">
                <a:solidFill>
                  <a:schemeClr val="tx1"/>
                </a:solidFill>
                <a:effectLst/>
                <a:latin typeface="PMingLiU" panose="02020500000000000000" pitchFamily="18" charset="-120"/>
                <a:ea typeface="PMingLiU" panose="02020500000000000000" pitchFamily="18" charset="-120"/>
                <a:cs typeface="+mn-cs"/>
              </a:rPr>
              <a:t>，本文後續皆以</a:t>
            </a:r>
            <a:r>
              <a:rPr lang="en-US" altLang="zh-TW" kern="0" dirty="0" smtClean="0"/>
              <a:t>ISO</a:t>
            </a:r>
            <a:r>
              <a:rPr lang="zh-TW" altLang="en-US" kern="0" dirty="0" smtClean="0"/>
              <a:t> </a:t>
            </a:r>
            <a:r>
              <a:rPr lang="en-US" altLang="zh-TW" kern="0" dirty="0" smtClean="0"/>
              <a:t>27001</a:t>
            </a:r>
            <a:r>
              <a:rPr lang="en-US" altLang="zh-TW" kern="0" baseline="0" dirty="0" smtClean="0"/>
              <a:t> </a:t>
            </a:r>
            <a:r>
              <a:rPr lang="zh-TW" altLang="en-US" kern="0" baseline="0" dirty="0" smtClean="0"/>
              <a:t>代稱</a:t>
            </a:r>
            <a:endParaRPr lang="en-US" altLang="zh-TW" sz="1200" b="0" kern="1200" dirty="0" smtClean="0">
              <a:solidFill>
                <a:schemeClr val="tx1"/>
              </a:solidFill>
              <a:effectLst/>
              <a:latin typeface="+mn-lt"/>
              <a:ea typeface="+mn-ea"/>
              <a:cs typeface="+mn-cs"/>
            </a:endParaRPr>
          </a:p>
          <a:p>
            <a:r>
              <a:rPr lang="en-US" altLang="zh-TW" kern="0" dirty="0" smtClean="0"/>
              <a:t>CNS</a:t>
            </a:r>
            <a:r>
              <a:rPr lang="zh-TW" altLang="en-US" kern="0" dirty="0" smtClean="0"/>
              <a:t> </a:t>
            </a:r>
            <a:r>
              <a:rPr lang="en-US" altLang="zh-TW" kern="0" dirty="0" smtClean="0"/>
              <a:t>27001:2023</a:t>
            </a:r>
            <a:r>
              <a:rPr lang="zh-TW" altLang="en-US" kern="0" dirty="0" smtClean="0"/>
              <a:t> 資訊安全、網宇安全及隱私保護－資訊安全 管理系統－要求事項</a:t>
            </a:r>
            <a:endParaRPr lang="zh-TW" altLang="en-US" dirty="0"/>
          </a:p>
        </p:txBody>
      </p:sp>
    </p:spTree>
    <p:extLst>
      <p:ext uri="{BB962C8B-B14F-4D97-AF65-F5344CB8AC3E}">
        <p14:creationId xmlns:p14="http://schemas.microsoft.com/office/powerpoint/2010/main" val="1907002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zh-TW" altLang="en-US" dirty="0" smtClean="0"/>
              <a:t>資料來源</a:t>
            </a:r>
            <a:r>
              <a:rPr lang="en-US" altLang="zh-TW" dirty="0" smtClean="0"/>
              <a:t>:https://www.iso.org/management-system-standards.html</a:t>
            </a:r>
          </a:p>
          <a:p>
            <a:endParaRPr lang="en-US" altLang="zh-TW" dirty="0" smtClean="0"/>
          </a:p>
          <a:p>
            <a:r>
              <a:rPr lang="en-US" altLang="zh-TW" dirty="0" smtClean="0"/>
              <a:t>ISO </a:t>
            </a:r>
            <a:r>
              <a:rPr lang="zh-TW" altLang="en-US" dirty="0" smtClean="0"/>
              <a:t>高階結構 </a:t>
            </a:r>
            <a:r>
              <a:rPr lang="en-US" altLang="zh-TW" dirty="0" smtClean="0"/>
              <a:t>(High Level Structure ,HLS) </a:t>
            </a:r>
          </a:p>
          <a:p>
            <a:pPr lvl="1"/>
            <a:r>
              <a:rPr lang="en-US" altLang="zh-TW" dirty="0" smtClean="0"/>
              <a:t>2015 </a:t>
            </a:r>
            <a:r>
              <a:rPr lang="zh-TW" altLang="en-US" dirty="0" smtClean="0"/>
              <a:t>年，</a:t>
            </a:r>
            <a:r>
              <a:rPr lang="en-US" altLang="zh-TW" dirty="0" smtClean="0"/>
              <a:t>ISO 9001</a:t>
            </a:r>
            <a:r>
              <a:rPr lang="zh-TW" altLang="en-US" dirty="0" smtClean="0"/>
              <a:t>：</a:t>
            </a:r>
            <a:r>
              <a:rPr lang="en-US" altLang="zh-TW" dirty="0" smtClean="0"/>
              <a:t>2015</a:t>
            </a:r>
            <a:r>
              <a:rPr lang="zh-TW" altLang="en-US" dirty="0" smtClean="0"/>
              <a:t>引入的高階結構（</a:t>
            </a:r>
            <a:r>
              <a:rPr lang="en-US" altLang="zh-TW" dirty="0" smtClean="0"/>
              <a:t>High-Level Structure, HLS</a:t>
            </a:r>
            <a:r>
              <a:rPr lang="zh-TW" altLang="en-US" dirty="0" smtClean="0"/>
              <a:t>），讓 </a:t>
            </a:r>
            <a:r>
              <a:rPr lang="en-US" altLang="zh-TW" dirty="0" smtClean="0"/>
              <a:t>ISO9001 </a:t>
            </a:r>
            <a:r>
              <a:rPr lang="zh-TW" altLang="en-US" dirty="0" smtClean="0"/>
              <a:t>與其他管理系統對齊，方便公司整合認證。</a:t>
            </a:r>
            <a:endParaRPr lang="en-US" altLang="zh-TW" dirty="0" smtClean="0"/>
          </a:p>
          <a:p>
            <a:pPr lvl="1"/>
            <a:r>
              <a:rPr lang="zh-TW" altLang="en-US" dirty="0" smtClean="0"/>
              <a:t>很多公司自此之後真的都可以一次做</a:t>
            </a:r>
            <a:r>
              <a:rPr lang="en-US" altLang="zh-TW" dirty="0" smtClean="0"/>
              <a:t>ISO 9001</a:t>
            </a:r>
            <a:r>
              <a:rPr lang="zh-TW" altLang="en-US" dirty="0" smtClean="0"/>
              <a:t>（品質管理）、</a:t>
            </a:r>
            <a:r>
              <a:rPr lang="en-US" altLang="zh-TW" dirty="0" smtClean="0"/>
              <a:t>ISO 14001</a:t>
            </a:r>
            <a:r>
              <a:rPr lang="zh-TW" altLang="en-US" dirty="0" smtClean="0"/>
              <a:t>（環境管理）、</a:t>
            </a:r>
            <a:r>
              <a:rPr lang="en-US" altLang="zh-TW" dirty="0" smtClean="0"/>
              <a:t>ISO 45001</a:t>
            </a:r>
            <a:r>
              <a:rPr lang="zh-TW" altLang="en-US" dirty="0" smtClean="0"/>
              <a:t>（職業健康與安全）等管理系統認證，減少公司的負擔</a:t>
            </a:r>
            <a:endParaRPr lang="en-US" altLang="zh-TW" dirty="0" smtClean="0"/>
          </a:p>
          <a:p>
            <a:pPr lvl="1"/>
            <a:r>
              <a:rPr lang="zh-TW" altLang="en-US" dirty="0" smtClean="0"/>
              <a:t>這是一個統一的 </a:t>
            </a:r>
            <a:r>
              <a:rPr lang="en-US" altLang="zh-TW" dirty="0" smtClean="0"/>
              <a:t>10 </a:t>
            </a:r>
            <a:r>
              <a:rPr lang="zh-TW" altLang="en-US" dirty="0" smtClean="0"/>
              <a:t>條款框架，標準化所有 </a:t>
            </a:r>
            <a:r>
              <a:rPr lang="en-US" altLang="zh-TW" dirty="0" smtClean="0"/>
              <a:t>ISO </a:t>
            </a:r>
            <a:r>
              <a:rPr lang="zh-TW" altLang="en-US" dirty="0" smtClean="0"/>
              <a:t>管理系統標準的結構、核心文字和定義，包括品質標準（</a:t>
            </a:r>
            <a:r>
              <a:rPr lang="en-US" altLang="zh-TW" dirty="0" smtClean="0"/>
              <a:t>ISO 9001</a:t>
            </a:r>
            <a:r>
              <a:rPr lang="zh-TW" altLang="en-US" dirty="0" smtClean="0"/>
              <a:t>）和環境標準（</a:t>
            </a:r>
            <a:r>
              <a:rPr lang="en-US" altLang="zh-TW" dirty="0" smtClean="0"/>
              <a:t>ISO 14001</a:t>
            </a:r>
            <a:r>
              <a:rPr lang="zh-TW" altLang="en-US" dirty="0" smtClean="0"/>
              <a:t>） </a:t>
            </a:r>
            <a:endParaRPr lang="en-US" altLang="zh-TW" dirty="0" smtClean="0"/>
          </a:p>
          <a:p>
            <a:pPr lvl="1"/>
            <a:r>
              <a:rPr lang="zh-TW" altLang="en-US" dirty="0" smtClean="0"/>
              <a:t>其主要目標是協調不同的管理系統標準，提高其在組織內的整合度，推廣以風險為基礎的方法，促進建立更精簡、更有效率的管理系統。  </a:t>
            </a:r>
            <a:endParaRPr lang="en-US" altLang="zh-TW" dirty="0" smtClean="0"/>
          </a:p>
          <a:p>
            <a:pPr lvl="1"/>
            <a:r>
              <a:rPr lang="en-US" altLang="zh-TW" dirty="0" smtClean="0"/>
              <a:t>HLS </a:t>
            </a:r>
            <a:r>
              <a:rPr lang="zh-TW" altLang="en-US" dirty="0" smtClean="0"/>
              <a:t>的目的</a:t>
            </a:r>
            <a:endParaRPr lang="en-US" altLang="zh-TW" dirty="0" smtClean="0"/>
          </a:p>
          <a:p>
            <a:pPr lvl="2"/>
            <a:r>
              <a:rPr lang="zh-TW" altLang="en-US" dirty="0" smtClean="0"/>
              <a:t>協調：它為新的和修訂的 </a:t>
            </a:r>
            <a:r>
              <a:rPr lang="en-US" altLang="zh-TW" dirty="0" smtClean="0"/>
              <a:t>ISO </a:t>
            </a:r>
            <a:r>
              <a:rPr lang="zh-TW" altLang="en-US" dirty="0" smtClean="0"/>
              <a:t>管理系統標準提供了一個通用的高級框架，使它們更易於理解和相互協調。 </a:t>
            </a:r>
            <a:endParaRPr lang="en-US" altLang="zh-TW" dirty="0" smtClean="0"/>
          </a:p>
          <a:p>
            <a:pPr lvl="2"/>
            <a:r>
              <a:rPr lang="zh-TW" altLang="en-US" dirty="0" smtClean="0"/>
              <a:t>一體化：允許組織輕鬆地將不同的管理系統（例如品質和環境）整合到單一統一的系統中。 </a:t>
            </a:r>
            <a:endParaRPr lang="en-US" altLang="zh-TW" dirty="0" smtClean="0"/>
          </a:p>
          <a:p>
            <a:pPr lvl="2"/>
            <a:r>
              <a:rPr lang="zh-TW" altLang="en-US" dirty="0" smtClean="0"/>
              <a:t>效率：透過減少冗餘和促進一致的結構，</a:t>
            </a:r>
            <a:r>
              <a:rPr lang="en-US" altLang="zh-TW" dirty="0" smtClean="0"/>
              <a:t>HLS </a:t>
            </a:r>
            <a:r>
              <a:rPr lang="zh-TW" altLang="en-US" dirty="0" smtClean="0"/>
              <a:t>幫助公司降低稽核成本並簡化實施。 </a:t>
            </a:r>
            <a:endParaRPr lang="en-US" altLang="zh-TW" dirty="0" smtClean="0"/>
          </a:p>
          <a:p>
            <a:pPr lvl="2"/>
            <a:r>
              <a:rPr lang="zh-TW" altLang="en-US" dirty="0" smtClean="0"/>
              <a:t>清晰：它建立了通用術語、核心文本和定義，確保各個管理系統之間的統一</a:t>
            </a:r>
            <a:endParaRPr lang="en-US" altLang="zh-TW" sz="1200" b="0" i="0" u="none" strike="noStrike" dirty="0" smtClean="0">
              <a:solidFill>
                <a:srgbClr val="000000"/>
              </a:solidFill>
              <a:effectLst/>
              <a:latin typeface="新細明體" panose="02020500000000000000" pitchFamily="18" charset="-120"/>
              <a:ea typeface="+mn-ea"/>
              <a:cs typeface="Segoe UI Symbol" panose="020B0502040204020203" pitchFamily="34" charset="0"/>
            </a:endParaRPr>
          </a:p>
          <a:p>
            <a:pPr marL="457200" lvl="1" algn="l" rtl="0" eaLnBrk="1" fontAlgn="ctr" latinLnBrk="0" hangingPunct="1">
              <a:spcBef>
                <a:spcPts val="0"/>
              </a:spcBef>
              <a:spcAft>
                <a:spcPts val="0"/>
              </a:spcAft>
            </a:pPr>
            <a:r>
              <a:rPr lang="zh-TW" altLang="en-US" sz="1200" b="0" i="0" u="none" strike="noStrike" dirty="0" smtClean="0">
                <a:solidFill>
                  <a:schemeClr val="tx1"/>
                </a:solidFill>
                <a:effectLst/>
                <a:latin typeface="+mn-lt"/>
                <a:ea typeface="+mn-ea"/>
                <a:cs typeface="+mn-cs"/>
              </a:rPr>
              <a:t>後續演變成</a:t>
            </a:r>
            <a:r>
              <a:rPr lang="zh-TW" altLang="en-US" sz="1200" b="1" i="0" kern="1200" dirty="0" smtClean="0">
                <a:solidFill>
                  <a:schemeClr val="tx1"/>
                </a:solidFill>
                <a:effectLst/>
                <a:latin typeface="+mn-lt"/>
                <a:ea typeface="+mn-ea"/>
                <a:cs typeface="+mn-cs"/>
              </a:rPr>
              <a:t>和諧結構（</a:t>
            </a:r>
            <a:r>
              <a:rPr lang="en-US" altLang="zh-TW" sz="1200" b="1" i="0" kern="1200" dirty="0" smtClean="0">
                <a:solidFill>
                  <a:schemeClr val="tx1"/>
                </a:solidFill>
                <a:effectLst/>
                <a:latin typeface="+mn-lt"/>
                <a:ea typeface="+mn-ea"/>
                <a:cs typeface="+mn-cs"/>
              </a:rPr>
              <a:t>Harmonized Structure, HS)</a:t>
            </a:r>
          </a:p>
          <a:p>
            <a:pPr marL="914400" lvl="2" algn="l" rtl="0" eaLnBrk="1" fontAlgn="ctr" latinLnBrk="0" hangingPunct="1">
              <a:spcBef>
                <a:spcPts val="0"/>
              </a:spcBef>
              <a:spcAft>
                <a:spcPts val="0"/>
              </a:spcAft>
            </a:pPr>
            <a:r>
              <a:rPr lang="zh-TW" altLang="en-US" sz="1200" b="1" i="0" kern="1200" dirty="0" smtClean="0">
                <a:solidFill>
                  <a:schemeClr val="tx1"/>
                </a:solidFill>
                <a:effectLst/>
                <a:latin typeface="+mn-lt"/>
                <a:ea typeface="+mn-ea"/>
                <a:cs typeface="+mn-cs"/>
              </a:rPr>
              <a:t>整體架構跟原先的高階結構 </a:t>
            </a:r>
            <a:r>
              <a:rPr lang="en-US" altLang="zh-TW" sz="1200" b="1" i="0" kern="1200" dirty="0" smtClean="0">
                <a:solidFill>
                  <a:schemeClr val="tx1"/>
                </a:solidFill>
                <a:effectLst/>
                <a:latin typeface="+mn-lt"/>
                <a:ea typeface="+mn-ea"/>
                <a:cs typeface="+mn-cs"/>
              </a:rPr>
              <a:t>HLS </a:t>
            </a:r>
            <a:r>
              <a:rPr lang="zh-TW" altLang="en-US" sz="1200" b="1" i="0" kern="1200" dirty="0" smtClean="0">
                <a:solidFill>
                  <a:schemeClr val="tx1"/>
                </a:solidFill>
                <a:effectLst/>
                <a:latin typeface="+mn-lt"/>
                <a:ea typeface="+mn-ea"/>
                <a:cs typeface="+mn-cs"/>
              </a:rPr>
              <a:t>雷同</a:t>
            </a:r>
            <a:endParaRPr lang="en-US" altLang="zh-TW" sz="1200" b="1" i="0" kern="1200" dirty="0" smtClean="0">
              <a:solidFill>
                <a:schemeClr val="tx1"/>
              </a:solidFill>
              <a:effectLst/>
              <a:latin typeface="+mn-lt"/>
              <a:ea typeface="+mn-ea"/>
              <a:cs typeface="+mn-cs"/>
            </a:endParaRPr>
          </a:p>
          <a:p>
            <a:pPr marL="914400" lvl="2" algn="l" rtl="0" eaLnBrk="1" fontAlgn="ctr" latinLnBrk="0" hangingPunct="1">
              <a:spcBef>
                <a:spcPts val="0"/>
              </a:spcBef>
              <a:spcAft>
                <a:spcPts val="0"/>
              </a:spcAft>
            </a:pPr>
            <a:r>
              <a:rPr lang="en-US" altLang="zh-TW" sz="1200" b="0" i="0" kern="1200" dirty="0" smtClean="0">
                <a:solidFill>
                  <a:schemeClr val="tx1"/>
                </a:solidFill>
                <a:effectLst/>
                <a:latin typeface="+mn-lt"/>
                <a:ea typeface="+mn-ea"/>
                <a:cs typeface="+mn-cs"/>
              </a:rPr>
              <a:t>HS </a:t>
            </a:r>
            <a:r>
              <a:rPr lang="zh-TW" altLang="en-US" sz="1200" b="0" i="0" kern="1200" dirty="0" smtClean="0">
                <a:solidFill>
                  <a:schemeClr val="tx1"/>
                </a:solidFill>
                <a:effectLst/>
                <a:latin typeface="+mn-lt"/>
                <a:ea typeface="+mn-ea"/>
                <a:cs typeface="+mn-cs"/>
              </a:rPr>
              <a:t>的概念是管理標準以相同的方式構建，無論應用領域如何。</a:t>
            </a:r>
            <a:endParaRPr lang="en-US" altLang="zh-TW" sz="1200" b="0" i="0" kern="1200" dirty="0" smtClean="0">
              <a:solidFill>
                <a:schemeClr val="tx1"/>
              </a:solidFill>
              <a:effectLst/>
              <a:latin typeface="+mn-lt"/>
              <a:ea typeface="+mn-ea"/>
              <a:cs typeface="+mn-cs"/>
            </a:endParaRPr>
          </a:p>
          <a:p>
            <a:pPr marL="914400" lvl="2" algn="l" rtl="0" eaLnBrk="1" fontAlgn="ctr" latinLnBrk="0" hangingPunct="1">
              <a:spcBef>
                <a:spcPts val="0"/>
              </a:spcBef>
              <a:spcAft>
                <a:spcPts val="0"/>
              </a:spcAft>
            </a:pPr>
            <a:r>
              <a:rPr lang="zh-TW" altLang="en-US" sz="1200" b="0" i="0" kern="1200" dirty="0" smtClean="0">
                <a:solidFill>
                  <a:schemeClr val="tx1"/>
                </a:solidFill>
                <a:effectLst/>
                <a:latin typeface="+mn-lt"/>
                <a:ea typeface="+mn-ea"/>
                <a:cs typeface="+mn-cs"/>
              </a:rPr>
              <a:t>熟悉一種 </a:t>
            </a:r>
            <a:r>
              <a:rPr lang="en-US" altLang="zh-TW" sz="1200" b="0" i="0" kern="1200" dirty="0" smtClean="0">
                <a:solidFill>
                  <a:schemeClr val="tx1"/>
                </a:solidFill>
                <a:effectLst/>
                <a:latin typeface="+mn-lt"/>
                <a:ea typeface="+mn-ea"/>
                <a:cs typeface="+mn-cs"/>
              </a:rPr>
              <a:t>MSS </a:t>
            </a:r>
            <a:r>
              <a:rPr lang="zh-TW" altLang="en-US" sz="1200" b="0" i="0" kern="1200" dirty="0" smtClean="0">
                <a:solidFill>
                  <a:schemeClr val="tx1"/>
                </a:solidFill>
                <a:effectLst/>
                <a:latin typeface="+mn-lt"/>
                <a:ea typeface="+mn-ea"/>
                <a:cs typeface="+mn-cs"/>
              </a:rPr>
              <a:t>的用戶會立即對另一種 </a:t>
            </a:r>
            <a:r>
              <a:rPr lang="en-US" altLang="zh-TW" sz="1200" b="0" i="0" kern="1200" dirty="0" smtClean="0">
                <a:solidFill>
                  <a:schemeClr val="tx1"/>
                </a:solidFill>
                <a:effectLst/>
                <a:latin typeface="+mn-lt"/>
                <a:ea typeface="+mn-ea"/>
                <a:cs typeface="+mn-cs"/>
              </a:rPr>
              <a:t>MSS </a:t>
            </a:r>
            <a:r>
              <a:rPr lang="zh-TW" altLang="en-US" sz="1200" b="0" i="0" kern="1200" dirty="0" smtClean="0">
                <a:solidFill>
                  <a:schemeClr val="tx1"/>
                </a:solidFill>
                <a:effectLst/>
                <a:latin typeface="+mn-lt"/>
                <a:ea typeface="+mn-ea"/>
                <a:cs typeface="+mn-cs"/>
              </a:rPr>
              <a:t>感到放心，即使是第一次使用</a:t>
            </a:r>
            <a:endParaRPr lang="en-US" altLang="zh-TW" sz="1200" b="0" i="0" u="none" strike="noStrike" dirty="0" smtClean="0">
              <a:solidFill>
                <a:srgbClr val="000000"/>
              </a:solidFill>
              <a:effectLst/>
              <a:latin typeface="新細明體" panose="02020500000000000000" pitchFamily="18" charset="-120"/>
              <a:ea typeface="+mn-ea"/>
              <a:cs typeface="Segoe UI Symbol" panose="020B0502040204020203" pitchFamily="34" charset="0"/>
            </a:endParaRPr>
          </a:p>
          <a:p>
            <a:pPr marL="0" algn="l" rtl="0" eaLnBrk="1" fontAlgn="ctr" latinLnBrk="0" hangingPunct="1">
              <a:spcBef>
                <a:spcPts val="0"/>
              </a:spcBef>
              <a:spcAft>
                <a:spcPts val="0"/>
              </a:spcAft>
            </a:pPr>
            <a:endParaRPr lang="en-US" altLang="zh-TW" sz="1200" b="0" i="0" u="none" strike="noStrike" dirty="0" smtClean="0">
              <a:solidFill>
                <a:srgbClr val="000000"/>
              </a:solidFill>
              <a:effectLst/>
              <a:latin typeface="新細明體" panose="02020500000000000000" pitchFamily="18" charset="-120"/>
              <a:ea typeface="+mn-ea"/>
              <a:cs typeface="Segoe UI Symbol" panose="020B0502040204020203" pitchFamily="34" charset="0"/>
            </a:endParaRPr>
          </a:p>
          <a:p>
            <a:r>
              <a:rPr lang="en-US" altLang="zh-TW" dirty="0" smtClean="0"/>
              <a:t>HLS </a:t>
            </a:r>
            <a:r>
              <a:rPr lang="zh-TW" altLang="en-US" dirty="0" smtClean="0"/>
              <a:t>的 </a:t>
            </a:r>
            <a:r>
              <a:rPr lang="en-US" altLang="zh-TW" dirty="0" smtClean="0"/>
              <a:t>10 </a:t>
            </a:r>
            <a:r>
              <a:rPr lang="zh-TW" altLang="en-US" dirty="0" smtClean="0"/>
              <a:t>個條款</a:t>
            </a:r>
          </a:p>
          <a:p>
            <a:r>
              <a:rPr lang="en-US" altLang="zh-TW" dirty="0" smtClean="0"/>
              <a:t>HLS </a:t>
            </a:r>
            <a:r>
              <a:rPr lang="zh-TW" altLang="en-US" dirty="0" smtClean="0"/>
              <a:t>由 </a:t>
            </a:r>
            <a:r>
              <a:rPr lang="en-US" altLang="zh-TW" dirty="0" smtClean="0"/>
              <a:t>10 </a:t>
            </a:r>
            <a:r>
              <a:rPr lang="zh-TW" altLang="en-US" dirty="0" smtClean="0"/>
              <a:t>個條款組成，前三個條款為引言，其餘七個條款包含管理系統的特定要求。  </a:t>
            </a:r>
          </a:p>
          <a:p>
            <a:pPr marL="228600" indent="-228600">
              <a:buFont typeface="+mj-lt"/>
              <a:buAutoNum type="arabicPeriod"/>
            </a:pPr>
            <a:r>
              <a:rPr lang="zh-TW" altLang="en-US" dirty="0" smtClean="0"/>
              <a:t>範圍</a:t>
            </a:r>
          </a:p>
          <a:p>
            <a:pPr marL="228600" indent="-228600">
              <a:buFont typeface="+mj-lt"/>
              <a:buAutoNum type="arabicPeriod"/>
            </a:pPr>
            <a:r>
              <a:rPr lang="zh-TW" altLang="en-US" dirty="0" smtClean="0"/>
              <a:t>規範性引用文件</a:t>
            </a:r>
          </a:p>
          <a:p>
            <a:pPr marL="228600" indent="-228600">
              <a:buFont typeface="+mj-lt"/>
              <a:buAutoNum type="arabicPeriod"/>
            </a:pPr>
            <a:r>
              <a:rPr lang="zh-TW" altLang="en-US" dirty="0" smtClean="0"/>
              <a:t>術語和定義</a:t>
            </a:r>
          </a:p>
          <a:p>
            <a:pPr marL="228600" indent="-228600">
              <a:buFont typeface="+mj-lt"/>
              <a:buAutoNum type="arabicPeriod"/>
            </a:pPr>
            <a:r>
              <a:rPr lang="zh-TW" altLang="en-US" dirty="0" smtClean="0"/>
              <a:t>組織背景（</a:t>
            </a:r>
            <a:r>
              <a:rPr lang="en-US" altLang="zh-TW" dirty="0" smtClean="0"/>
              <a:t>Context of the organization</a:t>
            </a:r>
            <a:r>
              <a:rPr lang="zh-TW" altLang="en-US" dirty="0" smtClean="0"/>
              <a:t>）</a:t>
            </a:r>
          </a:p>
          <a:p>
            <a:pPr marL="228600" indent="-228600">
              <a:buFont typeface="+mj-lt"/>
              <a:buAutoNum type="arabicPeriod"/>
            </a:pPr>
            <a:r>
              <a:rPr lang="zh-TW" altLang="en-US" dirty="0" smtClean="0"/>
              <a:t>領導統御（</a:t>
            </a:r>
            <a:r>
              <a:rPr lang="en-US" altLang="zh-TW" dirty="0" smtClean="0"/>
              <a:t>Leadership</a:t>
            </a:r>
            <a:r>
              <a:rPr lang="zh-TW" altLang="en-US" dirty="0" smtClean="0"/>
              <a:t>）</a:t>
            </a:r>
          </a:p>
          <a:p>
            <a:pPr marL="228600" indent="-228600">
              <a:buFont typeface="+mj-lt"/>
              <a:buAutoNum type="arabicPeriod"/>
            </a:pPr>
            <a:r>
              <a:rPr lang="zh-TW" altLang="en-US" dirty="0" smtClean="0"/>
              <a:t>規劃（</a:t>
            </a:r>
            <a:r>
              <a:rPr lang="en-US" altLang="zh-TW" dirty="0" smtClean="0"/>
              <a:t>Planning</a:t>
            </a:r>
            <a:r>
              <a:rPr lang="zh-TW" altLang="en-US" dirty="0" smtClean="0"/>
              <a:t>）</a:t>
            </a:r>
          </a:p>
          <a:p>
            <a:pPr marL="228600" indent="-228600">
              <a:buFont typeface="+mj-lt"/>
              <a:buAutoNum type="arabicPeriod"/>
            </a:pPr>
            <a:r>
              <a:rPr lang="zh-TW" altLang="en-US" dirty="0" smtClean="0"/>
              <a:t>支援（</a:t>
            </a:r>
            <a:r>
              <a:rPr lang="en-US" altLang="zh-TW" dirty="0" smtClean="0"/>
              <a:t>Support</a:t>
            </a:r>
            <a:r>
              <a:rPr lang="zh-TW" altLang="en-US" dirty="0" smtClean="0"/>
              <a:t>）</a:t>
            </a:r>
          </a:p>
          <a:p>
            <a:pPr marL="228600" indent="-228600">
              <a:buFont typeface="+mj-lt"/>
              <a:buAutoNum type="arabicPeriod"/>
            </a:pPr>
            <a:r>
              <a:rPr lang="zh-TW" altLang="en-US" dirty="0" smtClean="0"/>
              <a:t>營運（</a:t>
            </a:r>
            <a:r>
              <a:rPr lang="en-US" altLang="zh-TW" dirty="0" smtClean="0"/>
              <a:t>Operation</a:t>
            </a:r>
            <a:r>
              <a:rPr lang="zh-TW" altLang="en-US" dirty="0" smtClean="0"/>
              <a:t>）</a:t>
            </a:r>
          </a:p>
          <a:p>
            <a:pPr marL="228600" indent="-228600">
              <a:buFont typeface="+mj-lt"/>
              <a:buAutoNum type="arabicPeriod"/>
            </a:pPr>
            <a:r>
              <a:rPr lang="zh-TW" altLang="en-US" dirty="0" smtClean="0"/>
              <a:t>績效評估（</a:t>
            </a:r>
            <a:r>
              <a:rPr lang="en-US" altLang="zh-TW" dirty="0" smtClean="0"/>
              <a:t>Performance evaluation</a:t>
            </a:r>
            <a:r>
              <a:rPr lang="zh-TW" altLang="en-US" dirty="0" smtClean="0"/>
              <a:t>）</a:t>
            </a:r>
          </a:p>
          <a:p>
            <a:pPr marL="228600" indent="-228600">
              <a:buFont typeface="+mj-lt"/>
              <a:buAutoNum type="arabicPeriod"/>
            </a:pPr>
            <a:r>
              <a:rPr lang="zh-TW" altLang="en-US" dirty="0" smtClean="0"/>
              <a:t>改善（</a:t>
            </a:r>
            <a:r>
              <a:rPr lang="en-US" altLang="zh-TW" dirty="0" smtClean="0"/>
              <a:t>Improvement</a:t>
            </a:r>
            <a:r>
              <a:rPr lang="zh-TW" altLang="en-US" dirty="0" smtClean="0"/>
              <a:t>）</a:t>
            </a:r>
            <a:endParaRPr lang="en-US" altLang="zh-TW" dirty="0" smtClean="0"/>
          </a:p>
          <a:p>
            <a:pPr marL="0" indent="0">
              <a:buFont typeface="+mj-lt"/>
              <a:buNone/>
            </a:pPr>
            <a:endParaRPr lang="zh-TW" alt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HLS </a:t>
            </a:r>
            <a:r>
              <a:rPr lang="zh-TW" altLang="en-US" dirty="0" smtClean="0"/>
              <a:t>的最後七個條款</a:t>
            </a:r>
            <a:r>
              <a:rPr lang="en-US" altLang="zh-TW" dirty="0" smtClean="0"/>
              <a:t>(4-10)</a:t>
            </a:r>
            <a:r>
              <a:rPr lang="zh-TW" altLang="en-US" dirty="0" smtClean="0"/>
              <a:t>是基於計劃</a:t>
            </a:r>
            <a:r>
              <a:rPr lang="en-US" altLang="zh-TW" dirty="0" smtClean="0"/>
              <a:t>(</a:t>
            </a:r>
            <a:r>
              <a:rPr lang="zh-TW" altLang="en-US" dirty="0" smtClean="0"/>
              <a:t>條款</a:t>
            </a:r>
            <a:r>
              <a:rPr lang="en-US" altLang="zh-TW" dirty="0" smtClean="0"/>
              <a:t>4-7)-</a:t>
            </a:r>
            <a:r>
              <a:rPr lang="zh-TW" altLang="en-US" dirty="0" smtClean="0"/>
              <a:t>執行</a:t>
            </a:r>
            <a:r>
              <a:rPr lang="en-US" altLang="zh-TW" dirty="0" smtClean="0"/>
              <a:t>(</a:t>
            </a:r>
            <a:r>
              <a:rPr lang="zh-TW" altLang="en-US" dirty="0" smtClean="0"/>
              <a:t>條款</a:t>
            </a:r>
            <a:r>
              <a:rPr lang="en-US" altLang="zh-TW" dirty="0" smtClean="0"/>
              <a:t>8)-</a:t>
            </a:r>
            <a:r>
              <a:rPr lang="zh-TW" altLang="en-US" dirty="0" smtClean="0"/>
              <a:t>檢查</a:t>
            </a:r>
            <a:r>
              <a:rPr lang="en-US" altLang="zh-TW" dirty="0" smtClean="0"/>
              <a:t>(</a:t>
            </a:r>
            <a:r>
              <a:rPr lang="zh-TW" altLang="en-US" dirty="0" smtClean="0"/>
              <a:t>條款</a:t>
            </a:r>
            <a:r>
              <a:rPr lang="en-US" altLang="zh-TW" dirty="0" smtClean="0"/>
              <a:t>9)-</a:t>
            </a:r>
            <a:r>
              <a:rPr lang="zh-TW" altLang="en-US" dirty="0" smtClean="0"/>
              <a:t>行動</a:t>
            </a:r>
            <a:r>
              <a:rPr lang="en-US" altLang="zh-TW" dirty="0" smtClean="0"/>
              <a:t>(</a:t>
            </a:r>
            <a:r>
              <a:rPr lang="zh-TW" altLang="en-US" dirty="0" smtClean="0"/>
              <a:t>條款</a:t>
            </a:r>
            <a:r>
              <a:rPr lang="en-US" altLang="zh-TW" dirty="0" smtClean="0"/>
              <a:t>10)</a:t>
            </a:r>
            <a:r>
              <a:rPr lang="zh-TW" altLang="en-US" dirty="0" smtClean="0"/>
              <a:t> </a:t>
            </a:r>
            <a:r>
              <a:rPr lang="en-US" altLang="zh-TW" dirty="0" smtClean="0"/>
              <a:t>(PDCA) </a:t>
            </a:r>
            <a:r>
              <a:rPr lang="zh-TW" altLang="en-US" dirty="0" smtClean="0"/>
              <a:t>循環，這是所有管理系統和改進管理系統的核心原則。 </a:t>
            </a:r>
          </a:p>
          <a:p>
            <a:pPr marL="0" lvl="1" indent="0" eaLnBrk="0" fontAlgn="base" hangingPunct="0">
              <a:lnSpc>
                <a:spcPct val="120000"/>
              </a:lnSpc>
              <a:spcBef>
                <a:spcPts val="207"/>
              </a:spcBef>
              <a:spcAft>
                <a:spcPts val="207"/>
              </a:spcAft>
              <a:buFont typeface="Wingdings" panose="05000000000000000000" pitchFamily="2" charset="2"/>
              <a:buNone/>
              <a:defRPr/>
            </a:pPr>
            <a:endParaRPr kumimoji="1" lang="en-US" altLang="zh-TW" dirty="0" smtClean="0">
              <a:latin typeface="微軟正黑體" panose="020B0604030504040204" pitchFamily="34" charset="-120"/>
              <a:ea typeface="微軟正黑體" panose="020B0604030504040204" pitchFamily="34" charset="-120"/>
            </a:endParaRPr>
          </a:p>
          <a:p>
            <a:pPr marL="298421" lvl="1" indent="-298421" eaLnBrk="0" fontAlgn="base" hangingPunct="0">
              <a:lnSpc>
                <a:spcPct val="120000"/>
              </a:lnSpc>
              <a:spcBef>
                <a:spcPts val="207"/>
              </a:spcBef>
              <a:spcAft>
                <a:spcPts val="207"/>
              </a:spcAft>
              <a:buFont typeface="Wingdings" panose="05000000000000000000" pitchFamily="2" charset="2"/>
              <a:buChar char="l"/>
              <a:defRPr/>
            </a:pPr>
            <a:endParaRPr kumimoji="1" lang="en-US" altLang="zh-TW" dirty="0" smtClean="0">
              <a:latin typeface="微軟正黑體" panose="020B0604030504040204" pitchFamily="34" charset="-120"/>
              <a:ea typeface="微軟正黑體" panose="020B0604030504040204" pitchFamily="34" charset="-120"/>
            </a:endParaRPr>
          </a:p>
          <a:p>
            <a:pPr marL="298421" lvl="1" indent="-298421" eaLnBrk="0" fontAlgn="base" hangingPunct="0">
              <a:lnSpc>
                <a:spcPct val="120000"/>
              </a:lnSpc>
              <a:spcBef>
                <a:spcPts val="207"/>
              </a:spcBef>
              <a:spcAft>
                <a:spcPts val="207"/>
              </a:spcAft>
              <a:buFont typeface="Wingdings" panose="05000000000000000000" pitchFamily="2" charset="2"/>
              <a:buChar char="l"/>
              <a:defRPr/>
            </a:pPr>
            <a:r>
              <a:rPr kumimoji="1" lang="en-US" altLang="zh-TW" dirty="0" smtClean="0">
                <a:latin typeface="微軟正黑體" panose="020B0604030504040204" pitchFamily="34" charset="-120"/>
                <a:ea typeface="微軟正黑體" panose="020B0604030504040204" pitchFamily="34" charset="-120"/>
              </a:rPr>
              <a:t>ISO/IEC 27001</a:t>
            </a:r>
            <a:r>
              <a:rPr kumimoji="1" lang="zh-TW" altLang="en-US" dirty="0" smtClean="0">
                <a:latin typeface="微軟正黑體" panose="020B0604030504040204" pitchFamily="34" charset="-120"/>
                <a:ea typeface="微軟正黑體" panose="020B0604030504040204" pitchFamily="34" charset="-120"/>
              </a:rPr>
              <a:t>：</a:t>
            </a:r>
            <a:r>
              <a:rPr kumimoji="1" lang="en-US" altLang="zh-TW" dirty="0" smtClean="0">
                <a:latin typeface="微軟正黑體" panose="020B0604030504040204" pitchFamily="34" charset="-120"/>
                <a:ea typeface="微軟正黑體" panose="020B0604030504040204" pitchFamily="34" charset="-120"/>
              </a:rPr>
              <a:t>2022</a:t>
            </a:r>
            <a:r>
              <a:rPr kumimoji="1" lang="zh-TW" altLang="en-US" dirty="0" smtClean="0">
                <a:latin typeface="微軟正黑體" panose="020B0604030504040204" pitchFamily="34" charset="-120"/>
                <a:ea typeface="微軟正黑體" panose="020B0604030504040204" pitchFamily="34" charset="-120"/>
              </a:rPr>
              <a:t>版本則為</a:t>
            </a:r>
            <a:r>
              <a:rPr kumimoji="1" lang="en-US" altLang="zh-TW" dirty="0" smtClean="0">
                <a:latin typeface="微軟正黑體" panose="020B0604030504040204" pitchFamily="34" charset="-120"/>
                <a:ea typeface="微軟正黑體" panose="020B0604030504040204" pitchFamily="34" charset="-120"/>
              </a:rPr>
              <a:t>4</a:t>
            </a:r>
            <a:r>
              <a:rPr kumimoji="1" lang="zh-TW" altLang="en-US" dirty="0" smtClean="0">
                <a:latin typeface="微軟正黑體" panose="020B0604030504040204" pitchFamily="34" charset="-120"/>
                <a:ea typeface="微軟正黑體" panose="020B0604030504040204" pitchFamily="34" charset="-120"/>
              </a:rPr>
              <a:t>個關鍵領域、</a:t>
            </a:r>
            <a:r>
              <a:rPr kumimoji="1" lang="en-US" altLang="zh-TW" dirty="0" smtClean="0">
                <a:latin typeface="微軟正黑體" panose="020B0604030504040204" pitchFamily="34" charset="-120"/>
                <a:ea typeface="微軟正黑體" panose="020B0604030504040204" pitchFamily="34" charset="-120"/>
              </a:rPr>
              <a:t>93</a:t>
            </a:r>
            <a:r>
              <a:rPr kumimoji="1" lang="zh-TW" altLang="en-US" dirty="0" smtClean="0">
                <a:latin typeface="微軟正黑體" panose="020B0604030504040204" pitchFamily="34" charset="-120"/>
                <a:ea typeface="微軟正黑體" panose="020B0604030504040204" pitchFamily="34" charset="-120"/>
              </a:rPr>
              <a:t>項控制措施</a:t>
            </a:r>
            <a:endParaRPr kumimoji="1" lang="en-US" altLang="zh-TW" dirty="0" smtClean="0">
              <a:latin typeface="微軟正黑體" panose="020B0604030504040204" pitchFamily="34" charset="-120"/>
              <a:ea typeface="微軟正黑體" panose="020B0604030504040204" pitchFamily="34" charset="-120"/>
            </a:endParaRPr>
          </a:p>
          <a:p>
            <a:pPr marL="298421" lvl="1" indent="-298421" eaLnBrk="0" fontAlgn="base" hangingPunct="0">
              <a:lnSpc>
                <a:spcPct val="120000"/>
              </a:lnSpc>
              <a:spcBef>
                <a:spcPts val="207"/>
              </a:spcBef>
              <a:spcAft>
                <a:spcPts val="207"/>
              </a:spcAft>
              <a:buFont typeface="Wingdings" panose="05000000000000000000" pitchFamily="2" charset="2"/>
              <a:buChar char="l"/>
              <a:defRPr/>
            </a:pPr>
            <a:r>
              <a:rPr kumimoji="1" lang="en-US" altLang="zh-TW" dirty="0" smtClean="0">
                <a:latin typeface="微軟正黑體" panose="020B0604030504040204" pitchFamily="34" charset="-120"/>
                <a:ea typeface="微軟正黑體" panose="020B0604030504040204" pitchFamily="34" charset="-120"/>
              </a:rPr>
              <a:t>CNS 27001</a:t>
            </a:r>
            <a:r>
              <a:rPr kumimoji="1" lang="zh-TW" altLang="en-US" dirty="0" smtClean="0">
                <a:latin typeface="微軟正黑體" panose="020B0604030504040204" pitchFamily="34" charset="-120"/>
                <a:ea typeface="微軟正黑體" panose="020B0604030504040204" pitchFamily="34" charset="-120"/>
              </a:rPr>
              <a:t>及</a:t>
            </a:r>
            <a:r>
              <a:rPr kumimoji="1" lang="en-US" altLang="zh-TW" dirty="0" smtClean="0">
                <a:latin typeface="微軟正黑體" panose="020B0604030504040204" pitchFamily="34" charset="-120"/>
                <a:ea typeface="微軟正黑體" panose="020B0604030504040204" pitchFamily="34" charset="-120"/>
              </a:rPr>
              <a:t>CNS 27002</a:t>
            </a:r>
            <a:r>
              <a:rPr kumimoji="1" lang="zh-TW" altLang="en-US" dirty="0" smtClean="0">
                <a:latin typeface="微軟正黑體" panose="020B0604030504040204" pitchFamily="34" charset="-120"/>
                <a:ea typeface="微軟正黑體" panose="020B0604030504040204" pitchFamily="34" charset="-120"/>
              </a:rPr>
              <a:t>內容可參考國家標準</a:t>
            </a:r>
            <a:r>
              <a:rPr kumimoji="1" lang="en-US" altLang="zh-TW" dirty="0" smtClean="0">
                <a:latin typeface="微軟正黑體" panose="020B0604030504040204" pitchFamily="34" charset="-120"/>
                <a:ea typeface="微軟正黑體" panose="020B0604030504040204" pitchFamily="34" charset="-120"/>
              </a:rPr>
              <a:t>(CNS)</a:t>
            </a:r>
            <a:r>
              <a:rPr kumimoji="1" lang="zh-TW" altLang="en-US" dirty="0" smtClean="0">
                <a:latin typeface="微軟正黑體" panose="020B0604030504040204" pitchFamily="34" charset="-120"/>
                <a:ea typeface="微軟正黑體" panose="020B0604030504040204" pitchFamily="34" charset="-120"/>
              </a:rPr>
              <a:t>網路服務系統網站，</a:t>
            </a:r>
            <a:r>
              <a:rPr kumimoji="1" lang="en-US" altLang="zh-TW" dirty="0" smtClean="0">
                <a:latin typeface="微軟正黑體" panose="020B0604030504040204" pitchFamily="34" charset="-120"/>
                <a:ea typeface="微軟正黑體" panose="020B0604030504040204" pitchFamily="34" charset="-120"/>
              </a:rPr>
              <a:t>https://www.cnsonline.com.tw</a:t>
            </a:r>
            <a:endParaRPr kumimoji="1" lang="zh-TW" altLang="en-US" dirty="0" smtClean="0">
              <a:latin typeface="微軟正黑體" panose="020B0604030504040204" pitchFamily="34" charset="-120"/>
              <a:ea typeface="微軟正黑體" panose="020B0604030504040204" pitchFamily="34" charset="-120"/>
            </a:endParaRPr>
          </a:p>
          <a:p>
            <a:endParaRPr lang="zh-TW" altLang="en-US" dirty="0"/>
          </a:p>
        </p:txBody>
      </p:sp>
    </p:spTree>
    <p:extLst>
      <p:ext uri="{BB962C8B-B14F-4D97-AF65-F5344CB8AC3E}">
        <p14:creationId xmlns:p14="http://schemas.microsoft.com/office/powerpoint/2010/main" val="22901094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b="1" kern="0" dirty="0" smtClean="0"/>
              <a:t>NIST CSF</a:t>
            </a:r>
            <a:r>
              <a:rPr lang="zh-TW" altLang="en-US" b="1" kern="0" dirty="0" smtClean="0"/>
              <a:t>網路安全框架</a:t>
            </a:r>
            <a:r>
              <a:rPr lang="en-US" altLang="zh-TW" b="1" kern="0" dirty="0" smtClean="0"/>
              <a:t>(The NIST Cybersecurity Framework )</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kern="0" dirty="0" smtClean="0"/>
              <a:t>是美國國家標準與技術研究院</a:t>
            </a:r>
            <a:r>
              <a:rPr lang="en-US" altLang="zh-TW" b="1" kern="0" dirty="0" smtClean="0"/>
              <a:t>(National Institute of Standards and Technology</a:t>
            </a:r>
            <a:r>
              <a:rPr lang="zh-TW" altLang="en-US" b="1" kern="0" dirty="0" smtClean="0">
                <a:latin typeface="PMingLiU" panose="02020500000000000000" pitchFamily="18" charset="-120"/>
                <a:ea typeface="PMingLiU" panose="02020500000000000000" pitchFamily="18" charset="-120"/>
              </a:rPr>
              <a:t>，簡稱</a:t>
            </a:r>
            <a:r>
              <a:rPr lang="en-US" altLang="zh-TW" b="1" kern="0" dirty="0" smtClean="0">
                <a:latin typeface="PMingLiU" panose="02020500000000000000" pitchFamily="18" charset="-120"/>
                <a:ea typeface="PMingLiU" panose="02020500000000000000" pitchFamily="18" charset="-120"/>
              </a:rPr>
              <a:t>NIST</a:t>
            </a:r>
            <a:r>
              <a:rPr lang="en-US" altLang="zh-TW" b="1" kern="0"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kern="0" dirty="0" smtClean="0"/>
              <a:t>所發表的網路安全框架</a:t>
            </a:r>
            <a:endParaRPr lang="en-US" altLang="zh-TW" b="1" kern="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b="1" kern="0" dirty="0" smtClean="0"/>
              <a:t>NIST CSF</a:t>
            </a:r>
            <a:r>
              <a:rPr lang="zh-TW" altLang="en-US" b="1" kern="0" dirty="0" smtClean="0"/>
              <a:t>官方網址</a:t>
            </a:r>
            <a:r>
              <a:rPr lang="en-US" altLang="zh-TW" b="1" kern="0" dirty="0" smtClean="0"/>
              <a:t>:https://www.nist.gov/cyberframework</a:t>
            </a:r>
          </a:p>
          <a:p>
            <a:endParaRPr lang="zh-TW" altLang="en-US" dirty="0"/>
          </a:p>
        </p:txBody>
      </p:sp>
    </p:spTree>
    <p:extLst>
      <p:ext uri="{BB962C8B-B14F-4D97-AF65-F5344CB8AC3E}">
        <p14:creationId xmlns:p14="http://schemas.microsoft.com/office/powerpoint/2010/main" val="23335920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en-US" altLang="zh-TW" dirty="0" smtClean="0"/>
              <a:t>https://en.wikipedia.org/wiki/NIST_Cybersecurity_Framework</a:t>
            </a:r>
            <a:endParaRPr lang="zh-TW" altLang="en-US" dirty="0"/>
          </a:p>
        </p:txBody>
      </p:sp>
    </p:spTree>
    <p:extLst>
      <p:ext uri="{BB962C8B-B14F-4D97-AF65-F5344CB8AC3E}">
        <p14:creationId xmlns:p14="http://schemas.microsoft.com/office/powerpoint/2010/main" val="140488608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zh-TW" altLang="en-US" dirty="0" smtClean="0"/>
              <a:t>更多說明請參見 </a:t>
            </a:r>
            <a:r>
              <a:rPr lang="en-US" altLang="zh-TW" dirty="0" smtClean="0"/>
              <a:t>https://www.nist.gov/cyberframework/informative-references</a:t>
            </a:r>
            <a:endParaRPr lang="zh-TW" altLang="en-US" dirty="0"/>
          </a:p>
        </p:txBody>
      </p:sp>
    </p:spTree>
    <p:extLst>
      <p:ext uri="{BB962C8B-B14F-4D97-AF65-F5344CB8AC3E}">
        <p14:creationId xmlns:p14="http://schemas.microsoft.com/office/powerpoint/2010/main" val="1360139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pPr marL="17145" marR="0" indent="0" algn="l" defTabSz="914400" rtl="0" eaLnBrk="1" fontAlgn="auto" latinLnBrk="0" hangingPunct="1">
              <a:lnSpc>
                <a:spcPct val="100000"/>
              </a:lnSpc>
              <a:spcBef>
                <a:spcPts val="545"/>
              </a:spcBef>
              <a:spcAft>
                <a:spcPts val="0"/>
              </a:spcAft>
              <a:buClrTx/>
              <a:buSzTx/>
              <a:buFontTx/>
              <a:buNone/>
              <a:tabLst/>
              <a:defRPr/>
            </a:pPr>
            <a:r>
              <a:rPr lang="en-US" altLang="zh-TW" sz="1200" dirty="0" smtClean="0"/>
              <a:t>1.CCM</a:t>
            </a:r>
            <a:r>
              <a:rPr lang="zh-TW" altLang="en-US" sz="1200" dirty="0" smtClean="0"/>
              <a:t>是</a:t>
            </a:r>
            <a:r>
              <a:rPr lang="zh-TW" altLang="en-US" sz="1200" b="1" spc="-20" dirty="0" smtClean="0">
                <a:latin typeface="Arial"/>
                <a:cs typeface="Arial"/>
              </a:rPr>
              <a:t>雲端安全聯盟</a:t>
            </a:r>
            <a:r>
              <a:rPr lang="en-US" altLang="zh-TW" sz="1200" b="1" spc="-20" dirty="0" smtClean="0">
                <a:latin typeface="Arial"/>
                <a:cs typeface="Arial"/>
              </a:rPr>
              <a:t>(Cloud Security Alliance</a:t>
            </a:r>
            <a:r>
              <a:rPr lang="zh-TW" altLang="en-US" sz="1200" b="1" spc="-20" dirty="0" smtClean="0">
                <a:latin typeface="Arial"/>
                <a:cs typeface="Arial"/>
              </a:rPr>
              <a:t>，</a:t>
            </a:r>
            <a:r>
              <a:rPr lang="en-US" altLang="zh-TW" sz="1200" b="1" spc="-20" dirty="0" smtClean="0">
                <a:latin typeface="Arial"/>
                <a:cs typeface="Arial"/>
              </a:rPr>
              <a:t>CSA</a:t>
            </a:r>
            <a:r>
              <a:rPr lang="zh-TW" altLang="en-US" sz="1200" b="1" spc="-20" dirty="0" smtClean="0">
                <a:latin typeface="Arial"/>
                <a:cs typeface="Arial"/>
              </a:rPr>
              <a:t>）所發行的雲端控制矩陣</a:t>
            </a:r>
            <a:r>
              <a:rPr lang="en-US" altLang="zh-TW" sz="1200" b="1" spc="-20" dirty="0" smtClean="0">
                <a:latin typeface="Arial"/>
                <a:cs typeface="Arial"/>
              </a:rPr>
              <a:t>(</a:t>
            </a:r>
            <a:r>
              <a:rPr lang="zh-TW" altLang="en-US" sz="1200" b="1" spc="-20" dirty="0" smtClean="0">
                <a:latin typeface="Arial"/>
                <a:cs typeface="Arial"/>
              </a:rPr>
              <a:t> </a:t>
            </a:r>
            <a:r>
              <a:rPr lang="en-US" altLang="zh-TW" sz="1200" b="1" spc="-20" dirty="0" smtClean="0">
                <a:latin typeface="Arial"/>
                <a:cs typeface="Arial"/>
              </a:rPr>
              <a:t>Cloud Control Matrix)</a:t>
            </a:r>
          </a:p>
          <a:p>
            <a:pPr marL="17145" marR="0" indent="0" algn="l" defTabSz="914400" rtl="0" eaLnBrk="1" fontAlgn="auto" latinLnBrk="0" hangingPunct="1">
              <a:lnSpc>
                <a:spcPct val="100000"/>
              </a:lnSpc>
              <a:spcBef>
                <a:spcPts val="545"/>
              </a:spcBef>
              <a:spcAft>
                <a:spcPts val="0"/>
              </a:spcAft>
              <a:buClrTx/>
              <a:buSzTx/>
              <a:buFontTx/>
              <a:buNone/>
              <a:tabLst/>
              <a:defRPr/>
            </a:pPr>
            <a:r>
              <a:rPr lang="zh-TW" altLang="en-US" sz="1200" b="1" spc="-20" dirty="0" smtClean="0">
                <a:latin typeface="Arial"/>
                <a:cs typeface="Arial"/>
              </a:rPr>
              <a:t>最新版本為</a:t>
            </a:r>
            <a:r>
              <a:rPr lang="en-US" altLang="zh-TW" sz="1200" b="1" spc="-20" dirty="0" smtClean="0">
                <a:latin typeface="Arial"/>
                <a:cs typeface="Arial"/>
              </a:rPr>
              <a:t>v4.0</a:t>
            </a:r>
            <a:r>
              <a:rPr lang="zh-TW" altLang="en-US" sz="1200" b="1" spc="-20" dirty="0" smtClean="0">
                <a:latin typeface="Arial"/>
                <a:cs typeface="Arial"/>
              </a:rPr>
              <a:t>相關內容如下</a:t>
            </a:r>
            <a:r>
              <a:rPr lang="en-US" altLang="zh-TW" sz="1200" b="1" spc="-20" dirty="0" smtClean="0">
                <a:latin typeface="Arial"/>
                <a:cs typeface="Arial"/>
              </a:rPr>
              <a:t>:</a:t>
            </a:r>
          </a:p>
          <a:p>
            <a:pPr marL="17145" marR="0" indent="0" algn="l" defTabSz="914400" rtl="0" eaLnBrk="1" fontAlgn="auto" latinLnBrk="0" hangingPunct="1">
              <a:lnSpc>
                <a:spcPct val="100000"/>
              </a:lnSpc>
              <a:spcBef>
                <a:spcPts val="545"/>
              </a:spcBef>
              <a:spcAft>
                <a:spcPts val="0"/>
              </a:spcAft>
              <a:buClrTx/>
              <a:buSzTx/>
              <a:buFontTx/>
              <a:buNone/>
              <a:tabLst/>
              <a:defRPr/>
            </a:pPr>
            <a:r>
              <a:rPr lang="en-US" altLang="zh-TW" sz="1200" b="1" spc="-20" dirty="0" smtClean="0">
                <a:latin typeface="Arial"/>
                <a:cs typeface="Arial"/>
              </a:rPr>
              <a:t>BCR(Business Continuity Management and Operational Resilience)</a:t>
            </a:r>
            <a:r>
              <a:rPr lang="zh-TW" altLang="en-US" sz="1200" b="1" spc="-20" dirty="0" smtClean="0">
                <a:latin typeface="Arial"/>
                <a:cs typeface="Arial"/>
              </a:rPr>
              <a:t>業務持續性管理和營運韌性</a:t>
            </a:r>
            <a:endParaRPr lang="en-US" altLang="zh-TW" sz="1200" b="1" spc="-20" dirty="0" smtClean="0">
              <a:latin typeface="Arial"/>
              <a:cs typeface="Arial"/>
            </a:endParaRPr>
          </a:p>
          <a:p>
            <a:pPr marL="17145" marR="0" indent="0" algn="l" defTabSz="914400" rtl="0" eaLnBrk="1" fontAlgn="auto" latinLnBrk="0" hangingPunct="1">
              <a:lnSpc>
                <a:spcPct val="100000"/>
              </a:lnSpc>
              <a:spcBef>
                <a:spcPts val="545"/>
              </a:spcBef>
              <a:spcAft>
                <a:spcPts val="0"/>
              </a:spcAft>
              <a:buClrTx/>
              <a:buSzTx/>
              <a:buFontTx/>
              <a:buNone/>
              <a:tabLst/>
              <a:defRPr/>
            </a:pPr>
            <a:r>
              <a:rPr lang="en-US" altLang="zh-TW" sz="1200" b="1" dirty="0" smtClean="0"/>
              <a:t>BCR-01:</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業務</a:t>
            </a:r>
            <a:r>
              <a:rPr lang="zh-TW" altLang="en-US" sz="800" b="1" spc="-20" dirty="0" smtClean="0">
                <a:latin typeface="Arial"/>
                <a:cs typeface="Arial"/>
              </a:rPr>
              <a:t>持</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續性管理策略和程</a:t>
            </a:r>
            <a:r>
              <a:rPr lang="zh-TW" altLang="en-US"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序</a:t>
            </a:r>
            <a:r>
              <a:rPr lang="en-US"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Business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Continuity</a:t>
            </a:r>
            <a:r>
              <a:rPr lang="zh-TW" altLang="zh-TW" sz="800" b="0" i="0" u="none" strike="noStrike" spc="-2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Management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Policy</a:t>
            </a:r>
            <a:r>
              <a:rPr lang="zh-TW" altLang="zh-TW" sz="800" b="0" i="0" u="none" strike="noStrike" spc="-2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2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a:t>
            </a:r>
            <a:r>
              <a:rPr lang="zh-TW" altLang="zh-TW" sz="800" b="0" i="0" u="none" strike="noStrike" spc="50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Procedures</a:t>
            </a:r>
            <a:r>
              <a:rPr lang="en-US"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t>
            </a:r>
            <a:endParaRPr lang="zh-TW" altLang="zh-TW" sz="3600" b="0" i="0" u="none" strike="noStrike" dirty="0" smtClean="0">
              <a:effectLst/>
              <a:latin typeface="Arial" panose="020B0604020202020204" pitchFamily="34" charset="0"/>
            </a:endParaRPr>
          </a:p>
          <a:p>
            <a:pPr marL="18288" marR="210312" algn="l" fontAlgn="t">
              <a:lnSpc>
                <a:spcPct val="103000"/>
              </a:lnSpc>
              <a:spcBef>
                <a:spcPts val="580"/>
              </a:spcBef>
              <a:spcAft>
                <a:spcPts val="0"/>
              </a:spcAft>
            </a:pP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Establish,</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document,</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approve,</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communicate,</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apply,</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evaluate</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 maintain</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business</a:t>
            </a:r>
            <a:r>
              <a:rPr lang="zh-TW" altLang="zh-TW" sz="800" b="0" i="0" u="none" strike="noStrike" spc="2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continuity</a:t>
            </a:r>
            <a:r>
              <a:rPr lang="zh-TW" altLang="zh-TW" sz="800" b="0" i="0" u="none" strike="noStrike" spc="-1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management</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operational</a:t>
            </a:r>
            <a:r>
              <a:rPr lang="zh-TW" altLang="zh-TW" sz="800" b="0" i="0" u="none" strike="noStrike" spc="2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resilience</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policies</a:t>
            </a:r>
            <a:r>
              <a:rPr lang="zh-TW" altLang="zh-TW" sz="800" b="0" i="0" u="none" strike="noStrike" spc="1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procedures.</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Review</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2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a:t>
            </a:r>
            <a:r>
              <a:rPr lang="zh-TW" altLang="zh-TW" sz="800" b="0" i="0" u="none" strike="noStrike" spc="50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update</a:t>
            </a:r>
            <a:r>
              <a:rPr lang="zh-TW" altLang="zh-TW" sz="800" b="0" i="0" u="none" strike="noStrike" spc="-2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the</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policies</a:t>
            </a:r>
            <a:r>
              <a:rPr lang="zh-TW" altLang="zh-TW" sz="800" b="0" i="0" u="none" strike="noStrike" spc="-1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and</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procedures</a:t>
            </a:r>
            <a:r>
              <a:rPr lang="zh-TW" altLang="zh-TW" sz="800" b="0" i="0" u="none" strike="noStrike" spc="-1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at</a:t>
            </a:r>
            <a:r>
              <a:rPr lang="zh-TW" altLang="zh-TW" sz="800" b="0" i="0" u="none" strike="noStrike" spc="-2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least</a:t>
            </a:r>
            <a:r>
              <a:rPr lang="zh-TW" altLang="zh-TW" sz="800" b="0" i="0" u="none" strike="noStrike" spc="-5"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 </a:t>
            </a:r>
            <a:r>
              <a:rPr lang="zh-TW" altLang="zh-TW" sz="800" b="0" i="0" u="none" strike="noStrike" spc="-10" dirty="0" smtClean="0">
                <a:solidFill>
                  <a:srgbClr val="000000"/>
                </a:solidFill>
                <a:effectLst/>
                <a:latin typeface="Arial" panose="020B0604020202020204" pitchFamily="34" charset="0"/>
                <a:ea typeface="Arial" panose="020B0604020202020204" pitchFamily="34" charset="0"/>
                <a:cs typeface="Arial" panose="020B0604020202020204" pitchFamily="34" charset="0"/>
              </a:rPr>
              <a:t>annually.</a:t>
            </a:r>
            <a:endParaRPr lang="zh-TW" altLang="zh-TW" sz="3600" b="0" i="0" u="none" strike="noStrike" dirty="0" smtClean="0">
              <a:effectLst/>
              <a:latin typeface="Arial" panose="020B0604020202020204" pitchFamily="34" charset="0"/>
            </a:endParaRPr>
          </a:p>
          <a:p>
            <a:pPr marL="18288" marR="0" indent="0" algn="l" defTabSz="914400" rtl="0" eaLnBrk="1" fontAlgn="t" latinLnBrk="0" hangingPunct="1">
              <a:lnSpc>
                <a:spcPct val="100000"/>
              </a:lnSpc>
              <a:spcBef>
                <a:spcPts val="70"/>
              </a:spcBef>
              <a:spcAft>
                <a:spcPts val="0"/>
              </a:spcAft>
              <a:buClrTx/>
              <a:buSzTx/>
              <a:buFontTx/>
              <a:buNone/>
              <a:tabLst/>
              <a:defRPr/>
            </a:pP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建立、歸檔、批准、溝通、應用、評估和維護業務</a:t>
            </a:r>
            <a:r>
              <a:rPr lang="zh-TW" altLang="en-US" sz="800" b="1" spc="-20" dirty="0" smtClean="0">
                <a:latin typeface="Arial"/>
                <a:cs typeface="Arial"/>
              </a:rPr>
              <a:t>持</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續性管理和</a:t>
            </a:r>
            <a:r>
              <a:rPr lang="zh-TW" altLang="en-US" sz="800" b="1" spc="-20" dirty="0" smtClean="0">
                <a:latin typeface="Arial"/>
                <a:cs typeface="Arial"/>
              </a:rPr>
              <a:t>營運韌性</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策略和程</a:t>
            </a:r>
            <a:r>
              <a:rPr lang="zh-TW" altLang="en-US"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序</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。每年至少審查和更新公司的策略和程</a:t>
            </a:r>
            <a:r>
              <a:rPr lang="zh-TW" altLang="en-US"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序</a:t>
            </a:r>
            <a:r>
              <a:rPr lang="zh-TW" altLang="zh-TW" sz="800" b="0" i="0" u="none" strike="noStrike" spc="-15" dirty="0" smtClean="0">
                <a:solidFill>
                  <a:srgbClr val="000000"/>
                </a:solidFill>
                <a:effectLst/>
                <a:latin typeface="SimSun" panose="02010600030101010101" pitchFamily="2" charset="-122"/>
                <a:ea typeface="SimSun" panose="02010600030101010101" pitchFamily="2" charset="-122"/>
                <a:cs typeface="SimSun" panose="02010600030101010101" pitchFamily="2" charset="-122"/>
              </a:rPr>
              <a:t>。</a:t>
            </a:r>
            <a:endParaRPr lang="zh-TW" altLang="zh-TW" sz="3600" b="0" i="0" u="none" strike="noStrike" dirty="0" smtClean="0">
              <a:effectLst/>
              <a:latin typeface="Arial" panose="020B0604020202020204" pitchFamily="34" charset="0"/>
            </a:endParaRPr>
          </a:p>
          <a:p>
            <a:pPr marL="17145" marR="0" indent="0" algn="l" defTabSz="914400" rtl="0" eaLnBrk="1" fontAlgn="auto" latinLnBrk="0" hangingPunct="1">
              <a:lnSpc>
                <a:spcPct val="100000"/>
              </a:lnSpc>
              <a:spcBef>
                <a:spcPts val="545"/>
              </a:spcBef>
              <a:spcAft>
                <a:spcPts val="0"/>
              </a:spcAft>
              <a:buClrTx/>
              <a:buSzTx/>
              <a:buFontTx/>
              <a:buNone/>
              <a:tabLst/>
              <a:defRPr/>
            </a:pPr>
            <a:endParaRPr lang="en-US" altLang="zh-TW" sz="1200" b="1" spc="-20" dirty="0" smtClean="0">
              <a:latin typeface="Arial"/>
              <a:cs typeface="Arial"/>
            </a:endParaRPr>
          </a:p>
          <a:p>
            <a:pPr marL="17145" marR="0" indent="0" algn="l" defTabSz="914400" rtl="0" eaLnBrk="1" fontAlgn="auto" latinLnBrk="0" hangingPunct="1">
              <a:lnSpc>
                <a:spcPct val="100000"/>
              </a:lnSpc>
              <a:spcBef>
                <a:spcPts val="545"/>
              </a:spcBef>
              <a:spcAft>
                <a:spcPts val="0"/>
              </a:spcAft>
              <a:buClrTx/>
              <a:buSzTx/>
              <a:buFontTx/>
              <a:buNone/>
              <a:tabLst/>
              <a:defRPr/>
            </a:pPr>
            <a:r>
              <a:rPr lang="en-US" altLang="zh-TW" sz="1200" b="1" spc="-20" dirty="0" smtClean="0">
                <a:latin typeface="Arial"/>
                <a:cs typeface="Arial"/>
              </a:rPr>
              <a:t>BCR-</a:t>
            </a:r>
            <a:r>
              <a:rPr lang="en-US" altLang="zh-TW" sz="1200" b="1" spc="-25" dirty="0" smtClean="0">
                <a:latin typeface="Arial"/>
                <a:cs typeface="Arial"/>
              </a:rPr>
              <a:t>07:</a:t>
            </a:r>
            <a:r>
              <a:rPr lang="zh-TW" altLang="en-US" sz="1200" dirty="0" smtClean="0">
                <a:latin typeface="Arial"/>
                <a:cs typeface="Arial"/>
              </a:rPr>
              <a:t>溝通</a:t>
            </a:r>
            <a:r>
              <a:rPr lang="en-US" altLang="zh-TW" sz="1200" dirty="0" smtClean="0">
                <a:latin typeface="Arial"/>
                <a:cs typeface="Arial"/>
              </a:rPr>
              <a:t>(Communication)</a:t>
            </a:r>
          </a:p>
          <a:p>
            <a:pPr marL="17145">
              <a:lnSpc>
                <a:spcPct val="100000"/>
              </a:lnSpc>
              <a:spcBef>
                <a:spcPts val="545"/>
              </a:spcBef>
            </a:pPr>
            <a:r>
              <a:rPr lang="en-US" altLang="zh-TW" sz="1200" dirty="0" smtClean="0">
                <a:latin typeface="Arial"/>
                <a:cs typeface="Arial"/>
              </a:rPr>
              <a:t>Establish</a:t>
            </a:r>
            <a:r>
              <a:rPr lang="en-US" altLang="zh-TW" sz="1200" spc="-10" dirty="0" smtClean="0">
                <a:latin typeface="Arial"/>
                <a:cs typeface="Arial"/>
              </a:rPr>
              <a:t> communication </a:t>
            </a:r>
            <a:r>
              <a:rPr lang="en-US" altLang="zh-TW" sz="1200" dirty="0" smtClean="0">
                <a:latin typeface="Arial"/>
                <a:cs typeface="Arial"/>
              </a:rPr>
              <a:t>with </a:t>
            </a:r>
            <a:r>
              <a:rPr lang="en-US" altLang="zh-TW" sz="1200" spc="-10" dirty="0" smtClean="0">
                <a:latin typeface="Arial"/>
                <a:cs typeface="Arial"/>
              </a:rPr>
              <a:t>stakeholders </a:t>
            </a:r>
            <a:r>
              <a:rPr lang="en-US" altLang="zh-TW" sz="1200" dirty="0" smtClean="0">
                <a:latin typeface="Arial"/>
                <a:cs typeface="Arial"/>
              </a:rPr>
              <a:t>and</a:t>
            </a:r>
            <a:r>
              <a:rPr lang="en-US" altLang="zh-TW" sz="1200" spc="-10" dirty="0" smtClean="0">
                <a:latin typeface="Arial"/>
                <a:cs typeface="Arial"/>
              </a:rPr>
              <a:t> participants</a:t>
            </a:r>
            <a:r>
              <a:rPr lang="en-US" altLang="zh-TW" sz="1200" spc="10" dirty="0" smtClean="0">
                <a:latin typeface="Arial"/>
                <a:cs typeface="Arial"/>
              </a:rPr>
              <a:t> </a:t>
            </a:r>
            <a:r>
              <a:rPr lang="en-US" altLang="zh-TW" sz="1200" dirty="0" smtClean="0">
                <a:latin typeface="Arial"/>
                <a:cs typeface="Arial"/>
              </a:rPr>
              <a:t>in</a:t>
            </a:r>
            <a:r>
              <a:rPr lang="en-US" altLang="zh-TW" sz="1200" spc="-15" dirty="0" smtClean="0">
                <a:latin typeface="Arial"/>
                <a:cs typeface="Arial"/>
              </a:rPr>
              <a:t> </a:t>
            </a:r>
            <a:r>
              <a:rPr lang="en-US" altLang="zh-TW" sz="1200" dirty="0" smtClean="0">
                <a:latin typeface="Arial"/>
                <a:cs typeface="Arial"/>
              </a:rPr>
              <a:t>the</a:t>
            </a:r>
            <a:r>
              <a:rPr lang="en-US" altLang="zh-TW" sz="1200" spc="-15" dirty="0" smtClean="0">
                <a:latin typeface="Arial"/>
                <a:cs typeface="Arial"/>
              </a:rPr>
              <a:t> </a:t>
            </a:r>
            <a:r>
              <a:rPr lang="en-US" altLang="zh-TW" sz="1200" dirty="0" smtClean="0">
                <a:latin typeface="Arial"/>
                <a:cs typeface="Arial"/>
              </a:rPr>
              <a:t>course of</a:t>
            </a:r>
            <a:r>
              <a:rPr lang="en-US" altLang="zh-TW" sz="1200" spc="5" dirty="0" smtClean="0">
                <a:latin typeface="Arial"/>
                <a:cs typeface="Arial"/>
              </a:rPr>
              <a:t> </a:t>
            </a:r>
            <a:r>
              <a:rPr lang="en-US" altLang="zh-TW" sz="1200" dirty="0" smtClean="0">
                <a:latin typeface="Arial"/>
                <a:cs typeface="Arial"/>
              </a:rPr>
              <a:t>business</a:t>
            </a:r>
            <a:r>
              <a:rPr lang="en-US" altLang="zh-TW" sz="1200" spc="10" dirty="0" smtClean="0">
                <a:latin typeface="Arial"/>
                <a:cs typeface="Arial"/>
              </a:rPr>
              <a:t> </a:t>
            </a:r>
            <a:r>
              <a:rPr lang="en-US" altLang="zh-TW" sz="1200" spc="-10" dirty="0" smtClean="0">
                <a:latin typeface="Arial"/>
                <a:cs typeface="Arial"/>
              </a:rPr>
              <a:t>continuity</a:t>
            </a:r>
            <a:r>
              <a:rPr lang="en-US" altLang="zh-TW" sz="1200" spc="-30" dirty="0" smtClean="0">
                <a:latin typeface="Arial"/>
                <a:cs typeface="Arial"/>
              </a:rPr>
              <a:t> </a:t>
            </a:r>
            <a:r>
              <a:rPr lang="en-US" altLang="zh-TW" sz="1200" dirty="0" smtClean="0">
                <a:latin typeface="Arial"/>
                <a:cs typeface="Arial"/>
              </a:rPr>
              <a:t>and</a:t>
            </a:r>
            <a:r>
              <a:rPr lang="en-US" altLang="zh-TW" sz="1200" spc="-15" dirty="0" smtClean="0">
                <a:latin typeface="Arial"/>
                <a:cs typeface="Arial"/>
              </a:rPr>
              <a:t> </a:t>
            </a:r>
            <a:r>
              <a:rPr lang="en-US" altLang="zh-TW" sz="1200" dirty="0" smtClean="0">
                <a:latin typeface="Arial"/>
                <a:cs typeface="Arial"/>
              </a:rPr>
              <a:t>resilience </a:t>
            </a:r>
            <a:r>
              <a:rPr lang="en-US" altLang="zh-TW" sz="1200" spc="-10" dirty="0" smtClean="0">
                <a:latin typeface="Arial"/>
                <a:cs typeface="Arial"/>
              </a:rPr>
              <a:t>procedures.</a:t>
            </a:r>
            <a:endParaRPr lang="en-US" altLang="zh-TW" sz="1200" dirty="0" smtClean="0">
              <a:latin typeface="Arial"/>
              <a:cs typeface="Arial"/>
            </a:endParaRPr>
          </a:p>
          <a:p>
            <a:pPr marL="17145">
              <a:lnSpc>
                <a:spcPct val="100000"/>
              </a:lnSpc>
              <a:spcBef>
                <a:spcPts val="70"/>
              </a:spcBef>
            </a:pPr>
            <a:r>
              <a:rPr lang="zh-TW" altLang="en-US" sz="1200" spc="-15" dirty="0" smtClean="0">
                <a:latin typeface="SimSun"/>
                <a:cs typeface="SimSun"/>
              </a:rPr>
              <a:t>在業務連續性和韌性規程的過程中與利益相關者和參與者建立溝通。</a:t>
            </a:r>
            <a:endParaRPr lang="zh-TW" altLang="en-US" sz="1200" dirty="0" smtClean="0">
              <a:latin typeface="SimSun"/>
              <a:cs typeface="SimSun"/>
            </a:endParaRPr>
          </a:p>
          <a:p>
            <a:pPr marL="17145">
              <a:lnSpc>
                <a:spcPct val="100000"/>
              </a:lnSpc>
              <a:spcBef>
                <a:spcPts val="545"/>
              </a:spcBef>
            </a:pPr>
            <a:endParaRPr lang="en-US" altLang="zh-TW" dirty="0" smtClean="0"/>
          </a:p>
          <a:p>
            <a:pPr marL="17145">
              <a:lnSpc>
                <a:spcPct val="100000"/>
              </a:lnSpc>
              <a:spcBef>
                <a:spcPts val="545"/>
              </a:spcBef>
            </a:pPr>
            <a:r>
              <a:rPr lang="en-US" altLang="zh-TW" dirty="0" smtClean="0"/>
              <a:t>2.</a:t>
            </a:r>
            <a:r>
              <a:rPr lang="en-US" altLang="zh-TW" sz="1200" dirty="0" smtClean="0"/>
              <a:t> CRI Profile </a:t>
            </a:r>
            <a:r>
              <a:rPr lang="zh-TW" altLang="en-US" dirty="0" smtClean="0"/>
              <a:t>詳見官方網站</a:t>
            </a:r>
            <a:r>
              <a:rPr lang="en-US" altLang="zh-TW" dirty="0" smtClean="0"/>
              <a:t>:</a:t>
            </a:r>
            <a:r>
              <a:rPr lang="zh-TW" altLang="en-US" dirty="0" smtClean="0"/>
              <a:t> </a:t>
            </a:r>
            <a:r>
              <a:rPr lang="en-US" altLang="zh-TW" dirty="0" smtClean="0"/>
              <a:t>https://cyberriskinstitute.org/</a:t>
            </a:r>
            <a:r>
              <a:rPr lang="zh-TW" altLang="en-US" dirty="0" smtClean="0"/>
              <a:t>  說明</a:t>
            </a:r>
            <a:endParaRPr lang="en-US" altLang="zh-TW" dirty="0" smtClean="0"/>
          </a:p>
          <a:p>
            <a:pPr marL="17145">
              <a:lnSpc>
                <a:spcPct val="100000"/>
              </a:lnSpc>
              <a:spcBef>
                <a:spcPts val="545"/>
              </a:spcBef>
            </a:pPr>
            <a:r>
              <a:rPr lang="en-US" altLang="zh-TW" dirty="0" smtClean="0"/>
              <a:t>3.</a:t>
            </a:r>
            <a:r>
              <a:rPr lang="en-US" altLang="zh-TW" sz="1200" dirty="0" smtClean="0"/>
              <a:t> CSF v1.1</a:t>
            </a:r>
            <a:r>
              <a:rPr lang="zh-TW" altLang="en-US" sz="1200" dirty="0" smtClean="0"/>
              <a:t> 為</a:t>
            </a:r>
            <a:r>
              <a:rPr lang="en-US" altLang="zh-TW" sz="1200" dirty="0" smtClean="0"/>
              <a:t>NIST</a:t>
            </a:r>
            <a:r>
              <a:rPr lang="zh-TW" altLang="en-US" sz="1200" dirty="0" smtClean="0"/>
              <a:t> </a:t>
            </a:r>
            <a:r>
              <a:rPr lang="en-US" altLang="zh-TW" sz="1200" dirty="0" smtClean="0"/>
              <a:t>CSF </a:t>
            </a:r>
            <a:r>
              <a:rPr lang="zh-TW" altLang="en-US" sz="1200" dirty="0" smtClean="0"/>
              <a:t>舊版本的內容被整合到新版本運用</a:t>
            </a:r>
            <a:endParaRPr lang="en-US" altLang="zh-TW" dirty="0" smtClean="0"/>
          </a:p>
          <a:p>
            <a:pPr marL="17145">
              <a:lnSpc>
                <a:spcPct val="100000"/>
              </a:lnSpc>
              <a:spcBef>
                <a:spcPts val="545"/>
              </a:spcBef>
            </a:pPr>
            <a:r>
              <a:rPr lang="en-US" altLang="zh-TW" sz="1200" dirty="0" smtClean="0"/>
              <a:t>4.</a:t>
            </a:r>
            <a:r>
              <a:rPr lang="zh-TW" altLang="en-US" sz="1200" dirty="0" smtClean="0"/>
              <a:t> </a:t>
            </a:r>
            <a:r>
              <a:rPr lang="en-US" altLang="zh-TW" sz="1200" dirty="0" smtClean="0"/>
              <a:t>SP 800-221A</a:t>
            </a:r>
            <a:r>
              <a:rPr lang="zh-TW" altLang="en-US" sz="1200" dirty="0" smtClean="0"/>
              <a:t>指的是</a:t>
            </a:r>
            <a:r>
              <a:rPr lang="en-US" altLang="zh-TW" dirty="0" smtClean="0"/>
              <a:t>NIST SP 800-221A</a:t>
            </a:r>
            <a:r>
              <a:rPr lang="zh-TW" altLang="en-US" dirty="0" smtClean="0"/>
              <a:t> </a:t>
            </a:r>
            <a:r>
              <a:rPr lang="en-US" altLang="zh-TW" dirty="0" smtClean="0"/>
              <a:t>Information and Communications Technology (ICT) Risk Outcomes: Integrating ICT Risk Management Programs with the Enterprise Risk Portfolio</a:t>
            </a:r>
          </a:p>
          <a:p>
            <a:pPr marL="17145">
              <a:lnSpc>
                <a:spcPct val="100000"/>
              </a:lnSpc>
              <a:spcBef>
                <a:spcPts val="545"/>
              </a:spcBef>
            </a:pPr>
            <a:r>
              <a:rPr lang="en-US" altLang="zh-TW" dirty="0" smtClean="0"/>
              <a:t>https://csrc.nist.gov/pubs/sp/800/221/a/final</a:t>
            </a:r>
          </a:p>
          <a:p>
            <a:pPr marL="17145">
              <a:lnSpc>
                <a:spcPct val="100000"/>
              </a:lnSpc>
              <a:spcBef>
                <a:spcPts val="545"/>
              </a:spcBef>
            </a:pPr>
            <a:r>
              <a:rPr lang="en-US" altLang="zh-TW" sz="1200" dirty="0" smtClean="0"/>
              <a:t>GV.CT</a:t>
            </a:r>
            <a:r>
              <a:rPr lang="zh-TW" altLang="en-US" sz="1200" dirty="0" smtClean="0"/>
              <a:t>為組織情境</a:t>
            </a:r>
            <a:r>
              <a:rPr lang="en-US" altLang="zh-TW" sz="1200" dirty="0" smtClean="0"/>
              <a:t>(Context)</a:t>
            </a:r>
          </a:p>
          <a:p>
            <a:pPr marL="17145">
              <a:lnSpc>
                <a:spcPct val="100000"/>
              </a:lnSpc>
              <a:spcBef>
                <a:spcPts val="545"/>
              </a:spcBef>
            </a:pPr>
            <a:r>
              <a:rPr lang="zh-TW" altLang="en-US" sz="1200" dirty="0" smtClean="0"/>
              <a:t>詳見底下網址說明</a:t>
            </a:r>
            <a:endParaRPr lang="en-US" altLang="zh-TW" dirty="0" smtClean="0"/>
          </a:p>
          <a:p>
            <a:pPr marL="17145">
              <a:lnSpc>
                <a:spcPct val="100000"/>
              </a:lnSpc>
              <a:spcBef>
                <a:spcPts val="545"/>
              </a:spcBef>
            </a:pPr>
            <a:r>
              <a:rPr lang="en-US" altLang="zh-TW" dirty="0" smtClean="0"/>
              <a:t>https://csrc.nist.gov/projects/cprt/catalog#/cprt/framework/version/SP_800_221A_0_1_0/home?element=GV.CT</a:t>
            </a:r>
          </a:p>
          <a:p>
            <a:pPr marL="17145" marR="0" indent="0" algn="l" defTabSz="914400" rtl="0" eaLnBrk="1" fontAlgn="auto" latinLnBrk="0" hangingPunct="1">
              <a:lnSpc>
                <a:spcPct val="100000"/>
              </a:lnSpc>
              <a:spcBef>
                <a:spcPts val="545"/>
              </a:spcBef>
              <a:spcAft>
                <a:spcPts val="0"/>
              </a:spcAft>
              <a:buClrTx/>
              <a:buSzTx/>
              <a:buFontTx/>
              <a:buNone/>
              <a:tabLst/>
              <a:defRPr/>
            </a:pPr>
            <a:r>
              <a:rPr lang="en-US" altLang="zh-TW" dirty="0" smtClean="0"/>
              <a:t>5.</a:t>
            </a:r>
            <a:r>
              <a:rPr lang="en-US" altLang="zh-TW" sz="1200" dirty="0" smtClean="0"/>
              <a:t>NIST SP 800-53 Rev 5 </a:t>
            </a:r>
            <a:r>
              <a:rPr lang="zh-TW" altLang="en-US" sz="1200" dirty="0" smtClean="0"/>
              <a:t>中的 </a:t>
            </a:r>
            <a:r>
              <a:rPr lang="en-US" altLang="zh-TW" sz="1200" dirty="0" smtClean="0"/>
              <a:t>PM-11:</a:t>
            </a:r>
            <a:r>
              <a:rPr lang="zh-TW" altLang="en-US" sz="1200" dirty="0" smtClean="0"/>
              <a:t>任務與業務流程定義 </a:t>
            </a:r>
            <a:r>
              <a:rPr lang="en-US" altLang="zh-TW" sz="1200" dirty="0" smtClean="0"/>
              <a:t>(Mission and Business Process Definition) </a:t>
            </a:r>
            <a:r>
              <a:rPr lang="zh-TW" altLang="en-US" sz="1200" dirty="0" smtClean="0"/>
              <a:t>是一項屬於 專案管理 </a:t>
            </a:r>
            <a:r>
              <a:rPr lang="en-US" altLang="zh-TW" sz="1200" dirty="0" smtClean="0"/>
              <a:t>(Program Management, PM) </a:t>
            </a:r>
            <a:r>
              <a:rPr lang="zh-TW" altLang="en-US" sz="1200" dirty="0" smtClean="0"/>
              <a:t>的安全控制措施。其核心精神是：「為了正確保護資訊系統，組織必須先清楚定義其業務做什麼，以及這些業務需要什麼程度的保護。」</a:t>
            </a:r>
          </a:p>
          <a:p>
            <a:pPr marL="17145">
              <a:lnSpc>
                <a:spcPct val="100000"/>
              </a:lnSpc>
              <a:spcBef>
                <a:spcPts val="545"/>
              </a:spcBef>
            </a:pPr>
            <a:endParaRPr lang="en-US" altLang="zh-TW" dirty="0" smtClean="0"/>
          </a:p>
          <a:p>
            <a:pPr marL="17145">
              <a:lnSpc>
                <a:spcPct val="100000"/>
              </a:lnSpc>
              <a:spcBef>
                <a:spcPts val="545"/>
              </a:spcBef>
            </a:pPr>
            <a:endParaRPr lang="en-US" altLang="zh-TW" sz="1200" dirty="0" smtClean="0">
              <a:latin typeface="Arial"/>
              <a:cs typeface="Arial"/>
            </a:endParaRPr>
          </a:p>
          <a:p>
            <a:endParaRPr lang="zh-TW" altLang="en-US" dirty="0"/>
          </a:p>
        </p:txBody>
      </p:sp>
    </p:spTree>
    <p:extLst>
      <p:ext uri="{BB962C8B-B14F-4D97-AF65-F5344CB8AC3E}">
        <p14:creationId xmlns:p14="http://schemas.microsoft.com/office/powerpoint/2010/main" val="272403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zh-TW" altLang="en-US" dirty="0" smtClean="0"/>
              <a:t>資通安全責任等級應辦事項</a:t>
            </a:r>
            <a:r>
              <a:rPr lang="en-US" altLang="zh-TW" dirty="0" smtClean="0"/>
              <a:t>:</a:t>
            </a:r>
          </a:p>
          <a:p>
            <a:r>
              <a:rPr lang="zh-TW" altLang="en-US" dirty="0" smtClean="0"/>
              <a:t>資料來源</a:t>
            </a:r>
            <a:r>
              <a:rPr lang="en-US" altLang="zh-TW" dirty="0" smtClean="0"/>
              <a:t>: https://law.moj.gov.tw/LawClass/LawAll.aspx?pcode=A0030304</a:t>
            </a:r>
          </a:p>
          <a:p>
            <a:endParaRPr lang="zh-TW" altLang="en-US" dirty="0"/>
          </a:p>
        </p:txBody>
      </p:sp>
    </p:spTree>
    <p:extLst>
      <p:ext uri="{BB962C8B-B14F-4D97-AF65-F5344CB8AC3E}">
        <p14:creationId xmlns:p14="http://schemas.microsoft.com/office/powerpoint/2010/main" val="25384961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445651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4181099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1.</a:t>
            </a:r>
            <a:r>
              <a:rPr lang="zh-TW" altLang="en-US" dirty="0" smtClean="0"/>
              <a:t>各安全控制措施框架強調內涵與重點未必全然一致</a:t>
            </a:r>
            <a:r>
              <a:rPr lang="zh-TW" altLang="en-US" dirty="0" smtClean="0">
                <a:latin typeface="PMingLiU" panose="02020500000000000000" pitchFamily="18" charset="-120"/>
                <a:ea typeface="PMingLiU" panose="02020500000000000000" pitchFamily="18" charset="-120"/>
              </a:rPr>
              <a:t>，機關導入時須特別留意各框架差異</a:t>
            </a:r>
            <a:endParaRPr lang="en-US" altLang="zh-TW" dirty="0" smtClean="0">
              <a:latin typeface="PMingLiU" panose="02020500000000000000" pitchFamily="18" charset="-120"/>
              <a:ea typeface="PMingLiU" panose="02020500000000000000" pitchFamily="18" charset="-120"/>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latin typeface="PMingLiU" panose="02020500000000000000" pitchFamily="18" charset="-120"/>
                <a:ea typeface="PMingLiU" panose="02020500000000000000" pitchFamily="18" charset="-120"/>
              </a:rPr>
              <a:t>更多說明請參見</a:t>
            </a:r>
            <a:endParaRPr lang="en-US" altLang="zh-TW" dirty="0" smtClean="0">
              <a:latin typeface="PMingLiU" panose="02020500000000000000" pitchFamily="18" charset="-120"/>
              <a:ea typeface="PMingLiU" panose="02020500000000000000" pitchFamily="18" charset="-12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https://www.nist.gov/cyberframework/informative-references</a:t>
            </a: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特別是</a:t>
            </a:r>
            <a:r>
              <a:rPr lang="en-US" altLang="zh-TW" dirty="0" smtClean="0"/>
              <a:t>Recent Additions</a:t>
            </a:r>
            <a:r>
              <a:rPr lang="zh-TW" altLang="en-US" dirty="0" smtClean="0"/>
              <a:t>段落所提的對應資訊</a:t>
            </a:r>
            <a:r>
              <a:rPr lang="en-US" altLang="zh-TW"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PCI-DSS-4.0.1-to-CSF-v2.0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CIS-Controls-8.1-to-CSF-v2.0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NICE-v2.0.0-to-CSF-v2.0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CSFv2.0-to-SP-800-53-Rev-5-2-0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Cyber-Governance-Code-of-Practice-to-CSF-v2.0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CSF 2.0 and NIST SP 800-171 Rev. 3</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ISO/IEC-27001:2022-to-Cybersecurity-Framework-v2.0 Informative Reference Details</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CRI Profile Version 2.0 to CSF 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Cloud Controls Matrix (CCM) Version 4.0 to CSF 2.0</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Secure-Controls-Framework-(SCF)-to-CSF-2.0 (1.0.0)</a:t>
            </a:r>
          </a:p>
          <a:p>
            <a:pPr marL="0" marR="0" indent="0" algn="l" defTabSz="914400" rtl="0" eaLnBrk="1" fontAlgn="auto" latinLnBrk="0" hangingPunct="1">
              <a:lnSpc>
                <a:spcPct val="100000"/>
              </a:lnSpc>
              <a:spcBef>
                <a:spcPts val="0"/>
              </a:spcBef>
              <a:spcAft>
                <a:spcPts val="0"/>
              </a:spcAft>
              <a:buClrTx/>
              <a:buSzTx/>
              <a:buFontTx/>
              <a:buNone/>
              <a:tabLst/>
              <a:defRPr/>
            </a:pP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2.</a:t>
            </a:r>
            <a:r>
              <a:rPr lang="zh-TW" altLang="en-US" dirty="0" smtClean="0"/>
              <a:t>微軟</a:t>
            </a:r>
            <a:r>
              <a:rPr lang="en-US" altLang="zh-TW" dirty="0" smtClean="0"/>
              <a:t>Azure</a:t>
            </a:r>
            <a:r>
              <a:rPr lang="zh-TW" altLang="en-US" dirty="0" smtClean="0"/>
              <a:t>雲端平台符合的合規性與相關的安全控制措施框架</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dirty="0" smtClean="0"/>
              <a:t>https://learn.microsoft.com/zh-tw/azure/compliance/</a:t>
            </a:r>
          </a:p>
          <a:p>
            <a:endParaRPr lang="zh-TW" altLang="en-US" dirty="0"/>
          </a:p>
        </p:txBody>
      </p:sp>
    </p:spTree>
    <p:extLst>
      <p:ext uri="{BB962C8B-B14F-4D97-AF65-F5344CB8AC3E}">
        <p14:creationId xmlns:p14="http://schemas.microsoft.com/office/powerpoint/2010/main" val="1712790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32993429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zh-TW" altLang="en-US" dirty="0" smtClean="0"/>
              <a:t>更多說明請參閱底下參考資料</a:t>
            </a:r>
            <a:r>
              <a:rPr lang="en-US" altLang="zh-TW" dirty="0" smtClean="0"/>
              <a:t>:</a:t>
            </a:r>
          </a:p>
          <a:p>
            <a:r>
              <a:rPr lang="en-US" altLang="zh-TW" dirty="0" smtClean="0"/>
              <a:t>1.NIST SP 800-53 Rev. 5 Security and Privacy Controls for Information Systems and Organizations</a:t>
            </a:r>
          </a:p>
          <a:p>
            <a:r>
              <a:rPr lang="en-US" altLang="zh-TW" dirty="0" smtClean="0"/>
              <a:t>https://csrc.nist.gov/pubs/sp/800/53/r5/upd1/final</a:t>
            </a:r>
          </a:p>
          <a:p>
            <a:r>
              <a:rPr lang="en-US" altLang="zh-TW" dirty="0" smtClean="0"/>
              <a:t>2.NIST SP 800-53A Rev. 5 Assessing Security and Privacy Controls in Information Systems and Organizations</a:t>
            </a:r>
          </a:p>
          <a:p>
            <a:r>
              <a:rPr lang="en-US" altLang="zh-TW" dirty="0" smtClean="0"/>
              <a:t>https://csrc.nist.gov/pubs/sp/800/53/r5/upd1/final</a:t>
            </a:r>
          </a:p>
          <a:p>
            <a:r>
              <a:rPr lang="en-US" altLang="zh-TW" dirty="0" smtClean="0"/>
              <a:t>3.NIST SP 800-53B Control Baselines for Information Systems and Organizations</a:t>
            </a:r>
          </a:p>
          <a:p>
            <a:r>
              <a:rPr lang="en-US" altLang="zh-TW" dirty="0" smtClean="0"/>
              <a:t>https://csrc.nist.gov/pubs/sp/800/53/b/upd1/final</a:t>
            </a:r>
            <a:endParaRPr lang="zh-TW" altLang="en-US" dirty="0"/>
          </a:p>
        </p:txBody>
      </p:sp>
    </p:spTree>
    <p:extLst>
      <p:ext uri="{BB962C8B-B14F-4D97-AF65-F5344CB8AC3E}">
        <p14:creationId xmlns:p14="http://schemas.microsoft.com/office/powerpoint/2010/main" val="30827226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en-US" altLang="zh-TW" dirty="0" smtClean="0"/>
              <a:t>CIS</a:t>
            </a:r>
            <a:r>
              <a:rPr lang="zh-TW" altLang="en-US" dirty="0" smtClean="0"/>
              <a:t>網路安全中心</a:t>
            </a:r>
            <a:r>
              <a:rPr lang="en-US" altLang="zh-TW" dirty="0" smtClean="0"/>
              <a:t>(Center for Internet Security ,CIS )</a:t>
            </a:r>
          </a:p>
          <a:p>
            <a:pPr marL="171450" indent="-171450">
              <a:buFont typeface="Wingdings" panose="05000000000000000000" pitchFamily="2" charset="2"/>
              <a:buChar char="Ø"/>
            </a:pPr>
            <a:r>
              <a:rPr lang="en-US" altLang="zh-TW" dirty="0" smtClean="0"/>
              <a:t>CIS</a:t>
            </a:r>
            <a:r>
              <a:rPr lang="zh-TW" altLang="en-US" dirty="0" smtClean="0"/>
              <a:t>是一個美國非營利組織，成立於 </a:t>
            </a:r>
            <a:r>
              <a:rPr lang="en-US" altLang="zh-TW" dirty="0" smtClean="0"/>
              <a:t>2000 </a:t>
            </a:r>
            <a:r>
              <a:rPr lang="zh-TW" altLang="en-US" dirty="0" smtClean="0"/>
              <a:t>年 </a:t>
            </a:r>
            <a:r>
              <a:rPr lang="en-US" altLang="zh-TW" dirty="0" smtClean="0"/>
              <a:t>10 </a:t>
            </a:r>
            <a:r>
              <a:rPr lang="zh-TW" altLang="en-US" dirty="0" smtClean="0"/>
              <a:t>月。</a:t>
            </a:r>
            <a:endParaRPr lang="en-US" altLang="zh-TW" dirty="0" smtClean="0"/>
          </a:p>
          <a:p>
            <a:pPr marL="171450" indent="-171450">
              <a:buFont typeface="Wingdings" panose="05000000000000000000" pitchFamily="2" charset="2"/>
              <a:buChar char="Ø"/>
            </a:pPr>
            <a:r>
              <a:rPr lang="zh-TW" altLang="en-US" dirty="0" smtClean="0"/>
              <a:t>其使命宣言宣稱，</a:t>
            </a:r>
            <a:r>
              <a:rPr lang="en-US" altLang="zh-TW" dirty="0" smtClean="0"/>
              <a:t>CIS </a:t>
            </a:r>
            <a:r>
              <a:rPr lang="zh-TW" altLang="en-US" dirty="0" smtClean="0"/>
              <a:t>的職能是「幫助個人、企業和政府保護自己免受普遍存在的網路威脅」</a:t>
            </a:r>
            <a:endParaRPr lang="en-US" altLang="zh-TW" dirty="0" smtClean="0"/>
          </a:p>
          <a:p>
            <a:pPr marL="171450" indent="-171450">
              <a:buFont typeface="Wingdings" panose="05000000000000000000" pitchFamily="2" charset="2"/>
              <a:buChar char="Ø"/>
            </a:pPr>
            <a:r>
              <a:rPr lang="en-US" altLang="zh-TW" dirty="0" smtClean="0"/>
              <a:t>CIS </a:t>
            </a:r>
            <a:r>
              <a:rPr lang="zh-TW" altLang="en-US" dirty="0" smtClean="0"/>
              <a:t>最初是一個由志工發起的倡議，旨在創建可操作的、基於共識的安全配置基準，幫助各種規模的組織降低網路風險</a:t>
            </a:r>
            <a:endParaRPr lang="en-US" altLang="zh-TW" dirty="0" smtClean="0"/>
          </a:p>
          <a:p>
            <a:pPr marL="171450" indent="-171450">
              <a:buFont typeface="Wingdings" panose="05000000000000000000" pitchFamily="2" charset="2"/>
              <a:buChar char="Ø"/>
            </a:pPr>
            <a:r>
              <a:rPr lang="en-US" altLang="zh-TW" dirty="0" smtClean="0"/>
              <a:t>2003 </a:t>
            </a:r>
            <a:r>
              <a:rPr lang="zh-TW" altLang="en-US" dirty="0" smtClean="0"/>
              <a:t>年，</a:t>
            </a:r>
            <a:r>
              <a:rPr lang="en-US" altLang="zh-TW" dirty="0" smtClean="0"/>
              <a:t>CIS </a:t>
            </a:r>
            <a:r>
              <a:rPr lang="zh-TW" altLang="en-US" dirty="0" smtClean="0"/>
              <a:t>與</a:t>
            </a:r>
            <a:r>
              <a:rPr lang="en-US" altLang="zh-TW" dirty="0" smtClean="0"/>
              <a:t>SANS</a:t>
            </a:r>
            <a:r>
              <a:rPr lang="en-US" altLang="zh-TW" baseline="0" dirty="0" smtClean="0"/>
              <a:t> </a:t>
            </a:r>
            <a:r>
              <a:rPr lang="en-US" altLang="zh-TW" dirty="0" smtClean="0"/>
              <a:t>Institute</a:t>
            </a:r>
            <a:r>
              <a:rPr lang="zh-TW" altLang="en-US" dirty="0" smtClean="0"/>
              <a:t>合作，制定了</a:t>
            </a:r>
            <a:r>
              <a:rPr lang="en-US" altLang="zh-TW" dirty="0" smtClean="0"/>
              <a:t>CIS Controls</a:t>
            </a:r>
            <a:r>
              <a:rPr lang="zh-TW" altLang="en-US" dirty="0" smtClean="0"/>
              <a:t>，提供抵禦常見網路威脅的最佳實踐指南</a:t>
            </a:r>
            <a:endParaRPr lang="en-US" altLang="zh-TW" dirty="0" smtClean="0"/>
          </a:p>
          <a:p>
            <a:pPr marL="171450" indent="-171450">
              <a:buFont typeface="Wingdings" panose="05000000000000000000" pitchFamily="2" charset="2"/>
              <a:buChar char="Ø"/>
            </a:pPr>
            <a:r>
              <a:rPr lang="en-US" altLang="zh-TW" dirty="0" smtClean="0"/>
              <a:t>2021</a:t>
            </a:r>
            <a:r>
              <a:rPr lang="zh-TW" altLang="en-US" dirty="0" smtClean="0"/>
              <a:t>年發表</a:t>
            </a:r>
            <a:r>
              <a:rPr lang="en-US" altLang="zh-TW" dirty="0" smtClean="0"/>
              <a:t>CIS Controls</a:t>
            </a:r>
            <a:r>
              <a:rPr lang="zh-TW" altLang="en-US" dirty="0" smtClean="0"/>
              <a:t> </a:t>
            </a:r>
            <a:r>
              <a:rPr lang="en-US" altLang="zh-TW" dirty="0" smtClean="0"/>
              <a:t>v8</a:t>
            </a:r>
            <a:r>
              <a:rPr lang="zh-TW" altLang="en-US" dirty="0" smtClean="0"/>
              <a:t>，這是近年來最大的改版，將原本的 </a:t>
            </a:r>
            <a:r>
              <a:rPr lang="en-US" altLang="zh-TW" dirty="0" smtClean="0"/>
              <a:t>20 </a:t>
            </a:r>
            <a:r>
              <a:rPr lang="zh-TW" altLang="en-US" dirty="0" smtClean="0"/>
              <a:t>項控制措施精簡合併為 </a:t>
            </a:r>
            <a:r>
              <a:rPr lang="en-US" altLang="zh-TW" dirty="0" smtClean="0"/>
              <a:t>18 </a:t>
            </a:r>
            <a:r>
              <a:rPr lang="zh-TW" altLang="en-US" dirty="0" smtClean="0"/>
              <a:t>項，並將重點轉向雲端、移動裝置與遠端工作的現代化 </a:t>
            </a:r>
            <a:r>
              <a:rPr lang="en-US" altLang="zh-TW" dirty="0" smtClean="0"/>
              <a:t>IT </a:t>
            </a:r>
            <a:r>
              <a:rPr lang="zh-TW" altLang="en-US" dirty="0" smtClean="0"/>
              <a:t>環境。</a:t>
            </a:r>
            <a:endParaRPr lang="en-US" altLang="zh-TW" dirty="0" smtClean="0"/>
          </a:p>
          <a:p>
            <a:pPr marL="171450" indent="-171450">
              <a:buFont typeface="Wingdings" panose="05000000000000000000" pitchFamily="2" charset="2"/>
              <a:buChar char="Ø"/>
            </a:pPr>
            <a:r>
              <a:rPr lang="en-US" altLang="zh-TW" dirty="0" smtClean="0"/>
              <a:t>2024</a:t>
            </a:r>
            <a:r>
              <a:rPr lang="zh-TW" altLang="en-US" dirty="0" smtClean="0"/>
              <a:t>年發表</a:t>
            </a:r>
            <a:r>
              <a:rPr lang="en-US" altLang="zh-TW" dirty="0" smtClean="0"/>
              <a:t>CIS Controls</a:t>
            </a:r>
            <a:r>
              <a:rPr lang="zh-TW" altLang="en-US" dirty="0" smtClean="0"/>
              <a:t> </a:t>
            </a:r>
            <a:r>
              <a:rPr lang="en-US" altLang="zh-TW" dirty="0" smtClean="0"/>
              <a:t>v8.1:</a:t>
            </a:r>
            <a:r>
              <a:rPr lang="zh-TW" altLang="en-US" dirty="0" smtClean="0"/>
              <a:t>主要是在 </a:t>
            </a:r>
            <a:r>
              <a:rPr lang="en-US" altLang="zh-TW" dirty="0" smtClean="0"/>
              <a:t>v8 </a:t>
            </a:r>
            <a:r>
              <a:rPr lang="zh-TW" altLang="en-US" dirty="0" smtClean="0"/>
              <a:t>的架構基礎上進行微調，其目的是為了對齊 </a:t>
            </a:r>
            <a:r>
              <a:rPr lang="en-US" altLang="zh-TW" dirty="0" smtClean="0"/>
              <a:t>NIST CSF 2.0</a:t>
            </a:r>
            <a:r>
              <a:rPr lang="zh-TW" altLang="en-US" dirty="0" smtClean="0"/>
              <a:t>，新增了 </a:t>
            </a:r>
            <a:r>
              <a:rPr lang="en-US" altLang="zh-TW" dirty="0" smtClean="0"/>
              <a:t>"Govern" (</a:t>
            </a:r>
            <a:r>
              <a:rPr lang="zh-TW" altLang="en-US" dirty="0" smtClean="0"/>
              <a:t>治理</a:t>
            </a:r>
            <a:r>
              <a:rPr lang="en-US" altLang="zh-TW" dirty="0" smtClean="0"/>
              <a:t>) </a:t>
            </a:r>
            <a:r>
              <a:rPr lang="zh-TW" altLang="en-US" dirty="0" smtClean="0"/>
              <a:t>功能</a:t>
            </a:r>
            <a:endParaRPr lang="en-US" altLang="zh-TW" dirty="0" smtClean="0"/>
          </a:p>
          <a:p>
            <a:pPr marL="171450" indent="-171450">
              <a:buFont typeface="Wingdings" panose="05000000000000000000" pitchFamily="2" charset="2"/>
              <a:buChar char="Ø"/>
            </a:pPr>
            <a:r>
              <a:rPr lang="en-US" altLang="zh-TW" dirty="0" smtClean="0"/>
              <a:t>CIS Controls</a:t>
            </a:r>
            <a:r>
              <a:rPr lang="zh-TW" altLang="en-US" dirty="0" smtClean="0"/>
              <a:t> </a:t>
            </a:r>
            <a:r>
              <a:rPr lang="en-US" altLang="zh-TW" dirty="0" smtClean="0"/>
              <a:t>v8/v8.1</a:t>
            </a:r>
            <a:r>
              <a:rPr lang="zh-TW" altLang="en-US" dirty="0" smtClean="0"/>
              <a:t>核心架構在於底下</a:t>
            </a:r>
            <a:r>
              <a:rPr lang="en-US" altLang="zh-TW" dirty="0" smtClean="0"/>
              <a:t>18 </a:t>
            </a:r>
            <a:r>
              <a:rPr lang="zh-TW" altLang="en-US" dirty="0" smtClean="0"/>
              <a:t>類安全控制措施 </a:t>
            </a:r>
            <a:r>
              <a:rPr lang="en-US" altLang="zh-TW" dirty="0" smtClean="0"/>
              <a:t>(The 18 Controls)</a:t>
            </a:r>
            <a:endParaRPr lang="zh-TW" altLang="en-US" dirty="0" smtClean="0"/>
          </a:p>
          <a:p>
            <a:endParaRPr lang="en-US" altLang="zh-TW" dirty="0" smtClean="0"/>
          </a:p>
          <a:p>
            <a:pPr marL="228600" indent="-228600">
              <a:buFont typeface="+mj-lt"/>
              <a:buAutoNum type="arabicPeriod"/>
            </a:pPr>
            <a:r>
              <a:rPr lang="zh-TW" altLang="en-US" b="1" dirty="0" smtClean="0"/>
              <a:t>企業資產清冊與控制 </a:t>
            </a:r>
            <a:r>
              <a:rPr lang="en-US" altLang="zh-TW" b="1" dirty="0" smtClean="0"/>
              <a:t>(Inventory and Control of Enterprise Assets)</a:t>
            </a:r>
            <a:endParaRPr lang="en-US" altLang="zh-TW" dirty="0" smtClean="0"/>
          </a:p>
          <a:p>
            <a:pPr marL="228600" indent="-228600">
              <a:buFont typeface="+mj-lt"/>
              <a:buAutoNum type="arabicPeriod"/>
            </a:pPr>
            <a:r>
              <a:rPr lang="zh-TW" altLang="en-US" b="1" dirty="0" smtClean="0"/>
              <a:t>軟體資產清冊與控制 </a:t>
            </a:r>
            <a:r>
              <a:rPr lang="en-US" altLang="zh-TW" b="1" dirty="0" smtClean="0"/>
              <a:t>(Inventory and Control of Software Assets)</a:t>
            </a:r>
            <a:endParaRPr lang="en-US" altLang="zh-TW" dirty="0" smtClean="0"/>
          </a:p>
          <a:p>
            <a:pPr marL="228600" indent="-228600">
              <a:buFont typeface="+mj-lt"/>
              <a:buAutoNum type="arabicPeriod"/>
            </a:pPr>
            <a:r>
              <a:rPr lang="zh-TW" altLang="en-US" b="1" dirty="0" smtClean="0"/>
              <a:t>資料保護 </a:t>
            </a:r>
            <a:r>
              <a:rPr lang="en-US" altLang="zh-TW" b="1" dirty="0" smtClean="0"/>
              <a:t>(Data Protection)</a:t>
            </a:r>
            <a:endParaRPr lang="en-US" altLang="zh-TW" dirty="0" smtClean="0"/>
          </a:p>
          <a:p>
            <a:pPr marL="228600" indent="-228600">
              <a:buFont typeface="+mj-lt"/>
              <a:buAutoNum type="arabicPeriod"/>
            </a:pPr>
            <a:r>
              <a:rPr lang="zh-TW" altLang="en-US" b="1" dirty="0" smtClean="0"/>
              <a:t>企業資產與軟體的安全組態 </a:t>
            </a:r>
            <a:r>
              <a:rPr lang="en-US" altLang="zh-TW" b="1" dirty="0" smtClean="0"/>
              <a:t>(Secure Configuration of Enterprise Assets and Software)</a:t>
            </a:r>
            <a:endParaRPr lang="en-US" altLang="zh-TW" dirty="0" smtClean="0"/>
          </a:p>
          <a:p>
            <a:pPr marL="228600" indent="-228600">
              <a:buFont typeface="+mj-lt"/>
              <a:buAutoNum type="arabicPeriod"/>
            </a:pPr>
            <a:r>
              <a:rPr lang="zh-TW" altLang="en-US" b="1" dirty="0" smtClean="0"/>
              <a:t>帳號管理 </a:t>
            </a:r>
            <a:r>
              <a:rPr lang="en-US" altLang="zh-TW" b="1" dirty="0" smtClean="0"/>
              <a:t>(Account Management)</a:t>
            </a:r>
            <a:endParaRPr lang="en-US" altLang="zh-TW" dirty="0" smtClean="0"/>
          </a:p>
          <a:p>
            <a:pPr marL="228600" indent="-228600">
              <a:buFont typeface="+mj-lt"/>
              <a:buAutoNum type="arabicPeriod"/>
            </a:pPr>
            <a:r>
              <a:rPr lang="zh-TW" altLang="en-US" b="1" dirty="0" smtClean="0"/>
              <a:t>存取控制管理 </a:t>
            </a:r>
            <a:r>
              <a:rPr lang="en-US" altLang="zh-TW" b="1" dirty="0" smtClean="0"/>
              <a:t>(Access Control Management)</a:t>
            </a:r>
            <a:endParaRPr lang="en-US" altLang="zh-TW" dirty="0" smtClean="0"/>
          </a:p>
          <a:p>
            <a:pPr marL="228600" indent="-228600">
              <a:buFont typeface="+mj-lt"/>
              <a:buAutoNum type="arabicPeriod"/>
            </a:pPr>
            <a:r>
              <a:rPr lang="zh-TW" altLang="en-US" b="1" dirty="0" smtClean="0"/>
              <a:t>持續性弱點管理 </a:t>
            </a:r>
            <a:r>
              <a:rPr lang="en-US" altLang="zh-TW" b="1" dirty="0" smtClean="0"/>
              <a:t>(Continuous Vulnerability Management)</a:t>
            </a:r>
            <a:endParaRPr lang="en-US" altLang="zh-TW" dirty="0" smtClean="0"/>
          </a:p>
          <a:p>
            <a:pPr marL="228600" indent="-228600">
              <a:buFont typeface="+mj-lt"/>
              <a:buAutoNum type="arabicPeriod"/>
            </a:pPr>
            <a:r>
              <a:rPr lang="zh-TW" altLang="en-US" b="1" dirty="0" smtClean="0"/>
              <a:t>稽核日誌管理 </a:t>
            </a:r>
            <a:r>
              <a:rPr lang="en-US" altLang="zh-TW" b="1" dirty="0" smtClean="0"/>
              <a:t>(Audit Log Management)</a:t>
            </a:r>
            <a:endParaRPr lang="en-US" altLang="zh-TW" dirty="0" smtClean="0"/>
          </a:p>
          <a:p>
            <a:pPr marL="228600" indent="-228600">
              <a:buFont typeface="+mj-lt"/>
              <a:buAutoNum type="arabicPeriod"/>
            </a:pPr>
            <a:r>
              <a:rPr lang="zh-TW" altLang="en-US" b="1" dirty="0" smtClean="0"/>
              <a:t>電子郵件與網頁瀏覽器防護 </a:t>
            </a:r>
            <a:r>
              <a:rPr lang="en-US" altLang="zh-TW" b="1" dirty="0" smtClean="0"/>
              <a:t>(Email and Web Browser Protections)</a:t>
            </a:r>
            <a:endParaRPr lang="en-US" altLang="zh-TW" dirty="0" smtClean="0"/>
          </a:p>
          <a:p>
            <a:pPr marL="228600" indent="-228600">
              <a:buFont typeface="+mj-lt"/>
              <a:buAutoNum type="arabicPeriod"/>
            </a:pPr>
            <a:r>
              <a:rPr lang="zh-TW" altLang="en-US" b="1" dirty="0" smtClean="0"/>
              <a:t>惡意程式防禦 </a:t>
            </a:r>
            <a:r>
              <a:rPr lang="en-US" altLang="zh-TW" b="1" dirty="0" smtClean="0"/>
              <a:t>(Malware Defenses)</a:t>
            </a:r>
            <a:endParaRPr lang="en-US" altLang="zh-TW" dirty="0" smtClean="0"/>
          </a:p>
          <a:p>
            <a:pPr marL="228600" indent="-228600">
              <a:buFont typeface="+mj-lt"/>
              <a:buAutoNum type="arabicPeriod"/>
            </a:pPr>
            <a:r>
              <a:rPr lang="zh-TW" altLang="en-US" b="1" dirty="0" smtClean="0"/>
              <a:t>資料復原 </a:t>
            </a:r>
            <a:r>
              <a:rPr lang="en-US" altLang="zh-TW" b="1" dirty="0" smtClean="0"/>
              <a:t>(Data Recovery)</a:t>
            </a:r>
            <a:endParaRPr lang="en-US" altLang="zh-TW" dirty="0" smtClean="0"/>
          </a:p>
          <a:p>
            <a:pPr marL="228600" indent="-228600">
              <a:buFont typeface="+mj-lt"/>
              <a:buAutoNum type="arabicPeriod"/>
            </a:pPr>
            <a:r>
              <a:rPr lang="zh-TW" altLang="en-US" b="1" dirty="0" smtClean="0"/>
              <a:t>網路基礎架構管理 </a:t>
            </a:r>
            <a:r>
              <a:rPr lang="en-US" altLang="zh-TW" b="1" dirty="0" smtClean="0"/>
              <a:t>(Network Infrastructure Management)</a:t>
            </a:r>
            <a:endParaRPr lang="en-US" altLang="zh-TW" dirty="0" smtClean="0"/>
          </a:p>
          <a:p>
            <a:pPr marL="228600" indent="-228600">
              <a:buFont typeface="+mj-lt"/>
              <a:buAutoNum type="arabicPeriod"/>
            </a:pPr>
            <a:r>
              <a:rPr lang="zh-TW" altLang="en-US" b="1" dirty="0" smtClean="0"/>
              <a:t>網路監控與防禦 </a:t>
            </a:r>
            <a:r>
              <a:rPr lang="en-US" altLang="zh-TW" b="1" dirty="0" smtClean="0"/>
              <a:t>(Network Monitoring and Defense)</a:t>
            </a:r>
            <a:endParaRPr lang="en-US" altLang="zh-TW" dirty="0" smtClean="0"/>
          </a:p>
          <a:p>
            <a:pPr marL="228600" indent="-228600">
              <a:buFont typeface="+mj-lt"/>
              <a:buAutoNum type="arabicPeriod"/>
            </a:pPr>
            <a:r>
              <a:rPr lang="zh-TW" altLang="en-US" b="1" dirty="0" smtClean="0"/>
              <a:t>資安意識與技能訓練 </a:t>
            </a:r>
            <a:r>
              <a:rPr lang="en-US" altLang="zh-TW" b="1" dirty="0" smtClean="0"/>
              <a:t>(Security Awareness and Skills Training)</a:t>
            </a:r>
            <a:endParaRPr lang="en-US" altLang="zh-TW" dirty="0" smtClean="0"/>
          </a:p>
          <a:p>
            <a:pPr marL="228600" indent="-228600">
              <a:buFont typeface="+mj-lt"/>
              <a:buAutoNum type="arabicPeriod"/>
            </a:pPr>
            <a:r>
              <a:rPr lang="zh-TW" altLang="en-US" b="1" dirty="0" smtClean="0"/>
              <a:t>服務供應商管理 </a:t>
            </a:r>
            <a:r>
              <a:rPr lang="en-US" altLang="zh-TW" b="1" dirty="0" smtClean="0"/>
              <a:t>(Service Provider Management)</a:t>
            </a:r>
            <a:endParaRPr lang="en-US" altLang="zh-TW" dirty="0" smtClean="0"/>
          </a:p>
          <a:p>
            <a:pPr marL="228600" indent="-228600">
              <a:buFont typeface="+mj-lt"/>
              <a:buAutoNum type="arabicPeriod"/>
            </a:pPr>
            <a:r>
              <a:rPr lang="zh-TW" altLang="en-US" b="1" dirty="0" smtClean="0"/>
              <a:t>應用軟體安全 </a:t>
            </a:r>
            <a:r>
              <a:rPr lang="en-US" altLang="zh-TW" b="1" dirty="0" smtClean="0"/>
              <a:t>(Application Software Security)</a:t>
            </a:r>
            <a:endParaRPr lang="en-US" altLang="zh-TW" dirty="0" smtClean="0"/>
          </a:p>
          <a:p>
            <a:pPr marL="228600" indent="-228600">
              <a:buFont typeface="+mj-lt"/>
              <a:buAutoNum type="arabicPeriod"/>
            </a:pPr>
            <a:r>
              <a:rPr lang="zh-TW" altLang="en-US" b="1" dirty="0" smtClean="0"/>
              <a:t>事件應變管理 </a:t>
            </a:r>
            <a:r>
              <a:rPr lang="en-US" altLang="zh-TW" b="1" dirty="0" smtClean="0"/>
              <a:t>(Incident Response Management)</a:t>
            </a:r>
            <a:endParaRPr lang="en-US" altLang="zh-TW" dirty="0" smtClean="0"/>
          </a:p>
          <a:p>
            <a:pPr marL="228600" indent="-228600">
              <a:buFont typeface="+mj-lt"/>
              <a:buAutoNum type="arabicPeriod"/>
            </a:pPr>
            <a:r>
              <a:rPr lang="zh-TW" altLang="en-US" b="1" dirty="0" smtClean="0"/>
              <a:t>滲透測試 </a:t>
            </a:r>
            <a:r>
              <a:rPr lang="en-US" altLang="zh-TW" b="1" dirty="0" smtClean="0"/>
              <a:t>(Penetration Testing)</a:t>
            </a:r>
            <a:endParaRPr lang="en-US" altLang="zh-TW" dirty="0" smtClean="0"/>
          </a:p>
          <a:p>
            <a:endParaRPr lang="en-US" altLang="zh-TW" dirty="0" smtClean="0"/>
          </a:p>
          <a:p>
            <a:endParaRPr lang="en-US" altLang="zh-TW" dirty="0" smtClean="0"/>
          </a:p>
          <a:p>
            <a:r>
              <a:rPr lang="zh-TW" altLang="en-US" dirty="0" smtClean="0"/>
              <a:t>更多說明請參閱底下網址資訊</a:t>
            </a:r>
            <a:r>
              <a:rPr lang="en-US" altLang="zh-TW" dirty="0" smtClean="0"/>
              <a:t>:</a:t>
            </a:r>
          </a:p>
          <a:p>
            <a:r>
              <a:rPr lang="en-US" altLang="zh-TW" dirty="0" smtClean="0"/>
              <a:t>1. https://www.cisecurity.org/</a:t>
            </a:r>
          </a:p>
          <a:p>
            <a:r>
              <a:rPr lang="en-US" altLang="zh-TW" dirty="0" smtClean="0"/>
              <a:t>2.https://en.wikipedia.org/wiki/Center_for_Internet_Security</a:t>
            </a:r>
            <a:endParaRPr lang="zh-TW" altLang="en-US" dirty="0"/>
          </a:p>
        </p:txBody>
      </p:sp>
    </p:spTree>
    <p:extLst>
      <p:ext uri="{BB962C8B-B14F-4D97-AF65-F5344CB8AC3E}">
        <p14:creationId xmlns:p14="http://schemas.microsoft.com/office/powerpoint/2010/main" val="28654107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en-US" altLang="zh-TW" sz="1200" dirty="0" smtClean="0"/>
              <a:t>CIS Benchmarks (</a:t>
            </a:r>
            <a:r>
              <a:rPr lang="zh-TW" altLang="en-US" sz="1200" dirty="0" smtClean="0"/>
              <a:t>基準</a:t>
            </a:r>
            <a:r>
              <a:rPr lang="en-US" altLang="zh-TW" sz="1200" dirty="0" smtClean="0"/>
              <a:t>)</a:t>
            </a:r>
            <a:r>
              <a:rPr lang="zh-TW" altLang="en-US" sz="1200" dirty="0" smtClean="0"/>
              <a:t> 相當於我國的政府組態基準</a:t>
            </a:r>
            <a:r>
              <a:rPr lang="en-US" altLang="zh-TW" sz="1200" dirty="0" smtClean="0"/>
              <a:t>(Government Configuration Baseline</a:t>
            </a:r>
            <a:r>
              <a:rPr lang="zh-TW" altLang="en-US" sz="1200" dirty="0" smtClean="0"/>
              <a:t>，</a:t>
            </a:r>
            <a:r>
              <a:rPr lang="en-US" altLang="zh-TW" sz="1200" dirty="0" smtClean="0"/>
              <a:t>GCB)</a:t>
            </a:r>
            <a:endParaRPr lang="en-US" altLang="zh-TW" dirty="0" smtClean="0"/>
          </a:p>
          <a:p>
            <a:r>
              <a:rPr lang="zh-TW" altLang="en-US" dirty="0" smtClean="0"/>
              <a:t>各類型的</a:t>
            </a:r>
            <a:r>
              <a:rPr lang="en-US" altLang="zh-TW" sz="1200" dirty="0" smtClean="0"/>
              <a:t>CIS Benchmarks (</a:t>
            </a:r>
            <a:r>
              <a:rPr lang="zh-TW" altLang="en-US" sz="1200" dirty="0" smtClean="0"/>
              <a:t>基準</a:t>
            </a:r>
            <a:r>
              <a:rPr lang="en-US" altLang="zh-TW" sz="1200" dirty="0" smtClean="0"/>
              <a:t>)</a:t>
            </a:r>
            <a:r>
              <a:rPr lang="zh-TW" altLang="en-US" sz="1200" dirty="0" smtClean="0"/>
              <a:t> 請參閱 </a:t>
            </a:r>
            <a:r>
              <a:rPr lang="en-US" altLang="zh-TW" dirty="0" smtClean="0"/>
              <a:t>https://www.cisecurity.org/cis-benchmarks</a:t>
            </a:r>
          </a:p>
          <a:p>
            <a:endParaRPr lang="zh-TW" altLang="en-US" dirty="0"/>
          </a:p>
        </p:txBody>
      </p:sp>
    </p:spTree>
    <p:extLst>
      <p:ext uri="{BB962C8B-B14F-4D97-AF65-F5344CB8AC3E}">
        <p14:creationId xmlns:p14="http://schemas.microsoft.com/office/powerpoint/2010/main" val="74821544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zh-TW" altLang="en-US" dirty="0" smtClean="0"/>
              <a:t>更多說明請參閱底下網址資訊</a:t>
            </a:r>
            <a:r>
              <a:rPr lang="en-US" altLang="zh-TW" dirty="0" smtClean="0"/>
              <a:t>:</a:t>
            </a:r>
          </a:p>
          <a:p>
            <a:r>
              <a:rPr lang="en-US" altLang="zh-TW" dirty="0" smtClean="0"/>
              <a:t>1. https://www.cisecurity.org/</a:t>
            </a:r>
          </a:p>
          <a:p>
            <a:endParaRPr lang="zh-TW" altLang="en-US" dirty="0"/>
          </a:p>
        </p:txBody>
      </p:sp>
    </p:spTree>
    <p:extLst>
      <p:ext uri="{BB962C8B-B14F-4D97-AF65-F5344CB8AC3E}">
        <p14:creationId xmlns:p14="http://schemas.microsoft.com/office/powerpoint/2010/main" val="26506831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22288" y="355600"/>
            <a:ext cx="5722937" cy="4292600"/>
          </a:xfrm>
        </p:spPr>
      </p:sp>
      <p:sp>
        <p:nvSpPr>
          <p:cNvPr id="3" name="備忘稿版面配置區 2"/>
          <p:cNvSpPr>
            <a:spLocks noGrp="1"/>
          </p:cNvSpPr>
          <p:nvPr>
            <p:ph type="body" idx="1"/>
          </p:nvPr>
        </p:nvSpPr>
        <p:spPr/>
        <p:txBody>
          <a:bodyPr/>
          <a:lstStyle/>
          <a:p>
            <a:r>
              <a:rPr lang="en-US" altLang="zh-TW" dirty="0" smtClean="0"/>
              <a:t>1.</a:t>
            </a:r>
            <a:r>
              <a:rPr lang="zh-TW" altLang="en-US" dirty="0" smtClean="0"/>
              <a:t>本教材統一使用防護基準譯名代表</a:t>
            </a:r>
            <a:r>
              <a:rPr lang="en-US" altLang="zh-TW" dirty="0" smtClean="0"/>
              <a:t>Security Control Baselines</a:t>
            </a:r>
          </a:p>
          <a:p>
            <a:r>
              <a:rPr lang="en-US" altLang="zh-TW" dirty="0" smtClean="0"/>
              <a:t>2.</a:t>
            </a:r>
            <a:r>
              <a:rPr lang="zh-TW" altLang="en-US" dirty="0" smtClean="0">
                <a:hlinkClick r:id="rId3"/>
              </a:rPr>
              <a:t>國家資通安全研究院 </a:t>
            </a:r>
            <a:r>
              <a:rPr lang="en-US" altLang="zh-TW" dirty="0" smtClean="0">
                <a:hlinkClick r:id="rId3"/>
              </a:rPr>
              <a:t>- </a:t>
            </a:r>
            <a:r>
              <a:rPr lang="zh-TW" altLang="en-US" dirty="0" smtClean="0">
                <a:hlinkClick r:id="rId3"/>
              </a:rPr>
              <a:t>共通規範</a:t>
            </a:r>
            <a:endParaRPr lang="en-US" altLang="zh-TW" dirty="0" smtClean="0"/>
          </a:p>
          <a:p>
            <a:r>
              <a:rPr lang="en-US" altLang="zh-TW" dirty="0" smtClean="0"/>
              <a:t>https://www.nics.nat.gov.tw/cybersecurity_resources/reference_guide/Common_Standards/</a:t>
            </a:r>
          </a:p>
          <a:p>
            <a:pPr marL="0" marR="0" indent="0" algn="l" defTabSz="914400" rtl="0" eaLnBrk="1" fontAlgn="auto" latinLnBrk="0" hangingPunct="1">
              <a:lnSpc>
                <a:spcPct val="100000"/>
              </a:lnSpc>
              <a:spcBef>
                <a:spcPts val="0"/>
              </a:spcBef>
              <a:spcAft>
                <a:spcPts val="0"/>
              </a:spcAft>
              <a:buClrTx/>
              <a:buSzTx/>
              <a:buFontTx/>
              <a:buNone/>
              <a:tabLst/>
              <a:defRPr/>
            </a:pPr>
            <a:endParaRPr lang="zh-TW" altLang="en-US" dirty="0" smtClean="0">
              <a:latin typeface="PMingLiU" panose="02020500000000000000" pitchFamily="18" charset="-120"/>
              <a:ea typeface="PMingLiU" panose="02020500000000000000" pitchFamily="18" charset="-120"/>
            </a:endParaRPr>
          </a:p>
          <a:p>
            <a:endParaRPr lang="zh-TW" altLang="en-US" dirty="0"/>
          </a:p>
        </p:txBody>
      </p:sp>
    </p:spTree>
    <p:extLst>
      <p:ext uri="{BB962C8B-B14F-4D97-AF65-F5344CB8AC3E}">
        <p14:creationId xmlns:p14="http://schemas.microsoft.com/office/powerpoint/2010/main" val="42238143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投影片影像版面配置區 5">
            <a:extLst>
              <a:ext uri="{FF2B5EF4-FFF2-40B4-BE49-F238E27FC236}">
                <a16:creationId xmlns:a16="http://schemas.microsoft.com/office/drawing/2014/main" id="{63423C74-88D9-4916-8929-4DEC3685C747}"/>
              </a:ext>
            </a:extLst>
          </p:cNvPr>
          <p:cNvSpPr>
            <a:spLocks noGrp="1" noRot="1" noChangeAspect="1"/>
          </p:cNvSpPr>
          <p:nvPr>
            <p:ph type="sldImg"/>
          </p:nvPr>
        </p:nvSpPr>
        <p:spPr>
          <a:xfrm>
            <a:off x="593725" y="366713"/>
            <a:ext cx="5838825" cy="4378325"/>
          </a:xfrm>
          <a:prstGeom prst="rect">
            <a:avLst/>
          </a:prstGeom>
        </p:spPr>
      </p:sp>
      <p:sp>
        <p:nvSpPr>
          <p:cNvPr id="7" name="備忘稿版面配置區 6">
            <a:extLst>
              <a:ext uri="{FF2B5EF4-FFF2-40B4-BE49-F238E27FC236}">
                <a16:creationId xmlns:a16="http://schemas.microsoft.com/office/drawing/2014/main" id="{B95A8CCE-942C-43E2-805E-CC7F6EDC6811}"/>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425877133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a:xfrm>
            <a:off x="593725" y="366713"/>
            <a:ext cx="5838825" cy="4378325"/>
          </a:xfrm>
          <a:prstGeom prst="rect">
            <a:avLst/>
          </a:prstGeom>
          <a:ln/>
        </p:spPr>
      </p:sp>
      <p:sp>
        <p:nvSpPr>
          <p:cNvPr id="28675"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871475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Rectangle 3"/>
          <p:cNvSpPr>
            <a:spLocks noGrp="1" noChangeArrowheads="1"/>
          </p:cNvSpPr>
          <p:nvPr>
            <p:ph type="body" idx="1"/>
          </p:nvPr>
        </p:nvSpPr>
        <p:spPr/>
        <p:txBody>
          <a:bodyPr/>
          <a:lstStyle/>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資訊安全的簡單定義：保障資訊及資通系統資產免於發生潛在不可承受的風險。將可能發生的風險，管控到機關可以承受的範圍內，就可以說機關已達到資訊安全的標準</a:t>
            </a:r>
            <a:endParaRPr kumimoji="1" lang="en-US" altLang="zh-TW" sz="1500" dirty="0">
              <a:latin typeface="微軟正黑體" panose="020B0604030504040204" pitchFamily="34" charset="-120"/>
              <a:ea typeface="微軟正黑體" panose="020B0604030504040204" pitchFamily="34" charset="-120"/>
            </a:endParaRP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導入資訊安全或通過驗證，不代表不會再發生資安事件或風險，因為那是不可能的事。只能說導入資訊安全，是在發生資安事件時，能夠快速因應處理。例如：機關評估不能接受公文系統中斷</a:t>
            </a:r>
            <a:r>
              <a:rPr kumimoji="1" lang="en-US" altLang="zh-TW" sz="1500" dirty="0">
                <a:latin typeface="微軟正黑體" panose="020B0604030504040204" pitchFamily="34" charset="-120"/>
                <a:ea typeface="微軟正黑體" panose="020B0604030504040204" pitchFamily="34" charset="-120"/>
              </a:rPr>
              <a:t>8</a:t>
            </a:r>
            <a:r>
              <a:rPr kumimoji="1" lang="zh-TW" altLang="en-US" sz="1500" dirty="0">
                <a:latin typeface="微軟正黑體" panose="020B0604030504040204" pitchFamily="34" charset="-120"/>
                <a:ea typeface="微軟正黑體" panose="020B0604030504040204" pitchFamily="34" charset="-120"/>
              </a:rPr>
              <a:t>小時以上，但導入資訊安全或通過資安驗證，不是保證公文系統都不會發生中斷事件，而是一旦發生中斷時，機關有能力在</a:t>
            </a:r>
            <a:r>
              <a:rPr kumimoji="1" lang="en-US" altLang="zh-TW" sz="1500" dirty="0">
                <a:latin typeface="微軟正黑體" panose="020B0604030504040204" pitchFamily="34" charset="-120"/>
                <a:ea typeface="微軟正黑體" panose="020B0604030504040204" pitchFamily="34" charset="-120"/>
              </a:rPr>
              <a:t>8</a:t>
            </a:r>
            <a:r>
              <a:rPr kumimoji="1" lang="zh-TW" altLang="en-US" sz="1500" dirty="0">
                <a:latin typeface="微軟正黑體" panose="020B0604030504040204" pitchFamily="34" charset="-120"/>
                <a:ea typeface="微軟正黑體" panose="020B0604030504040204" pitchFamily="34" charset="-120"/>
              </a:rPr>
              <a:t>小時以內回復，提供同仁繼續作業</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資訊安全之機密性、完整性及可用性的</a:t>
            </a:r>
            <a:r>
              <a:rPr kumimoji="1" lang="en-US" altLang="zh-TW" sz="1500" dirty="0">
                <a:latin typeface="微軟正黑體" panose="020B0604030504040204" pitchFamily="34" charset="-120"/>
                <a:ea typeface="微軟正黑體" panose="020B0604030504040204" pitchFamily="34" charset="-120"/>
              </a:rPr>
              <a:t>3</a:t>
            </a:r>
            <a:r>
              <a:rPr kumimoji="1" lang="zh-TW" altLang="en-US" sz="1500" dirty="0">
                <a:latin typeface="微軟正黑體" panose="020B0604030504040204" pitchFamily="34" charset="-120"/>
                <a:ea typeface="微軟正黑體" panose="020B0604030504040204" pitchFamily="34" charset="-120"/>
              </a:rPr>
              <a:t>個特性，可說是基本防護因子，只要有效防護，就可以說做好資訊安全</a:t>
            </a:r>
            <a:endParaRPr kumimoji="1" lang="en-US" altLang="zh-TW" sz="1500" dirty="0">
              <a:latin typeface="微軟正黑體" panose="020B0604030504040204" pitchFamily="34" charset="-120"/>
              <a:ea typeface="微軟正黑體" panose="020B0604030504040204" pitchFamily="34" charset="-120"/>
            </a:endParaRPr>
          </a:p>
          <a:p>
            <a:pPr marL="298483" indent="-298483" algn="just" fontAlgn="base">
              <a:lnSpc>
                <a:spcPct val="120000"/>
              </a:lnSpc>
              <a:spcBef>
                <a:spcPts val="207"/>
              </a:spcBef>
              <a:spcAft>
                <a:spcPts val="207"/>
              </a:spcAft>
              <a:buFont typeface="Wingdings" panose="05000000000000000000" pitchFamily="2" charset="2"/>
              <a:buChar char="l"/>
            </a:pPr>
            <a:r>
              <a:rPr kumimoji="1" lang="en-US" altLang="zh-TW" sz="1500" dirty="0">
                <a:latin typeface="微軟正黑體" panose="020B0604030504040204" pitchFamily="34" charset="-120"/>
                <a:ea typeface="微軟正黑體" panose="020B0604030504040204" pitchFamily="34" charset="-120"/>
              </a:rPr>
              <a:t>ISO 27001</a:t>
            </a:r>
            <a:r>
              <a:rPr kumimoji="1" lang="zh-TW" altLang="en-US" sz="1500" dirty="0">
                <a:latin typeface="微軟正黑體" panose="020B0604030504040204" pitchFamily="34" charset="-120"/>
                <a:ea typeface="微軟正黑體" panose="020B0604030504040204" pitchFamily="34" charset="-120"/>
              </a:rPr>
              <a:t>對資訊安全的定義為：保存資訊的機密性、完整性及可用性，</a:t>
            </a:r>
            <a:r>
              <a:rPr kumimoji="1" lang="en-US" altLang="zh-TW" sz="1500" dirty="0">
                <a:latin typeface="微軟正黑體" panose="020B0604030504040204" pitchFamily="34" charset="-120"/>
                <a:ea typeface="微軟正黑體" panose="020B0604030504040204" pitchFamily="34" charset="-120"/>
              </a:rPr>
              <a:t>CIA</a:t>
            </a:r>
            <a:r>
              <a:rPr kumimoji="1" lang="zh-TW" altLang="en-US" sz="1500" dirty="0">
                <a:latin typeface="微軟正黑體" panose="020B0604030504040204" pitchFamily="34" charset="-120"/>
                <a:ea typeface="微軟正黑體" panose="020B0604030504040204" pitchFamily="34" charset="-120"/>
              </a:rPr>
              <a:t>。</a:t>
            </a:r>
            <a:endParaRPr kumimoji="1" lang="en-US" altLang="zh-TW" sz="1500" dirty="0">
              <a:latin typeface="微軟正黑體" panose="020B0604030504040204" pitchFamily="34" charset="-120"/>
              <a:ea typeface="微軟正黑體" panose="020B0604030504040204" pitchFamily="34" charset="-120"/>
            </a:endParaRP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除了保護資訊的機密性、完整性及可用性外，還涉及鑑別性</a:t>
            </a:r>
            <a:r>
              <a:rPr kumimoji="1" lang="en-US" altLang="zh-TW" sz="1500" dirty="0">
                <a:latin typeface="微軟正黑體" panose="020B0604030504040204" pitchFamily="34" charset="-120"/>
                <a:ea typeface="微軟正黑體" panose="020B0604030504040204" pitchFamily="34" charset="-120"/>
              </a:rPr>
              <a:t>(Authenticity)</a:t>
            </a:r>
            <a:r>
              <a:rPr kumimoji="1" lang="zh-TW" altLang="en-US" sz="1500" dirty="0">
                <a:latin typeface="微軟正黑體" panose="020B0604030504040204" pitchFamily="34" charset="-120"/>
                <a:ea typeface="微軟正黑體" panose="020B0604030504040204" pitchFamily="34" charset="-120"/>
              </a:rPr>
              <a:t>、可歸責性</a:t>
            </a:r>
            <a:r>
              <a:rPr kumimoji="1" lang="en-US" altLang="zh-TW" sz="1500" dirty="0">
                <a:latin typeface="微軟正黑體" panose="020B0604030504040204" pitchFamily="34" charset="-120"/>
                <a:ea typeface="微軟正黑體" panose="020B0604030504040204" pitchFamily="34" charset="-120"/>
              </a:rPr>
              <a:t>(Accountability)</a:t>
            </a:r>
            <a:r>
              <a:rPr kumimoji="1" lang="zh-TW" altLang="en-US" sz="1500" dirty="0">
                <a:latin typeface="微軟正黑體" panose="020B0604030504040204" pitchFamily="34" charset="-120"/>
                <a:ea typeface="微軟正黑體" panose="020B0604030504040204" pitchFamily="34" charset="-120"/>
              </a:rPr>
              <a:t>、不可否認性</a:t>
            </a:r>
            <a:r>
              <a:rPr kumimoji="1" lang="en-US" altLang="zh-TW" sz="1500" dirty="0">
                <a:latin typeface="微軟正黑體" panose="020B0604030504040204" pitchFamily="34" charset="-120"/>
                <a:ea typeface="微軟正黑體" panose="020B0604030504040204" pitchFamily="34" charset="-120"/>
              </a:rPr>
              <a:t>(Non-Repudiation)</a:t>
            </a:r>
            <a:r>
              <a:rPr kumimoji="1" lang="zh-TW" altLang="en-US" sz="1500" dirty="0">
                <a:latin typeface="微軟正黑體" panose="020B0604030504040204" pitchFamily="34" charset="-120"/>
                <a:ea typeface="微軟正黑體" panose="020B0604030504040204" pitchFamily="34" charset="-120"/>
              </a:rPr>
              <a:t>及可靠度</a:t>
            </a:r>
            <a:r>
              <a:rPr kumimoji="1" lang="en-US" altLang="zh-TW" sz="1500" dirty="0">
                <a:latin typeface="微軟正黑體" panose="020B0604030504040204" pitchFamily="34" charset="-120"/>
                <a:ea typeface="微軟正黑體" panose="020B0604030504040204" pitchFamily="34" charset="-120"/>
              </a:rPr>
              <a:t>(Reliability)</a:t>
            </a:r>
            <a:endParaRPr kumimoji="1" lang="zh-TW" altLang="en-US" sz="1500" dirty="0">
              <a:latin typeface="微軟正黑體" panose="020B0604030504040204" pitchFamily="34" charset="-120"/>
              <a:ea typeface="微軟正黑體" panose="020B0604030504040204" pitchFamily="34" charset="-120"/>
            </a:endParaRPr>
          </a:p>
        </p:txBody>
      </p:sp>
      <p:sp>
        <p:nvSpPr>
          <p:cNvPr id="5" name="投影片影像版面配置區 4">
            <a:extLst>
              <a:ext uri="{FF2B5EF4-FFF2-40B4-BE49-F238E27FC236}">
                <a16:creationId xmlns:a16="http://schemas.microsoft.com/office/drawing/2014/main" id="{68A357C3-D595-4E21-972D-B348F6874705}"/>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3007667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a:xfrm>
            <a:off x="593725" y="366713"/>
            <a:ext cx="5838825" cy="4378325"/>
          </a:xfrm>
          <a:prstGeom prst="rect">
            <a:avLst/>
          </a:prstGeom>
          <a:ln/>
        </p:spPr>
      </p:sp>
      <p:sp>
        <p:nvSpPr>
          <p:cNvPr id="2662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參考「資通系統風險評鑑參考指引</a:t>
            </a:r>
            <a:r>
              <a:rPr kumimoji="1" lang="zh-TW" altLang="en-US" sz="1500" dirty="0" smtClean="0">
                <a:latin typeface="微軟正黑體" panose="020B0604030504040204" pitchFamily="34" charset="-120"/>
                <a:ea typeface="微軟正黑體" panose="020B0604030504040204" pitchFamily="34" charset="-120"/>
              </a:rPr>
              <a:t>」</a:t>
            </a:r>
            <a:endParaRPr kumimoji="1" lang="en-US" altLang="zh-TW" sz="1500" dirty="0" smtClean="0">
              <a:latin typeface="微軟正黑體" panose="020B0604030504040204" pitchFamily="34" charset="-120"/>
              <a:ea typeface="微軟正黑體" panose="020B0604030504040204" pitchFamily="34" charset="-120"/>
            </a:endParaRPr>
          </a:p>
          <a:p>
            <a:pPr marL="298483" indent="-298483" algn="just" fontAlgn="base">
              <a:lnSpc>
                <a:spcPct val="120000"/>
              </a:lnSpc>
              <a:spcBef>
                <a:spcPts val="207"/>
              </a:spcBef>
              <a:spcAft>
                <a:spcPts val="207"/>
              </a:spcAft>
              <a:buFont typeface="Wingdings" panose="05000000000000000000" pitchFamily="2" charset="2"/>
              <a:buChar char="l"/>
            </a:pPr>
            <a:r>
              <a:rPr lang="zh-TW" altLang="en-US" sz="1600" dirty="0" smtClean="0">
                <a:solidFill>
                  <a:schemeClr val="tx1"/>
                </a:solidFill>
              </a:rPr>
              <a:t>名詞相異但意義相同</a:t>
            </a:r>
            <a:r>
              <a:rPr lang="en-US" altLang="zh-TW" sz="1600" dirty="0" smtClean="0">
                <a:solidFill>
                  <a:schemeClr val="tx1"/>
                </a:solidFill>
              </a:rPr>
              <a:t>:</a:t>
            </a:r>
            <a:r>
              <a:rPr lang="zh-TW" altLang="en-US" sz="1600" dirty="0" smtClean="0">
                <a:solidFill>
                  <a:schemeClr val="tx1"/>
                </a:solidFill>
              </a:rPr>
              <a:t>脆弱性</a:t>
            </a:r>
            <a:r>
              <a:rPr lang="en-US" altLang="zh-TW" sz="1600" dirty="0" smtClean="0">
                <a:solidFill>
                  <a:schemeClr val="tx1"/>
                </a:solidFill>
              </a:rPr>
              <a:t>(</a:t>
            </a:r>
            <a:r>
              <a:rPr lang="en-US" altLang="zh-TW" sz="1600" i="0" dirty="0" smtClean="0">
                <a:solidFill>
                  <a:schemeClr val="tx1"/>
                </a:solidFill>
              </a:rPr>
              <a:t>Vulnerability</a:t>
            </a:r>
            <a:r>
              <a:rPr lang="en-US" altLang="zh-TW" sz="1600" dirty="0" smtClean="0">
                <a:solidFill>
                  <a:schemeClr val="tx1"/>
                </a:solidFill>
              </a:rPr>
              <a:t>)</a:t>
            </a:r>
            <a:r>
              <a:rPr lang="zh-TW" altLang="en-US" sz="1600" dirty="0" smtClean="0">
                <a:solidFill>
                  <a:schemeClr val="tx1"/>
                </a:solidFill>
              </a:rPr>
              <a:t>又稱漏洞</a:t>
            </a:r>
            <a:r>
              <a:rPr lang="en-US" altLang="zh-TW" sz="1600" dirty="0" smtClean="0">
                <a:solidFill>
                  <a:schemeClr val="tx1"/>
                </a:solidFill>
              </a:rPr>
              <a:t>,</a:t>
            </a:r>
            <a:r>
              <a:rPr lang="zh-TW" altLang="en-US" sz="1600" dirty="0" smtClean="0">
                <a:solidFill>
                  <a:schemeClr val="tx1"/>
                </a:solidFill>
              </a:rPr>
              <a:t>與之對應的有</a:t>
            </a:r>
            <a:r>
              <a:rPr lang="en-US" altLang="zh-TW" sz="1600" dirty="0" smtClean="0">
                <a:solidFill>
                  <a:schemeClr val="tx1"/>
                </a:solidFill>
              </a:rPr>
              <a:t>Vulnerability</a:t>
            </a:r>
            <a:r>
              <a:rPr lang="zh-TW" altLang="en-US" sz="1600" dirty="0" smtClean="0">
                <a:solidFill>
                  <a:schemeClr val="tx1"/>
                </a:solidFill>
              </a:rPr>
              <a:t> </a:t>
            </a:r>
            <a:r>
              <a:rPr lang="en-US" altLang="zh-TW" sz="1600" dirty="0" smtClean="0">
                <a:solidFill>
                  <a:schemeClr val="tx1"/>
                </a:solidFill>
              </a:rPr>
              <a:t>Management(</a:t>
            </a:r>
            <a:r>
              <a:rPr lang="zh-TW" altLang="en-US" sz="1600" dirty="0" smtClean="0">
                <a:solidFill>
                  <a:schemeClr val="tx1"/>
                </a:solidFill>
              </a:rPr>
              <a:t>漏洞管理或脆弱性管理</a:t>
            </a:r>
            <a:r>
              <a:rPr lang="en-US" altLang="zh-TW" sz="1600" dirty="0" smtClean="0">
                <a:solidFill>
                  <a:schemeClr val="tx1"/>
                </a:solidFill>
              </a:rPr>
              <a:t>)</a:t>
            </a:r>
          </a:p>
          <a:p>
            <a:pPr marL="0" indent="0" algn="just" fontAlgn="base">
              <a:lnSpc>
                <a:spcPct val="120000"/>
              </a:lnSpc>
              <a:spcBef>
                <a:spcPts val="207"/>
              </a:spcBef>
              <a:spcAft>
                <a:spcPts val="207"/>
              </a:spcAft>
              <a:buFontTx/>
              <a:buNone/>
            </a:pPr>
            <a:r>
              <a:rPr lang="zh-TW" altLang="en-US" sz="1600" dirty="0" smtClean="0">
                <a:solidFill>
                  <a:schemeClr val="tx1"/>
                </a:solidFill>
              </a:rPr>
              <a:t>         另外在安全性檢測也有</a:t>
            </a:r>
            <a:r>
              <a:rPr lang="en-US" altLang="zh-TW" sz="1600" dirty="0" smtClean="0">
                <a:solidFill>
                  <a:schemeClr val="tx1"/>
                </a:solidFill>
              </a:rPr>
              <a:t>Vulnerability</a:t>
            </a:r>
            <a:r>
              <a:rPr lang="zh-TW" altLang="en-US" sz="1600" dirty="0" smtClean="0">
                <a:solidFill>
                  <a:schemeClr val="tx1"/>
                </a:solidFill>
              </a:rPr>
              <a:t> </a:t>
            </a:r>
            <a:r>
              <a:rPr lang="en-US" altLang="zh-TW" sz="1600" dirty="0" smtClean="0">
                <a:solidFill>
                  <a:schemeClr val="tx1"/>
                </a:solidFill>
              </a:rPr>
              <a:t>Scan(</a:t>
            </a:r>
            <a:r>
              <a:rPr lang="zh-TW" altLang="en-US" sz="1600" dirty="0" smtClean="0">
                <a:solidFill>
                  <a:schemeClr val="tx1"/>
                </a:solidFill>
              </a:rPr>
              <a:t>漏洞掃描</a:t>
            </a:r>
            <a:r>
              <a:rPr lang="en-US" altLang="zh-TW" sz="1600" dirty="0" smtClean="0">
                <a:solidFill>
                  <a:schemeClr val="tx1"/>
                </a:solidFill>
              </a:rPr>
              <a:t>,</a:t>
            </a:r>
            <a:r>
              <a:rPr lang="zh-TW" altLang="en-US" sz="1600" dirty="0" smtClean="0">
                <a:solidFill>
                  <a:schemeClr val="tx1"/>
                </a:solidFill>
              </a:rPr>
              <a:t>弱點掃描或脆弱性掃描</a:t>
            </a:r>
            <a:r>
              <a:rPr lang="en-US" altLang="zh-TW" sz="1600" dirty="0" smtClean="0">
                <a:solidFill>
                  <a:schemeClr val="tx1"/>
                </a:solidFill>
              </a:rPr>
              <a:t>)</a:t>
            </a:r>
            <a:endParaRPr kumimoji="1" lang="zh-TW" altLang="en-US" sz="15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25605221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投影片影像版面配置區 2">
            <a:extLst>
              <a:ext uri="{FF2B5EF4-FFF2-40B4-BE49-F238E27FC236}">
                <a16:creationId xmlns:a16="http://schemas.microsoft.com/office/drawing/2014/main" id="{233EC81B-F0CE-4896-9A5F-8D0A2C14940B}"/>
              </a:ext>
            </a:extLst>
          </p:cNvPr>
          <p:cNvSpPr>
            <a:spLocks noGrp="1" noRot="1" noChangeAspect="1"/>
          </p:cNvSpPr>
          <p:nvPr>
            <p:ph type="sldImg"/>
          </p:nvPr>
        </p:nvSpPr>
        <p:spPr>
          <a:xfrm>
            <a:off x="593725" y="366713"/>
            <a:ext cx="5838825" cy="4378325"/>
          </a:xfrm>
          <a:prstGeom prst="rect">
            <a:avLst/>
          </a:prstGeom>
        </p:spPr>
      </p:sp>
      <p:sp>
        <p:nvSpPr>
          <p:cNvPr id="5" name="備忘稿版面配置區 4">
            <a:extLst>
              <a:ext uri="{FF2B5EF4-FFF2-40B4-BE49-F238E27FC236}">
                <a16:creationId xmlns:a16="http://schemas.microsoft.com/office/drawing/2014/main" id="{AA9E2F32-4B75-44B9-9158-A222AED80C6A}"/>
              </a:ext>
            </a:extLst>
          </p:cNvPr>
          <p:cNvSpPr>
            <a:spLocks noGrp="1"/>
          </p:cNvSpPr>
          <p:nvPr>
            <p:ph type="body" idx="1"/>
          </p:nvPr>
        </p:nvSpPr>
        <p:spPr/>
        <p:txBody>
          <a:bodyPr/>
          <a:lstStyle/>
          <a:p>
            <a:endParaRPr lang="zh-TW" altLang="en-US"/>
          </a:p>
        </p:txBody>
      </p:sp>
    </p:spTree>
    <p:extLst>
      <p:ext uri="{BB962C8B-B14F-4D97-AF65-F5344CB8AC3E}">
        <p14:creationId xmlns:p14="http://schemas.microsoft.com/office/powerpoint/2010/main" val="36509950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p:cNvSpPr>
            <a:spLocks noGrp="1" noChangeArrowheads="1"/>
          </p:cNvSpPr>
          <p:nvPr>
            <p:ph type="body" idx="1"/>
          </p:nvPr>
        </p:nvSpPr>
        <p:spPr/>
        <p:txBody>
          <a:bodyPr/>
          <a:lstStyle/>
          <a:p>
            <a:pPr marL="298483" indent="-298483" algn="just" fontAlgn="base">
              <a:lnSpc>
                <a:spcPct val="120000"/>
              </a:lnSpc>
              <a:spcBef>
                <a:spcPts val="207"/>
              </a:spcBef>
              <a:spcAft>
                <a:spcPts val="207"/>
              </a:spcAft>
              <a:buFont typeface="Wingdings" panose="05000000000000000000" pitchFamily="2" charset="2"/>
              <a:buChar char="l"/>
            </a:pPr>
            <a:endParaRPr kumimoji="1" lang="en-US" altLang="zh-TW" sz="1500" dirty="0">
              <a:latin typeface="微軟正黑體" panose="020B0604030504040204" pitchFamily="34" charset="-120"/>
              <a:ea typeface="微軟正黑體" panose="020B0604030504040204" pitchFamily="34" charset="-120"/>
            </a:endParaRPr>
          </a:p>
        </p:txBody>
      </p:sp>
      <p:sp>
        <p:nvSpPr>
          <p:cNvPr id="5" name="投影片影像版面配置區 4">
            <a:extLst>
              <a:ext uri="{FF2B5EF4-FFF2-40B4-BE49-F238E27FC236}">
                <a16:creationId xmlns:a16="http://schemas.microsoft.com/office/drawing/2014/main" id="{31AA7F27-9496-4772-9E38-03C608D32EE7}"/>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133191391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r>
              <a:rPr lang="zh-TW" altLang="en-US" dirty="0" smtClean="0"/>
              <a:t>更多威脅建模</a:t>
            </a:r>
            <a:r>
              <a:rPr lang="en-US" altLang="zh-TW" dirty="0" smtClean="0"/>
              <a:t>(Threat Modeling)</a:t>
            </a:r>
            <a:r>
              <a:rPr lang="zh-TW" altLang="en-US" dirty="0" smtClean="0"/>
              <a:t>請參閱</a:t>
            </a:r>
            <a:endParaRPr lang="en-US" altLang="zh-TW" dirty="0" smtClean="0"/>
          </a:p>
          <a:p>
            <a:r>
              <a:rPr lang="en-US" altLang="zh-TW" dirty="0" smtClean="0"/>
              <a:t>1.</a:t>
            </a:r>
            <a:r>
              <a:rPr lang="zh-TW" altLang="en-US" dirty="0" smtClean="0"/>
              <a:t>威脅建模｜開發團隊的實務指南 </a:t>
            </a:r>
            <a:r>
              <a:rPr lang="en-US" altLang="zh-TW" dirty="0" smtClean="0"/>
              <a:t>(Threat Modeling: A Practical Guide for Development Teams)</a:t>
            </a:r>
          </a:p>
          <a:p>
            <a:r>
              <a:rPr lang="en-US" altLang="zh-TW" dirty="0" err="1" smtClean="0"/>
              <a:t>Izar</a:t>
            </a:r>
            <a:r>
              <a:rPr lang="en-US" altLang="zh-TW" dirty="0" smtClean="0"/>
              <a:t> </a:t>
            </a:r>
            <a:r>
              <a:rPr lang="en-US" altLang="zh-TW" dirty="0" err="1" smtClean="0"/>
              <a:t>Tarandach</a:t>
            </a:r>
            <a:r>
              <a:rPr lang="en-US" altLang="zh-TW" dirty="0" smtClean="0"/>
              <a:t>, Matthew J. Coles</a:t>
            </a:r>
            <a:r>
              <a:rPr lang="zh-TW" altLang="en-US" dirty="0" smtClean="0"/>
              <a:t>著歐萊禮</a:t>
            </a:r>
            <a:endParaRPr lang="en-US" altLang="zh-TW" dirty="0" smtClean="0"/>
          </a:p>
          <a:p>
            <a:r>
              <a:rPr lang="en-US" altLang="zh-TW" u="none" dirty="0" smtClean="0"/>
              <a:t>2.</a:t>
            </a:r>
            <a:r>
              <a:rPr lang="en-US" altLang="zh-TW" sz="1200" b="0" u="none" kern="1200" dirty="0" smtClean="0">
                <a:solidFill>
                  <a:schemeClr val="tx1"/>
                </a:solidFill>
                <a:effectLst/>
                <a:latin typeface="+mn-lt"/>
                <a:ea typeface="+mn-ea"/>
                <a:cs typeface="+mn-cs"/>
              </a:rPr>
              <a:t>Threat Modeling - OWASP Foundation</a:t>
            </a:r>
          </a:p>
          <a:p>
            <a:r>
              <a:rPr lang="en-US" altLang="zh-TW" dirty="0" smtClean="0"/>
              <a:t>https://owasp.org/www-community/Threat_Modeling</a:t>
            </a:r>
            <a:endParaRPr lang="zh-TW" altLang="en-US" dirty="0"/>
          </a:p>
        </p:txBody>
      </p:sp>
    </p:spTree>
    <p:extLst>
      <p:ext uri="{BB962C8B-B14F-4D97-AF65-F5344CB8AC3E}">
        <p14:creationId xmlns:p14="http://schemas.microsoft.com/office/powerpoint/2010/main" val="1683837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p:cNvSpPr>
            <a:spLocks noGrp="1" noChangeArrowheads="1"/>
          </p:cNvSpPr>
          <p:nvPr>
            <p:ph type="body" idx="1"/>
          </p:nvPr>
        </p:nvSpPr>
        <p:spPr/>
        <p:txBody>
          <a:bodyPr/>
          <a:lstStyle/>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脆弱性存在於資產本身</a:t>
            </a:r>
            <a:endParaRPr kumimoji="1" lang="en-US" altLang="zh-TW" sz="1500" dirty="0">
              <a:latin typeface="微軟正黑體" panose="020B0604030504040204" pitchFamily="34" charset="-120"/>
              <a:ea typeface="微軟正黑體" panose="020B0604030504040204" pitchFamily="34" charset="-120"/>
            </a:endParaRP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輕巧的筆記型電腦，輕巧即為筆記型電腦本身的脆弱性</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en-US" altLang="zh-TW" sz="1500" dirty="0">
                <a:latin typeface="微軟正黑體" panose="020B0604030504040204" pitchFamily="34" charset="-120"/>
                <a:ea typeface="微軟正黑體" panose="020B0604030504040204" pitchFamily="34" charset="-120"/>
              </a:rPr>
              <a:t>007</a:t>
            </a:r>
            <a:r>
              <a:rPr kumimoji="1" lang="zh-TW" altLang="en-US" sz="1500" dirty="0">
                <a:latin typeface="微軟正黑體" panose="020B0604030504040204" pitchFamily="34" charset="-120"/>
                <a:ea typeface="微軟正黑體" panose="020B0604030504040204" pitchFamily="34" charset="-120"/>
              </a:rPr>
              <a:t>情報員這個威脅，會危害價值連城的資訊</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洪水會危及位於地勢低窪地區的產品製造廠房</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順手牽羊者，會威脅輕巧筆記型電腦</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未預警停電，會損害重要的主機設備</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不愉快的員工，會想要破壞關鍵應用系統</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病毒的威脅，會對警覺性不高的員工，或已上線的作業系統產生危害</a:t>
            </a:r>
          </a:p>
        </p:txBody>
      </p:sp>
      <p:sp>
        <p:nvSpPr>
          <p:cNvPr id="5" name="投影片影像版面配置區 4">
            <a:extLst>
              <a:ext uri="{FF2B5EF4-FFF2-40B4-BE49-F238E27FC236}">
                <a16:creationId xmlns:a16="http://schemas.microsoft.com/office/drawing/2014/main" id="{452E12CB-7C55-486E-879E-0F49934170FF}"/>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390852682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p:cNvSpPr>
            <a:spLocks noGrp="1" noChangeArrowheads="1"/>
          </p:cNvSpPr>
          <p:nvPr>
            <p:ph type="body" idx="1"/>
          </p:nvPr>
        </p:nvSpPr>
        <p:spPr/>
        <p:txBody>
          <a:bodyPr/>
          <a:lstStyle/>
          <a:p>
            <a:pPr marL="298483" indent="-298483" algn="just" fontAlgn="base">
              <a:lnSpc>
                <a:spcPct val="120000"/>
              </a:lnSpc>
              <a:spcBef>
                <a:spcPts val="207"/>
              </a:spcBef>
              <a:spcAft>
                <a:spcPts val="207"/>
              </a:spcAft>
              <a:buFont typeface="Wingdings" panose="05000000000000000000" pitchFamily="2" charset="2"/>
              <a:buChar char="l"/>
            </a:pPr>
            <a:r>
              <a:rPr kumimoji="1" lang="zh-TW" altLang="en-US" sz="1500" dirty="0">
                <a:latin typeface="微軟正黑體" panose="020B0604030504040204" pitchFamily="34" charset="-120"/>
                <a:ea typeface="微軟正黑體" panose="020B0604030504040204" pitchFamily="34" charset="-120"/>
              </a:rPr>
              <a:t>想要不法取得或想要傷害資訊及資通系統，稱之為攻擊手法</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en-US" altLang="zh-TW" sz="1500" dirty="0">
                <a:latin typeface="微軟正黑體" panose="020B0604030504040204" pitchFamily="34" charset="-120"/>
                <a:ea typeface="微軟正黑體" panose="020B0604030504040204" pitchFamily="34" charset="-120"/>
              </a:rPr>
              <a:t>007</a:t>
            </a:r>
            <a:r>
              <a:rPr kumimoji="1" lang="zh-TW" altLang="en-US" sz="1500" dirty="0">
                <a:latin typeface="微軟正黑體" panose="020B0604030504040204" pitchFamily="34" charset="-120"/>
                <a:ea typeface="微軟正黑體" panose="020B0604030504040204" pitchFamily="34" charset="-120"/>
              </a:rPr>
              <a:t>情報員這種商業間諜，以潛入工作場所攻擊手法，利用資訊本身價值連城的脆弱性，對資產造成危害</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洪水會以淹沒廠房攻擊手法，利用製造產品的脆弱性，對廠房造成危害</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順手牽羊者會趁其不備快速行動，利用筆記型電腦非常輕巧的脆弱性，偷走筆記型電腦</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未預警停電，停止供電會因此對重要的主機設備造成損害</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不愉快的員工，會利用惡意程式碼攻擊手法，伺機破壞關鍵應用系統</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病毒透過</a:t>
            </a:r>
            <a:r>
              <a:rPr kumimoji="1" lang="en-US" altLang="zh-TW" sz="1500" dirty="0">
                <a:latin typeface="微軟正黑體" panose="020B0604030504040204" pitchFamily="34" charset="-120"/>
                <a:ea typeface="微軟正黑體" panose="020B0604030504040204" pitchFamily="34" charset="-120"/>
              </a:rPr>
              <a:t>e-mail</a:t>
            </a:r>
            <a:r>
              <a:rPr kumimoji="1" lang="zh-TW" altLang="en-US" sz="1500" dirty="0">
                <a:latin typeface="微軟正黑體" panose="020B0604030504040204" pitchFamily="34" charset="-120"/>
                <a:ea typeface="微軟正黑體" panose="020B0604030504040204" pitchFamily="34" charset="-120"/>
              </a:rPr>
              <a:t>的社交攻擊手法，讓警覺性不高的員工誤開檔案，造成危害</a:t>
            </a:r>
          </a:p>
        </p:txBody>
      </p:sp>
      <p:sp>
        <p:nvSpPr>
          <p:cNvPr id="5" name="投影片影像版面配置區 4">
            <a:extLst>
              <a:ext uri="{FF2B5EF4-FFF2-40B4-BE49-F238E27FC236}">
                <a16:creationId xmlns:a16="http://schemas.microsoft.com/office/drawing/2014/main" id="{25932079-D038-422A-B084-668CFA360CBD}"/>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100091735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pPr marL="171450" indent="-171450" algn="just" fontAlgn="base">
              <a:lnSpc>
                <a:spcPct val="120000"/>
              </a:lnSpc>
              <a:spcBef>
                <a:spcPts val="207"/>
              </a:spcBef>
              <a:spcAft>
                <a:spcPts val="207"/>
              </a:spcAft>
              <a:buFont typeface="Wingdings" panose="05000000000000000000" pitchFamily="2" charset="2"/>
              <a:buChar char="l"/>
              <a:defRPr/>
            </a:pPr>
            <a:r>
              <a:rPr lang="en-US" altLang="zh-TW" sz="1200" dirty="0" smtClean="0"/>
              <a:t>ISO 31000:2018</a:t>
            </a:r>
            <a:r>
              <a:rPr lang="zh-TW" altLang="en-US" sz="1200" dirty="0" smtClean="0"/>
              <a:t> 曾在</a:t>
            </a:r>
            <a:r>
              <a:rPr lang="en-US" altLang="zh-TW" sz="1200" dirty="0" smtClean="0"/>
              <a:t>2023 </a:t>
            </a:r>
            <a:r>
              <a:rPr lang="zh-TW" altLang="en-US" sz="1200" dirty="0" smtClean="0"/>
              <a:t>年審核和確認過。因此，此版本仍然有效</a:t>
            </a:r>
            <a:endParaRPr lang="en-US" altLang="zh-TW" sz="1200" dirty="0" smtClean="0"/>
          </a:p>
          <a:p>
            <a:pPr marL="0" indent="0">
              <a:buFontTx/>
              <a:buNone/>
            </a:pPr>
            <a:r>
              <a:rPr lang="zh-TW" altLang="en-US" sz="1200" dirty="0" smtClean="0"/>
              <a:t>      </a:t>
            </a:r>
            <a:r>
              <a:rPr lang="en-US" altLang="zh-TW" sz="1200" dirty="0" smtClean="0"/>
              <a:t>https://www.iso.org/standard/65694.html</a:t>
            </a:r>
          </a:p>
          <a:p>
            <a:pPr marL="171450" indent="-171450">
              <a:buFont typeface="Wingdings" panose="05000000000000000000" pitchFamily="2" charset="2"/>
              <a:buChar char="l"/>
            </a:pPr>
            <a:r>
              <a:rPr lang="en-US" altLang="zh-TW" dirty="0" smtClean="0"/>
              <a:t>CNS 31000   </a:t>
            </a:r>
            <a:r>
              <a:rPr lang="zh-TW" altLang="en-US" dirty="0" smtClean="0"/>
              <a:t>風險管理－指導綱要 </a:t>
            </a:r>
            <a:r>
              <a:rPr lang="en-US" altLang="zh-TW" dirty="0" smtClean="0"/>
              <a:t>Risk management − Guidelines(</a:t>
            </a:r>
            <a:r>
              <a:rPr lang="zh-TW" altLang="en-US" sz="1200" b="0" i="0" kern="1200" dirty="0" smtClean="0">
                <a:solidFill>
                  <a:schemeClr val="tx1"/>
                </a:solidFill>
                <a:effectLst/>
                <a:latin typeface="+mn-lt"/>
                <a:ea typeface="+mn-ea"/>
                <a:cs typeface="+mn-cs"/>
              </a:rPr>
              <a:t>發行日期：</a:t>
            </a:r>
            <a:r>
              <a:rPr lang="en-US" altLang="zh-TW" sz="1200" b="0" i="0" kern="1200" dirty="0" smtClean="0">
                <a:solidFill>
                  <a:schemeClr val="tx1"/>
                </a:solidFill>
                <a:effectLst/>
                <a:latin typeface="+mn-lt"/>
                <a:ea typeface="+mn-ea"/>
                <a:cs typeface="+mn-cs"/>
              </a:rPr>
              <a:t>110/11/24</a:t>
            </a:r>
            <a:r>
              <a:rPr lang="en-US" altLang="zh-TW" dirty="0" smtClean="0"/>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en-US" altLang="zh-TW" dirty="0" smtClean="0"/>
              <a:t>CNS 31010   </a:t>
            </a:r>
            <a:r>
              <a:rPr lang="zh-TW" altLang="en-US" dirty="0" smtClean="0"/>
              <a:t>風險管理－風險評鑑技術 </a:t>
            </a:r>
            <a:r>
              <a:rPr lang="en-US" altLang="zh-TW" dirty="0" smtClean="0"/>
              <a:t>Risk management - Risk assessment techniques(</a:t>
            </a:r>
            <a:r>
              <a:rPr lang="zh-TW" altLang="en-US" sz="1200" b="0" i="0" kern="1200" dirty="0" smtClean="0">
                <a:solidFill>
                  <a:schemeClr val="tx1"/>
                </a:solidFill>
                <a:effectLst/>
                <a:latin typeface="+mn-lt"/>
                <a:ea typeface="+mn-ea"/>
                <a:cs typeface="+mn-cs"/>
              </a:rPr>
              <a:t>發行日期：</a:t>
            </a:r>
            <a:r>
              <a:rPr lang="en-US" altLang="zh-TW" sz="1200" b="0" i="0" kern="1200" dirty="0" smtClean="0">
                <a:solidFill>
                  <a:schemeClr val="tx1"/>
                </a:solidFill>
                <a:effectLst/>
                <a:latin typeface="+mn-lt"/>
                <a:ea typeface="+mn-ea"/>
                <a:cs typeface="+mn-cs"/>
              </a:rPr>
              <a:t>101/08/16</a:t>
            </a:r>
            <a:r>
              <a:rPr lang="en-US" altLang="zh-TW" dirty="0" smtClean="0"/>
              <a:t>)</a:t>
            </a:r>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en-US" altLang="zh-TW" dirty="0" smtClean="0"/>
              <a:t>CNS</a:t>
            </a:r>
            <a:r>
              <a:rPr lang="zh-TW" altLang="en-US" dirty="0" smtClean="0"/>
              <a:t>標準可從</a:t>
            </a:r>
            <a:r>
              <a:rPr lang="en-US" altLang="zh-TW" dirty="0" smtClean="0"/>
              <a:t>https://www.cnsonline.com.tw/</a:t>
            </a:r>
            <a:r>
              <a:rPr lang="zh-TW" altLang="en-US" dirty="0" smtClean="0"/>
              <a:t>查詢購買</a:t>
            </a:r>
            <a:endParaRPr lang="en-US" altLang="zh-TW" dirty="0" smtClean="0"/>
          </a:p>
          <a:p>
            <a:pPr marL="171450" indent="-171450">
              <a:buFont typeface="Wingdings" panose="05000000000000000000" pitchFamily="2" charset="2"/>
              <a:buChar char="l"/>
            </a:pPr>
            <a:endParaRPr lang="zh-TW" altLang="en-US" dirty="0"/>
          </a:p>
        </p:txBody>
      </p:sp>
    </p:spTree>
    <p:extLst>
      <p:ext uri="{BB962C8B-B14F-4D97-AF65-F5344CB8AC3E}">
        <p14:creationId xmlns:p14="http://schemas.microsoft.com/office/powerpoint/2010/main" val="40411045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r>
              <a:rPr lang="en-US" altLang="zh-TW" dirty="0" smtClean="0"/>
              <a:t>3.24</a:t>
            </a:r>
          </a:p>
          <a:p>
            <a:r>
              <a:rPr lang="en-US" altLang="zh-TW" dirty="0" smtClean="0"/>
              <a:t>AI</a:t>
            </a:r>
            <a:r>
              <a:rPr lang="zh-TW" altLang="en-US" dirty="0" smtClean="0"/>
              <a:t>系統影響評估</a:t>
            </a:r>
          </a:p>
          <a:p>
            <a:r>
              <a:rPr lang="zh-TW" altLang="en-US" dirty="0" smtClean="0"/>
              <a:t>正式的、記錄在案的流程，透過該流程對個人、個人群體或兩者的影響，以及</a:t>
            </a:r>
          </a:p>
          <a:p>
            <a:r>
              <a:rPr lang="zh-TW" altLang="en-US" dirty="0" smtClean="0"/>
              <a:t>社團由開發、提供或使用組織識別、評估和解決</a:t>
            </a:r>
          </a:p>
          <a:p>
            <a:r>
              <a:rPr lang="zh-TW" altLang="en-US" dirty="0" smtClean="0"/>
              <a:t>利用人工智慧的產品或服務</a:t>
            </a:r>
            <a:endParaRPr lang="en-US" altLang="zh-TW" dirty="0" smtClean="0"/>
          </a:p>
          <a:p>
            <a:endParaRPr lang="en-US" altLang="zh-TW" dirty="0" smtClean="0"/>
          </a:p>
          <a:p>
            <a:r>
              <a:rPr lang="en-US" altLang="zh-TW" dirty="0" smtClean="0"/>
              <a:t>ISO/IEC 23894:2023</a:t>
            </a:r>
            <a:r>
              <a:rPr lang="en-US" altLang="zh-TW" i="1" dirty="0" smtClean="0"/>
              <a:t>Information technology — Artificial intelligence — Guidance on risk management</a:t>
            </a:r>
            <a:r>
              <a:rPr lang="en-US" altLang="zh-TW" dirty="0" smtClean="0"/>
              <a:t> </a:t>
            </a:r>
          </a:p>
          <a:p>
            <a:r>
              <a:rPr lang="zh-TW" altLang="en-US" dirty="0" smtClean="0"/>
              <a:t>專門針對 </a:t>
            </a:r>
            <a:r>
              <a:rPr lang="en-US" altLang="zh-TW" dirty="0" smtClean="0"/>
              <a:t>AI </a:t>
            </a:r>
            <a:r>
              <a:rPr lang="zh-TW" altLang="en-US" dirty="0" smtClean="0"/>
              <a:t>系統的風險管理提供指引，建立基於 </a:t>
            </a:r>
            <a:r>
              <a:rPr lang="en-US" altLang="zh-TW" dirty="0" smtClean="0"/>
              <a:t>ISO 31000:2018 </a:t>
            </a:r>
            <a:r>
              <a:rPr lang="zh-TW" altLang="en-US" dirty="0" smtClean="0"/>
              <a:t>的通用風險管理理念並針對 </a:t>
            </a:r>
            <a:r>
              <a:rPr lang="en-US" altLang="zh-TW" dirty="0" smtClean="0"/>
              <a:t>AI </a:t>
            </a:r>
            <a:r>
              <a:rPr lang="zh-TW" altLang="en-US" dirty="0" smtClean="0"/>
              <a:t>特性做延伸</a:t>
            </a:r>
            <a:endParaRPr lang="zh-TW" altLang="en-US" dirty="0"/>
          </a:p>
        </p:txBody>
      </p:sp>
    </p:spTree>
    <p:extLst>
      <p:ext uri="{BB962C8B-B14F-4D97-AF65-F5344CB8AC3E}">
        <p14:creationId xmlns:p14="http://schemas.microsoft.com/office/powerpoint/2010/main" val="16800020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xfrm>
            <a:off x="593725" y="366713"/>
            <a:ext cx="5838825" cy="4378325"/>
          </a:xfrm>
          <a:prstGeom prst="rect">
            <a:avLst/>
          </a:prstGeom>
          <a:ln/>
        </p:spPr>
      </p:sp>
      <p:sp>
        <p:nvSpPr>
          <p:cNvPr id="5529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98483" indent="-298483" algn="just" fontAlgn="base">
              <a:lnSpc>
                <a:spcPct val="120000"/>
              </a:lnSpc>
              <a:spcBef>
                <a:spcPts val="207"/>
              </a:spcBef>
              <a:spcAft>
                <a:spcPts val="207"/>
              </a:spcAft>
              <a:buFont typeface="Wingdings" panose="05000000000000000000" pitchFamily="2" charset="2"/>
              <a:buChar char="l"/>
            </a:pPr>
            <a:r>
              <a:rPr kumimoji="1" lang="zh-CN" altLang="en-US" sz="1500" dirty="0">
                <a:latin typeface="微軟正黑體" panose="020B0604030504040204" pitchFamily="34" charset="-120"/>
                <a:ea typeface="微軟正黑體" panose="020B0604030504040204" pitchFamily="34" charset="-120"/>
              </a:rPr>
              <a:t>參考 </a:t>
            </a:r>
            <a:r>
              <a:rPr kumimoji="1" lang="en-US" altLang="zh-CN" sz="1500" dirty="0">
                <a:latin typeface="微軟正黑體" panose="020B0604030504040204" pitchFamily="34" charset="-120"/>
                <a:ea typeface="微軟正黑體" panose="020B0604030504040204" pitchFamily="34" charset="-120"/>
              </a:rPr>
              <a:t>CNS 31000 </a:t>
            </a:r>
            <a:r>
              <a:rPr kumimoji="1" lang="zh-CN" altLang="en-US" sz="1500" dirty="0">
                <a:latin typeface="微軟正黑體" panose="020B0604030504040204" pitchFamily="34" charset="-120"/>
                <a:ea typeface="微軟正黑體" panose="020B0604030504040204" pitchFamily="34" charset="-120"/>
              </a:rPr>
              <a:t>風險管理之原則、框架與過程</a:t>
            </a:r>
          </a:p>
        </p:txBody>
      </p:sp>
    </p:spTree>
    <p:extLst>
      <p:ext uri="{BB962C8B-B14F-4D97-AF65-F5344CB8AC3E}">
        <p14:creationId xmlns:p14="http://schemas.microsoft.com/office/powerpoint/2010/main" val="419899075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xfrm>
            <a:off x="593725" y="366713"/>
            <a:ext cx="5838825" cy="4378325"/>
          </a:xfrm>
          <a:prstGeom prst="rect">
            <a:avLst/>
          </a:prstGeom>
          <a:ln/>
        </p:spPr>
      </p:sp>
      <p:sp>
        <p:nvSpPr>
          <p:cNvPr id="5734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5909509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593725" y="366713"/>
            <a:ext cx="5838825" cy="4378325"/>
          </a:xfrm>
          <a:prstGeom prst="rect">
            <a:avLst/>
          </a:prstGeom>
          <a:ln/>
        </p:spPr>
      </p:sp>
      <p:sp>
        <p:nvSpPr>
          <p:cNvPr id="59395" name="Notes Placeholder 2"/>
          <p:cNvSpPr>
            <a:spLocks noGrp="1"/>
          </p:cNvSpPr>
          <p:nvPr>
            <p:ph type="body"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en-US" sz="1500" dirty="0">
                <a:latin typeface="微軟正黑體" panose="020B0604030504040204" pitchFamily="34" charset="-120"/>
                <a:ea typeface="微軟正黑體" panose="020B0604030504040204" pitchFamily="34" charset="-120"/>
              </a:rPr>
              <a:t>風險管理框架包含</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領導與承諾</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將風險管理與組織的策略、目標及文化相結合</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建立風險管理的方法、計畫或行動方案的聲明或政策</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為管理風險提供必要的資源</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確定可能或不可能採取的風險類型（風險偏好）</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整合</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確定管理當責、監管角色及職責</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確保風險管理是組織所有功能的一部分，而不是與其分開</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設計</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了解組織及其內、外部背景</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清楚說明風險管理承諾並分配適當資源</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建立溝通與諮詢</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建置</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制定適當的實施計畫，包括最後期限等</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定義由誰於何時、何處及如何進行不同類型的決策</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在必要時修改適用的決策流程</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評估</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根據目的、建置及執行情形來衡量框架績效</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確定風險管理框架是否仍適用於實現組織目標</a:t>
            </a:r>
          </a:p>
          <a:p>
            <a:pPr marL="298483" indent="-298483" algn="just" fontAlgn="base">
              <a:lnSpc>
                <a:spcPct val="120000"/>
              </a:lnSpc>
              <a:spcBef>
                <a:spcPts val="207"/>
              </a:spcBef>
              <a:spcAft>
                <a:spcPts val="207"/>
              </a:spcAft>
              <a:buFont typeface="Wingdings" panose="05000000000000000000" pitchFamily="2" charset="2"/>
              <a:buChar char="l"/>
            </a:pPr>
            <a:r>
              <a:rPr kumimoji="1" lang="zh-TW" altLang="zh-TW" sz="1500" dirty="0">
                <a:latin typeface="微軟正黑體" panose="020B0604030504040204" pitchFamily="34" charset="-120"/>
                <a:ea typeface="微軟正黑體" panose="020B0604030504040204" pitchFamily="34" charset="-120"/>
              </a:rPr>
              <a:t>持續改善</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不斷監測與調整框架以解決外部與內部變化</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採取措施以提高風險管理的價值</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提高風險管理框架的適用性、充分性及有效性</a:t>
            </a:r>
          </a:p>
        </p:txBody>
      </p:sp>
    </p:spTree>
    <p:extLst>
      <p:ext uri="{BB962C8B-B14F-4D97-AF65-F5344CB8AC3E}">
        <p14:creationId xmlns:p14="http://schemas.microsoft.com/office/powerpoint/2010/main" val="9687881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593725" y="366713"/>
            <a:ext cx="5838825" cy="4378325"/>
          </a:xfrm>
          <a:prstGeom prst="rect">
            <a:avLst/>
          </a:prstGeom>
          <a:ln/>
        </p:spPr>
      </p:sp>
      <p:sp>
        <p:nvSpPr>
          <p:cNvPr id="59395" name="Notes Placeholder 2"/>
          <p:cNvSpPr>
            <a:spLocks noGrp="1"/>
          </p:cNvSpPr>
          <p:nvPr>
            <p:ph type="body"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marL="298483" indent="-298483" algn="just" fontAlgn="base">
              <a:lnSpc>
                <a:spcPct val="120000"/>
              </a:lnSpc>
              <a:spcBef>
                <a:spcPts val="207"/>
              </a:spcBef>
              <a:spcAft>
                <a:spcPts val="207"/>
              </a:spcAft>
              <a:buFont typeface="Wingdings" panose="05000000000000000000" pitchFamily="2" charset="2"/>
              <a:buChar char="l"/>
              <a:defRPr/>
            </a:pPr>
            <a:endParaRPr kumimoji="1" lang="zh-TW" altLang="zh-TW" sz="15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9660189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xfrm>
            <a:off x="593725" y="366713"/>
            <a:ext cx="5838825" cy="4378325"/>
          </a:xfrm>
          <a:prstGeom prst="rect">
            <a:avLst/>
          </a:prstGeom>
          <a:ln/>
        </p:spPr>
      </p:sp>
      <p:sp>
        <p:nvSpPr>
          <p:cNvPr id="59395" name="Notes Placeholder 2"/>
          <p:cNvSpPr>
            <a:spLocks noGrp="1"/>
          </p:cNvSpPr>
          <p:nvPr>
            <p:ph type="body" idx="1"/>
          </p:nvPr>
        </p:nvSpPr>
        <p:spPr>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spcBef>
                <a:spcPts val="208"/>
              </a:spcBef>
              <a:defRPr/>
            </a:pPr>
            <a:endParaRPr kumimoji="1" lang="zh-TW" altLang="zh-TW" sz="1500"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9005855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p:txBody>
          <a:bodyPr/>
          <a:lstStyle/>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溝通及諮詢</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於風險管理過程之各階段協同不同領域專家</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協助從不同的觀點定義風險條件與評估</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提供足夠的資訊來促進風險監督與決策</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對受風險影響的人建立具包容性</a:t>
            </a:r>
            <a:r>
              <a:rPr kumimoji="1" lang="en-US" altLang="zh-TW" sz="1500" dirty="0">
                <a:latin typeface="微軟正黑體" panose="020B0604030504040204" pitchFamily="34" charset="-120"/>
                <a:ea typeface="微軟正黑體" panose="020B0604030504040204" pitchFamily="34" charset="-120"/>
              </a:rPr>
              <a:t>(inclusiveness)</a:t>
            </a:r>
            <a:r>
              <a:rPr kumimoji="1" lang="zh-TW" altLang="zh-TW" sz="1500" dirty="0">
                <a:latin typeface="微軟正黑體" panose="020B0604030504040204" pitchFamily="34" charset="-120"/>
                <a:ea typeface="微軟正黑體" panose="020B0604030504040204" pitchFamily="34" charset="-120"/>
              </a:rPr>
              <a:t>與歸屬感</a:t>
            </a:r>
            <a:r>
              <a:rPr kumimoji="1" lang="en-US" altLang="zh-TW" sz="1500" dirty="0">
                <a:latin typeface="微軟正黑體" panose="020B0604030504040204" pitchFamily="34" charset="-120"/>
                <a:ea typeface="微軟正黑體" panose="020B0604030504040204" pitchFamily="34" charset="-120"/>
              </a:rPr>
              <a:t>(ownership)</a:t>
            </a:r>
            <a:r>
              <a:rPr kumimoji="1" lang="zh-TW" altLang="zh-TW" sz="1500" dirty="0">
                <a:latin typeface="微軟正黑體" panose="020B0604030504040204" pitchFamily="34" charset="-120"/>
                <a:ea typeface="微軟正黑體" panose="020B0604030504040204" pitchFamily="34" charset="-120"/>
              </a:rPr>
              <a:t>的意識</a:t>
            </a:r>
          </a:p>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範圍、全景及準則</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界定風險管理活動的目的與範圍</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界定組織的外部與內部環境</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界定可接受風險與類型的風險準則</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界定評估風險重要性與支持決策的準則</a:t>
            </a:r>
          </a:p>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風險評鑑</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風險鑑別主要在發現、識別及描述可能有助於或阻止目標實現及各種有形或無形的風險影響</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對風險的類型與特徵進行風險分析，包括風險等級、風險來源、後果、可能性、事件、情境、控制及其有效性</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風險評估係透過比較風險分析結果與使用的風險準則，確定風險的重大性以支持決策</a:t>
            </a:r>
          </a:p>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風險處理</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選擇最合適的風險處理方案</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設計風險處理計畫，明訂如何實施處理選項</a:t>
            </a:r>
          </a:p>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監視與審查</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提高過程設計、實施及結果的質量與有效性</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監視風險管理流程及其結果，監視與審查的責任須清楚界定</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計畫、收集及分析所得資訊、記錄其結果，並提供回饋</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將結果納入績效管理、衡量及報告活動</a:t>
            </a:r>
          </a:p>
          <a:p>
            <a:pPr marL="298483" indent="-298483" algn="just" fontAlgn="base">
              <a:lnSpc>
                <a:spcPct val="120000"/>
              </a:lnSpc>
              <a:spcBef>
                <a:spcPts val="207"/>
              </a:spcBef>
              <a:spcAft>
                <a:spcPts val="207"/>
              </a:spcAft>
              <a:buFont typeface="Wingdings" panose="05000000000000000000" pitchFamily="2" charset="2"/>
              <a:buChar char="l"/>
              <a:defRPr/>
            </a:pPr>
            <a:r>
              <a:rPr kumimoji="1" lang="zh-TW" altLang="zh-TW" sz="1500" dirty="0">
                <a:latin typeface="微軟正黑體" panose="020B0604030504040204" pitchFamily="34" charset="-120"/>
                <a:ea typeface="微軟正黑體" panose="020B0604030504040204" pitchFamily="34" charset="-120"/>
              </a:rPr>
              <a:t>記錄與報告</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在整個組織內溝通風險管理活動與結果</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為決策提供資訊</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改進風險管理活動</a:t>
            </a:r>
          </a:p>
          <a:p>
            <a:pPr marL="485035" lvl="1" indent="-186552" fontAlgn="base">
              <a:lnSpc>
                <a:spcPct val="120000"/>
              </a:lnSpc>
              <a:spcBef>
                <a:spcPts val="208"/>
              </a:spcBef>
              <a:spcAft>
                <a:spcPts val="207"/>
              </a:spcAft>
              <a:buFont typeface="Times New Roman" panose="02020603050405020304" pitchFamily="18" charset="0"/>
              <a:buChar char="–"/>
              <a:defRPr/>
            </a:pPr>
            <a:r>
              <a:rPr kumimoji="1" lang="zh-TW" altLang="zh-TW" sz="1500" dirty="0">
                <a:latin typeface="微軟正黑體" panose="020B0604030504040204" pitchFamily="34" charset="-120"/>
                <a:ea typeface="微軟正黑體" panose="020B0604030504040204" pitchFamily="34" charset="-120"/>
              </a:rPr>
              <a:t>提供風險資訊並與利害相關者進行互動</a:t>
            </a:r>
            <a:endParaRPr lang="zh-TW" altLang="zh-TW" dirty="0"/>
          </a:p>
        </p:txBody>
      </p:sp>
      <p:sp>
        <p:nvSpPr>
          <p:cNvPr id="5" name="投影片影像版面配置區 4">
            <a:extLst>
              <a:ext uri="{FF2B5EF4-FFF2-40B4-BE49-F238E27FC236}">
                <a16:creationId xmlns:a16="http://schemas.microsoft.com/office/drawing/2014/main" id="{BACE6E99-5531-4980-93B9-FA7089154F87}"/>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1172179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3"/>
          <p:cNvSpPr>
            <a:spLocks noGrp="1" noChangeArrowheads="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en-US" altLang="zh-TW" sz="1200" dirty="0" smtClean="0"/>
              <a:t>CNS 31010</a:t>
            </a:r>
            <a:r>
              <a:rPr lang="zh-TW" altLang="en-US" sz="1200" dirty="0" smtClean="0"/>
              <a:t> 以</a:t>
            </a:r>
            <a:r>
              <a:rPr lang="en-US" altLang="zh-TW" sz="1200" dirty="0" smtClean="0"/>
              <a:t> </a:t>
            </a:r>
            <a:r>
              <a:rPr lang="en-US" altLang="zh-TW" dirty="0" smtClean="0"/>
              <a:t>ISO/IEC 31010:2009</a:t>
            </a:r>
            <a:r>
              <a:rPr lang="zh-TW" altLang="en-US" dirty="0" smtClean="0"/>
              <a:t>為主</a:t>
            </a:r>
            <a:endParaRPr lang="en-US" altLang="zh-TW" dirty="0" smtClean="0"/>
          </a:p>
          <a:p>
            <a:pPr marL="171450" marR="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lang="en-US" altLang="zh-TW" dirty="0" smtClean="0"/>
              <a:t>ISO/IEC 31010:2019 </a:t>
            </a:r>
            <a:r>
              <a:rPr lang="zh-TW" altLang="en-US" dirty="0" smtClean="0"/>
              <a:t>風險管理 </a:t>
            </a:r>
            <a:r>
              <a:rPr lang="en-US" altLang="zh-TW" dirty="0" smtClean="0"/>
              <a:t>— </a:t>
            </a:r>
            <a:r>
              <a:rPr lang="zh-TW" altLang="en-US" dirty="0" smtClean="0"/>
              <a:t>風險評估技術</a:t>
            </a:r>
          </a:p>
          <a:p>
            <a:r>
              <a:rPr lang="zh-TW" altLang="en-US" dirty="0" smtClean="0"/>
              <a:t>此為第二版</a:t>
            </a:r>
            <a:r>
              <a:rPr lang="en-US" altLang="zh-TW" dirty="0" smtClean="0">
                <a:latin typeface="PMingLiU" panose="02020500000000000000" pitchFamily="18" charset="-120"/>
                <a:ea typeface="PMingLiU" panose="02020500000000000000" pitchFamily="18" charset="-120"/>
              </a:rPr>
              <a:t>，</a:t>
            </a:r>
            <a:r>
              <a:rPr lang="zh-TW" altLang="en-US" dirty="0" smtClean="0"/>
              <a:t>取消並取代了 </a:t>
            </a:r>
            <a:r>
              <a:rPr lang="en-US" altLang="zh-TW" dirty="0" smtClean="0"/>
              <a:t>2009 </a:t>
            </a:r>
            <a:r>
              <a:rPr lang="zh-TW" altLang="en-US" dirty="0" smtClean="0"/>
              <a:t>年出版的第一版。</a:t>
            </a:r>
            <a:endParaRPr lang="en-US" altLang="zh-TW" dirty="0" smtClean="0"/>
          </a:p>
          <a:p>
            <a:r>
              <a:rPr lang="zh-TW" altLang="en-US" dirty="0" smtClean="0"/>
              <a:t>本版本為技術修訂版。與前一版本相比，本版本包含以下重大技術變更：</a:t>
            </a:r>
          </a:p>
          <a:p>
            <a:r>
              <a:rPr lang="zh-TW" altLang="en-US" dirty="0" smtClean="0"/>
              <a:t>更詳細地介紹了規劃、實施、驗證和確認這些技術使用的過程；</a:t>
            </a:r>
          </a:p>
          <a:p>
            <a:r>
              <a:rPr lang="zh-TW" altLang="en-US" dirty="0" smtClean="0"/>
              <a:t>也增加了技術的數量和應用範圍；</a:t>
            </a:r>
          </a:p>
          <a:p>
            <a:pPr marL="298483" indent="-298483" algn="just" fontAlgn="base">
              <a:lnSpc>
                <a:spcPct val="120000"/>
              </a:lnSpc>
              <a:spcBef>
                <a:spcPts val="207"/>
              </a:spcBef>
              <a:spcAft>
                <a:spcPts val="207"/>
              </a:spcAft>
              <a:buFont typeface="Wingdings" panose="05000000000000000000" pitchFamily="2" charset="2"/>
              <a:buChar char="l"/>
              <a:defRPr/>
            </a:pPr>
            <a:endParaRPr lang="zh-TW" altLang="zh-TW" dirty="0"/>
          </a:p>
        </p:txBody>
      </p:sp>
      <p:sp>
        <p:nvSpPr>
          <p:cNvPr id="5" name="投影片影像版面配置區 4">
            <a:extLst>
              <a:ext uri="{FF2B5EF4-FFF2-40B4-BE49-F238E27FC236}">
                <a16:creationId xmlns:a16="http://schemas.microsoft.com/office/drawing/2014/main" id="{BACE6E99-5531-4980-93B9-FA7089154F87}"/>
              </a:ext>
            </a:extLst>
          </p:cNvPr>
          <p:cNvSpPr>
            <a:spLocks noGrp="1" noRot="1" noChangeAspect="1"/>
          </p:cNvSpPr>
          <p:nvPr>
            <p:ph type="sldImg"/>
          </p:nvPr>
        </p:nvSpPr>
        <p:spPr>
          <a:xfrm>
            <a:off x="593725" y="366713"/>
            <a:ext cx="5838825" cy="4378325"/>
          </a:xfrm>
          <a:prstGeom prst="rect">
            <a:avLst/>
          </a:prstGeom>
        </p:spPr>
      </p:sp>
    </p:spTree>
    <p:extLst>
      <p:ext uri="{BB962C8B-B14F-4D97-AF65-F5344CB8AC3E}">
        <p14:creationId xmlns:p14="http://schemas.microsoft.com/office/powerpoint/2010/main" val="17034659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593725" y="366713"/>
            <a:ext cx="5838825" cy="4378325"/>
          </a:xfrm>
          <a:prstGeom prst="rect">
            <a:avLst/>
          </a:prstGeom>
          <a:ln/>
        </p:spPr>
      </p:sp>
      <p:sp>
        <p:nvSpPr>
          <p:cNvPr id="675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67834045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Slide Image Placeholder 1"/>
          <p:cNvSpPr>
            <a:spLocks noGrp="1" noRot="1" noChangeAspect="1" noTextEdit="1"/>
          </p:cNvSpPr>
          <p:nvPr>
            <p:ph type="sldImg"/>
          </p:nvPr>
        </p:nvSpPr>
        <p:spPr>
          <a:xfrm>
            <a:off x="593725" y="366713"/>
            <a:ext cx="5838825" cy="4378325"/>
          </a:xfrm>
          <a:prstGeom prst="rect">
            <a:avLst/>
          </a:prstGeom>
          <a:ln/>
        </p:spPr>
      </p:sp>
      <p:sp>
        <p:nvSpPr>
          <p:cNvPr id="67587"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algn="just"/>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06935227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xfrm>
            <a:off x="593725" y="366713"/>
            <a:ext cx="5838825" cy="4378325"/>
          </a:xfrm>
          <a:prstGeom prst="rect">
            <a:avLst/>
          </a:prstGeom>
          <a:ln/>
        </p:spPr>
      </p:sp>
      <p:sp>
        <p:nvSpPr>
          <p:cNvPr id="73731" name="Notes Placeholder 2"/>
          <p:cNvSpPr>
            <a:spLocks noGrp="1"/>
          </p:cNvSpPr>
          <p:nvPr>
            <p:ph type="body" idx="1"/>
          </p:nvPr>
        </p:nvSpPr>
        <p:spPr>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98483" marR="0" indent="-298483" algn="l" defTabSz="914400" rtl="0" eaLnBrk="1" fontAlgn="base" latinLnBrk="0" hangingPunct="1">
              <a:lnSpc>
                <a:spcPct val="120000"/>
              </a:lnSpc>
              <a:spcBef>
                <a:spcPts val="207"/>
              </a:spcBef>
              <a:spcAft>
                <a:spcPts val="207"/>
              </a:spcAft>
              <a:buClrTx/>
              <a:buSzTx/>
              <a:buFont typeface="Wingdings" panose="05000000000000000000" pitchFamily="2" charset="2"/>
              <a:buChar char="l"/>
              <a:tabLst/>
              <a:defRPr/>
            </a:pPr>
            <a:r>
              <a:rPr kumimoji="1" lang="en-US" altLang="zh-CN" sz="1500" dirty="0" smtClean="0">
                <a:latin typeface="微軟正黑體" panose="020B0604030504040204" pitchFamily="34" charset="-120"/>
                <a:ea typeface="微軟正黑體" panose="020B0604030504040204" pitchFamily="34" charset="-120"/>
              </a:rPr>
              <a:t>CNS</a:t>
            </a:r>
            <a:r>
              <a:rPr kumimoji="1" lang="zh-CN" altLang="en-US" sz="1500" dirty="0" smtClean="0">
                <a:latin typeface="微軟正黑體" panose="020B0604030504040204" pitchFamily="34" charset="-120"/>
                <a:ea typeface="微軟正黑體" panose="020B0604030504040204" pitchFamily="34" charset="-120"/>
              </a:rPr>
              <a:t> </a:t>
            </a:r>
            <a:r>
              <a:rPr kumimoji="1" lang="en-US" altLang="zh-CN" sz="1500" dirty="0" smtClean="0">
                <a:latin typeface="微軟正黑體" panose="020B0604030504040204" pitchFamily="34" charset="-120"/>
                <a:ea typeface="微軟正黑體" panose="020B0604030504040204" pitchFamily="34" charset="-120"/>
              </a:rPr>
              <a:t>27005:2024</a:t>
            </a:r>
            <a:r>
              <a:rPr kumimoji="1" lang="zh-TW" altLang="en-US" sz="1500" dirty="0" smtClean="0">
                <a:latin typeface="微軟正黑體" panose="020B0604030504040204" pitchFamily="34" charset="-120"/>
                <a:ea typeface="微軟正黑體" panose="020B0604030504040204" pitchFamily="34" charset="-120"/>
              </a:rPr>
              <a:t> 資訊安全、網宇安全及隱私保護</a:t>
            </a:r>
            <a:r>
              <a:rPr kumimoji="1" lang="en-US" altLang="zh-TW" sz="1500" dirty="0" smtClean="0">
                <a:latin typeface="微軟正黑體" panose="020B0604030504040204" pitchFamily="34" charset="-120"/>
                <a:ea typeface="微軟正黑體" panose="020B0604030504040204" pitchFamily="34" charset="-120"/>
              </a:rPr>
              <a:t>-</a:t>
            </a:r>
            <a:r>
              <a:rPr kumimoji="1" lang="zh-TW" altLang="en-US" sz="1500" dirty="0" smtClean="0">
                <a:latin typeface="微軟正黑體" panose="020B0604030504040204" pitchFamily="34" charset="-120"/>
                <a:ea typeface="微軟正黑體" panose="020B0604030504040204" pitchFamily="34" charset="-120"/>
              </a:rPr>
              <a:t>管理資訊安全風險之指引</a:t>
            </a:r>
          </a:p>
          <a:p>
            <a:pPr marL="0" indent="0" fontAlgn="base">
              <a:lnSpc>
                <a:spcPct val="120000"/>
              </a:lnSpc>
              <a:spcBef>
                <a:spcPts val="207"/>
              </a:spcBef>
              <a:spcAft>
                <a:spcPts val="207"/>
              </a:spcAft>
              <a:buFontTx/>
              <a:buNone/>
              <a:defRPr/>
            </a:pPr>
            <a:r>
              <a:rPr kumimoji="1" lang="zh-TW" altLang="en-US" sz="1500" dirty="0" smtClean="0">
                <a:latin typeface="微軟正黑體" panose="020B0604030504040204" pitchFamily="34" charset="-120"/>
                <a:ea typeface="微軟正黑體" panose="020B0604030504040204" pitchFamily="34" charset="-120"/>
              </a:rPr>
              <a:t>        對應之</a:t>
            </a:r>
            <a:r>
              <a:rPr kumimoji="1" lang="en-US" altLang="zh-TW" sz="1500" dirty="0" smtClean="0">
                <a:latin typeface="微軟正黑體" panose="020B0604030504040204" pitchFamily="34" charset="-120"/>
                <a:ea typeface="微軟正黑體" panose="020B0604030504040204" pitchFamily="34" charset="-120"/>
              </a:rPr>
              <a:t>ISO</a:t>
            </a:r>
            <a:r>
              <a:rPr kumimoji="1" lang="zh-TW" altLang="en-US" sz="1500" dirty="0" smtClean="0">
                <a:latin typeface="微軟正黑體" panose="020B0604030504040204" pitchFamily="34" charset="-120"/>
                <a:ea typeface="微軟正黑體" panose="020B0604030504040204" pitchFamily="34" charset="-120"/>
              </a:rPr>
              <a:t> 英文全名</a:t>
            </a:r>
            <a:r>
              <a:rPr kumimoji="1" lang="en-US" altLang="zh-TW" sz="1500" dirty="0" smtClean="0">
                <a:latin typeface="微軟正黑體" panose="020B0604030504040204" pitchFamily="34" charset="-120"/>
                <a:ea typeface="微軟正黑體" panose="020B0604030504040204" pitchFamily="34" charset="-120"/>
              </a:rPr>
              <a:t>:ISO</a:t>
            </a:r>
            <a:r>
              <a:rPr kumimoji="1" lang="zh-TW" altLang="en-US" sz="1500" dirty="0" smtClean="0">
                <a:latin typeface="微軟正黑體" panose="020B0604030504040204" pitchFamily="34" charset="-120"/>
                <a:ea typeface="微軟正黑體" panose="020B0604030504040204" pitchFamily="34" charset="-120"/>
              </a:rPr>
              <a:t> </a:t>
            </a:r>
            <a:r>
              <a:rPr kumimoji="1" lang="en-US" altLang="zh-TW" sz="1500" dirty="0" smtClean="0">
                <a:latin typeface="微軟正黑體" panose="020B0604030504040204" pitchFamily="34" charset="-120"/>
                <a:ea typeface="微軟正黑體" panose="020B0604030504040204" pitchFamily="34" charset="-120"/>
              </a:rPr>
              <a:t>27005:2022  </a:t>
            </a:r>
            <a:r>
              <a:rPr kumimoji="1" lang="en-US" altLang="zh-CN" sz="1500" dirty="0" smtClean="0">
                <a:latin typeface="微軟正黑體" panose="020B0604030504040204" pitchFamily="34" charset="-120"/>
                <a:ea typeface="微軟正黑體" panose="020B0604030504040204" pitchFamily="34" charset="-120"/>
              </a:rPr>
              <a:t>Information security, cybersecurity</a:t>
            </a:r>
            <a:r>
              <a:rPr kumimoji="1" lang="zh-TW" altLang="en-US" sz="1500" dirty="0" smtClean="0">
                <a:latin typeface="微軟正黑體" panose="020B0604030504040204" pitchFamily="34" charset="-120"/>
                <a:ea typeface="微軟正黑體" panose="020B0604030504040204" pitchFamily="34" charset="-120"/>
              </a:rPr>
              <a:t> </a:t>
            </a:r>
            <a:r>
              <a:rPr kumimoji="1" lang="en-US" altLang="zh-CN" sz="1500" dirty="0" smtClean="0">
                <a:latin typeface="微軟正黑體" panose="020B0604030504040204" pitchFamily="34" charset="-120"/>
                <a:ea typeface="微軟正黑體" panose="020B0604030504040204" pitchFamily="34" charset="-120"/>
              </a:rPr>
              <a:t>and privacy protection-Guidance on</a:t>
            </a:r>
            <a:r>
              <a:rPr kumimoji="1" lang="zh-TW" altLang="en-US" sz="1500" dirty="0" smtClean="0">
                <a:latin typeface="微軟正黑體" panose="020B0604030504040204" pitchFamily="34" charset="-120"/>
                <a:ea typeface="微軟正黑體" panose="020B0604030504040204" pitchFamily="34" charset="-120"/>
              </a:rPr>
              <a:t> </a:t>
            </a:r>
            <a:r>
              <a:rPr kumimoji="1" lang="en-US" altLang="zh-CN" sz="1500" dirty="0" smtClean="0">
                <a:latin typeface="微軟正黑體" panose="020B0604030504040204" pitchFamily="34" charset="-120"/>
                <a:ea typeface="微軟正黑體" panose="020B0604030504040204" pitchFamily="34" charset="-120"/>
              </a:rPr>
              <a:t>managing information security risks</a:t>
            </a:r>
          </a:p>
          <a:p>
            <a:pPr marL="298483" indent="-298483" fontAlgn="base">
              <a:lnSpc>
                <a:spcPct val="120000"/>
              </a:lnSpc>
              <a:spcBef>
                <a:spcPts val="207"/>
              </a:spcBef>
              <a:spcAft>
                <a:spcPts val="207"/>
              </a:spcAft>
              <a:buFont typeface="Wingdings" panose="05000000000000000000" pitchFamily="2" charset="2"/>
              <a:buChar char="l"/>
              <a:defRPr/>
            </a:pPr>
            <a:endParaRPr kumimoji="1" lang="en-US" altLang="zh-TW" sz="1500" dirty="0" smtClean="0">
              <a:latin typeface="微軟正黑體" panose="020B0604030504040204" pitchFamily="34" charset="-120"/>
              <a:ea typeface="微軟正黑體" panose="020B0604030504040204" pitchFamily="34" charset="-120"/>
            </a:endParaRPr>
          </a:p>
          <a:p>
            <a:pPr marL="298483" indent="-298483" fontAlgn="base">
              <a:lnSpc>
                <a:spcPct val="120000"/>
              </a:lnSpc>
              <a:spcBef>
                <a:spcPts val="207"/>
              </a:spcBef>
              <a:spcAft>
                <a:spcPts val="207"/>
              </a:spcAft>
              <a:buFont typeface="Wingdings" panose="05000000000000000000" pitchFamily="2" charset="2"/>
              <a:buChar char="l"/>
              <a:defRPr/>
            </a:pPr>
            <a:r>
              <a:rPr kumimoji="1" lang="en-US" altLang="zh-CN" sz="1500" dirty="0" smtClean="0">
                <a:latin typeface="微軟正黑體" panose="020B0604030504040204" pitchFamily="34" charset="-120"/>
                <a:ea typeface="微軟正黑體" panose="020B0604030504040204" pitchFamily="34" charset="-120"/>
              </a:rPr>
              <a:t>CNS</a:t>
            </a:r>
            <a:r>
              <a:rPr kumimoji="1" lang="zh-CN" altLang="en-US" sz="1500" dirty="0" smtClean="0">
                <a:latin typeface="微軟正黑體" panose="020B0604030504040204" pitchFamily="34" charset="-120"/>
                <a:ea typeface="微軟正黑體" panose="020B0604030504040204" pitchFamily="34" charset="-120"/>
              </a:rPr>
              <a:t> </a:t>
            </a:r>
            <a:r>
              <a:rPr kumimoji="1" lang="en-US" altLang="zh-CN" sz="1500" dirty="0">
                <a:latin typeface="微軟正黑體" panose="020B0604030504040204" pitchFamily="34" charset="-120"/>
                <a:ea typeface="微軟正黑體" panose="020B0604030504040204" pitchFamily="34" charset="-120"/>
              </a:rPr>
              <a:t>27005</a:t>
            </a:r>
            <a:r>
              <a:rPr kumimoji="1" lang="en-US" altLang="en-US" sz="1500" dirty="0">
                <a:latin typeface="微軟正黑體" panose="020B0604030504040204" pitchFamily="34" charset="-120"/>
                <a:ea typeface="微軟正黑體" panose="020B0604030504040204" pitchFamily="34" charset="-120"/>
              </a:rPr>
              <a:t>提供資安風險管理的指導綱要，並支援</a:t>
            </a:r>
            <a:r>
              <a:rPr kumimoji="1" lang="en-US" altLang="zh-TW" sz="1500" dirty="0">
                <a:latin typeface="微軟正黑體" panose="020B0604030504040204" pitchFamily="34" charset="-120"/>
                <a:ea typeface="微軟正黑體" panose="020B0604030504040204" pitchFamily="34" charset="-120"/>
              </a:rPr>
              <a:t> CNS 27001</a:t>
            </a:r>
            <a:r>
              <a:rPr kumimoji="1" lang="en-US" altLang="en-US" sz="1500" dirty="0">
                <a:latin typeface="微軟正黑體" panose="020B0604030504040204" pitchFamily="34" charset="-120"/>
                <a:ea typeface="微軟正黑體" panose="020B0604030504040204" pitchFamily="34" charset="-120"/>
              </a:rPr>
              <a:t>資訊安全管理系統 (</a:t>
            </a:r>
            <a:r>
              <a:rPr kumimoji="1" lang="en-US" altLang="zh-TW" sz="1500" dirty="0">
                <a:latin typeface="微軟正黑體" panose="020B0604030504040204" pitchFamily="34" charset="-120"/>
                <a:ea typeface="微軟正黑體" panose="020B0604030504040204" pitchFamily="34" charset="-120"/>
              </a:rPr>
              <a:t>Information Security Management System, ISMS)</a:t>
            </a:r>
            <a:r>
              <a:rPr kumimoji="1" lang="zh-TW" altLang="en-US" sz="1500" dirty="0">
                <a:latin typeface="微軟正黑體" panose="020B0604030504040204" pitchFamily="34" charset="-120"/>
                <a:ea typeface="微軟正黑體" panose="020B0604030504040204" pitchFamily="34" charset="-120"/>
              </a:rPr>
              <a:t>的特定要求</a:t>
            </a:r>
            <a:endParaRPr kumimoji="1" lang="en-US" altLang="en-US" sz="1500" dirty="0">
              <a:latin typeface="微軟正黑體" panose="020B0604030504040204" pitchFamily="34" charset="-120"/>
              <a:ea typeface="微軟正黑體" panose="020B0604030504040204" pitchFamily="34" charset="-120"/>
            </a:endParaRPr>
          </a:p>
          <a:p>
            <a:pPr marL="298483" indent="-298483" algn="just" fontAlgn="base">
              <a:lnSpc>
                <a:spcPct val="120000"/>
              </a:lnSpc>
              <a:spcBef>
                <a:spcPts val="207"/>
              </a:spcBef>
              <a:spcAft>
                <a:spcPts val="207"/>
              </a:spcAft>
              <a:buFont typeface="Wingdings" panose="05000000000000000000" pitchFamily="2" charset="2"/>
              <a:buChar char="l"/>
              <a:defRPr/>
            </a:pPr>
            <a:r>
              <a:rPr kumimoji="1" lang="en-US" altLang="zh-CN" sz="1500" dirty="0" smtClean="0">
                <a:latin typeface="微軟正黑體" panose="020B0604030504040204" pitchFamily="34" charset="-120"/>
                <a:ea typeface="微軟正黑體" panose="020B0604030504040204" pitchFamily="34" charset="-120"/>
              </a:rPr>
              <a:t>CNS</a:t>
            </a:r>
            <a:r>
              <a:rPr kumimoji="1" lang="zh-CN" altLang="en-US" sz="1500" dirty="0" smtClean="0">
                <a:latin typeface="微軟正黑體" panose="020B0604030504040204" pitchFamily="34" charset="-120"/>
                <a:ea typeface="微軟正黑體" panose="020B0604030504040204" pitchFamily="34" charset="-120"/>
              </a:rPr>
              <a:t> </a:t>
            </a:r>
            <a:r>
              <a:rPr kumimoji="1" lang="en-US" altLang="zh-CN" sz="1500" dirty="0">
                <a:latin typeface="微軟正黑體" panose="020B0604030504040204" pitchFamily="34" charset="-120"/>
                <a:ea typeface="微軟正黑體" panose="020B0604030504040204" pitchFamily="34" charset="-120"/>
              </a:rPr>
              <a:t>27005</a:t>
            </a:r>
            <a:r>
              <a:rPr kumimoji="1" lang="zh-CN" altLang="en-US" sz="1500" dirty="0">
                <a:latin typeface="微軟正黑體" panose="020B0604030504040204" pitchFamily="34" charset="-120"/>
                <a:ea typeface="微軟正黑體" panose="020B0604030504040204" pitchFamily="34" charset="-120"/>
              </a:rPr>
              <a:t>風險管理過程</a:t>
            </a:r>
            <a:endParaRPr kumimoji="1" lang="en-US" altLang="zh-CN" sz="1500" dirty="0">
              <a:latin typeface="微軟正黑體" panose="020B0604030504040204" pitchFamily="34" charset="-120"/>
              <a:ea typeface="微軟正黑體" panose="020B0604030504040204" pitchFamily="34" charset="-120"/>
            </a:endParaRPr>
          </a:p>
          <a:p>
            <a:pPr marL="488624" lvl="1" indent="-187932" algn="just" eaLnBrk="0" fontAlgn="base" hangingPunct="0">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首先建立全景，然後進行風險評鑑</a:t>
            </a:r>
          </a:p>
          <a:p>
            <a:pPr marL="488624" lvl="1" indent="-187932" algn="just" eaLnBrk="0" fontAlgn="base" hangingPunct="0">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若能提供充分資訊，有效地修正風險，至可接受等級所需措施，則評鑑工作完成，隨後展開風險處理</a:t>
            </a:r>
          </a:p>
          <a:p>
            <a:pPr marL="488624" lvl="1" indent="-187932" algn="just" eaLnBrk="0" fontAlgn="base" hangingPunct="0">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若資訊不充分，則需進行再一次的修訂全景</a:t>
            </a:r>
            <a:r>
              <a:rPr kumimoji="1" lang="en-US" altLang="zh-TW" sz="1500" dirty="0">
                <a:latin typeface="微軟正黑體" panose="020B0604030504040204" pitchFamily="34" charset="-120"/>
                <a:ea typeface="微軟正黑體" panose="020B0604030504040204" pitchFamily="34" charset="-120"/>
              </a:rPr>
              <a:t>(</a:t>
            </a:r>
            <a:r>
              <a:rPr kumimoji="1" lang="zh-TW" altLang="en-US" sz="1500" dirty="0">
                <a:latin typeface="微軟正黑體" panose="020B0604030504040204" pitchFamily="34" charset="-120"/>
                <a:ea typeface="微軟正黑體" panose="020B0604030504040204" pitchFamily="34" charset="-120"/>
              </a:rPr>
              <a:t>例如：風險評估準則、風險接受準則或衝擊準則</a:t>
            </a:r>
            <a:r>
              <a:rPr kumimoji="1" lang="en-US" altLang="zh-TW" sz="1500" dirty="0">
                <a:latin typeface="微軟正黑體" panose="020B0604030504040204" pitchFamily="34" charset="-120"/>
                <a:ea typeface="微軟正黑體" panose="020B0604030504040204" pitchFamily="34" charset="-120"/>
              </a:rPr>
              <a:t>)</a:t>
            </a:r>
            <a:r>
              <a:rPr kumimoji="1" lang="zh-TW" altLang="en-US" sz="1500" dirty="0">
                <a:latin typeface="微軟正黑體" panose="020B0604030504040204" pitchFamily="34" charset="-120"/>
                <a:ea typeface="微軟正黑體" panose="020B0604030504040204" pitchFamily="34" charset="-120"/>
              </a:rPr>
              <a:t>之風險評鑑循環</a:t>
            </a:r>
          </a:p>
          <a:p>
            <a:pPr marL="488624" lvl="1" indent="-187932" algn="just" eaLnBrk="0" fontAlgn="base" hangingPunct="0">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此循環可能僅及於整體範圍之有限部分「風險決策點 </a:t>
            </a:r>
            <a:r>
              <a:rPr kumimoji="1" lang="en-US" altLang="zh-TW" sz="1500" dirty="0">
                <a:latin typeface="微軟正黑體" panose="020B0604030504040204" pitchFamily="34" charset="-120"/>
                <a:ea typeface="微軟正黑體" panose="020B0604030504040204" pitchFamily="34" charset="-120"/>
              </a:rPr>
              <a:t>1</a:t>
            </a:r>
            <a:r>
              <a:rPr kumimoji="1" lang="zh-TW" altLang="en-US" sz="1500" dirty="0">
                <a:latin typeface="微軟正黑體" panose="020B0604030504040204" pitchFamily="34" charset="-120"/>
                <a:ea typeface="微軟正黑體" panose="020B0604030504040204" pitchFamily="34" charset="-120"/>
              </a:rPr>
              <a:t>」</a:t>
            </a:r>
          </a:p>
          <a:p>
            <a:pPr marL="488624" lvl="1" indent="-187932" algn="just" eaLnBrk="0" fontAlgn="base" hangingPunct="0">
              <a:lnSpc>
                <a:spcPct val="120000"/>
              </a:lnSpc>
              <a:spcBef>
                <a:spcPts val="208"/>
              </a:spcBef>
              <a:spcAft>
                <a:spcPts val="207"/>
              </a:spcAft>
              <a:buFont typeface="Times New Roman" panose="02020603050405020304" pitchFamily="18" charset="0"/>
              <a:buChar char="–"/>
              <a:defRPr/>
            </a:pPr>
            <a:r>
              <a:rPr kumimoji="1" lang="zh-TW" altLang="en-US" sz="1500" dirty="0">
                <a:latin typeface="微軟正黑體" panose="020B0604030504040204" pitchFamily="34" charset="-120"/>
                <a:ea typeface="微軟正黑體" panose="020B0604030504040204" pitchFamily="34" charset="-120"/>
              </a:rPr>
              <a:t>風險處理有效性，依風險評鑑結果而定，可能無法立即將剩餘風險降至可接受等級，若有需要，可變更全景參數</a:t>
            </a:r>
            <a:r>
              <a:rPr kumimoji="1" lang="en-US" altLang="zh-TW" sz="1500" dirty="0">
                <a:latin typeface="微軟正黑體" panose="020B0604030504040204" pitchFamily="34" charset="-120"/>
                <a:ea typeface="微軟正黑體" panose="020B0604030504040204" pitchFamily="34" charset="-120"/>
              </a:rPr>
              <a:t>(</a:t>
            </a:r>
            <a:r>
              <a:rPr kumimoji="1" lang="zh-TW" altLang="en-US" sz="1500" dirty="0">
                <a:latin typeface="微軟正黑體" panose="020B0604030504040204" pitchFamily="34" charset="-120"/>
                <a:ea typeface="微軟正黑體" panose="020B0604030504040204" pitchFamily="34" charset="-120"/>
              </a:rPr>
              <a:t>例如：風險評鑑、風險接受或衝擊準則</a:t>
            </a:r>
            <a:r>
              <a:rPr kumimoji="1" lang="en-US" altLang="zh-TW" sz="1500" dirty="0">
                <a:latin typeface="微軟正黑體" panose="020B0604030504040204" pitchFamily="34" charset="-120"/>
                <a:ea typeface="微軟正黑體" panose="020B0604030504040204" pitchFamily="34" charset="-120"/>
              </a:rPr>
              <a:t>)</a:t>
            </a:r>
            <a:r>
              <a:rPr kumimoji="1" lang="zh-TW" altLang="en-US" sz="1500" dirty="0">
                <a:latin typeface="微軟正黑體" panose="020B0604030504040204" pitchFamily="34" charset="-120"/>
                <a:ea typeface="微軟正黑體" panose="020B0604030504040204" pitchFamily="34" charset="-120"/>
              </a:rPr>
              <a:t>後，進行另一次風險評鑑循環，再執行更進一步風險處理「風險決策點 </a:t>
            </a:r>
            <a:r>
              <a:rPr kumimoji="1" lang="en-US" altLang="zh-TW" sz="1500" dirty="0">
                <a:latin typeface="微軟正黑體" panose="020B0604030504040204" pitchFamily="34" charset="-120"/>
                <a:ea typeface="微軟正黑體" panose="020B0604030504040204" pitchFamily="34" charset="-120"/>
              </a:rPr>
              <a:t>2</a:t>
            </a:r>
            <a:r>
              <a:rPr kumimoji="1" lang="zh-TW" altLang="en-US" sz="1500" dirty="0">
                <a:latin typeface="微軟正黑體" panose="020B0604030504040204" pitchFamily="34" charset="-120"/>
                <a:ea typeface="微軟正黑體" panose="020B0604030504040204" pitchFamily="34" charset="-120"/>
              </a:rPr>
              <a:t>」</a:t>
            </a:r>
            <a:endParaRPr kumimoji="1" lang="en-US" altLang="zh-TW" sz="1500" dirty="0">
              <a:latin typeface="微軟正黑體" panose="020B0604030504040204" pitchFamily="34" charset="-120"/>
              <a:ea typeface="微軟正黑體" panose="020B0604030504040204" pitchFamily="34" charset="-120"/>
            </a:endParaRPr>
          </a:p>
          <a:p>
            <a:pPr>
              <a:defRPr/>
            </a:pPr>
            <a:endParaRPr lang="en-US" altLang="zh-TW" dirty="0">
              <a:latin typeface="微軟正黑體" panose="020B0604030504040204" pitchFamily="34" charset="-120"/>
              <a:ea typeface="微軟正黑體" panose="020B0604030504040204" pitchFamily="34" charset="-120"/>
            </a:endParaRPr>
          </a:p>
          <a:p>
            <a:pPr>
              <a:defRPr/>
            </a:pP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5114707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xfrm>
            <a:off x="593725" y="366713"/>
            <a:ext cx="5838825" cy="4378325"/>
          </a:xfrm>
          <a:prstGeom prst="rect">
            <a:avLst/>
          </a:prstGeom>
          <a:ln/>
        </p:spPr>
      </p:sp>
      <p:sp>
        <p:nvSpPr>
          <p:cNvPr id="63491"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1736829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a:xfrm>
            <a:off x="593725" y="366713"/>
            <a:ext cx="5838825" cy="4378325"/>
          </a:xfrm>
          <a:prstGeom prst="rect">
            <a:avLst/>
          </a:prstGeom>
          <a:ln/>
        </p:spPr>
      </p:sp>
      <p:sp>
        <p:nvSpPr>
          <p:cNvPr id="65539" name="Notes Placeholder 2"/>
          <p:cNvSpPr>
            <a:spLocks noGrp="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731912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r>
              <a:rPr lang="zh-TW" altLang="en-US" dirty="0" smtClean="0"/>
              <a:t>🎯 📄 </a:t>
            </a:r>
            <a:r>
              <a:rPr lang="en-US" altLang="zh-TW" dirty="0" smtClean="0"/>
              <a:t>NIST RMF</a:t>
            </a:r>
            <a:r>
              <a:rPr lang="zh-TW" altLang="en-US" dirty="0" smtClean="0"/>
              <a:t>（</a:t>
            </a:r>
            <a:r>
              <a:rPr lang="en-US" altLang="zh-TW" dirty="0" smtClean="0"/>
              <a:t>Risk Management Framework</a:t>
            </a:r>
            <a:r>
              <a:rPr lang="zh-TW" altLang="en-US" dirty="0" smtClean="0"/>
              <a:t>）</a:t>
            </a:r>
          </a:p>
          <a:p>
            <a:r>
              <a:rPr lang="zh-TW" altLang="en-US" dirty="0" smtClean="0"/>
              <a:t>主要文件</a:t>
            </a:r>
          </a:p>
          <a:p>
            <a:r>
              <a:rPr lang="en-US" altLang="zh-TW" sz="1200" b="1" i="0" kern="1200" dirty="0" smtClean="0">
                <a:solidFill>
                  <a:schemeClr val="tx1"/>
                </a:solidFill>
                <a:effectLst/>
                <a:latin typeface="+mn-lt"/>
                <a:ea typeface="+mn-ea"/>
                <a:cs typeface="+mn-cs"/>
              </a:rPr>
              <a:t>NIST SP 800-37 Rev. 2</a:t>
            </a:r>
          </a:p>
          <a:p>
            <a:r>
              <a:rPr lang="en-US" altLang="zh-TW" sz="1200" b="1" i="0" kern="1200" dirty="0" smtClean="0">
                <a:solidFill>
                  <a:schemeClr val="tx1"/>
                </a:solidFill>
                <a:effectLst/>
                <a:latin typeface="+mn-lt"/>
                <a:ea typeface="+mn-ea"/>
                <a:cs typeface="+mn-cs"/>
              </a:rPr>
              <a:t>Risk Management Framework for Information Systems and Organizations: A System Life Cycle Approach for Security and Privacy</a:t>
            </a:r>
          </a:p>
          <a:p>
            <a:r>
              <a:rPr lang="en-US" altLang="zh-TW" dirty="0" smtClean="0"/>
              <a:t>NIST SP 800-39</a:t>
            </a:r>
          </a:p>
          <a:p>
            <a:r>
              <a:rPr lang="en-US" altLang="zh-TW" dirty="0" smtClean="0"/>
              <a:t>Managing Information Security Risk: Organization, Mission, and Information System View</a:t>
            </a:r>
          </a:p>
          <a:p>
            <a:endParaRPr lang="en-US" altLang="zh-TW" dirty="0" smtClean="0"/>
          </a:p>
          <a:p>
            <a:r>
              <a:rPr lang="zh-TW" altLang="en-US" dirty="0" smtClean="0"/>
              <a:t>相關安全控制措施標準</a:t>
            </a:r>
            <a:r>
              <a:rPr lang="en-US" altLang="zh-TW" dirty="0" smtClean="0"/>
              <a:t>:</a:t>
            </a:r>
          </a:p>
          <a:p>
            <a:r>
              <a:rPr lang="en-US" altLang="zh-TW" dirty="0" smtClean="0"/>
              <a:t>NIST SP 800-53 Rev. 5 </a:t>
            </a:r>
            <a:r>
              <a:rPr lang="zh-TW" altLang="en-US" dirty="0" smtClean="0"/>
              <a:t> </a:t>
            </a:r>
            <a:r>
              <a:rPr lang="en-US" altLang="zh-TW" dirty="0" smtClean="0"/>
              <a:t>Security and Privacy Controls for Information Systems and Organizations</a:t>
            </a:r>
          </a:p>
          <a:p>
            <a:r>
              <a:rPr lang="en-US" altLang="zh-TW" dirty="0" smtClean="0"/>
              <a:t>NIST SP 800-53A Rev. 5 </a:t>
            </a:r>
          </a:p>
          <a:p>
            <a:r>
              <a:rPr lang="en-US" altLang="zh-TW" dirty="0" smtClean="0"/>
              <a:t>Assessing Security and Privacy Controls in Information Systems and Organizations</a:t>
            </a:r>
          </a:p>
          <a:p>
            <a:r>
              <a:rPr lang="en-US" altLang="zh-TW" dirty="0" smtClean="0"/>
              <a:t>NIST SP 800-53B </a:t>
            </a:r>
            <a:r>
              <a:rPr lang="zh-TW" altLang="en-US" dirty="0" smtClean="0"/>
              <a:t> </a:t>
            </a:r>
            <a:r>
              <a:rPr lang="en-US" altLang="zh-TW" dirty="0" smtClean="0"/>
              <a:t>Control Baselines for Information Systems and Organizations</a:t>
            </a:r>
          </a:p>
          <a:p>
            <a:r>
              <a:rPr lang="en-US" altLang="zh-TW" dirty="0" smtClean="0"/>
              <a:t>Share to Facebook Share to X Share to LinkedIn </a:t>
            </a:r>
          </a:p>
        </p:txBody>
      </p:sp>
    </p:spTree>
    <p:extLst>
      <p:ext uri="{BB962C8B-B14F-4D97-AF65-F5344CB8AC3E}">
        <p14:creationId xmlns:p14="http://schemas.microsoft.com/office/powerpoint/2010/main" val="1112945342"/>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r>
              <a:rPr lang="zh-TW" altLang="en-US" dirty="0" smtClean="0"/>
              <a:t>🎯 📄 </a:t>
            </a:r>
            <a:r>
              <a:rPr lang="en-US" altLang="zh-TW" dirty="0" smtClean="0"/>
              <a:t>NIST RMF</a:t>
            </a:r>
            <a:r>
              <a:rPr lang="zh-TW" altLang="en-US" dirty="0" smtClean="0"/>
              <a:t>（</a:t>
            </a:r>
            <a:r>
              <a:rPr lang="en-US" altLang="zh-TW" dirty="0" smtClean="0"/>
              <a:t>Risk Management Framework</a:t>
            </a:r>
            <a:r>
              <a:rPr lang="zh-TW" altLang="en-US" dirty="0" smtClean="0"/>
              <a:t>）</a:t>
            </a:r>
          </a:p>
          <a:p>
            <a:r>
              <a:rPr lang="zh-TW" altLang="en-US" dirty="0" smtClean="0"/>
              <a:t>主要文件</a:t>
            </a:r>
          </a:p>
          <a:p>
            <a:r>
              <a:rPr lang="en-US" altLang="zh-TW" sz="1200" b="1" i="0" kern="1200" dirty="0" smtClean="0">
                <a:solidFill>
                  <a:schemeClr val="tx1"/>
                </a:solidFill>
                <a:effectLst/>
                <a:latin typeface="+mn-lt"/>
                <a:ea typeface="+mn-ea"/>
                <a:cs typeface="+mn-cs"/>
              </a:rPr>
              <a:t>NIST SP 800-37 Rev. 2</a:t>
            </a:r>
          </a:p>
          <a:p>
            <a:r>
              <a:rPr lang="en-US" altLang="zh-TW" sz="1200" b="1" i="0" kern="1200" dirty="0" smtClean="0">
                <a:solidFill>
                  <a:schemeClr val="tx1"/>
                </a:solidFill>
                <a:effectLst/>
                <a:latin typeface="+mn-lt"/>
                <a:ea typeface="+mn-ea"/>
                <a:cs typeface="+mn-cs"/>
              </a:rPr>
              <a:t>Risk Management Framework for Information Systems and Organizations: A System Life Cycle Approach for Security and Privacy</a:t>
            </a:r>
          </a:p>
          <a:p>
            <a:r>
              <a:rPr lang="en-US" altLang="zh-TW" dirty="0" smtClean="0"/>
              <a:t>NIST SP 800-39</a:t>
            </a:r>
          </a:p>
          <a:p>
            <a:r>
              <a:rPr lang="en-US" altLang="zh-TW" dirty="0" smtClean="0"/>
              <a:t>Managing Information Security Risk: Organization, Mission, and Information System View</a:t>
            </a:r>
          </a:p>
          <a:p>
            <a:endParaRPr lang="en-US" altLang="zh-TW" dirty="0" smtClean="0"/>
          </a:p>
          <a:p>
            <a:r>
              <a:rPr lang="zh-TW" altLang="en-US" dirty="0" smtClean="0"/>
              <a:t>相關安全控制措施標準</a:t>
            </a:r>
            <a:r>
              <a:rPr lang="en-US" altLang="zh-TW" dirty="0" smtClean="0"/>
              <a:t>:</a:t>
            </a:r>
          </a:p>
          <a:p>
            <a:r>
              <a:rPr lang="en-US" altLang="zh-TW" dirty="0" smtClean="0"/>
              <a:t>NIST SP 800-53 Rev. 5 </a:t>
            </a:r>
            <a:r>
              <a:rPr lang="zh-TW" altLang="en-US" dirty="0" smtClean="0"/>
              <a:t> </a:t>
            </a:r>
            <a:r>
              <a:rPr lang="en-US" altLang="zh-TW" dirty="0" smtClean="0"/>
              <a:t>Security and Privacy Controls for Information Systems and Organizations</a:t>
            </a:r>
          </a:p>
          <a:p>
            <a:r>
              <a:rPr lang="en-US" altLang="zh-TW" dirty="0" smtClean="0"/>
              <a:t>NIST SP 800-53A Rev. 5 </a:t>
            </a:r>
          </a:p>
          <a:p>
            <a:r>
              <a:rPr lang="en-US" altLang="zh-TW" dirty="0" smtClean="0"/>
              <a:t>Assessing Security and Privacy Controls in Information Systems and Organizations</a:t>
            </a:r>
          </a:p>
          <a:p>
            <a:r>
              <a:rPr lang="en-US" altLang="zh-TW" dirty="0" smtClean="0"/>
              <a:t>NIST SP 800-53B </a:t>
            </a:r>
            <a:r>
              <a:rPr lang="zh-TW" altLang="en-US" dirty="0" smtClean="0"/>
              <a:t> </a:t>
            </a:r>
            <a:r>
              <a:rPr lang="en-US" altLang="zh-TW" dirty="0" smtClean="0"/>
              <a:t>Control Baselines for Information Systems and Organizations</a:t>
            </a:r>
          </a:p>
          <a:p>
            <a:r>
              <a:rPr lang="en-US" altLang="zh-TW" dirty="0" smtClean="0"/>
              <a:t>Share to Facebook Share to X Share to LinkedIn </a:t>
            </a:r>
          </a:p>
        </p:txBody>
      </p:sp>
    </p:spTree>
    <p:extLst>
      <p:ext uri="{BB962C8B-B14F-4D97-AF65-F5344CB8AC3E}">
        <p14:creationId xmlns:p14="http://schemas.microsoft.com/office/powerpoint/2010/main" val="274969041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r>
              <a:rPr lang="zh-TW" altLang="en-US" dirty="0" smtClean="0"/>
              <a:t>組織層級：建立治理架構與風險策略</a:t>
            </a:r>
            <a:endParaRPr lang="en-US" altLang="zh-TW"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dirty="0" smtClean="0"/>
              <a:t>須執行任務</a:t>
            </a:r>
            <a:r>
              <a:rPr lang="en-US" altLang="zh-TW" sz="1200" b="1" dirty="0" smtClean="0">
                <a:effectLst/>
              </a:rPr>
              <a:t>TASK P-1</a:t>
            </a:r>
            <a:r>
              <a:rPr lang="zh-TW" altLang="en-US" sz="1200" b="1" dirty="0" smtClean="0">
                <a:effectLst/>
              </a:rPr>
              <a:t>至</a:t>
            </a:r>
            <a:r>
              <a:rPr lang="en-US" altLang="zh-TW" sz="1200" b="1" dirty="0" smtClean="0">
                <a:effectLst/>
              </a:rPr>
              <a:t>P-7(</a:t>
            </a:r>
            <a:r>
              <a:rPr lang="zh-TW" altLang="en-US" sz="1200" b="1" dirty="0" smtClean="0">
                <a:effectLst/>
              </a:rPr>
              <a:t>如上圖所示</a:t>
            </a:r>
            <a:r>
              <a:rPr lang="en-US" altLang="zh-TW" sz="1200" b="1" dirty="0" smtClean="0">
                <a:effectLst/>
              </a:rPr>
              <a:t>)</a:t>
            </a:r>
            <a:endParaRPr lang="en-US" altLang="zh-TW" sz="1200" dirty="0" smtClean="0">
              <a:effectLst/>
            </a:endParaRPr>
          </a:p>
          <a:p>
            <a:endParaRPr lang="zh-TW" altLang="en-US" dirty="0" smtClean="0"/>
          </a:p>
          <a:p>
            <a:r>
              <a:rPr lang="zh-TW" altLang="en-US" dirty="0" smtClean="0"/>
              <a:t>系統層級：界定系統範圍與利害關係人</a:t>
            </a:r>
            <a:endParaRPr lang="en-US" altLang="zh-TW" dirty="0" smtClean="0"/>
          </a:p>
          <a:p>
            <a:r>
              <a:rPr lang="zh-TW" altLang="en-US" dirty="0" smtClean="0"/>
              <a:t>須執行任務</a:t>
            </a:r>
            <a:r>
              <a:rPr lang="en-US" altLang="zh-TW" sz="1200" b="1" dirty="0" smtClean="0">
                <a:effectLst/>
              </a:rPr>
              <a:t>TASK P-8</a:t>
            </a:r>
            <a:r>
              <a:rPr lang="zh-TW" altLang="en-US" sz="1200" b="1" dirty="0" smtClean="0">
                <a:effectLst/>
              </a:rPr>
              <a:t>至</a:t>
            </a:r>
            <a:r>
              <a:rPr lang="en-US" altLang="zh-TW" sz="1200" b="1" dirty="0" smtClean="0">
                <a:effectLst/>
              </a:rPr>
              <a:t>P-18</a:t>
            </a:r>
          </a:p>
          <a:p>
            <a:r>
              <a:rPr lang="en-US" altLang="zh-TW" sz="1200" kern="1200" dirty="0" smtClean="0">
                <a:solidFill>
                  <a:schemeClr val="tx1"/>
                </a:solidFill>
                <a:effectLst/>
                <a:latin typeface="+mn-lt"/>
                <a:ea typeface="+mn-ea"/>
                <a:cs typeface="+mn-cs"/>
              </a:rPr>
              <a:t>TASK P-8</a:t>
            </a:r>
            <a:r>
              <a:rPr lang="zh-TW" altLang="zh-TW" sz="1200" kern="1200" dirty="0" smtClean="0">
                <a:solidFill>
                  <a:schemeClr val="tx1"/>
                </a:solidFill>
                <a:effectLst/>
                <a:latin typeface="+mn-lt"/>
                <a:ea typeface="+mn-ea"/>
                <a:cs typeface="+mn-cs"/>
              </a:rPr>
              <a:t>：任務或業務焦點（</a:t>
            </a:r>
            <a:r>
              <a:rPr lang="en-US" altLang="zh-TW" sz="1200" kern="1200" dirty="0" smtClean="0">
                <a:solidFill>
                  <a:schemeClr val="tx1"/>
                </a:solidFill>
                <a:effectLst/>
                <a:latin typeface="+mn-lt"/>
                <a:ea typeface="+mn-ea"/>
                <a:cs typeface="+mn-cs"/>
              </a:rPr>
              <a:t>MISSION OR BUSINESS FOCUS</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r>
              <a:rPr lang="zh-TW" altLang="zh-TW" sz="1200" kern="1200" dirty="0" smtClean="0">
                <a:solidFill>
                  <a:schemeClr val="tx1"/>
                </a:solidFill>
                <a:effectLst/>
                <a:latin typeface="+mn-lt"/>
                <a:ea typeface="+mn-ea"/>
                <a:cs typeface="+mn-cs"/>
              </a:rPr>
              <a:t>• 辨識系統預期支援的任務、業務功能及任務／業務流程。</a:t>
            </a:r>
            <a:r>
              <a:rPr lang="en-US" altLang="zh-TW" sz="1200" kern="1200" dirty="0" smtClean="0">
                <a:solidFill>
                  <a:schemeClr val="tx1"/>
                </a:solidFill>
                <a:effectLst/>
                <a:latin typeface="+mn-lt"/>
                <a:ea typeface="+mn-ea"/>
                <a:cs typeface="+mn-cs"/>
              </a:rPr>
              <a:t>[</a:t>
            </a:r>
            <a:r>
              <a:rPr lang="zh-TW" altLang="zh-TW" sz="1200" kern="1200" dirty="0" smtClean="0">
                <a:solidFill>
                  <a:schemeClr val="tx1"/>
                </a:solidFill>
                <a:effectLst/>
                <a:latin typeface="+mn-lt"/>
                <a:ea typeface="+mn-ea"/>
                <a:cs typeface="+mn-cs"/>
              </a:rPr>
              <a:t>對應網路安全框架：</a:t>
            </a:r>
            <a:r>
              <a:rPr lang="en-US" altLang="zh-TW" sz="1200" kern="1200" dirty="0" smtClean="0">
                <a:solidFill>
                  <a:schemeClr val="tx1"/>
                </a:solidFill>
                <a:effectLst/>
                <a:latin typeface="+mn-lt"/>
                <a:ea typeface="+mn-ea"/>
                <a:cs typeface="+mn-cs"/>
              </a:rPr>
              <a:t>Profile</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Implementation Tiers</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ID.BE]</a:t>
            </a:r>
            <a:endParaRPr lang="zh-TW"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P-9</a:t>
            </a:r>
            <a:r>
              <a:rPr lang="zh-TW" altLang="zh-TW" sz="1200" kern="1200" dirty="0" smtClean="0">
                <a:solidFill>
                  <a:schemeClr val="tx1"/>
                </a:solidFill>
                <a:effectLst/>
                <a:latin typeface="+mn-lt"/>
                <a:ea typeface="+mn-ea"/>
                <a:cs typeface="+mn-cs"/>
              </a:rPr>
              <a:t>：系統利害關係人（</a:t>
            </a:r>
            <a:r>
              <a:rPr lang="en-US" altLang="zh-TW" sz="1200" kern="1200" dirty="0" smtClean="0">
                <a:solidFill>
                  <a:schemeClr val="tx1"/>
                </a:solidFill>
                <a:effectLst/>
                <a:latin typeface="+mn-lt"/>
                <a:ea typeface="+mn-ea"/>
                <a:cs typeface="+mn-cs"/>
              </a:rPr>
              <a:t>SYSTEM STAKEHOLDERS</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r>
              <a:rPr lang="zh-TW" altLang="zh-TW" sz="1200" kern="1200" dirty="0" smtClean="0">
                <a:solidFill>
                  <a:schemeClr val="tx1"/>
                </a:solidFill>
                <a:effectLst/>
                <a:latin typeface="+mn-lt"/>
                <a:ea typeface="+mn-ea"/>
                <a:cs typeface="+mn-cs"/>
              </a:rPr>
              <a:t>• 辨識對系統有利害關係的相關人員或單位。</a:t>
            </a:r>
            <a:r>
              <a:rPr lang="en-US" altLang="zh-TW" sz="1200" kern="1200" dirty="0" smtClean="0">
                <a:solidFill>
                  <a:schemeClr val="tx1"/>
                </a:solidFill>
                <a:effectLst/>
                <a:latin typeface="+mn-lt"/>
                <a:ea typeface="+mn-ea"/>
                <a:cs typeface="+mn-cs"/>
              </a:rPr>
              <a:t>[Cybersecurity Framework: ID.AM</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ID.BE]</a:t>
            </a:r>
            <a:endParaRPr lang="zh-TW"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P-10</a:t>
            </a:r>
            <a:r>
              <a:rPr lang="zh-TW" altLang="zh-TW" sz="1200" kern="1200" dirty="0" smtClean="0">
                <a:solidFill>
                  <a:schemeClr val="tx1"/>
                </a:solidFill>
                <a:effectLst/>
                <a:latin typeface="+mn-lt"/>
                <a:ea typeface="+mn-ea"/>
                <a:cs typeface="+mn-cs"/>
              </a:rPr>
              <a:t>：資產識別（</a:t>
            </a:r>
            <a:r>
              <a:rPr lang="en-US" altLang="zh-TW" sz="1200" kern="1200" dirty="0" smtClean="0">
                <a:solidFill>
                  <a:schemeClr val="tx1"/>
                </a:solidFill>
                <a:effectLst/>
                <a:latin typeface="+mn-lt"/>
                <a:ea typeface="+mn-ea"/>
                <a:cs typeface="+mn-cs"/>
              </a:rPr>
              <a:t>ASSET IDENTIFICATION</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r>
              <a:rPr lang="zh-TW" altLang="zh-TW" sz="1200" kern="1200" dirty="0" smtClean="0">
                <a:solidFill>
                  <a:schemeClr val="tx1"/>
                </a:solidFill>
                <a:effectLst/>
                <a:latin typeface="+mn-lt"/>
                <a:ea typeface="+mn-ea"/>
                <a:cs typeface="+mn-cs"/>
              </a:rPr>
              <a:t>• 辨識並優先排序利害關係人之資產。</a:t>
            </a:r>
            <a:r>
              <a:rPr lang="en-US" altLang="zh-TW" sz="1200" kern="1200" dirty="0" smtClean="0">
                <a:solidFill>
                  <a:schemeClr val="tx1"/>
                </a:solidFill>
                <a:effectLst/>
                <a:latin typeface="+mn-lt"/>
                <a:ea typeface="+mn-ea"/>
                <a:cs typeface="+mn-cs"/>
              </a:rPr>
              <a:t>[Cybersecurity Framework: ID.AM]</a:t>
            </a:r>
            <a:endParaRPr lang="zh-TW"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P-11</a:t>
            </a:r>
            <a:r>
              <a:rPr lang="zh-TW" altLang="zh-TW" sz="1200" kern="1200" dirty="0" smtClean="0">
                <a:solidFill>
                  <a:schemeClr val="tx1"/>
                </a:solidFill>
                <a:effectLst/>
                <a:latin typeface="+mn-lt"/>
                <a:ea typeface="+mn-ea"/>
                <a:cs typeface="+mn-cs"/>
              </a:rPr>
              <a:t>：授權邊界（</a:t>
            </a:r>
            <a:r>
              <a:rPr lang="en-US" altLang="zh-TW" sz="1200" kern="1200" dirty="0" smtClean="0">
                <a:solidFill>
                  <a:schemeClr val="tx1"/>
                </a:solidFill>
                <a:effectLst/>
                <a:latin typeface="+mn-lt"/>
                <a:ea typeface="+mn-ea"/>
                <a:cs typeface="+mn-cs"/>
              </a:rPr>
              <a:t>AUTHORIZATION BOUNDARY</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p>
          <a:p>
            <a:pPr lvl="1"/>
            <a:r>
              <a:rPr lang="zh-TW" altLang="zh-TW" sz="1200" kern="1200" dirty="0" smtClean="0">
                <a:solidFill>
                  <a:schemeClr val="tx1"/>
                </a:solidFill>
                <a:effectLst/>
                <a:latin typeface="+mn-lt"/>
                <a:ea typeface="+mn-ea"/>
                <a:cs typeface="+mn-cs"/>
              </a:rPr>
              <a:t>確定授權邊界（即系統的範圍）。</a:t>
            </a:r>
          </a:p>
          <a:p>
            <a:r>
              <a:rPr lang="en-US" altLang="zh-TW" sz="1200" kern="1200" dirty="0" smtClean="0">
                <a:solidFill>
                  <a:schemeClr val="tx1"/>
                </a:solidFill>
                <a:effectLst/>
                <a:latin typeface="+mn-lt"/>
                <a:ea typeface="+mn-ea"/>
                <a:cs typeface="+mn-cs"/>
              </a:rPr>
              <a:t>TASK P-12</a:t>
            </a:r>
            <a:r>
              <a:rPr lang="zh-TW" altLang="zh-TW" sz="1200" kern="1200" dirty="0" smtClean="0">
                <a:solidFill>
                  <a:schemeClr val="tx1"/>
                </a:solidFill>
                <a:effectLst/>
                <a:latin typeface="+mn-lt"/>
                <a:ea typeface="+mn-ea"/>
                <a:cs typeface="+mn-cs"/>
              </a:rPr>
              <a:t>：資訊類型（</a:t>
            </a:r>
            <a:r>
              <a:rPr lang="en-US" altLang="zh-TW" sz="1200" kern="1200" dirty="0" smtClean="0">
                <a:solidFill>
                  <a:schemeClr val="tx1"/>
                </a:solidFill>
                <a:effectLst/>
                <a:latin typeface="+mn-lt"/>
                <a:ea typeface="+mn-ea"/>
                <a:cs typeface="+mn-cs"/>
              </a:rPr>
              <a:t>INFORMATION TYPES</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p>
          <a:p>
            <a:pPr lvl="1"/>
            <a:r>
              <a:rPr lang="zh-TW" altLang="zh-TW" sz="1200" kern="1200" dirty="0" smtClean="0">
                <a:solidFill>
                  <a:schemeClr val="tx1"/>
                </a:solidFill>
                <a:effectLst/>
                <a:latin typeface="+mn-lt"/>
                <a:ea typeface="+mn-ea"/>
                <a:cs typeface="+mn-cs"/>
              </a:rPr>
              <a:t>辨識系統所處理、儲存與傳輸的資訊類型。</a:t>
            </a:r>
            <a:endParaRPr lang="en-US"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P-13</a:t>
            </a:r>
            <a:r>
              <a:rPr lang="zh-TW" altLang="zh-TW" sz="1200" kern="1200" dirty="0" smtClean="0">
                <a:solidFill>
                  <a:schemeClr val="tx1"/>
                </a:solidFill>
                <a:effectLst/>
                <a:latin typeface="+mn-lt"/>
                <a:ea typeface="+mn-ea"/>
                <a:cs typeface="+mn-cs"/>
              </a:rPr>
              <a:t>：資訊生命週期（</a:t>
            </a:r>
            <a:r>
              <a:rPr lang="en-US" altLang="zh-TW" sz="1200" kern="1200" dirty="0" smtClean="0">
                <a:solidFill>
                  <a:schemeClr val="tx1"/>
                </a:solidFill>
                <a:effectLst/>
                <a:latin typeface="+mn-lt"/>
                <a:ea typeface="+mn-ea"/>
                <a:cs typeface="+mn-cs"/>
              </a:rPr>
              <a:t>INFORMATION LIFE CYCLE</a:t>
            </a:r>
            <a:r>
              <a:rPr lang="zh-TW" altLang="zh-TW" sz="1200" kern="1200" dirty="0" smtClean="0">
                <a:solidFill>
                  <a:schemeClr val="tx1"/>
                </a:solidFill>
                <a:effectLst/>
                <a:latin typeface="+mn-lt"/>
                <a:ea typeface="+mn-ea"/>
                <a:cs typeface="+mn-cs"/>
              </a:rPr>
              <a:t>）</a:t>
            </a:r>
            <a:endParaRPr lang="en-US" altLang="zh-TW" sz="1200" kern="1200" dirty="0" smtClean="0">
              <a:solidFill>
                <a:schemeClr val="tx1"/>
              </a:solidFill>
              <a:effectLst/>
              <a:latin typeface="+mn-lt"/>
              <a:ea typeface="+mn-ea"/>
              <a:cs typeface="+mn-cs"/>
            </a:endParaRPr>
          </a:p>
          <a:p>
            <a:pPr lvl="1"/>
            <a:r>
              <a:rPr lang="zh-TW" altLang="zh-TW" sz="1200" kern="1200" dirty="0" smtClean="0">
                <a:solidFill>
                  <a:schemeClr val="tx1"/>
                </a:solidFill>
                <a:effectLst/>
                <a:latin typeface="+mn-lt"/>
                <a:ea typeface="+mn-ea"/>
                <a:cs typeface="+mn-cs"/>
              </a:rPr>
              <a:t>確認並理解資訊在生命週期各階段的處理、儲存或傳輸狀態。</a:t>
            </a:r>
          </a:p>
          <a:p>
            <a:r>
              <a:rPr lang="en-US" altLang="zh-TW" sz="1200" kern="1200" dirty="0" smtClean="0">
                <a:solidFill>
                  <a:schemeClr val="tx1"/>
                </a:solidFill>
                <a:effectLst/>
                <a:latin typeface="+mn-lt"/>
                <a:ea typeface="+mn-ea"/>
                <a:cs typeface="+mn-cs"/>
              </a:rPr>
              <a:t>TASK P-14</a:t>
            </a:r>
            <a:r>
              <a:rPr lang="zh-TW" altLang="zh-TW" sz="1200" kern="1200" dirty="0" smtClean="0">
                <a:solidFill>
                  <a:schemeClr val="tx1"/>
                </a:solidFill>
                <a:effectLst/>
                <a:latin typeface="+mn-lt"/>
                <a:ea typeface="+mn-ea"/>
                <a:cs typeface="+mn-cs"/>
              </a:rPr>
              <a:t>：系統層級風險評估（</a:t>
            </a:r>
            <a:r>
              <a:rPr lang="en-US" altLang="zh-TW" sz="1200" kern="1200" dirty="0" smtClean="0">
                <a:solidFill>
                  <a:schemeClr val="tx1"/>
                </a:solidFill>
                <a:effectLst/>
                <a:latin typeface="+mn-lt"/>
                <a:ea typeface="+mn-ea"/>
                <a:cs typeface="+mn-cs"/>
              </a:rPr>
              <a:t>RISK ASSESSMENT</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SYSTEM</a:t>
            </a:r>
            <a:r>
              <a:rPr lang="zh-TW" altLang="zh-TW" sz="1200" kern="1200" dirty="0" smtClean="0">
                <a:solidFill>
                  <a:schemeClr val="tx1"/>
                </a:solidFill>
                <a:effectLst/>
                <a:latin typeface="+mn-lt"/>
                <a:ea typeface="+mn-ea"/>
                <a:cs typeface="+mn-cs"/>
              </a:rPr>
              <a:t>）</a:t>
            </a:r>
            <a:endParaRPr lang="en-US" altLang="zh-TW" sz="1200" kern="1200" dirty="0" smtClean="0">
              <a:solidFill>
                <a:schemeClr val="tx1"/>
              </a:solidFill>
              <a:effectLst/>
              <a:latin typeface="+mn-lt"/>
              <a:ea typeface="+mn-ea"/>
              <a:cs typeface="+mn-cs"/>
            </a:endParaRPr>
          </a:p>
          <a:p>
            <a:pPr lvl="1"/>
            <a:r>
              <a:rPr lang="zh-TW" altLang="zh-TW" sz="1200" kern="1200" dirty="0" smtClean="0">
                <a:solidFill>
                  <a:schemeClr val="tx1"/>
                </a:solidFill>
                <a:effectLst/>
                <a:latin typeface="+mn-lt"/>
                <a:ea typeface="+mn-ea"/>
                <a:cs typeface="+mn-cs"/>
              </a:rPr>
              <a:t>完成系統層級的風險評估，或更新既有的風險評估。</a:t>
            </a:r>
            <a:endParaRPr lang="en-US"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P-15</a:t>
            </a:r>
            <a:r>
              <a:rPr lang="zh-TW" altLang="zh-TW" sz="1200" kern="1200" dirty="0" smtClean="0">
                <a:solidFill>
                  <a:schemeClr val="tx1"/>
                </a:solidFill>
                <a:effectLst/>
                <a:latin typeface="+mn-lt"/>
                <a:ea typeface="+mn-ea"/>
                <a:cs typeface="+mn-cs"/>
              </a:rPr>
              <a:t>：需求定義（</a:t>
            </a:r>
            <a:r>
              <a:rPr lang="en-US" altLang="zh-TW" sz="1200" kern="1200" dirty="0" smtClean="0">
                <a:solidFill>
                  <a:schemeClr val="tx1"/>
                </a:solidFill>
                <a:effectLst/>
                <a:latin typeface="+mn-lt"/>
                <a:ea typeface="+mn-ea"/>
                <a:cs typeface="+mn-cs"/>
              </a:rPr>
              <a:t>REQUIREMENTS DEFINITION</a:t>
            </a:r>
            <a:r>
              <a:rPr lang="zh-TW" altLang="zh-TW" sz="1200" kern="1200" dirty="0" smtClean="0">
                <a:solidFill>
                  <a:schemeClr val="tx1"/>
                </a:solidFill>
                <a:effectLst/>
                <a:latin typeface="+mn-lt"/>
                <a:ea typeface="+mn-ea"/>
                <a:cs typeface="+mn-cs"/>
              </a:rPr>
              <a:t>）</a:t>
            </a:r>
            <a:r>
              <a:rPr lang="en-US" altLang="zh-TW" sz="1200" kern="1200" dirty="0" smtClean="0">
                <a:solidFill>
                  <a:schemeClr val="tx1"/>
                </a:solidFill>
                <a:effectLst/>
                <a:latin typeface="+mn-lt"/>
                <a:ea typeface="+mn-ea"/>
                <a:cs typeface="+mn-cs"/>
              </a:rPr>
              <a:t>	</a:t>
            </a:r>
          </a:p>
          <a:p>
            <a:pPr lvl="1"/>
            <a:r>
              <a:rPr lang="zh-TW" altLang="zh-TW" sz="1200" kern="1200" dirty="0" smtClean="0">
                <a:solidFill>
                  <a:schemeClr val="tx1"/>
                </a:solidFill>
                <a:effectLst/>
                <a:latin typeface="+mn-lt"/>
                <a:ea typeface="+mn-ea"/>
                <a:cs typeface="+mn-cs"/>
              </a:rPr>
              <a:t>定義並優先排序安全與隱私需求。</a:t>
            </a:r>
            <a:endParaRPr lang="en-US"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P-16</a:t>
            </a:r>
            <a:r>
              <a:rPr lang="zh-TW" altLang="zh-TW" sz="1200" kern="1200" dirty="0" smtClean="0">
                <a:solidFill>
                  <a:schemeClr val="tx1"/>
                </a:solidFill>
                <a:effectLst/>
                <a:latin typeface="+mn-lt"/>
                <a:ea typeface="+mn-ea"/>
                <a:cs typeface="+mn-cs"/>
              </a:rPr>
              <a:t>：企業架構（</a:t>
            </a:r>
            <a:r>
              <a:rPr lang="en-US" altLang="zh-TW" sz="1200" kern="1200" dirty="0" smtClean="0">
                <a:solidFill>
                  <a:schemeClr val="tx1"/>
                </a:solidFill>
                <a:effectLst/>
                <a:latin typeface="+mn-lt"/>
                <a:ea typeface="+mn-ea"/>
                <a:cs typeface="+mn-cs"/>
              </a:rPr>
              <a:t>ENTERPRISE ARCHITECTURE</a:t>
            </a:r>
            <a:r>
              <a:rPr lang="zh-TW" altLang="zh-TW" sz="1200" kern="1200" dirty="0" smtClean="0">
                <a:solidFill>
                  <a:schemeClr val="tx1"/>
                </a:solidFill>
                <a:effectLst/>
                <a:latin typeface="+mn-lt"/>
                <a:ea typeface="+mn-ea"/>
                <a:cs typeface="+mn-cs"/>
              </a:rPr>
              <a:t>）</a:t>
            </a:r>
            <a:endParaRPr lang="en-US" altLang="zh-TW" sz="1200" kern="1200" dirty="0" smtClean="0">
              <a:solidFill>
                <a:schemeClr val="tx1"/>
              </a:solidFill>
              <a:effectLst/>
              <a:latin typeface="+mn-lt"/>
              <a:ea typeface="+mn-ea"/>
              <a:cs typeface="+mn-cs"/>
            </a:endParaRPr>
          </a:p>
          <a:p>
            <a:pPr lvl="1"/>
            <a:r>
              <a:rPr lang="zh-TW" altLang="zh-TW" sz="1200" kern="1200" dirty="0" smtClean="0">
                <a:solidFill>
                  <a:schemeClr val="tx1"/>
                </a:solidFill>
                <a:effectLst/>
                <a:latin typeface="+mn-lt"/>
                <a:ea typeface="+mn-ea"/>
                <a:cs typeface="+mn-cs"/>
              </a:rPr>
              <a:t>確定系統在企業架構中的位置。</a:t>
            </a:r>
          </a:p>
          <a:p>
            <a:r>
              <a:rPr lang="en-US" altLang="zh-TW" sz="1200" kern="1200" dirty="0" smtClean="0">
                <a:solidFill>
                  <a:schemeClr val="tx1"/>
                </a:solidFill>
                <a:effectLst/>
                <a:latin typeface="+mn-lt"/>
                <a:ea typeface="+mn-ea"/>
                <a:cs typeface="+mn-cs"/>
              </a:rPr>
              <a:t>TASK P-17</a:t>
            </a:r>
            <a:r>
              <a:rPr lang="zh-TW" altLang="zh-TW" sz="1200" kern="1200" dirty="0" smtClean="0">
                <a:solidFill>
                  <a:schemeClr val="tx1"/>
                </a:solidFill>
                <a:effectLst/>
                <a:latin typeface="+mn-lt"/>
                <a:ea typeface="+mn-ea"/>
                <a:cs typeface="+mn-cs"/>
              </a:rPr>
              <a:t>：需求分配（</a:t>
            </a:r>
            <a:r>
              <a:rPr lang="en-US" altLang="zh-TW" sz="1200" kern="1200" dirty="0" smtClean="0">
                <a:solidFill>
                  <a:schemeClr val="tx1"/>
                </a:solidFill>
                <a:effectLst/>
                <a:latin typeface="+mn-lt"/>
                <a:ea typeface="+mn-ea"/>
                <a:cs typeface="+mn-cs"/>
              </a:rPr>
              <a:t>REQUIREMENTS ALLOCATION</a:t>
            </a:r>
            <a:r>
              <a:rPr lang="zh-TW" altLang="zh-TW" sz="1200" kern="1200" dirty="0" smtClean="0">
                <a:solidFill>
                  <a:schemeClr val="tx1"/>
                </a:solidFill>
                <a:effectLst/>
                <a:latin typeface="+mn-lt"/>
                <a:ea typeface="+mn-ea"/>
                <a:cs typeface="+mn-cs"/>
              </a:rPr>
              <a:t>）</a:t>
            </a:r>
            <a:endParaRPr lang="en-US" altLang="zh-TW" sz="1200" kern="1200" dirty="0" smtClean="0">
              <a:solidFill>
                <a:schemeClr val="tx1"/>
              </a:solidFill>
              <a:effectLst/>
              <a:latin typeface="+mn-lt"/>
              <a:ea typeface="+mn-ea"/>
              <a:cs typeface="+mn-cs"/>
            </a:endParaRPr>
          </a:p>
          <a:p>
            <a:pPr lvl="1"/>
            <a:r>
              <a:rPr lang="zh-TW" altLang="zh-TW" sz="1200" kern="1200" dirty="0" smtClean="0">
                <a:solidFill>
                  <a:schemeClr val="tx1"/>
                </a:solidFill>
                <a:effectLst/>
                <a:latin typeface="+mn-lt"/>
                <a:ea typeface="+mn-ea"/>
                <a:cs typeface="+mn-cs"/>
              </a:rPr>
              <a:t>將安全與隱私需求分配至系統及其運作環境。</a:t>
            </a:r>
            <a:endParaRPr lang="en-US" altLang="zh-TW" sz="1200" kern="1200" dirty="0" smtClean="0">
              <a:solidFill>
                <a:schemeClr val="tx1"/>
              </a:solidFill>
              <a:effectLst/>
              <a:latin typeface="+mn-lt"/>
              <a:ea typeface="+mn-ea"/>
              <a:cs typeface="+mn-cs"/>
            </a:endParaRPr>
          </a:p>
          <a:p>
            <a:r>
              <a:rPr lang="en-US" altLang="zh-TW" sz="1200" kern="1200" dirty="0" smtClean="0">
                <a:solidFill>
                  <a:schemeClr val="tx1"/>
                </a:solidFill>
                <a:effectLst/>
                <a:latin typeface="+mn-lt"/>
                <a:ea typeface="+mn-ea"/>
                <a:cs typeface="+mn-cs"/>
              </a:rPr>
              <a:t>TASK P-18</a:t>
            </a:r>
            <a:r>
              <a:rPr lang="zh-TW" altLang="zh-TW" sz="1200" kern="1200" dirty="0" smtClean="0">
                <a:solidFill>
                  <a:schemeClr val="tx1"/>
                </a:solidFill>
                <a:effectLst/>
                <a:latin typeface="+mn-lt"/>
                <a:ea typeface="+mn-ea"/>
                <a:cs typeface="+mn-cs"/>
              </a:rPr>
              <a:t>：系統登錄（</a:t>
            </a:r>
            <a:r>
              <a:rPr lang="en-US" altLang="zh-TW" sz="1200" kern="1200" dirty="0" smtClean="0">
                <a:solidFill>
                  <a:schemeClr val="tx1"/>
                </a:solidFill>
                <a:effectLst/>
                <a:latin typeface="+mn-lt"/>
                <a:ea typeface="+mn-ea"/>
                <a:cs typeface="+mn-cs"/>
              </a:rPr>
              <a:t>SYSTEM REGISTRATION</a:t>
            </a:r>
            <a:r>
              <a:rPr lang="zh-TW" altLang="zh-TW" sz="1200" kern="1200" dirty="0" smtClean="0">
                <a:solidFill>
                  <a:schemeClr val="tx1"/>
                </a:solidFill>
                <a:effectLst/>
                <a:latin typeface="+mn-lt"/>
                <a:ea typeface="+mn-ea"/>
                <a:cs typeface="+mn-cs"/>
              </a:rPr>
              <a:t>）</a:t>
            </a:r>
            <a:endParaRPr lang="en-US" altLang="zh-TW" sz="1200" kern="1200" dirty="0" smtClean="0">
              <a:solidFill>
                <a:schemeClr val="tx1"/>
              </a:solidFill>
              <a:effectLst/>
              <a:latin typeface="+mn-lt"/>
              <a:ea typeface="+mn-ea"/>
              <a:cs typeface="+mn-cs"/>
            </a:endParaRPr>
          </a:p>
          <a:p>
            <a:pPr lvl="1"/>
            <a:r>
              <a:rPr lang="zh-TW" altLang="en-US" sz="1200" kern="1200" dirty="0" smtClean="0">
                <a:solidFill>
                  <a:schemeClr val="tx1"/>
                </a:solidFill>
                <a:effectLst/>
                <a:latin typeface="+mn-lt"/>
                <a:ea typeface="+mn-ea"/>
                <a:cs typeface="+mn-cs"/>
              </a:rPr>
              <a:t>因應</a:t>
            </a:r>
            <a:r>
              <a:rPr lang="zh-TW" altLang="zh-TW" sz="1200" kern="1200" dirty="0" smtClean="0">
                <a:solidFill>
                  <a:schemeClr val="tx1"/>
                </a:solidFill>
                <a:effectLst/>
                <a:latin typeface="+mn-lt"/>
                <a:ea typeface="+mn-ea"/>
                <a:cs typeface="+mn-cs"/>
              </a:rPr>
              <a:t>管理、問責、協調與監督之目的，登錄該系統。</a:t>
            </a:r>
            <a:endParaRPr lang="zh-TW" altLang="en-US" dirty="0" smtClean="0"/>
          </a:p>
          <a:p>
            <a:endParaRPr lang="zh-TW" altLang="en-US" dirty="0"/>
          </a:p>
        </p:txBody>
      </p:sp>
    </p:spTree>
    <p:extLst>
      <p:ext uri="{BB962C8B-B14F-4D97-AF65-F5344CB8AC3E}">
        <p14:creationId xmlns:p14="http://schemas.microsoft.com/office/powerpoint/2010/main" val="250386196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151659899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2025952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pPr>
              <a:buNone/>
            </a:pPr>
            <a:r>
              <a:rPr lang="zh-TW" altLang="en-US" sz="1200" b="1" dirty="0" smtClean="0"/>
              <a:t>行動與里程碑計畫（</a:t>
            </a:r>
            <a:r>
              <a:rPr lang="en-US" altLang="zh-TW" sz="1200" dirty="0" smtClean="0"/>
              <a:t>POA&amp;M:</a:t>
            </a:r>
            <a:r>
              <a:rPr lang="zh-TW" altLang="en-US" sz="1200" dirty="0" smtClean="0"/>
              <a:t> </a:t>
            </a:r>
            <a:r>
              <a:rPr lang="en-US" altLang="zh-TW" sz="1200" b="1" dirty="0" smtClean="0"/>
              <a:t>PLAN OF ACTION AND MILESTONES）</a:t>
            </a:r>
            <a:endParaRPr lang="en-US" altLang="zh-TW" sz="1200" dirty="0"/>
          </a:p>
        </p:txBody>
      </p:sp>
    </p:spTree>
    <p:extLst>
      <p:ext uri="{BB962C8B-B14F-4D97-AF65-F5344CB8AC3E}">
        <p14:creationId xmlns:p14="http://schemas.microsoft.com/office/powerpoint/2010/main" val="1069358420"/>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7085746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a:xfrm>
            <a:off x="595313" y="366713"/>
            <a:ext cx="5837237" cy="4378325"/>
          </a:xfrm>
          <a:prstGeom prst="rect">
            <a:avLst/>
          </a:prstGeom>
        </p:spPr>
      </p:sp>
      <p:sp>
        <p:nvSpPr>
          <p:cNvPr id="3" name="備忘稿版面配置區 2"/>
          <p:cNvSpPr>
            <a:spLocks noGrp="1"/>
          </p:cNvSpPr>
          <p:nvPr>
            <p:ph type="body" idx="1"/>
          </p:nvPr>
        </p:nvSpPr>
        <p:spPr/>
        <p:txBody>
          <a:bodyPr/>
          <a:lstStyle/>
          <a:p>
            <a:endParaRPr lang="zh-TW" altLang="en-US" dirty="0"/>
          </a:p>
        </p:txBody>
      </p:sp>
    </p:spTree>
    <p:extLst>
      <p:ext uri="{BB962C8B-B14F-4D97-AF65-F5344CB8AC3E}">
        <p14:creationId xmlns:p14="http://schemas.microsoft.com/office/powerpoint/2010/main" val="4129865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smtClean="0"/>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smtClean="0"/>
              <a:t>按一下以編輯母片副標題樣式</a:t>
            </a:r>
            <a:endParaRPr lang="en-US" dirty="0"/>
          </a:p>
        </p:txBody>
      </p:sp>
      <p:sp>
        <p:nvSpPr>
          <p:cNvPr id="4" name="Date Placeholder 3"/>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3892081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idx="1"/>
          </p:nvPr>
        </p:nvSpPr>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41487233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smtClean="0"/>
              <a:t>編輯母片文字樣式</a:t>
            </a:r>
          </a:p>
        </p:txBody>
      </p:sp>
      <p:sp>
        <p:nvSpPr>
          <p:cNvPr id="4" name="Date Placeholder 3"/>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37392415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Date Placeholder 4"/>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2405927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7" name="Date Placeholder 6"/>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38601239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Date Placeholder 2"/>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2002949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15664053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999997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smtClean="0"/>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smtClean="0"/>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smtClean="0"/>
              <a:t>編輯母片文字樣式</a:t>
            </a:r>
          </a:p>
        </p:txBody>
      </p:sp>
      <p:sp>
        <p:nvSpPr>
          <p:cNvPr id="5" name="Date Placeholder 4"/>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22831093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14069989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smtClean="0"/>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10"/>
          </p:nvPr>
        </p:nvSpPr>
        <p:spPr/>
        <p:txBody>
          <a:body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24166265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內文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rgbClr val="039C97"/>
                </a:solidFill>
              </a:defRPr>
            </a:lvl1pPr>
          </a:lstStyle>
          <a:p>
            <a:r>
              <a:rPr lang="zh-TW" altLang="en-US" dirty="0"/>
              <a:t>按一下以編輯母片標題樣式</a:t>
            </a:r>
          </a:p>
        </p:txBody>
      </p:sp>
      <p:sp>
        <p:nvSpPr>
          <p:cNvPr id="4" name="矩形 3"/>
          <p:cNvSpPr/>
          <p:nvPr userDrawn="1"/>
        </p:nvSpPr>
        <p:spPr>
          <a:xfrm>
            <a:off x="0" y="6678067"/>
            <a:ext cx="9144000" cy="246221"/>
          </a:xfrm>
          <a:prstGeom prst="rect">
            <a:avLst/>
          </a:prstGeom>
        </p:spPr>
        <p:txBody>
          <a:bodyPr wrap="square" anchor="ctr">
            <a:spAutoFit/>
          </a:bodyPr>
          <a:lstStyle/>
          <a:p>
            <a:pPr algn="ctr">
              <a:lnSpc>
                <a:spcPts val="1200"/>
              </a:lnSpc>
              <a:defRPr/>
            </a:pPr>
            <a:fld id="{EDBEF0A2-D711-4ABF-BE5C-26CCF5F27F7E}" type="slidenum">
              <a:rPr lang="en-US" altLang="zh-TW" sz="1200" i="0" smtClean="0">
                <a:solidFill>
                  <a:schemeClr val="bg1"/>
                </a:solidFill>
                <a:latin typeface="+mn-ea"/>
                <a:ea typeface="+mn-ea"/>
                <a:cs typeface="Times New Roman" pitchFamily="18" charset="0"/>
              </a:rPr>
              <a:pPr algn="ctr">
                <a:lnSpc>
                  <a:spcPts val="1200"/>
                </a:lnSpc>
                <a:defRPr/>
              </a:pPr>
              <a:t>‹#›</a:t>
            </a:fld>
            <a:endParaRPr lang="en-US" altLang="zh-TW" sz="1200" i="0" dirty="0">
              <a:solidFill>
                <a:schemeClr val="bg1"/>
              </a:solidFill>
              <a:latin typeface="+mn-ea"/>
              <a:ea typeface="+mn-ea"/>
              <a:cs typeface="Times New Roman" pitchFamily="18" charset="0"/>
            </a:endParaRPr>
          </a:p>
        </p:txBody>
      </p:sp>
      <p:sp>
        <p:nvSpPr>
          <p:cNvPr id="6" name="矩形 5">
            <a:extLst>
              <a:ext uri="{FF2B5EF4-FFF2-40B4-BE49-F238E27FC236}">
                <a16:creationId xmlns:a16="http://schemas.microsoft.com/office/drawing/2014/main" id="{53205429-C272-4F4A-B17F-0BB13719A348}"/>
              </a:ext>
            </a:extLst>
          </p:cNvPr>
          <p:cNvSpPr/>
          <p:nvPr userDrawn="1"/>
        </p:nvSpPr>
        <p:spPr>
          <a:xfrm>
            <a:off x="451783" y="908720"/>
            <a:ext cx="7785825" cy="72008"/>
          </a:xfrm>
          <a:prstGeom prst="rect">
            <a:avLst/>
          </a:prstGeom>
          <a:solidFill>
            <a:srgbClr val="D6E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Tree>
    <p:extLst>
      <p:ext uri="{BB962C8B-B14F-4D97-AF65-F5344CB8AC3E}">
        <p14:creationId xmlns:p14="http://schemas.microsoft.com/office/powerpoint/2010/main" val="4777622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4_物件(1項)">
    <p:spTree>
      <p:nvGrpSpPr>
        <p:cNvPr id="1" name=""/>
        <p:cNvGrpSpPr/>
        <p:nvPr/>
      </p:nvGrpSpPr>
      <p:grpSpPr>
        <a:xfrm>
          <a:off x="0" y="0"/>
          <a:ext cx="0" cy="0"/>
          <a:chOff x="0" y="0"/>
          <a:chExt cx="0" cy="0"/>
        </a:xfrm>
      </p:grpSpPr>
      <p:sp>
        <p:nvSpPr>
          <p:cNvPr id="8" name="內容版面配置區 7"/>
          <p:cNvSpPr>
            <a:spLocks noGrp="1"/>
          </p:cNvSpPr>
          <p:nvPr>
            <p:ph sz="quarter" idx="10" hasCustomPrompt="1"/>
          </p:nvPr>
        </p:nvSpPr>
        <p:spPr>
          <a:xfrm>
            <a:off x="458584" y="1106264"/>
            <a:ext cx="8231262" cy="5112568"/>
          </a:xfrm>
        </p:spPr>
        <p:txBody>
          <a:bodyPr/>
          <a:lstStyle/>
          <a:p>
            <a:pPr lvl="0"/>
            <a:r>
              <a:rPr lang="zh-TW" altLang="en-US" dirty="0"/>
              <a:t>第</a:t>
            </a:r>
            <a:r>
              <a:rPr lang="en-US" altLang="zh-TW" dirty="0"/>
              <a:t>1</a:t>
            </a:r>
            <a:r>
              <a:rPr lang="zh-TW" altLang="en-US" dirty="0"/>
              <a:t>層</a:t>
            </a:r>
          </a:p>
          <a:p>
            <a:pPr lvl="1"/>
            <a:r>
              <a:rPr lang="zh-TW" altLang="en-US" dirty="0"/>
              <a:t>第</a:t>
            </a:r>
            <a:r>
              <a:rPr lang="en-US" altLang="zh-TW" dirty="0"/>
              <a:t>2</a:t>
            </a:r>
            <a:r>
              <a:rPr lang="zh-TW" altLang="en-US" dirty="0"/>
              <a:t>層</a:t>
            </a:r>
          </a:p>
          <a:p>
            <a:pPr lvl="2"/>
            <a:r>
              <a:rPr lang="zh-TW" altLang="en-US" dirty="0"/>
              <a:t>第</a:t>
            </a:r>
            <a:r>
              <a:rPr lang="en-US" altLang="zh-TW" dirty="0"/>
              <a:t>3</a:t>
            </a:r>
            <a:r>
              <a:rPr lang="zh-TW" altLang="en-US" dirty="0"/>
              <a:t>層</a:t>
            </a:r>
          </a:p>
          <a:p>
            <a:pPr lvl="3"/>
            <a:r>
              <a:rPr lang="zh-TW" altLang="en-US" dirty="0"/>
              <a:t>第</a:t>
            </a:r>
            <a:r>
              <a:rPr lang="en-US" altLang="zh-TW" dirty="0"/>
              <a:t>4</a:t>
            </a:r>
            <a:r>
              <a:rPr lang="zh-TW" altLang="en-US" dirty="0"/>
              <a:t>層</a:t>
            </a:r>
          </a:p>
          <a:p>
            <a:pPr lvl="4"/>
            <a:r>
              <a:rPr lang="zh-TW" altLang="en-US" dirty="0"/>
              <a:t>第</a:t>
            </a:r>
            <a:r>
              <a:rPr lang="en-US" altLang="zh-TW" dirty="0"/>
              <a:t>5</a:t>
            </a:r>
            <a:r>
              <a:rPr lang="zh-TW" altLang="en-US" dirty="0"/>
              <a:t>層</a:t>
            </a:r>
          </a:p>
        </p:txBody>
      </p:sp>
      <p:sp>
        <p:nvSpPr>
          <p:cNvPr id="4" name="矩形 3"/>
          <p:cNvSpPr/>
          <p:nvPr userDrawn="1"/>
        </p:nvSpPr>
        <p:spPr>
          <a:xfrm>
            <a:off x="0" y="6678067"/>
            <a:ext cx="9144000" cy="246221"/>
          </a:xfrm>
          <a:prstGeom prst="rect">
            <a:avLst/>
          </a:prstGeom>
        </p:spPr>
        <p:txBody>
          <a:bodyPr wrap="square" anchor="ctr">
            <a:spAutoFit/>
          </a:bodyPr>
          <a:lstStyle/>
          <a:p>
            <a:pPr algn="ctr">
              <a:lnSpc>
                <a:spcPts val="1200"/>
              </a:lnSpc>
              <a:defRPr/>
            </a:pPr>
            <a:fld id="{EDBEF0A2-D711-4ABF-BE5C-26CCF5F27F7E}" type="slidenum">
              <a:rPr lang="en-US" altLang="zh-TW" sz="1200" i="0" smtClean="0">
                <a:solidFill>
                  <a:schemeClr val="bg1"/>
                </a:solidFill>
                <a:latin typeface="+mn-ea"/>
                <a:ea typeface="+mn-ea"/>
                <a:cs typeface="Times New Roman" pitchFamily="18" charset="0"/>
              </a:rPr>
              <a:pPr algn="ctr">
                <a:lnSpc>
                  <a:spcPts val="1200"/>
                </a:lnSpc>
                <a:defRPr/>
              </a:pPr>
              <a:t>‹#›</a:t>
            </a:fld>
            <a:endParaRPr lang="en-US" altLang="zh-TW" sz="1200" i="0" dirty="0">
              <a:solidFill>
                <a:schemeClr val="bg1"/>
              </a:solidFill>
              <a:latin typeface="+mn-ea"/>
              <a:ea typeface="+mn-ea"/>
              <a:cs typeface="Times New Roman" pitchFamily="18" charset="0"/>
            </a:endParaRPr>
          </a:p>
        </p:txBody>
      </p:sp>
      <p:sp>
        <p:nvSpPr>
          <p:cNvPr id="11" name="矩形 10">
            <a:extLst>
              <a:ext uri="{FF2B5EF4-FFF2-40B4-BE49-F238E27FC236}">
                <a16:creationId xmlns:a16="http://schemas.microsoft.com/office/drawing/2014/main" id="{4BF3A352-60ED-4239-AD70-1FF113D87FB5}"/>
              </a:ext>
            </a:extLst>
          </p:cNvPr>
          <p:cNvSpPr/>
          <p:nvPr userDrawn="1"/>
        </p:nvSpPr>
        <p:spPr>
          <a:xfrm>
            <a:off x="451783" y="908719"/>
            <a:ext cx="7848000" cy="72000"/>
          </a:xfrm>
          <a:prstGeom prst="rect">
            <a:avLst/>
          </a:prstGeom>
          <a:solidFill>
            <a:srgbClr val="D6E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
        <p:nvSpPr>
          <p:cNvPr id="7" name="標題 1">
            <a:extLst>
              <a:ext uri="{FF2B5EF4-FFF2-40B4-BE49-F238E27FC236}">
                <a16:creationId xmlns:a16="http://schemas.microsoft.com/office/drawing/2014/main" id="{83AFC622-2780-4910-A4E6-9F9DAA20504A}"/>
              </a:ext>
            </a:extLst>
          </p:cNvPr>
          <p:cNvSpPr>
            <a:spLocks noGrp="1"/>
          </p:cNvSpPr>
          <p:nvPr>
            <p:ph type="title"/>
          </p:nvPr>
        </p:nvSpPr>
        <p:spPr>
          <a:xfrm>
            <a:off x="818623" y="131120"/>
            <a:ext cx="7785825" cy="777600"/>
          </a:xfrm>
        </p:spPr>
        <p:txBody>
          <a:bodyPr/>
          <a:lstStyle>
            <a:lvl1pPr>
              <a:defRPr>
                <a:solidFill>
                  <a:srgbClr val="039C97"/>
                </a:solidFill>
              </a:defRPr>
            </a:lvl1pPr>
          </a:lstStyle>
          <a:p>
            <a:r>
              <a:rPr lang="zh-TW" altLang="en-US" dirty="0"/>
              <a:t>按一下以編輯母片標題樣式</a:t>
            </a:r>
          </a:p>
        </p:txBody>
      </p:sp>
    </p:spTree>
    <p:extLst>
      <p:ext uri="{BB962C8B-B14F-4D97-AF65-F5344CB8AC3E}">
        <p14:creationId xmlns:p14="http://schemas.microsoft.com/office/powerpoint/2010/main" val="7900023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中間隔頁">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2F50E57-53B0-4ADC-A3BB-6A0EDC55863E}"/>
              </a:ext>
            </a:extLst>
          </p:cNvPr>
          <p:cNvSpPr>
            <a:spLocks noGrp="1" noChangeArrowheads="1"/>
          </p:cNvSpPr>
          <p:nvPr>
            <p:ph type="ctrTitle"/>
          </p:nvPr>
        </p:nvSpPr>
        <p:spPr>
          <a:xfrm>
            <a:off x="685800" y="2348880"/>
            <a:ext cx="7772400" cy="1224136"/>
          </a:xfrm>
        </p:spPr>
        <p:txBody>
          <a:bodyPr anchor="ctr"/>
          <a:lstStyle>
            <a:lvl1pPr algn="ctr">
              <a:defRPr sz="4400" smtClean="0"/>
            </a:lvl1pPr>
          </a:lstStyle>
          <a:p>
            <a:pPr lvl="0"/>
            <a:r>
              <a:rPr lang="zh-TW" altLang="en-US" noProof="0"/>
              <a:t>按一下以編輯母片標題樣式</a:t>
            </a:r>
            <a:endParaRPr lang="zh-TW" altLang="en-US" noProof="0" dirty="0"/>
          </a:p>
        </p:txBody>
      </p:sp>
      <p:sp>
        <p:nvSpPr>
          <p:cNvPr id="6" name="矩形 5">
            <a:extLst>
              <a:ext uri="{FF2B5EF4-FFF2-40B4-BE49-F238E27FC236}">
                <a16:creationId xmlns:a16="http://schemas.microsoft.com/office/drawing/2014/main" id="{4D17BD83-71DA-4986-B480-09E955457FEA}"/>
              </a:ext>
            </a:extLst>
          </p:cNvPr>
          <p:cNvSpPr/>
          <p:nvPr userDrawn="1"/>
        </p:nvSpPr>
        <p:spPr>
          <a:xfrm>
            <a:off x="3076449" y="3293292"/>
            <a:ext cx="2991102" cy="108000"/>
          </a:xfrm>
          <a:prstGeom prst="rect">
            <a:avLst/>
          </a:prstGeom>
          <a:solidFill>
            <a:srgbClr val="D6E6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sz="1800"/>
          </a:p>
        </p:txBody>
      </p:sp>
    </p:spTree>
    <p:extLst>
      <p:ext uri="{BB962C8B-B14F-4D97-AF65-F5344CB8AC3E}">
        <p14:creationId xmlns:p14="http://schemas.microsoft.com/office/powerpoint/2010/main" val="3179410055"/>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04_1項內容">
    <p:spTree>
      <p:nvGrpSpPr>
        <p:cNvPr id="1" name=""/>
        <p:cNvGrpSpPr/>
        <p:nvPr/>
      </p:nvGrpSpPr>
      <p:grpSpPr>
        <a:xfrm>
          <a:off x="0" y="0"/>
          <a:ext cx="0" cy="0"/>
          <a:chOff x="0" y="0"/>
          <a:chExt cx="0" cy="0"/>
        </a:xfrm>
      </p:grpSpPr>
      <p:sp>
        <p:nvSpPr>
          <p:cNvPr id="8" name="內容版面配置區 7"/>
          <p:cNvSpPr>
            <a:spLocks noGrp="1"/>
          </p:cNvSpPr>
          <p:nvPr>
            <p:ph sz="quarter" idx="10" hasCustomPrompt="1"/>
          </p:nvPr>
        </p:nvSpPr>
        <p:spPr>
          <a:xfrm>
            <a:off x="539552" y="1080000"/>
            <a:ext cx="8071200" cy="5230800"/>
          </a:xfrm>
        </p:spPr>
        <p:txBody>
          <a:bodyPr/>
          <a:lstStyle>
            <a:lvl3pPr>
              <a:defRPr>
                <a:latin typeface="+mn-ea"/>
                <a:ea typeface="+mn-ea"/>
              </a:defRPr>
            </a:lvl3pPr>
          </a:lstStyle>
          <a:p>
            <a:pPr lvl="0"/>
            <a:r>
              <a:rPr lang="zh-TW" altLang="en-US" dirty="0"/>
              <a:t>第</a:t>
            </a:r>
            <a:r>
              <a:rPr lang="en-US" altLang="zh-TW" dirty="0"/>
              <a:t>1</a:t>
            </a:r>
            <a:r>
              <a:rPr lang="zh-TW" altLang="en-US" dirty="0"/>
              <a:t>層</a:t>
            </a:r>
          </a:p>
          <a:p>
            <a:pPr lvl="1"/>
            <a:r>
              <a:rPr lang="zh-TW" altLang="en-US" dirty="0"/>
              <a:t>第</a:t>
            </a:r>
            <a:r>
              <a:rPr lang="en-US" altLang="zh-TW" dirty="0"/>
              <a:t>2</a:t>
            </a:r>
            <a:r>
              <a:rPr lang="zh-TW" altLang="en-US" dirty="0"/>
              <a:t>層</a:t>
            </a:r>
          </a:p>
          <a:p>
            <a:pPr lvl="2"/>
            <a:r>
              <a:rPr lang="zh-TW" altLang="en-US" dirty="0"/>
              <a:t>第</a:t>
            </a:r>
            <a:r>
              <a:rPr lang="en-US" altLang="zh-TW" dirty="0"/>
              <a:t>3</a:t>
            </a:r>
            <a:r>
              <a:rPr lang="zh-TW" altLang="en-US" dirty="0"/>
              <a:t>層</a:t>
            </a:r>
          </a:p>
          <a:p>
            <a:pPr lvl="3"/>
            <a:r>
              <a:rPr lang="zh-TW" altLang="en-US" dirty="0"/>
              <a:t>第</a:t>
            </a:r>
            <a:r>
              <a:rPr lang="en-US" altLang="zh-TW" dirty="0"/>
              <a:t>4</a:t>
            </a:r>
            <a:r>
              <a:rPr lang="zh-TW" altLang="en-US" dirty="0"/>
              <a:t>層</a:t>
            </a:r>
          </a:p>
          <a:p>
            <a:pPr lvl="4"/>
            <a:r>
              <a:rPr lang="zh-TW" altLang="en-US" dirty="0"/>
              <a:t>第</a:t>
            </a:r>
            <a:r>
              <a:rPr lang="en-US" altLang="zh-TW" dirty="0"/>
              <a:t>5</a:t>
            </a:r>
            <a:r>
              <a:rPr lang="zh-TW" altLang="en-US" dirty="0"/>
              <a:t>層</a:t>
            </a:r>
          </a:p>
        </p:txBody>
      </p:sp>
      <p:sp>
        <p:nvSpPr>
          <p:cNvPr id="2" name="矩形 1"/>
          <p:cNvSpPr/>
          <p:nvPr userDrawn="1"/>
        </p:nvSpPr>
        <p:spPr>
          <a:xfrm>
            <a:off x="3801597" y="6567155"/>
            <a:ext cx="1540807" cy="246221"/>
          </a:xfrm>
          <a:prstGeom prst="rect">
            <a:avLst/>
          </a:prstGeom>
        </p:spPr>
        <p:txBody>
          <a:bodyPr wrap="none">
            <a:spAutoFit/>
          </a:bodyPr>
          <a:lstStyle/>
          <a:p>
            <a:pPr algn="r">
              <a:defRPr/>
            </a:pPr>
            <a:r>
              <a:rPr kumimoji="1" lang="zh-TW" altLang="en-US" sz="1000" i="0" kern="1200" dirty="0">
                <a:solidFill>
                  <a:schemeClr val="tx1"/>
                </a:solidFill>
                <a:latin typeface="+mn-ea"/>
                <a:ea typeface="+mn-ea"/>
                <a:cs typeface="Times New Roman" pitchFamily="18" charset="0"/>
              </a:rPr>
              <a:t>資通系統風險管理 </a:t>
            </a:r>
            <a:r>
              <a:rPr kumimoji="1" lang="en-US" altLang="zh-TW" sz="1000" i="0" kern="1200" dirty="0">
                <a:solidFill>
                  <a:schemeClr val="tx1"/>
                </a:solidFill>
                <a:latin typeface="+mn-ea"/>
                <a:ea typeface="+mn-ea"/>
                <a:cs typeface="Times New Roman" pitchFamily="18" charset="0"/>
              </a:rPr>
              <a:t>1-</a:t>
            </a:r>
            <a:fld id="{EDBEF0A2-D711-4ABF-BE5C-26CCF5F27F7E}" type="slidenum">
              <a:rPr kumimoji="1" lang="en-US" altLang="zh-TW" sz="1000" i="0" kern="1200" smtClean="0">
                <a:solidFill>
                  <a:schemeClr val="tx1"/>
                </a:solidFill>
                <a:latin typeface="+mn-ea"/>
                <a:ea typeface="+mn-ea"/>
                <a:cs typeface="Times New Roman" pitchFamily="18" charset="0"/>
              </a:rPr>
              <a:pPr algn="r">
                <a:defRPr/>
              </a:pPr>
              <a:t>‹#›</a:t>
            </a:fld>
            <a:endParaRPr kumimoji="1" lang="en-US" altLang="zh-TW" sz="1000" i="0" kern="1200" dirty="0">
              <a:solidFill>
                <a:schemeClr val="tx1"/>
              </a:solidFill>
              <a:latin typeface="+mn-ea"/>
              <a:ea typeface="+mn-ea"/>
              <a:cs typeface="Times New Roman" pitchFamily="18" charset="0"/>
            </a:endParaRPr>
          </a:p>
        </p:txBody>
      </p:sp>
      <p:sp>
        <p:nvSpPr>
          <p:cNvPr id="3" name="標題 2"/>
          <p:cNvSpPr>
            <a:spLocks noGrp="1"/>
          </p:cNvSpPr>
          <p:nvPr>
            <p:ph type="title"/>
          </p:nvPr>
        </p:nvSpPr>
        <p:spPr/>
        <p:txBody>
          <a:bodyPr/>
          <a:lstStyle/>
          <a:p>
            <a:r>
              <a:rPr lang="zh-TW" altLang="en-US" smtClean="0"/>
              <a:t>按一下以編輯母片標題樣式</a:t>
            </a:r>
            <a:endParaRPr lang="zh-TW" altLang="en-US"/>
          </a:p>
        </p:txBody>
      </p:sp>
    </p:spTree>
    <p:extLst>
      <p:ext uri="{BB962C8B-B14F-4D97-AF65-F5344CB8AC3E}">
        <p14:creationId xmlns:p14="http://schemas.microsoft.com/office/powerpoint/2010/main" val="1556541867"/>
      </p:ext>
    </p:extLst>
  </p:cSld>
  <p:clrMapOvr>
    <a:masterClrMapping/>
  </p:clrMapOvr>
  <p:extLst mod="1">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02_內容空白">
    <p:spTree>
      <p:nvGrpSpPr>
        <p:cNvPr id="1" name=""/>
        <p:cNvGrpSpPr/>
        <p:nvPr/>
      </p:nvGrpSpPr>
      <p:grpSpPr>
        <a:xfrm>
          <a:off x="0" y="0"/>
          <a:ext cx="0" cy="0"/>
          <a:chOff x="0" y="0"/>
          <a:chExt cx="0" cy="0"/>
        </a:xfrm>
      </p:grpSpPr>
      <p:sp>
        <p:nvSpPr>
          <p:cNvPr id="2" name="標題 1"/>
          <p:cNvSpPr>
            <a:spLocks noGrp="1"/>
          </p:cNvSpPr>
          <p:nvPr>
            <p:ph type="title"/>
          </p:nvPr>
        </p:nvSpPr>
        <p:spPr/>
        <p:txBody>
          <a:bodyPr anchor="b"/>
          <a:lstStyle/>
          <a:p>
            <a:r>
              <a:rPr lang="zh-TW" altLang="en-US"/>
              <a:t>按一下以編輯母片標題樣式</a:t>
            </a:r>
            <a:endParaRPr lang="zh-TW" altLang="en-US" dirty="0"/>
          </a:p>
        </p:txBody>
      </p:sp>
      <p:sp>
        <p:nvSpPr>
          <p:cNvPr id="3" name="矩形 2"/>
          <p:cNvSpPr/>
          <p:nvPr userDrawn="1"/>
        </p:nvSpPr>
        <p:spPr>
          <a:xfrm>
            <a:off x="3801597" y="6567155"/>
            <a:ext cx="1540807" cy="246221"/>
          </a:xfrm>
          <a:prstGeom prst="rect">
            <a:avLst/>
          </a:prstGeom>
        </p:spPr>
        <p:txBody>
          <a:bodyPr wrap="none">
            <a:spAutoFit/>
          </a:bodyPr>
          <a:lstStyle/>
          <a:p>
            <a:pPr algn="r">
              <a:defRPr/>
            </a:pPr>
            <a:r>
              <a:rPr lang="zh-TW" altLang="en-US" sz="1000" i="0" dirty="0">
                <a:latin typeface="+mn-ea"/>
                <a:ea typeface="+mn-ea"/>
                <a:cs typeface="Times New Roman" pitchFamily="18" charset="0"/>
              </a:rPr>
              <a:t>資通系統風險管理 </a:t>
            </a:r>
            <a:r>
              <a:rPr lang="en-US" altLang="zh-TW" sz="1000" i="0" dirty="0">
                <a:latin typeface="+mn-ea"/>
                <a:ea typeface="+mn-ea"/>
                <a:cs typeface="Times New Roman" pitchFamily="18" charset="0"/>
              </a:rPr>
              <a:t>1-</a:t>
            </a:r>
            <a:fld id="{EDBEF0A2-D711-4ABF-BE5C-26CCF5F27F7E}" type="slidenum">
              <a:rPr lang="en-US" altLang="zh-TW" sz="1000" i="0" smtClean="0">
                <a:latin typeface="+mn-ea"/>
                <a:ea typeface="+mn-ea"/>
                <a:cs typeface="Times New Roman" pitchFamily="18" charset="0"/>
              </a:rPr>
              <a:pPr algn="r">
                <a:defRPr/>
              </a:pPr>
              <a:t>‹#›</a:t>
            </a:fld>
            <a:endParaRPr lang="en-US" altLang="zh-TW" sz="1000" i="0" dirty="0">
              <a:latin typeface="+mn-ea"/>
              <a:ea typeface="+mn-ea"/>
              <a:cs typeface="Times New Roman" pitchFamily="18" charset="0"/>
            </a:endParaRPr>
          </a:p>
        </p:txBody>
      </p:sp>
    </p:spTree>
    <p:extLst>
      <p:ext uri="{BB962C8B-B14F-4D97-AF65-F5344CB8AC3E}">
        <p14:creationId xmlns:p14="http://schemas.microsoft.com/office/powerpoint/2010/main" val="338454040"/>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smtClean="0"/>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smtClean="0"/>
              <a:t>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3093DF9-85D1-4DE1-AF40-867D775042E4}" type="datetimeFigureOut">
              <a:rPr lang="zh-TW" altLang="en-US" smtClean="0"/>
              <a:t>2026/3/4</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4CE75E-E507-4F64-8276-CF5C86F6EE73}" type="slidenum">
              <a:rPr lang="zh-TW" altLang="en-US" smtClean="0"/>
              <a:t>‹#›</a:t>
            </a:fld>
            <a:endParaRPr lang="zh-TW" altLang="en-US"/>
          </a:p>
        </p:txBody>
      </p:sp>
    </p:spTree>
    <p:extLst>
      <p:ext uri="{BB962C8B-B14F-4D97-AF65-F5344CB8AC3E}">
        <p14:creationId xmlns:p14="http://schemas.microsoft.com/office/powerpoint/2010/main" val="203915064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5.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16.xml"/><Relationship Id="rId4" Type="http://schemas.openxmlformats.org/officeDocument/2006/relationships/image" Target="../media/image12.JP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2.xml"/><Relationship Id="rId1" Type="http://schemas.openxmlformats.org/officeDocument/2006/relationships/slideLayout" Target="../slideLayouts/slideLayout16.xml"/></Relationships>
</file>

<file path=ppt/slides/_rels/slide5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33.xml"/><Relationship Id="rId1" Type="http://schemas.openxmlformats.org/officeDocument/2006/relationships/slideLayout" Target="../slideLayouts/slideLayout16.xml"/></Relationships>
</file>

<file path=ppt/slides/_rels/slide5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34.xml"/><Relationship Id="rId1" Type="http://schemas.openxmlformats.org/officeDocument/2006/relationships/slideLayout" Target="../slideLayouts/slideLayout1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7.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16.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5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0.xml"/><Relationship Id="rId1" Type="http://schemas.openxmlformats.org/officeDocument/2006/relationships/slideLayout" Target="../slideLayouts/slideLayout1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dirty="0" smtClean="0"/>
              <a:t>Week2.ISMS </a:t>
            </a:r>
            <a:br>
              <a:rPr lang="en-US" altLang="zh-TW" dirty="0" smtClean="0"/>
            </a:br>
            <a:r>
              <a:rPr lang="zh-TW" altLang="en-US" kern="0" dirty="0" smtClean="0"/>
              <a:t>資訊安全</a:t>
            </a:r>
            <a:r>
              <a:rPr lang="zh-TW" altLang="en-US" kern="0" dirty="0"/>
              <a:t>管理</a:t>
            </a:r>
            <a:r>
              <a:rPr lang="zh-TW" altLang="en-US" kern="0" dirty="0" smtClean="0"/>
              <a:t>系統</a:t>
            </a:r>
            <a:endParaRPr lang="zh-TW" altLang="en-US" dirty="0"/>
          </a:p>
        </p:txBody>
      </p:sp>
      <p:sp>
        <p:nvSpPr>
          <p:cNvPr id="3" name="副標題 2"/>
          <p:cNvSpPr>
            <a:spLocks noGrp="1"/>
          </p:cNvSpPr>
          <p:nvPr>
            <p:ph type="subTitle" idx="1"/>
          </p:nvPr>
        </p:nvSpPr>
        <p:spPr/>
        <p:txBody>
          <a:bodyPr/>
          <a:lstStyle/>
          <a:p>
            <a:endParaRPr lang="zh-TW" altLang="en-US"/>
          </a:p>
        </p:txBody>
      </p:sp>
    </p:spTree>
    <p:extLst>
      <p:ext uri="{BB962C8B-B14F-4D97-AF65-F5344CB8AC3E}">
        <p14:creationId xmlns:p14="http://schemas.microsoft.com/office/powerpoint/2010/main" val="11054448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6108" y="330591"/>
            <a:ext cx="7886700" cy="790357"/>
          </a:xfrm>
        </p:spPr>
        <p:txBody>
          <a:bodyPr/>
          <a:lstStyle/>
          <a:p>
            <a:r>
              <a:rPr lang="en-US" altLang="zh-TW" dirty="0" smtClean="0"/>
              <a:t>Agenda</a:t>
            </a:r>
            <a:endParaRPr lang="zh-TW" altLang="en-US" dirty="0"/>
          </a:p>
        </p:txBody>
      </p:sp>
      <p:sp>
        <p:nvSpPr>
          <p:cNvPr id="3" name="內容版面配置區 2"/>
          <p:cNvSpPr>
            <a:spLocks noGrp="1"/>
          </p:cNvSpPr>
          <p:nvPr>
            <p:ph idx="1"/>
          </p:nvPr>
        </p:nvSpPr>
        <p:spPr>
          <a:xfrm>
            <a:off x="628650" y="1516135"/>
            <a:ext cx="7886700" cy="3386455"/>
          </a:xfrm>
        </p:spPr>
        <p:txBody>
          <a:bodyPr/>
          <a:lstStyle/>
          <a:p>
            <a:r>
              <a:rPr lang="en-US" altLang="zh-TW" dirty="0" smtClean="0"/>
              <a:t>Part A:ISMS</a:t>
            </a:r>
            <a:r>
              <a:rPr lang="zh-TW" altLang="en-US" kern="0" dirty="0"/>
              <a:t>資訊安全管理</a:t>
            </a:r>
            <a:r>
              <a:rPr lang="zh-TW" altLang="en-US" kern="0" dirty="0" smtClean="0"/>
              <a:t>系統</a:t>
            </a:r>
            <a:endParaRPr lang="en-US" altLang="zh-TW" kern="0" dirty="0" smtClean="0"/>
          </a:p>
          <a:p>
            <a:pPr lvl="1"/>
            <a:r>
              <a:rPr lang="en-US" altLang="zh-TW" dirty="0"/>
              <a:t>Two major frameworks</a:t>
            </a:r>
            <a:r>
              <a:rPr lang="en-US" altLang="zh-TW" kern="0" dirty="0" smtClean="0"/>
              <a:t>: ISO</a:t>
            </a:r>
            <a:r>
              <a:rPr lang="zh-TW" altLang="en-US" kern="0" dirty="0" smtClean="0"/>
              <a:t> </a:t>
            </a:r>
            <a:r>
              <a:rPr lang="en-US" altLang="zh-TW" kern="0" dirty="0" smtClean="0"/>
              <a:t>27001 vs</a:t>
            </a:r>
            <a:r>
              <a:rPr lang="en-US" altLang="zh-TW" b="1" dirty="0" smtClean="0">
                <a:solidFill>
                  <a:srgbClr val="1F1F1F"/>
                </a:solidFill>
                <a:latin typeface="Google Sans Text"/>
              </a:rPr>
              <a:t> NIST </a:t>
            </a:r>
            <a:r>
              <a:rPr lang="en-US" altLang="zh-TW" b="1" dirty="0">
                <a:solidFill>
                  <a:srgbClr val="1F1F1F"/>
                </a:solidFill>
                <a:latin typeface="Google Sans Text"/>
              </a:rPr>
              <a:t>CSF </a:t>
            </a:r>
            <a:r>
              <a:rPr lang="en-US" altLang="zh-TW" b="1" dirty="0" smtClean="0">
                <a:solidFill>
                  <a:srgbClr val="1F1F1F"/>
                </a:solidFill>
                <a:latin typeface="Google Sans Text"/>
              </a:rPr>
              <a:t>2</a:t>
            </a:r>
          </a:p>
          <a:p>
            <a:pPr lvl="1"/>
            <a:r>
              <a:rPr lang="en-US" altLang="zh-TW" b="1" dirty="0" smtClean="0">
                <a:solidFill>
                  <a:srgbClr val="1F1F1F"/>
                </a:solidFill>
                <a:latin typeface="Google Sans Text"/>
              </a:rPr>
              <a:t>Security Policy vs Topic-specific Policy</a:t>
            </a:r>
          </a:p>
          <a:p>
            <a:pPr lvl="1"/>
            <a:r>
              <a:rPr lang="en-US" altLang="zh-TW" b="1" dirty="0" smtClean="0">
                <a:solidFill>
                  <a:srgbClr val="1F1F1F"/>
                </a:solidFill>
                <a:latin typeface="Google Sans Text"/>
              </a:rPr>
              <a:t>Security Controls</a:t>
            </a:r>
          </a:p>
          <a:p>
            <a:r>
              <a:rPr lang="en-US" altLang="zh-TW" dirty="0"/>
              <a:t>Part </a:t>
            </a:r>
            <a:r>
              <a:rPr lang="en-US" altLang="zh-TW" dirty="0" smtClean="0"/>
              <a:t>B: Risk Management</a:t>
            </a:r>
          </a:p>
          <a:p>
            <a:pPr lvl="1"/>
            <a:r>
              <a:rPr lang="en-US" altLang="zh-TW" b="1" dirty="0">
                <a:solidFill>
                  <a:srgbClr val="1F1F1F"/>
                </a:solidFill>
                <a:latin typeface="Google Sans Text"/>
              </a:rPr>
              <a:t> </a:t>
            </a:r>
            <a:r>
              <a:rPr lang="en-US" altLang="zh-TW" b="1" dirty="0" smtClean="0">
                <a:solidFill>
                  <a:srgbClr val="1F1F1F"/>
                </a:solidFill>
                <a:latin typeface="Google Sans Text"/>
              </a:rPr>
              <a:t>Risk</a:t>
            </a:r>
          </a:p>
          <a:p>
            <a:pPr lvl="1"/>
            <a:r>
              <a:rPr lang="en-US" altLang="zh-TW" b="1" dirty="0" smtClean="0">
                <a:solidFill>
                  <a:srgbClr val="1F1F1F"/>
                </a:solidFill>
                <a:latin typeface="Google Sans Text"/>
              </a:rPr>
              <a:t> </a:t>
            </a:r>
            <a:r>
              <a:rPr lang="en-US" altLang="zh-TW" dirty="0"/>
              <a:t>Risk Management</a:t>
            </a:r>
          </a:p>
          <a:p>
            <a:pPr lvl="1"/>
            <a:r>
              <a:rPr lang="en-US" altLang="zh-TW" dirty="0" smtClean="0"/>
              <a:t> Risk Management Framework</a:t>
            </a:r>
            <a:endParaRPr lang="en-US" altLang="zh-TW" b="1" dirty="0" smtClean="0">
              <a:solidFill>
                <a:srgbClr val="1F1F1F"/>
              </a:solidFill>
              <a:latin typeface="Google Sans Text"/>
            </a:endParaRPr>
          </a:p>
          <a:p>
            <a:endParaRPr lang="en-US" altLang="zh-TW" dirty="0">
              <a:solidFill>
                <a:srgbClr val="1F1F1F"/>
              </a:solidFill>
              <a:latin typeface="Google Sans Text"/>
            </a:endParaRPr>
          </a:p>
          <a:p>
            <a:endParaRPr lang="en-US" altLang="zh-TW" kern="0" dirty="0"/>
          </a:p>
          <a:p>
            <a:endParaRPr lang="zh-TW" altLang="en-US" dirty="0"/>
          </a:p>
        </p:txBody>
      </p:sp>
    </p:spTree>
    <p:extLst>
      <p:ext uri="{BB962C8B-B14F-4D97-AF65-F5344CB8AC3E}">
        <p14:creationId xmlns:p14="http://schemas.microsoft.com/office/powerpoint/2010/main" val="15647325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ctrTitle"/>
          </p:nvPr>
        </p:nvSpPr>
        <p:spPr>
          <a:xfrm>
            <a:off x="685800" y="2132856"/>
            <a:ext cx="7772400" cy="1224136"/>
          </a:xfrm>
        </p:spPr>
        <p:txBody>
          <a:bodyPr/>
          <a:lstStyle/>
          <a:p>
            <a:r>
              <a:rPr lang="en-US" altLang="zh-TW" sz="4000" dirty="0"/>
              <a:t>Part </a:t>
            </a:r>
            <a:r>
              <a:rPr lang="en-US" altLang="zh-TW" sz="4000" dirty="0" smtClean="0"/>
              <a:t>A: ISMS</a:t>
            </a:r>
            <a:br>
              <a:rPr lang="en-US" altLang="zh-TW" sz="4000" dirty="0" smtClean="0"/>
            </a:br>
            <a:r>
              <a:rPr lang="zh-TW" altLang="en-US" sz="4000" kern="0" dirty="0" smtClean="0"/>
              <a:t>資訊安全</a:t>
            </a:r>
            <a:r>
              <a:rPr lang="zh-TW" altLang="en-US" sz="4000" kern="0" dirty="0"/>
              <a:t>管理系統</a:t>
            </a:r>
            <a:endParaRPr lang="en-US" altLang="zh-TW" sz="4000" kern="0" dirty="0"/>
          </a:p>
        </p:txBody>
      </p:sp>
    </p:spTree>
    <p:extLst>
      <p:ext uri="{BB962C8B-B14F-4D97-AF65-F5344CB8AC3E}">
        <p14:creationId xmlns:p14="http://schemas.microsoft.com/office/powerpoint/2010/main" val="2929150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51520" y="31298"/>
            <a:ext cx="7886700" cy="974542"/>
          </a:xfrm>
        </p:spPr>
        <p:txBody>
          <a:bodyPr/>
          <a:lstStyle/>
          <a:p>
            <a:r>
              <a:rPr lang="zh-TW" altLang="en-US" dirty="0"/>
              <a:t>資訊安全管理</a:t>
            </a:r>
            <a:r>
              <a:rPr lang="zh-TW" altLang="en-US" dirty="0" smtClean="0"/>
              <a:t>系統</a:t>
            </a:r>
            <a:r>
              <a:rPr lang="en-US" altLang="zh-TW" dirty="0" smtClean="0"/>
              <a:t>(1/3)</a:t>
            </a:r>
            <a:endParaRPr lang="zh-TW" altLang="en-US" dirty="0"/>
          </a:p>
        </p:txBody>
      </p:sp>
      <p:sp>
        <p:nvSpPr>
          <p:cNvPr id="4" name="內容版面配置區 9"/>
          <p:cNvSpPr txBox="1">
            <a:spLocks/>
          </p:cNvSpPr>
          <p:nvPr/>
        </p:nvSpPr>
        <p:spPr>
          <a:xfrm>
            <a:off x="251520" y="1124744"/>
            <a:ext cx="8424936" cy="5230800"/>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dirty="0" smtClean="0"/>
              <a:t>ISMS</a:t>
            </a:r>
            <a:r>
              <a:rPr lang="zh-TW" altLang="en-US" kern="0" dirty="0" smtClean="0"/>
              <a:t>資訊安全</a:t>
            </a:r>
            <a:r>
              <a:rPr lang="zh-TW" altLang="en-US" kern="0" dirty="0"/>
              <a:t>管理</a:t>
            </a:r>
            <a:r>
              <a:rPr lang="zh-TW" altLang="en-US" kern="0" dirty="0" smtClean="0"/>
              <a:t>系統</a:t>
            </a:r>
            <a:endParaRPr lang="en-US" altLang="zh-TW" kern="0" dirty="0" smtClean="0"/>
          </a:p>
          <a:p>
            <a:pPr lvl="1"/>
            <a:r>
              <a:rPr lang="zh-TW" altLang="en-US" dirty="0" smtClean="0"/>
              <a:t>英文全名</a:t>
            </a:r>
            <a:r>
              <a:rPr lang="en-US" altLang="zh-TW" dirty="0" smtClean="0"/>
              <a:t>: Information </a:t>
            </a:r>
            <a:r>
              <a:rPr lang="en-US" altLang="zh-TW" dirty="0"/>
              <a:t>Security Management </a:t>
            </a:r>
            <a:r>
              <a:rPr lang="en-US" altLang="zh-TW" dirty="0" smtClean="0"/>
              <a:t>System</a:t>
            </a:r>
            <a:endParaRPr lang="en-US" altLang="zh-TW" kern="0" dirty="0" smtClean="0"/>
          </a:p>
          <a:p>
            <a:pPr lvl="1"/>
            <a:r>
              <a:rPr lang="zh-TW" altLang="en-US" kern="0" dirty="0" smtClean="0"/>
              <a:t>意義</a:t>
            </a:r>
            <a:r>
              <a:rPr lang="en-US" altLang="zh-TW" kern="0" dirty="0"/>
              <a:t>:</a:t>
            </a:r>
            <a:r>
              <a:rPr lang="zh-TW" altLang="en-US" kern="0" dirty="0" smtClean="0"/>
              <a:t>企業</a:t>
            </a:r>
            <a:r>
              <a:rPr lang="zh-TW" altLang="en-US" kern="0" dirty="0"/>
              <a:t>為了保護資訊資產（如客戶資料、專利、員工個資）所建立的一套包含「人、流程、科技」的管理機制</a:t>
            </a:r>
            <a:r>
              <a:rPr lang="zh-TW" altLang="en-US" kern="0" dirty="0" smtClean="0"/>
              <a:t>。</a:t>
            </a:r>
            <a:endParaRPr lang="en-US" altLang="zh-TW" kern="0" dirty="0" smtClean="0"/>
          </a:p>
          <a:p>
            <a:pPr lvl="1"/>
            <a:r>
              <a:rPr lang="en-US" altLang="zh-TW" dirty="0" smtClean="0"/>
              <a:t>ISMS</a:t>
            </a:r>
            <a:r>
              <a:rPr lang="zh-TW" altLang="en-US" dirty="0" smtClean="0"/>
              <a:t>是由</a:t>
            </a:r>
            <a:r>
              <a:rPr lang="zh-TW" altLang="en-US" dirty="0"/>
              <a:t>政策、程序、指導方針以及相關的資源與活動所組成，這些皆由組織進行統籌管理，旨在保護其資訊</a:t>
            </a:r>
            <a:r>
              <a:rPr lang="zh-TW" altLang="en-US" dirty="0" smtClean="0"/>
              <a:t>資產</a:t>
            </a:r>
            <a:endParaRPr lang="en-US" altLang="zh-TW" dirty="0" smtClean="0"/>
          </a:p>
          <a:p>
            <a:pPr lvl="1"/>
            <a:r>
              <a:rPr lang="en-US" altLang="zh-TW" dirty="0" smtClean="0"/>
              <a:t>ISMS </a:t>
            </a:r>
            <a:r>
              <a:rPr lang="zh-TW" altLang="en-US" dirty="0" smtClean="0"/>
              <a:t>也是</a:t>
            </a:r>
            <a:r>
              <a:rPr lang="zh-TW" altLang="en-US" dirty="0"/>
              <a:t>一種</a:t>
            </a:r>
            <a:r>
              <a:rPr lang="zh-TW" altLang="en-US" b="1" dirty="0">
                <a:effectLst>
                  <a:outerShdw blurRad="38100" dist="38100" dir="2700000" algn="tl">
                    <a:srgbClr val="000000">
                      <a:alpha val="43137"/>
                    </a:srgbClr>
                  </a:outerShdw>
                </a:effectLst>
              </a:rPr>
              <a:t>系統化</a:t>
            </a:r>
            <a:r>
              <a:rPr lang="zh-TW" altLang="en-US" dirty="0"/>
              <a:t>的方法，用於建立、實作、運作、監控、審查、維護和改進組織的資訊安全，以達成業務目標</a:t>
            </a:r>
            <a:r>
              <a:rPr lang="zh-TW" altLang="en-US" dirty="0" smtClean="0"/>
              <a:t>。</a:t>
            </a:r>
            <a:endParaRPr lang="en-US" altLang="zh-TW" dirty="0" smtClean="0"/>
          </a:p>
          <a:p>
            <a:pPr lvl="1"/>
            <a:r>
              <a:rPr lang="zh-TW" altLang="en-US" dirty="0" smtClean="0"/>
              <a:t>它</a:t>
            </a:r>
            <a:r>
              <a:rPr lang="zh-TW" altLang="en-US" dirty="0"/>
              <a:t>是基於風險評估以及組織的風險接受程度，旨在有效地處置與管理風險</a:t>
            </a:r>
            <a:r>
              <a:rPr lang="zh-TW" altLang="en-US" dirty="0" smtClean="0"/>
              <a:t>。</a:t>
            </a:r>
            <a:endParaRPr lang="en-US" altLang="zh-TW" dirty="0" smtClean="0"/>
          </a:p>
        </p:txBody>
      </p:sp>
    </p:spTree>
    <p:extLst>
      <p:ext uri="{BB962C8B-B14F-4D97-AF65-F5344CB8AC3E}">
        <p14:creationId xmlns:p14="http://schemas.microsoft.com/office/powerpoint/2010/main" val="3570495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38134" y="0"/>
            <a:ext cx="7886700" cy="1119015"/>
          </a:xfrm>
        </p:spPr>
        <p:txBody>
          <a:bodyPr/>
          <a:lstStyle/>
          <a:p>
            <a:r>
              <a:rPr lang="zh-TW" altLang="en-US" dirty="0"/>
              <a:t>資訊安全管理</a:t>
            </a:r>
            <a:r>
              <a:rPr lang="zh-TW" altLang="en-US" dirty="0" smtClean="0"/>
              <a:t>系統</a:t>
            </a:r>
            <a:r>
              <a:rPr lang="en-US" altLang="zh-TW" dirty="0" smtClean="0"/>
              <a:t>(2/3)</a:t>
            </a:r>
            <a:endParaRPr lang="zh-TW" altLang="en-US" dirty="0"/>
          </a:p>
        </p:txBody>
      </p:sp>
      <p:sp>
        <p:nvSpPr>
          <p:cNvPr id="3" name="內容版面配置區 9"/>
          <p:cNvSpPr txBox="1">
            <a:spLocks/>
          </p:cNvSpPr>
          <p:nvPr/>
        </p:nvSpPr>
        <p:spPr>
          <a:xfrm>
            <a:off x="-1016" y="1052736"/>
            <a:ext cx="9145016" cy="5328592"/>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kern="0" dirty="0"/>
              <a:t>全球有許多</a:t>
            </a:r>
            <a:r>
              <a:rPr lang="zh-TW" altLang="en-US" kern="0" dirty="0" smtClean="0"/>
              <a:t>資訊安全</a:t>
            </a:r>
            <a:r>
              <a:rPr lang="zh-TW" altLang="en-US" kern="0" dirty="0"/>
              <a:t>管理</a:t>
            </a:r>
            <a:r>
              <a:rPr lang="zh-TW" altLang="en-US" kern="0" dirty="0" smtClean="0"/>
              <a:t>系統</a:t>
            </a:r>
            <a:r>
              <a:rPr lang="en-US" altLang="zh-TW" kern="0" dirty="0" smtClean="0"/>
              <a:t>:</a:t>
            </a:r>
            <a:r>
              <a:rPr lang="zh-TW" altLang="en-US" kern="0" dirty="0" smtClean="0"/>
              <a:t> 主要的有</a:t>
            </a:r>
            <a:r>
              <a:rPr lang="en-US" altLang="zh-TW" kern="0" dirty="0" smtClean="0"/>
              <a:t>:</a:t>
            </a:r>
          </a:p>
          <a:p>
            <a:pPr lvl="1">
              <a:buFont typeface="Wingdings" panose="05000000000000000000" pitchFamily="2" charset="2"/>
              <a:buChar char="p"/>
            </a:pPr>
            <a:r>
              <a:rPr lang="zh-TW" altLang="en-US" kern="0" dirty="0" smtClean="0"/>
              <a:t> 兩大主流</a:t>
            </a:r>
            <a:r>
              <a:rPr lang="en-US" altLang="zh-TW" kern="0" dirty="0" smtClean="0"/>
              <a:t>:</a:t>
            </a:r>
          </a:p>
          <a:p>
            <a:pPr marL="910347" lvl="2" indent="-514350">
              <a:buFont typeface="+mj-lt"/>
              <a:buAutoNum type="arabicPeriod"/>
            </a:pPr>
            <a:r>
              <a:rPr lang="en-US" altLang="zh-TW" kern="0" dirty="0" smtClean="0"/>
              <a:t>ISO</a:t>
            </a:r>
            <a:r>
              <a:rPr lang="zh-TW" altLang="en-US" kern="0" dirty="0" smtClean="0"/>
              <a:t> </a:t>
            </a:r>
            <a:r>
              <a:rPr lang="en-US" altLang="zh-TW" kern="0" dirty="0" smtClean="0"/>
              <a:t>27001(</a:t>
            </a:r>
            <a:r>
              <a:rPr lang="zh-TW" altLang="en-US" kern="0" dirty="0" smtClean="0"/>
              <a:t>我國</a:t>
            </a:r>
            <a:r>
              <a:rPr lang="en-US" altLang="zh-TW" kern="0" dirty="0" smtClean="0"/>
              <a:t>CNS</a:t>
            </a:r>
            <a:r>
              <a:rPr lang="zh-TW" altLang="en-US" kern="0" dirty="0" smtClean="0"/>
              <a:t> </a:t>
            </a:r>
            <a:r>
              <a:rPr lang="en-US" altLang="zh-TW" kern="0" dirty="0" smtClean="0"/>
              <a:t>27001)</a:t>
            </a:r>
          </a:p>
          <a:p>
            <a:pPr marL="910347" lvl="2" indent="-514350">
              <a:buFont typeface="+mj-lt"/>
              <a:buAutoNum type="arabicPeriod"/>
            </a:pPr>
            <a:r>
              <a:rPr lang="en-US" altLang="zh-TW" dirty="0"/>
              <a:t>NIST </a:t>
            </a:r>
            <a:r>
              <a:rPr lang="en-US" altLang="zh-TW" dirty="0" smtClean="0"/>
              <a:t>CSF 2</a:t>
            </a:r>
          </a:p>
          <a:p>
            <a:pPr lvl="1">
              <a:buFont typeface="Wingdings" panose="05000000000000000000" pitchFamily="2" charset="2"/>
              <a:buChar char="p"/>
            </a:pPr>
            <a:r>
              <a:rPr lang="zh-TW" altLang="en-US" kern="0" dirty="0" smtClean="0"/>
              <a:t> 產業要求標準</a:t>
            </a:r>
            <a:r>
              <a:rPr lang="en-US" altLang="zh-TW" kern="0" dirty="0" smtClean="0"/>
              <a:t>(</a:t>
            </a:r>
            <a:r>
              <a:rPr lang="zh-TW" altLang="en-US" kern="0" dirty="0" smtClean="0"/>
              <a:t>僅列舉部分</a:t>
            </a:r>
            <a:r>
              <a:rPr lang="en-US" altLang="zh-TW" kern="0" dirty="0" smtClean="0"/>
              <a:t>):</a:t>
            </a:r>
            <a:r>
              <a:rPr lang="zh-TW" altLang="en-US" kern="0" dirty="0" smtClean="0"/>
              <a:t>如</a:t>
            </a:r>
            <a:endParaRPr lang="en-US" altLang="zh-TW" kern="0" dirty="0" smtClean="0"/>
          </a:p>
          <a:p>
            <a:pPr lvl="2">
              <a:buFont typeface="Wingdings" panose="05000000000000000000" pitchFamily="2" charset="2"/>
              <a:buChar char="ü"/>
            </a:pPr>
            <a:r>
              <a:rPr lang="zh-TW" altLang="en-US" kern="0" dirty="0"/>
              <a:t>信用卡產業的</a:t>
            </a:r>
            <a:r>
              <a:rPr lang="en-US" altLang="zh-TW" kern="0" dirty="0" smtClean="0"/>
              <a:t>PCI </a:t>
            </a:r>
            <a:r>
              <a:rPr lang="en-US" altLang="zh-TW" kern="0" dirty="0"/>
              <a:t>DSS (Payment Card Industry Data Security Standard</a:t>
            </a:r>
            <a:r>
              <a:rPr lang="en-US" altLang="zh-TW" kern="0" dirty="0" smtClean="0"/>
              <a:t>)</a:t>
            </a:r>
          </a:p>
          <a:p>
            <a:pPr lvl="2">
              <a:buFont typeface="Wingdings" panose="05000000000000000000" pitchFamily="2" charset="2"/>
              <a:buChar char="ü"/>
            </a:pPr>
            <a:r>
              <a:rPr lang="zh-TW" altLang="en-US" kern="0" dirty="0"/>
              <a:t>醫療健康</a:t>
            </a:r>
            <a:r>
              <a:rPr lang="zh-TW" altLang="en-US" kern="0" dirty="0" smtClean="0"/>
              <a:t>產業</a:t>
            </a:r>
            <a:r>
              <a:rPr lang="zh-TW" altLang="en-US" kern="0" dirty="0"/>
              <a:t>的</a:t>
            </a:r>
            <a:r>
              <a:rPr lang="en-US" altLang="zh-TW" kern="0" dirty="0" smtClean="0"/>
              <a:t>HIPAA </a:t>
            </a:r>
            <a:r>
              <a:rPr lang="en-US" altLang="zh-TW" kern="0" dirty="0"/>
              <a:t>(Health Insurance Portability and Accountability Act</a:t>
            </a:r>
            <a:r>
              <a:rPr lang="en-US" altLang="zh-TW" kern="0" dirty="0" smtClean="0"/>
              <a:t>)</a:t>
            </a:r>
          </a:p>
          <a:p>
            <a:pPr lvl="2">
              <a:buFont typeface="Wingdings" panose="05000000000000000000" pitchFamily="2" charset="2"/>
              <a:buChar char="ü"/>
            </a:pPr>
            <a:r>
              <a:rPr lang="zh-TW" altLang="en-US" kern="0" dirty="0"/>
              <a:t>美國會計師協會 </a:t>
            </a:r>
            <a:r>
              <a:rPr lang="en-US" altLang="zh-TW" kern="0" dirty="0"/>
              <a:t>(AICPA) </a:t>
            </a:r>
            <a:r>
              <a:rPr lang="zh-TW" altLang="en-US" kern="0" dirty="0" smtClean="0"/>
              <a:t>制定的</a:t>
            </a:r>
            <a:r>
              <a:rPr lang="en-US" altLang="zh-TW" kern="0" dirty="0"/>
              <a:t>SOC 2 (Service Organization Control 2</a:t>
            </a:r>
            <a:r>
              <a:rPr lang="en-US" altLang="zh-TW" kern="0" dirty="0" smtClean="0"/>
              <a:t>)</a:t>
            </a:r>
          </a:p>
          <a:p>
            <a:pPr lvl="2">
              <a:buFont typeface="Wingdings" panose="05000000000000000000" pitchFamily="2" charset="2"/>
              <a:buChar char="ü"/>
            </a:pPr>
            <a:r>
              <a:rPr lang="en-US" altLang="zh-TW" dirty="0"/>
              <a:t>ISACA</a:t>
            </a:r>
            <a:r>
              <a:rPr lang="zh-TW" altLang="en-US" dirty="0"/>
              <a:t>（國際電腦稽核協會）</a:t>
            </a:r>
            <a:r>
              <a:rPr lang="zh-TW" altLang="en-US" dirty="0" smtClean="0"/>
              <a:t>制定的</a:t>
            </a:r>
            <a:r>
              <a:rPr lang="en-US" altLang="zh-TW" dirty="0"/>
              <a:t>COBIT (Control Objectives for Information and Related Technologies</a:t>
            </a:r>
            <a:r>
              <a:rPr lang="en-US" altLang="zh-TW" dirty="0" smtClean="0"/>
              <a:t>)</a:t>
            </a:r>
            <a:r>
              <a:rPr lang="zh-TW" altLang="en-US" dirty="0" smtClean="0"/>
              <a:t>標準  等</a:t>
            </a:r>
            <a:endParaRPr lang="en-US" altLang="zh-TW" dirty="0" smtClean="0"/>
          </a:p>
          <a:p>
            <a:pPr lvl="1">
              <a:buFont typeface="Wingdings" panose="05000000000000000000" pitchFamily="2" charset="2"/>
              <a:buChar char="p"/>
            </a:pPr>
            <a:r>
              <a:rPr lang="zh-TW" altLang="en-US" kern="0" dirty="0"/>
              <a:t>本教材主要以兩大</a:t>
            </a:r>
            <a:r>
              <a:rPr lang="zh-TW" altLang="en-US" kern="0" dirty="0" smtClean="0"/>
              <a:t>主流為討論基準</a:t>
            </a:r>
            <a:endParaRPr lang="en-US" altLang="zh-TW" kern="0" dirty="0" smtClean="0"/>
          </a:p>
          <a:p>
            <a:pPr>
              <a:buFont typeface="Wingdings" panose="05000000000000000000" pitchFamily="2" charset="2"/>
              <a:buChar char="l"/>
            </a:pPr>
            <a:endParaRPr lang="en-US" altLang="zh-TW" kern="0" dirty="0" smtClean="0"/>
          </a:p>
        </p:txBody>
      </p:sp>
    </p:spTree>
    <p:extLst>
      <p:ext uri="{BB962C8B-B14F-4D97-AF65-F5344CB8AC3E}">
        <p14:creationId xmlns:p14="http://schemas.microsoft.com/office/powerpoint/2010/main" val="25059895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40263" y="111908"/>
            <a:ext cx="7886700" cy="799298"/>
          </a:xfrm>
        </p:spPr>
        <p:txBody>
          <a:bodyPr/>
          <a:lstStyle/>
          <a:p>
            <a:r>
              <a:rPr lang="zh-TW" altLang="en-US" dirty="0"/>
              <a:t>資訊安全管理</a:t>
            </a:r>
            <a:r>
              <a:rPr lang="zh-TW" altLang="en-US" dirty="0" smtClean="0"/>
              <a:t>系統</a:t>
            </a:r>
            <a:r>
              <a:rPr lang="en-US" altLang="zh-TW" dirty="0" smtClean="0"/>
              <a:t>(3/3</a:t>
            </a:r>
            <a:r>
              <a:rPr lang="en-US" altLang="zh-TW" dirty="0"/>
              <a:t>)</a:t>
            </a:r>
            <a:endParaRPr lang="zh-TW" altLang="en-US" dirty="0"/>
          </a:p>
        </p:txBody>
      </p:sp>
      <p:graphicFrame>
        <p:nvGraphicFramePr>
          <p:cNvPr id="3" name="表格 2"/>
          <p:cNvGraphicFramePr>
            <a:graphicFrameLocks noGrp="1"/>
          </p:cNvGraphicFramePr>
          <p:nvPr>
            <p:extLst/>
          </p:nvPr>
        </p:nvGraphicFramePr>
        <p:xfrm>
          <a:off x="251520" y="1772816"/>
          <a:ext cx="8712968" cy="4450080"/>
        </p:xfrm>
        <a:graphic>
          <a:graphicData uri="http://schemas.openxmlformats.org/drawingml/2006/table">
            <a:tbl>
              <a:tblPr/>
              <a:tblGrid>
                <a:gridCol w="894122">
                  <a:extLst>
                    <a:ext uri="{9D8B030D-6E8A-4147-A177-3AD203B41FA5}">
                      <a16:colId xmlns:a16="http://schemas.microsoft.com/office/drawing/2014/main" val="2843303796"/>
                    </a:ext>
                  </a:extLst>
                </a:gridCol>
                <a:gridCol w="3761898">
                  <a:extLst>
                    <a:ext uri="{9D8B030D-6E8A-4147-A177-3AD203B41FA5}">
                      <a16:colId xmlns:a16="http://schemas.microsoft.com/office/drawing/2014/main" val="3088790934"/>
                    </a:ext>
                  </a:extLst>
                </a:gridCol>
                <a:gridCol w="4056948">
                  <a:extLst>
                    <a:ext uri="{9D8B030D-6E8A-4147-A177-3AD203B41FA5}">
                      <a16:colId xmlns:a16="http://schemas.microsoft.com/office/drawing/2014/main" val="3441055427"/>
                    </a:ext>
                  </a:extLst>
                </a:gridCol>
              </a:tblGrid>
              <a:tr h="0">
                <a:tc>
                  <a:txBody>
                    <a:bodyPr/>
                    <a:lstStyle/>
                    <a:p>
                      <a:pPr rtl="0"/>
                      <a:r>
                        <a:rPr lang="zh-TW" altLang="en-US" b="1" dirty="0">
                          <a:solidFill>
                            <a:srgbClr val="1F1F1F"/>
                          </a:solidFill>
                          <a:effectLst/>
                          <a:latin typeface="Google Sans Text"/>
                        </a:rPr>
                        <a:t>特性</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zh-TW" b="1" dirty="0" smtClean="0">
                          <a:solidFill>
                            <a:srgbClr val="1F1F1F"/>
                          </a:solidFill>
                          <a:effectLst/>
                          <a:latin typeface="Google Sans Text"/>
                        </a:rPr>
                        <a:t>CNS/</a:t>
                      </a:r>
                      <a:r>
                        <a:rPr lang="en-US" b="1" dirty="0" smtClean="0">
                          <a:solidFill>
                            <a:srgbClr val="1F1F1F"/>
                          </a:solidFill>
                          <a:effectLst/>
                          <a:latin typeface="Google Sans Text"/>
                        </a:rPr>
                        <a:t>ISO </a:t>
                      </a:r>
                      <a:r>
                        <a:rPr lang="en-US" b="1" dirty="0">
                          <a:solidFill>
                            <a:srgbClr val="1F1F1F"/>
                          </a:solidFill>
                          <a:effectLst/>
                          <a:latin typeface="Google Sans Text"/>
                        </a:rPr>
                        <a:t>27001</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b="1" dirty="0">
                          <a:solidFill>
                            <a:srgbClr val="1F1F1F"/>
                          </a:solidFill>
                          <a:effectLst/>
                          <a:latin typeface="Google Sans Text"/>
                        </a:rPr>
                        <a:t>NIST </a:t>
                      </a:r>
                      <a:r>
                        <a:rPr lang="en-US" b="1" dirty="0" smtClean="0">
                          <a:solidFill>
                            <a:srgbClr val="1F1F1F"/>
                          </a:solidFill>
                          <a:effectLst/>
                          <a:latin typeface="Google Sans Text"/>
                        </a:rPr>
                        <a:t>CSF 2</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93782688"/>
                  </a:ext>
                </a:extLst>
              </a:tr>
              <a:tr h="0">
                <a:tc>
                  <a:txBody>
                    <a:bodyPr/>
                    <a:lstStyle/>
                    <a:p>
                      <a:pPr rtl="0"/>
                      <a:r>
                        <a:rPr lang="zh-TW" altLang="en-US" b="1">
                          <a:solidFill>
                            <a:srgbClr val="1F1F1F"/>
                          </a:solidFill>
                          <a:effectLst/>
                          <a:latin typeface="Google Sans Text"/>
                        </a:rPr>
                        <a:t>主要目的</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合規 </a:t>
                      </a:r>
                      <a:r>
                        <a:rPr lang="en-US" altLang="zh-TW" b="1" dirty="0">
                          <a:solidFill>
                            <a:srgbClr val="1F1F1F"/>
                          </a:solidFill>
                          <a:effectLst/>
                          <a:latin typeface="Google Sans Text"/>
                        </a:rPr>
                        <a:t>(Compliance)</a:t>
                      </a:r>
                      <a:r>
                        <a:rPr lang="zh-TW" altLang="en-US" dirty="0">
                          <a:solidFill>
                            <a:srgbClr val="1F1F1F"/>
                          </a:solidFill>
                          <a:effectLst/>
                          <a:latin typeface="Google Sans Text"/>
                        </a:rPr>
                        <a:t>：證明企業符合國際標準。</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smtClean="0">
                          <a:solidFill>
                            <a:srgbClr val="1F1F1F"/>
                          </a:solidFill>
                          <a:effectLst/>
                          <a:latin typeface="Google Sans Text"/>
                        </a:rPr>
                        <a:t>強調</a:t>
                      </a:r>
                      <a:r>
                        <a:rPr lang="zh-TW" altLang="en-US" dirty="0" smtClean="0">
                          <a:solidFill>
                            <a:srgbClr val="1F1F1F"/>
                          </a:solidFill>
                          <a:effectLst/>
                          <a:latin typeface="Google Sans Text"/>
                        </a:rPr>
                        <a:t>提升</a:t>
                      </a:r>
                      <a:r>
                        <a:rPr lang="zh-TW" altLang="en-US" dirty="0">
                          <a:solidFill>
                            <a:srgbClr val="1F1F1F"/>
                          </a:solidFill>
                          <a:effectLst/>
                          <a:latin typeface="Google Sans Text"/>
                        </a:rPr>
                        <a:t>面對網安威脅的防禦力。</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86972540"/>
                  </a:ext>
                </a:extLst>
              </a:tr>
              <a:tr h="0">
                <a:tc>
                  <a:txBody>
                    <a:bodyPr/>
                    <a:lstStyle/>
                    <a:p>
                      <a:pPr rtl="0"/>
                      <a:r>
                        <a:rPr lang="zh-TW" altLang="en-US" b="1">
                          <a:solidFill>
                            <a:srgbClr val="1F1F1F"/>
                          </a:solidFill>
                          <a:effectLst/>
                          <a:latin typeface="Google Sans Text"/>
                        </a:rPr>
                        <a:t>驅動力</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業務需求（客戶要求看證書）、法規要求。</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實際安全</a:t>
                      </a:r>
                      <a:r>
                        <a:rPr lang="zh-TW" altLang="en-US" dirty="0" smtClean="0">
                          <a:solidFill>
                            <a:srgbClr val="1F1F1F"/>
                          </a:solidFill>
                          <a:effectLst/>
                          <a:latin typeface="Google Sans Text"/>
                        </a:rPr>
                        <a:t>需求</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0071221"/>
                  </a:ext>
                </a:extLst>
              </a:tr>
              <a:tr h="0">
                <a:tc>
                  <a:txBody>
                    <a:bodyPr/>
                    <a:lstStyle/>
                    <a:p>
                      <a:pPr rtl="0"/>
                      <a:r>
                        <a:rPr lang="zh-TW" altLang="en-US" b="1" dirty="0" smtClean="0">
                          <a:solidFill>
                            <a:srgbClr val="1F1F1F"/>
                          </a:solidFill>
                          <a:effectLst/>
                          <a:latin typeface="Google Sans Text"/>
                        </a:rPr>
                        <a:t>結構</a:t>
                      </a:r>
                      <a:endParaRPr lang="en-US" altLang="zh-TW" b="1" dirty="0" smtClean="0">
                        <a:solidFill>
                          <a:srgbClr val="1F1F1F"/>
                        </a:solidFill>
                        <a:effectLst/>
                        <a:latin typeface="Google Sans Text"/>
                      </a:endParaRPr>
                    </a:p>
                    <a:p>
                      <a:pPr rtl="0"/>
                      <a:r>
                        <a:rPr lang="zh-TW" altLang="en-US" b="1" dirty="0" smtClean="0">
                          <a:solidFill>
                            <a:srgbClr val="1F1F1F"/>
                          </a:solidFill>
                          <a:effectLst/>
                          <a:latin typeface="Google Sans Text"/>
                        </a:rPr>
                        <a:t>核心</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b="1" dirty="0">
                          <a:solidFill>
                            <a:srgbClr val="1F1F1F"/>
                          </a:solidFill>
                          <a:effectLst/>
                          <a:latin typeface="Google Sans Text"/>
                        </a:rPr>
                        <a:t>PDCA </a:t>
                      </a:r>
                      <a:r>
                        <a:rPr lang="zh-TW" altLang="en-US" b="1" dirty="0" smtClean="0">
                          <a:solidFill>
                            <a:srgbClr val="1F1F1F"/>
                          </a:solidFill>
                          <a:effectLst/>
                          <a:latin typeface="Google Sans Text"/>
                        </a:rPr>
                        <a:t>循環</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b="1" dirty="0">
                          <a:solidFill>
                            <a:srgbClr val="1F1F1F"/>
                          </a:solidFill>
                          <a:effectLst/>
                          <a:latin typeface="Google Sans Text"/>
                        </a:rPr>
                        <a:t>6 </a:t>
                      </a:r>
                      <a:r>
                        <a:rPr lang="en-US" b="1" dirty="0" err="1">
                          <a:solidFill>
                            <a:srgbClr val="1F1F1F"/>
                          </a:solidFill>
                          <a:effectLst/>
                          <a:latin typeface="Google Sans Text"/>
                        </a:rPr>
                        <a:t>大核心功能</a:t>
                      </a:r>
                      <a:r>
                        <a:rPr lang="en-US" dirty="0">
                          <a:solidFill>
                            <a:srgbClr val="1F1F1F"/>
                          </a:solidFill>
                          <a:effectLst/>
                          <a:latin typeface="Google Sans Text"/>
                        </a:rPr>
                        <a:t> (Govern, Identify, Protect, Detect, Respond, Recover</a:t>
                      </a:r>
                      <a:r>
                        <a:rPr lang="en-US" dirty="0" smtClean="0">
                          <a:solidFill>
                            <a:srgbClr val="1F1F1F"/>
                          </a:solidFill>
                          <a:effectLst/>
                          <a:latin typeface="Google Sans Text"/>
                        </a:rPr>
                        <a:t>)</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38444682"/>
                  </a:ext>
                </a:extLst>
              </a:tr>
              <a:tr h="0">
                <a:tc>
                  <a:txBody>
                    <a:bodyPr/>
                    <a:lstStyle/>
                    <a:p>
                      <a:pPr rtl="0"/>
                      <a:r>
                        <a:rPr lang="zh-TW" altLang="en-US" dirty="0" smtClean="0">
                          <a:solidFill>
                            <a:srgbClr val="1F1F1F"/>
                          </a:solidFill>
                          <a:effectLst/>
                          <a:latin typeface="Google Sans Text"/>
                        </a:rPr>
                        <a:t>安全控制措施</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zh-TW" dirty="0" smtClean="0">
                          <a:solidFill>
                            <a:srgbClr val="1F1F1F"/>
                          </a:solidFill>
                          <a:effectLst/>
                          <a:latin typeface="Google Sans Text"/>
                        </a:rPr>
                        <a:t>CNS/ISO 27001  </a:t>
                      </a:r>
                      <a:r>
                        <a:rPr lang="zh-TW" altLang="en-US" dirty="0" smtClean="0">
                          <a:solidFill>
                            <a:srgbClr val="1F1F1F"/>
                          </a:solidFill>
                          <a:effectLst/>
                          <a:latin typeface="Google Sans Text"/>
                        </a:rPr>
                        <a:t>附件 </a:t>
                      </a:r>
                      <a:r>
                        <a:rPr lang="en-US" altLang="zh-TW" dirty="0" smtClean="0">
                          <a:solidFill>
                            <a:srgbClr val="1F1F1F"/>
                          </a:solidFill>
                          <a:effectLst/>
                          <a:latin typeface="Google Sans Text"/>
                        </a:rPr>
                        <a:t>A (93</a:t>
                      </a:r>
                      <a:r>
                        <a:rPr lang="zh-TW" altLang="en-US" dirty="0" smtClean="0">
                          <a:solidFill>
                            <a:srgbClr val="1F1F1F"/>
                          </a:solidFill>
                          <a:effectLst/>
                          <a:latin typeface="Google Sans Text"/>
                        </a:rPr>
                        <a:t>項</a:t>
                      </a:r>
                      <a:r>
                        <a:rPr lang="en-US" altLang="zh-TW" dirty="0" smtClean="0">
                          <a:solidFill>
                            <a:srgbClr val="1F1F1F"/>
                          </a:solidFill>
                          <a:effectLst/>
                          <a:latin typeface="Google Sans Text"/>
                        </a:rPr>
                        <a:t>)</a:t>
                      </a:r>
                    </a:p>
                    <a:p>
                      <a:pPr rtl="0"/>
                      <a:r>
                        <a:rPr lang="en-US" altLang="zh-TW" dirty="0" smtClean="0">
                          <a:solidFill>
                            <a:srgbClr val="1F1F1F"/>
                          </a:solidFill>
                          <a:effectLst/>
                          <a:latin typeface="Google Sans Text"/>
                        </a:rPr>
                        <a:t>CNS/ISO 27002  </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dirty="0" smtClean="0">
                          <a:solidFill>
                            <a:srgbClr val="1F1F1F"/>
                          </a:solidFill>
                          <a:effectLst/>
                          <a:latin typeface="Google Sans Text"/>
                        </a:rPr>
                        <a:t>NIST SP 800-53</a:t>
                      </a:r>
                      <a:r>
                        <a:rPr lang="zh-TW" altLang="en-US" dirty="0" smtClean="0">
                          <a:solidFill>
                            <a:srgbClr val="1F1F1F"/>
                          </a:solidFill>
                          <a:effectLst/>
                          <a:latin typeface="Google Sans Text"/>
                        </a:rPr>
                        <a:t> 系列文件</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66282331"/>
                  </a:ext>
                </a:extLst>
              </a:tr>
              <a:tr h="0">
                <a:tc>
                  <a:txBody>
                    <a:bodyPr/>
                    <a:lstStyle/>
                    <a:p>
                      <a:pPr rtl="0"/>
                      <a:r>
                        <a:rPr lang="zh-TW" altLang="en-US" b="1">
                          <a:solidFill>
                            <a:srgbClr val="1F1F1F"/>
                          </a:solidFill>
                          <a:effectLst/>
                          <a:latin typeface="Google Sans Text"/>
                        </a:rPr>
                        <a:t>認證</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有</a:t>
                      </a:r>
                      <a:r>
                        <a:rPr lang="zh-TW" altLang="en-US" dirty="0">
                          <a:solidFill>
                            <a:srgbClr val="1F1F1F"/>
                          </a:solidFill>
                          <a:effectLst/>
                          <a:latin typeface="Google Sans Text"/>
                        </a:rPr>
                        <a:t>（第三方稽核員發證）。</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無</a:t>
                      </a:r>
                      <a:r>
                        <a:rPr lang="zh-TW" altLang="en-US" dirty="0">
                          <a:solidFill>
                            <a:srgbClr val="1F1F1F"/>
                          </a:solidFill>
                          <a:effectLst/>
                          <a:latin typeface="Google Sans Text"/>
                        </a:rPr>
                        <a:t>（主要是自我評估，雖有第三方驗證但非官方證書）。</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14014054"/>
                  </a:ext>
                </a:extLst>
              </a:tr>
              <a:tr h="0">
                <a:tc>
                  <a:txBody>
                    <a:bodyPr/>
                    <a:lstStyle/>
                    <a:p>
                      <a:pPr rtl="0"/>
                      <a:r>
                        <a:rPr lang="zh-TW" altLang="en-US" b="1">
                          <a:solidFill>
                            <a:srgbClr val="1F1F1F"/>
                          </a:solidFill>
                          <a:effectLst/>
                          <a:latin typeface="Google Sans Text"/>
                        </a:rPr>
                        <a:t>費用</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高（標準文件需購買，認證費昂貴</a:t>
                      </a:r>
                      <a:r>
                        <a:rPr lang="zh-TW" altLang="en-US" dirty="0" smtClean="0">
                          <a:solidFill>
                            <a:srgbClr val="1F1F1F"/>
                          </a:solidFill>
                          <a:effectLst/>
                          <a:latin typeface="Google Sans Text"/>
                        </a:rPr>
                        <a:t>）</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低（標準文件免費</a:t>
                      </a:r>
                      <a:r>
                        <a:rPr lang="zh-TW" altLang="en-US" dirty="0" smtClean="0">
                          <a:solidFill>
                            <a:srgbClr val="1F1F1F"/>
                          </a:solidFill>
                          <a:effectLst/>
                          <a:latin typeface="Google Sans Text"/>
                        </a:rPr>
                        <a:t>）</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2833401"/>
                  </a:ext>
                </a:extLst>
              </a:tr>
              <a:tr h="0">
                <a:tc>
                  <a:txBody>
                    <a:bodyPr/>
                    <a:lstStyle/>
                    <a:p>
                      <a:pPr rtl="0"/>
                      <a:r>
                        <a:rPr lang="zh-TW" altLang="en-US" b="1">
                          <a:solidFill>
                            <a:srgbClr val="1F1F1F"/>
                          </a:solidFill>
                          <a:effectLst/>
                          <a:latin typeface="Google Sans Text"/>
                        </a:rPr>
                        <a:t>適用性</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a:solidFill>
                            <a:srgbClr val="1F1F1F"/>
                          </a:solidFill>
                          <a:effectLst/>
                          <a:latin typeface="Google Sans Text"/>
                        </a:rPr>
                        <a:t>適合成熟企業，或需要建立制度的企業。</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適合所有企業，特別是技術團隊想知道「具體做什麼」。</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66616823"/>
                  </a:ext>
                </a:extLst>
              </a:tr>
            </a:tbl>
          </a:graphicData>
        </a:graphic>
      </p:graphicFrame>
      <p:sp>
        <p:nvSpPr>
          <p:cNvPr id="4" name="矩形 3"/>
          <p:cNvSpPr/>
          <p:nvPr/>
        </p:nvSpPr>
        <p:spPr>
          <a:xfrm>
            <a:off x="179512" y="1164424"/>
            <a:ext cx="8698215" cy="461665"/>
          </a:xfrm>
          <a:prstGeom prst="rect">
            <a:avLst/>
          </a:prstGeom>
        </p:spPr>
        <p:txBody>
          <a:bodyPr wrap="none">
            <a:spAutoFit/>
          </a:bodyPr>
          <a:lstStyle/>
          <a:p>
            <a:r>
              <a:rPr lang="en-US" altLang="zh-TW" sz="2400" dirty="0"/>
              <a:t>CNS/ISO </a:t>
            </a:r>
            <a:r>
              <a:rPr lang="en-US" altLang="zh-TW" sz="2400" dirty="0" smtClean="0"/>
              <a:t>27001</a:t>
            </a:r>
            <a:r>
              <a:rPr lang="zh-TW" altLang="en-US" sz="2400" dirty="0" smtClean="0"/>
              <a:t>與</a:t>
            </a:r>
            <a:r>
              <a:rPr lang="en-US" altLang="zh-TW" sz="2400" b="1" dirty="0">
                <a:solidFill>
                  <a:srgbClr val="1F1F1F"/>
                </a:solidFill>
                <a:latin typeface="Google Sans Text"/>
              </a:rPr>
              <a:t>NIST CSF </a:t>
            </a:r>
            <a:r>
              <a:rPr lang="en-US" altLang="zh-TW" sz="2400" b="1" dirty="0" smtClean="0">
                <a:solidFill>
                  <a:srgbClr val="1F1F1F"/>
                </a:solidFill>
                <a:latin typeface="Google Sans Text"/>
              </a:rPr>
              <a:t>2</a:t>
            </a:r>
            <a:r>
              <a:rPr lang="zh-TW" altLang="en-US" sz="2400" dirty="0" smtClean="0"/>
              <a:t>摘要列表</a:t>
            </a:r>
            <a:r>
              <a:rPr lang="en-US" altLang="zh-TW" sz="2400" dirty="0" smtClean="0">
                <a:solidFill>
                  <a:srgbClr val="1F1F1F"/>
                </a:solidFill>
                <a:latin typeface="Google Sans Text"/>
              </a:rPr>
              <a:t>(</a:t>
            </a:r>
            <a:r>
              <a:rPr lang="zh-TW" altLang="en-US" sz="2400" dirty="0">
                <a:solidFill>
                  <a:srgbClr val="1F1F1F"/>
                </a:solidFill>
                <a:latin typeface="Google Sans Text"/>
              </a:rPr>
              <a:t>更多</a:t>
            </a:r>
            <a:r>
              <a:rPr lang="zh-TW" altLang="en-US" sz="2400" dirty="0" smtClean="0">
                <a:solidFill>
                  <a:srgbClr val="1F1F1F"/>
                </a:solidFill>
                <a:latin typeface="Google Sans Text"/>
              </a:rPr>
              <a:t>內容詳見後續說明</a:t>
            </a:r>
            <a:r>
              <a:rPr lang="en-US" altLang="zh-TW" sz="2400" dirty="0" smtClean="0">
                <a:solidFill>
                  <a:srgbClr val="1F1F1F"/>
                </a:solidFill>
                <a:latin typeface="Google Sans Text"/>
              </a:rPr>
              <a:t>)</a:t>
            </a:r>
            <a:endParaRPr lang="en-US" altLang="zh-TW" sz="2400" dirty="0">
              <a:solidFill>
                <a:srgbClr val="1F1F1F"/>
              </a:solidFill>
              <a:latin typeface="Google Sans Text"/>
            </a:endParaRPr>
          </a:p>
        </p:txBody>
      </p:sp>
    </p:spTree>
    <p:extLst>
      <p:ext uri="{BB962C8B-B14F-4D97-AF65-F5344CB8AC3E}">
        <p14:creationId xmlns:p14="http://schemas.microsoft.com/office/powerpoint/2010/main" val="921906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39027" y="90807"/>
            <a:ext cx="7886700" cy="1006474"/>
          </a:xfrm>
        </p:spPr>
        <p:txBody>
          <a:bodyPr/>
          <a:lstStyle/>
          <a:p>
            <a:r>
              <a:rPr lang="en-US" altLang="zh-TW" dirty="0"/>
              <a:t>CNS/ISO </a:t>
            </a:r>
            <a:r>
              <a:rPr lang="en-US" altLang="zh-TW" dirty="0" smtClean="0"/>
              <a:t>27001(1/2)</a:t>
            </a:r>
            <a:endParaRPr lang="en-US" altLang="zh-TW" dirty="0"/>
          </a:p>
        </p:txBody>
      </p:sp>
      <p:sp>
        <p:nvSpPr>
          <p:cNvPr id="3" name="內容版面配置區 9"/>
          <p:cNvSpPr txBox="1">
            <a:spLocks/>
          </p:cNvSpPr>
          <p:nvPr/>
        </p:nvSpPr>
        <p:spPr>
          <a:xfrm>
            <a:off x="139027" y="1196752"/>
            <a:ext cx="8681445" cy="5328592"/>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kern="0" dirty="0" smtClean="0"/>
              <a:t>CNS/ISO 27001</a:t>
            </a:r>
          </a:p>
          <a:p>
            <a:pPr lvl="1"/>
            <a:r>
              <a:rPr lang="zh-TW" altLang="en-US" sz="2000" kern="0" dirty="0"/>
              <a:t>定義： </a:t>
            </a:r>
            <a:r>
              <a:rPr lang="en-US" altLang="zh-TW" sz="2000" kern="0" dirty="0" smtClean="0"/>
              <a:t>ISO 27001</a:t>
            </a:r>
            <a:r>
              <a:rPr lang="zh-TW" altLang="en-US" sz="2000" kern="0" dirty="0" smtClean="0"/>
              <a:t>是</a:t>
            </a:r>
            <a:r>
              <a:rPr lang="zh-TW" altLang="en-US" sz="2000" kern="0" dirty="0"/>
              <a:t>一套國際通用的「資訊安全管理系統」（</a:t>
            </a:r>
            <a:r>
              <a:rPr lang="en-US" altLang="zh-TW" sz="2000" kern="0" dirty="0"/>
              <a:t>Information Security Management System, </a:t>
            </a:r>
            <a:r>
              <a:rPr lang="zh-TW" altLang="en-US" sz="2000" kern="0" dirty="0"/>
              <a:t>簡稱 </a:t>
            </a:r>
            <a:r>
              <a:rPr lang="en-US" altLang="zh-TW" sz="2000" kern="0" dirty="0"/>
              <a:t>ISMS</a:t>
            </a:r>
            <a:r>
              <a:rPr lang="zh-TW" altLang="en-US" sz="2000" kern="0" dirty="0"/>
              <a:t>）標準</a:t>
            </a:r>
            <a:r>
              <a:rPr lang="zh-TW" altLang="en-US" sz="2000" kern="0" dirty="0" smtClean="0"/>
              <a:t>。</a:t>
            </a:r>
            <a:endParaRPr lang="en-US" altLang="zh-TW" sz="2000" kern="0" dirty="0"/>
          </a:p>
          <a:p>
            <a:pPr lvl="1"/>
            <a:r>
              <a:rPr lang="en-US" altLang="zh-TW" sz="2000" kern="0" dirty="0" smtClean="0"/>
              <a:t>ISO </a:t>
            </a:r>
            <a:r>
              <a:rPr lang="en-US" altLang="zh-TW" sz="2000" kern="0" dirty="0"/>
              <a:t>27001</a:t>
            </a:r>
            <a:r>
              <a:rPr lang="zh-TW" altLang="en-US" sz="2000" kern="0" dirty="0"/>
              <a:t>： 由國際標準化組織 </a:t>
            </a:r>
            <a:r>
              <a:rPr lang="en-US" altLang="zh-TW" sz="2000" kern="0" dirty="0"/>
              <a:t>(ISO) </a:t>
            </a:r>
            <a:r>
              <a:rPr lang="zh-TW" altLang="en-US" sz="2000" kern="0" dirty="0"/>
              <a:t>發布的國際標準</a:t>
            </a:r>
            <a:r>
              <a:rPr lang="zh-TW" altLang="en-US" sz="2000" kern="0" dirty="0" smtClean="0"/>
              <a:t>。</a:t>
            </a:r>
            <a:endParaRPr lang="en-US" altLang="zh-TW" sz="2000" kern="0" dirty="0" smtClean="0"/>
          </a:p>
          <a:p>
            <a:pPr lvl="1"/>
            <a:r>
              <a:rPr lang="en-US" altLang="zh-TW" sz="2000" kern="0" dirty="0" smtClean="0"/>
              <a:t>CNS </a:t>
            </a:r>
            <a:r>
              <a:rPr lang="en-US" altLang="zh-TW" sz="2000" kern="0" dirty="0"/>
              <a:t>27001</a:t>
            </a:r>
            <a:r>
              <a:rPr lang="zh-TW" altLang="en-US" sz="2000" kern="0" dirty="0"/>
              <a:t>： 台灣經濟部標準檢驗局將 </a:t>
            </a:r>
            <a:r>
              <a:rPr lang="en-US" altLang="zh-TW" sz="2000" kern="0" dirty="0"/>
              <a:t>ISO </a:t>
            </a:r>
            <a:r>
              <a:rPr lang="zh-TW" altLang="en-US" sz="2000" kern="0" dirty="0"/>
              <a:t>標準轉化為中華民國國家標準 </a:t>
            </a:r>
            <a:r>
              <a:rPr lang="en-US" altLang="zh-TW" sz="2000" kern="0" dirty="0"/>
              <a:t>(CNS)</a:t>
            </a:r>
            <a:r>
              <a:rPr lang="zh-TW" altLang="en-US" sz="2000" kern="0" dirty="0"/>
              <a:t>，內容與 </a:t>
            </a:r>
            <a:r>
              <a:rPr lang="en-US" altLang="zh-TW" sz="2000" kern="0" dirty="0"/>
              <a:t>ISO </a:t>
            </a:r>
            <a:r>
              <a:rPr lang="zh-TW" altLang="en-US" sz="2000" kern="0" dirty="0"/>
              <a:t>版本一致，但在台灣具有國家標準的地位</a:t>
            </a:r>
            <a:r>
              <a:rPr lang="zh-TW" altLang="en-US" sz="2000" kern="0" dirty="0" smtClean="0"/>
              <a:t>。</a:t>
            </a:r>
            <a:endParaRPr lang="en-US" altLang="zh-TW" sz="2000" kern="0" dirty="0" smtClean="0"/>
          </a:p>
          <a:p>
            <a:pPr lvl="1"/>
            <a:r>
              <a:rPr lang="zh-TW" altLang="en-US" sz="2000" kern="0" dirty="0" smtClean="0"/>
              <a:t>核心</a:t>
            </a:r>
            <a:r>
              <a:rPr lang="zh-TW" altLang="en-US" sz="2000" kern="0" dirty="0"/>
              <a:t>目的： 透過系統化的管理方法（而不僅僅是安裝防毒軟體），來保護企業的資訊資產安全</a:t>
            </a:r>
            <a:r>
              <a:rPr lang="zh-TW" altLang="en-US" sz="2000" kern="0" dirty="0" smtClean="0"/>
              <a:t>。</a:t>
            </a:r>
            <a:endParaRPr lang="en-US" altLang="zh-TW" sz="2000" kern="0" dirty="0"/>
          </a:p>
          <a:p>
            <a:pPr lvl="1"/>
            <a:r>
              <a:rPr lang="en-US" altLang="zh-TW" sz="2000" kern="0" dirty="0" smtClean="0"/>
              <a:t>ISO </a:t>
            </a:r>
            <a:r>
              <a:rPr lang="en-US" altLang="zh-TW" sz="2000" kern="0" dirty="0"/>
              <a:t>27001 </a:t>
            </a:r>
            <a:r>
              <a:rPr lang="zh-TW" altLang="en-US" sz="2000" kern="0" dirty="0"/>
              <a:t>的所有控制措施，都是為了達成資訊安全的以下三個核心屬性：機密性 </a:t>
            </a:r>
            <a:r>
              <a:rPr lang="en-US" altLang="zh-TW" sz="2000" kern="0" dirty="0"/>
              <a:t>(Confidentiality</a:t>
            </a:r>
            <a:r>
              <a:rPr lang="en-US" altLang="zh-TW" sz="2000" kern="0" dirty="0" smtClean="0"/>
              <a:t>)</a:t>
            </a:r>
            <a:r>
              <a:rPr lang="zh-TW" altLang="en-US" sz="2000" kern="0" dirty="0" smtClean="0">
                <a:latin typeface="PMingLiU" panose="02020500000000000000" pitchFamily="18" charset="-120"/>
                <a:ea typeface="PMingLiU" panose="02020500000000000000" pitchFamily="18" charset="-120"/>
              </a:rPr>
              <a:t>、</a:t>
            </a:r>
            <a:r>
              <a:rPr lang="zh-TW" altLang="en-US" sz="2000" kern="0" dirty="0" smtClean="0"/>
              <a:t>完整性 </a:t>
            </a:r>
            <a:r>
              <a:rPr lang="en-US" altLang="zh-TW" sz="2000" kern="0" dirty="0"/>
              <a:t>(Integrity</a:t>
            </a:r>
            <a:r>
              <a:rPr lang="en-US" altLang="zh-TW" sz="2000" kern="0" dirty="0" smtClean="0"/>
              <a:t>)</a:t>
            </a:r>
            <a:r>
              <a:rPr lang="zh-TW" altLang="en-US" sz="2000" kern="0" dirty="0" smtClean="0"/>
              <a:t>與可用性 </a:t>
            </a:r>
            <a:r>
              <a:rPr lang="en-US" altLang="zh-TW" sz="2000" kern="0" dirty="0"/>
              <a:t>(Availability</a:t>
            </a:r>
            <a:r>
              <a:rPr lang="en-US" altLang="zh-TW" sz="2000" kern="0" dirty="0" smtClean="0"/>
              <a:t>)</a:t>
            </a:r>
            <a:r>
              <a:rPr lang="zh-TW" altLang="en-US" sz="2000" kern="0" dirty="0" smtClean="0"/>
              <a:t> </a:t>
            </a:r>
            <a:endParaRPr lang="en-US" altLang="zh-TW" sz="2000" kern="0" dirty="0" smtClean="0"/>
          </a:p>
          <a:p>
            <a:pPr lvl="1"/>
            <a:r>
              <a:rPr lang="en-US" altLang="zh-TW" sz="2000" kern="0" dirty="0"/>
              <a:t>CNS/ISO </a:t>
            </a:r>
            <a:r>
              <a:rPr lang="en-US" altLang="zh-TW" sz="2000" kern="0" dirty="0" smtClean="0"/>
              <a:t>27001</a:t>
            </a:r>
            <a:r>
              <a:rPr lang="zh-TW" altLang="en-US" sz="2000" kern="0" dirty="0" smtClean="0"/>
              <a:t>標準</a:t>
            </a:r>
            <a:r>
              <a:rPr lang="zh-TW" altLang="en-US" sz="2000" kern="0" dirty="0"/>
              <a:t>係</a:t>
            </a:r>
            <a:r>
              <a:rPr lang="zh-TW" altLang="en-US" sz="2000" kern="0" dirty="0" smtClean="0"/>
              <a:t>以</a:t>
            </a:r>
            <a:r>
              <a:rPr lang="en-US" altLang="zh-TW" sz="2000" kern="0" dirty="0"/>
              <a:t>ISO </a:t>
            </a:r>
            <a:r>
              <a:rPr lang="zh-TW" altLang="en-US" sz="2000" kern="0" dirty="0"/>
              <a:t>高階結構 </a:t>
            </a:r>
            <a:r>
              <a:rPr lang="en-US" altLang="zh-TW" sz="2000" kern="0" dirty="0"/>
              <a:t>(High Level Structure ,HLS) </a:t>
            </a:r>
            <a:r>
              <a:rPr lang="zh-TW" altLang="en-US" sz="2000" kern="0" dirty="0"/>
              <a:t>撰寫</a:t>
            </a:r>
            <a:endParaRPr lang="en-US" altLang="zh-TW" sz="2000" kern="0" dirty="0" smtClean="0"/>
          </a:p>
          <a:p>
            <a:pPr lvl="1"/>
            <a:r>
              <a:rPr lang="en-US" altLang="zh-TW" sz="2000" kern="0" dirty="0"/>
              <a:t>CNS/ISO </a:t>
            </a:r>
            <a:r>
              <a:rPr lang="en-US" altLang="zh-TW" sz="2000" kern="0" dirty="0" smtClean="0"/>
              <a:t>27001</a:t>
            </a:r>
            <a:r>
              <a:rPr lang="zh-TW" altLang="en-US" sz="2000" kern="0" dirty="0" smtClean="0"/>
              <a:t>強調</a:t>
            </a:r>
            <a:r>
              <a:rPr lang="en-US" altLang="zh-TW" sz="2000" kern="0" dirty="0" smtClean="0"/>
              <a:t>PDCA</a:t>
            </a:r>
            <a:r>
              <a:rPr lang="zh-TW" altLang="en-US" sz="2000" kern="0" dirty="0" smtClean="0"/>
              <a:t>循環</a:t>
            </a:r>
            <a:endParaRPr lang="en-US" altLang="zh-TW" sz="2000" kern="0" dirty="0" smtClean="0"/>
          </a:p>
          <a:p>
            <a:pPr lvl="1"/>
            <a:endParaRPr lang="en-US" altLang="zh-TW" sz="2000" kern="0" dirty="0"/>
          </a:p>
          <a:p>
            <a:pPr lvl="1"/>
            <a:endParaRPr lang="en-US" altLang="zh-TW" sz="2000" kern="0" dirty="0"/>
          </a:p>
          <a:p>
            <a:pPr lvl="1"/>
            <a:endParaRPr lang="en-US" altLang="zh-TW" sz="2000" kern="0" dirty="0" smtClean="0"/>
          </a:p>
          <a:p>
            <a:pPr>
              <a:buFont typeface="Wingdings" panose="05000000000000000000" pitchFamily="2" charset="2"/>
              <a:buChar char="l"/>
            </a:pPr>
            <a:endParaRPr lang="en-US" altLang="zh-TW" kern="0" dirty="0" smtClean="0"/>
          </a:p>
        </p:txBody>
      </p:sp>
    </p:spTree>
    <p:extLst>
      <p:ext uri="{BB962C8B-B14F-4D97-AF65-F5344CB8AC3E}">
        <p14:creationId xmlns:p14="http://schemas.microsoft.com/office/powerpoint/2010/main" val="361607961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19161" y="77373"/>
            <a:ext cx="7886700" cy="938067"/>
          </a:xfrm>
        </p:spPr>
        <p:txBody>
          <a:bodyPr/>
          <a:lstStyle/>
          <a:p>
            <a:r>
              <a:rPr lang="en-US" altLang="zh-TW" dirty="0"/>
              <a:t>CNS/ISO </a:t>
            </a:r>
            <a:r>
              <a:rPr lang="en-US" altLang="zh-TW" dirty="0" smtClean="0"/>
              <a:t>27001(2/2)</a:t>
            </a:r>
            <a:endParaRPr lang="en-US" altLang="zh-TW" dirty="0"/>
          </a:p>
        </p:txBody>
      </p:sp>
      <p:sp>
        <p:nvSpPr>
          <p:cNvPr id="3" name="內容版面配置區 9"/>
          <p:cNvSpPr txBox="1">
            <a:spLocks/>
          </p:cNvSpPr>
          <p:nvPr/>
        </p:nvSpPr>
        <p:spPr>
          <a:xfrm>
            <a:off x="107504" y="908970"/>
            <a:ext cx="8969477" cy="5904406"/>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kern="0" dirty="0" smtClean="0"/>
              <a:t>PDCA</a:t>
            </a:r>
            <a:r>
              <a:rPr lang="zh-TW" altLang="en-US" kern="0" dirty="0" smtClean="0"/>
              <a:t>循環</a:t>
            </a:r>
            <a:endParaRPr lang="en-US" altLang="zh-TW" kern="0" dirty="0"/>
          </a:p>
          <a:p>
            <a:pPr lvl="1"/>
            <a:r>
              <a:rPr lang="en-US" altLang="zh-TW" sz="2000" kern="0" dirty="0" smtClean="0"/>
              <a:t>ISMS</a:t>
            </a:r>
            <a:r>
              <a:rPr lang="zh-TW" altLang="en-US" sz="2000" kern="0" dirty="0" smtClean="0"/>
              <a:t>一個</a:t>
            </a:r>
            <a:r>
              <a:rPr lang="zh-TW" altLang="en-US" sz="2000" kern="0" dirty="0"/>
              <a:t>持續改進的</a:t>
            </a:r>
            <a:r>
              <a:rPr lang="zh-TW" altLang="en-US" sz="2000" kern="0" dirty="0" smtClean="0"/>
              <a:t>循環</a:t>
            </a:r>
            <a:r>
              <a:rPr lang="en-US" altLang="zh-TW" sz="2000" kern="0" dirty="0" smtClean="0"/>
              <a:t>(Cycle)</a:t>
            </a:r>
          </a:p>
          <a:p>
            <a:pPr lvl="1"/>
            <a:r>
              <a:rPr lang="en-US" altLang="zh-TW" sz="2000" kern="0" dirty="0" smtClean="0"/>
              <a:t>Plan </a:t>
            </a:r>
            <a:r>
              <a:rPr lang="en-US" altLang="zh-TW" sz="2000" kern="0" dirty="0"/>
              <a:t>(</a:t>
            </a:r>
            <a:r>
              <a:rPr lang="zh-TW" altLang="en-US" sz="2000" kern="0" dirty="0"/>
              <a:t>規劃</a:t>
            </a:r>
            <a:r>
              <a:rPr lang="en-US" altLang="zh-TW" sz="2000" kern="0" dirty="0"/>
              <a:t>)</a:t>
            </a:r>
            <a:r>
              <a:rPr lang="zh-TW" altLang="en-US" sz="2000" kern="0" dirty="0"/>
              <a:t>： 建立資安目標，進行風險</a:t>
            </a:r>
            <a:r>
              <a:rPr lang="zh-TW" altLang="en-US" sz="2000" kern="0" dirty="0" smtClean="0"/>
              <a:t>評鑑</a:t>
            </a:r>
            <a:r>
              <a:rPr lang="en-US" altLang="zh-TW" sz="2000" kern="0" dirty="0" smtClean="0"/>
              <a:t>(</a:t>
            </a:r>
            <a:r>
              <a:rPr lang="en-US" altLang="zh-TW" sz="2000" kern="0" dirty="0"/>
              <a:t>Risk </a:t>
            </a:r>
            <a:r>
              <a:rPr lang="en-US" altLang="zh-TW" sz="2000" kern="0" dirty="0" smtClean="0"/>
              <a:t>Assessment)</a:t>
            </a:r>
            <a:r>
              <a:rPr lang="zh-TW" altLang="en-US" sz="2000" kern="0" dirty="0" smtClean="0"/>
              <a:t>等 。</a:t>
            </a:r>
            <a:endParaRPr lang="en-US" altLang="zh-TW" sz="2000" kern="0" dirty="0" smtClean="0"/>
          </a:p>
          <a:p>
            <a:pPr lvl="1"/>
            <a:r>
              <a:rPr lang="en-US" altLang="zh-TW" sz="2000" kern="0" dirty="0" smtClean="0"/>
              <a:t>Do </a:t>
            </a:r>
            <a:r>
              <a:rPr lang="en-US" altLang="zh-TW" sz="2000" kern="0" dirty="0"/>
              <a:t>(</a:t>
            </a:r>
            <a:r>
              <a:rPr lang="zh-TW" altLang="en-US" sz="2000" kern="0" dirty="0"/>
              <a:t>執行</a:t>
            </a:r>
            <a:r>
              <a:rPr lang="en-US" altLang="zh-TW" sz="2000" kern="0" dirty="0"/>
              <a:t>)</a:t>
            </a:r>
            <a:r>
              <a:rPr lang="zh-TW" altLang="en-US" sz="2000" kern="0" dirty="0"/>
              <a:t>： 實際導入並運作上述的控制措施</a:t>
            </a:r>
            <a:r>
              <a:rPr lang="zh-TW" altLang="en-US" sz="2000" kern="0" dirty="0" smtClean="0"/>
              <a:t>。</a:t>
            </a:r>
            <a:endParaRPr lang="en-US" altLang="zh-TW" sz="2000" kern="0" dirty="0" smtClean="0"/>
          </a:p>
          <a:p>
            <a:pPr lvl="1"/>
            <a:r>
              <a:rPr lang="en-US" altLang="zh-TW" sz="2000" kern="0" dirty="0" smtClean="0"/>
              <a:t>Check </a:t>
            </a:r>
            <a:r>
              <a:rPr lang="en-US" altLang="zh-TW" sz="2000" kern="0" dirty="0"/>
              <a:t>(</a:t>
            </a:r>
            <a:r>
              <a:rPr lang="zh-TW" altLang="en-US" sz="2000" kern="0" dirty="0"/>
              <a:t>檢查</a:t>
            </a:r>
            <a:r>
              <a:rPr lang="en-US" altLang="zh-TW" sz="2000" kern="0" dirty="0"/>
              <a:t>)</a:t>
            </a:r>
            <a:r>
              <a:rPr lang="zh-TW" altLang="en-US" sz="2000" kern="0" dirty="0"/>
              <a:t>： 透過內部稽核 </a:t>
            </a:r>
            <a:r>
              <a:rPr lang="en-US" altLang="zh-TW" sz="2000" kern="0" dirty="0"/>
              <a:t>(Internal Audit) </a:t>
            </a:r>
            <a:r>
              <a:rPr lang="zh-TW" altLang="en-US" sz="2000" kern="0" dirty="0"/>
              <a:t>與管理審查，監控系統是否有效運作</a:t>
            </a:r>
            <a:r>
              <a:rPr lang="zh-TW" altLang="en-US" sz="2000" kern="0" dirty="0" smtClean="0"/>
              <a:t>。</a:t>
            </a:r>
            <a:endParaRPr lang="en-US" altLang="zh-TW" sz="2000" kern="0" dirty="0" smtClean="0"/>
          </a:p>
          <a:p>
            <a:pPr lvl="1"/>
            <a:r>
              <a:rPr lang="en-US" altLang="zh-TW" sz="2000" kern="0" dirty="0" smtClean="0"/>
              <a:t>Act </a:t>
            </a:r>
            <a:r>
              <a:rPr lang="en-US" altLang="zh-TW" sz="2000" kern="0" dirty="0"/>
              <a:t>(</a:t>
            </a:r>
            <a:r>
              <a:rPr lang="zh-TW" altLang="en-US" sz="2000" kern="0" dirty="0"/>
              <a:t>行動</a:t>
            </a:r>
            <a:r>
              <a:rPr lang="en-US" altLang="zh-TW" sz="2000" kern="0" dirty="0"/>
              <a:t>/</a:t>
            </a:r>
            <a:r>
              <a:rPr lang="zh-TW" altLang="en-US" sz="2000" kern="0" dirty="0"/>
              <a:t>改進</a:t>
            </a:r>
            <a:r>
              <a:rPr lang="en-US" altLang="zh-TW" sz="2000" kern="0" dirty="0"/>
              <a:t>)</a:t>
            </a:r>
            <a:r>
              <a:rPr lang="zh-TW" altLang="en-US" sz="2000" kern="0" dirty="0"/>
              <a:t>： 針對發現的問題進行矯正，持續提升資安水準</a:t>
            </a:r>
            <a:r>
              <a:rPr lang="zh-TW" altLang="en-US" sz="2000" kern="0" dirty="0" smtClean="0"/>
              <a:t>。</a:t>
            </a:r>
            <a:endParaRPr lang="en-US" altLang="zh-TW" sz="2000" kern="0" dirty="0"/>
          </a:p>
          <a:p>
            <a:r>
              <a:rPr lang="zh-TW" altLang="en-US" sz="2400" kern="0" dirty="0"/>
              <a:t>附錄 </a:t>
            </a:r>
            <a:r>
              <a:rPr lang="en-US" altLang="zh-TW" sz="2400" kern="0" dirty="0"/>
              <a:t>A (Annex A) </a:t>
            </a:r>
            <a:r>
              <a:rPr lang="en-US" altLang="zh-TW" sz="2400" kern="0" dirty="0" smtClean="0"/>
              <a:t>– </a:t>
            </a:r>
            <a:r>
              <a:rPr lang="zh-TW" altLang="en-US" sz="2400" kern="0" dirty="0" smtClean="0"/>
              <a:t>安全控制措施</a:t>
            </a:r>
            <a:r>
              <a:rPr lang="en-US" altLang="zh-TW" sz="2400" kern="0" dirty="0" smtClean="0"/>
              <a:t>(</a:t>
            </a:r>
            <a:r>
              <a:rPr lang="zh-TW" altLang="en-US" sz="2400" kern="0" dirty="0" smtClean="0"/>
              <a:t>詳見後續說明</a:t>
            </a:r>
            <a:r>
              <a:rPr lang="en-US" altLang="zh-TW" sz="2400" kern="0" dirty="0" smtClean="0"/>
              <a:t>)</a:t>
            </a:r>
          </a:p>
          <a:p>
            <a:pPr lvl="1"/>
            <a:r>
              <a:rPr lang="en-US" altLang="zh-TW" sz="2000" dirty="0"/>
              <a:t>2022 </a:t>
            </a:r>
            <a:r>
              <a:rPr lang="zh-TW" altLang="en-US" sz="2000" dirty="0"/>
              <a:t>新版中，控制措施從舊版的 </a:t>
            </a:r>
            <a:r>
              <a:rPr lang="en-US" altLang="zh-TW" sz="2000" dirty="0"/>
              <a:t>114</a:t>
            </a:r>
            <a:r>
              <a:rPr lang="zh-TW" altLang="en-US" sz="2000" dirty="0"/>
              <a:t>項整併為 </a:t>
            </a:r>
            <a:r>
              <a:rPr lang="en-US" altLang="zh-TW" sz="2000" b="1" dirty="0"/>
              <a:t>93 </a:t>
            </a:r>
            <a:r>
              <a:rPr lang="zh-TW" altLang="en-US" sz="2000" b="1" dirty="0"/>
              <a:t>項</a:t>
            </a:r>
            <a:r>
              <a:rPr lang="zh-TW" altLang="en-US" sz="2000" dirty="0"/>
              <a:t>，並簡化為 </a:t>
            </a:r>
            <a:r>
              <a:rPr lang="en-US" altLang="zh-TW" sz="2000" b="1" dirty="0"/>
              <a:t>4 </a:t>
            </a:r>
            <a:r>
              <a:rPr lang="zh-TW" altLang="en-US" sz="2000" b="1" dirty="0"/>
              <a:t>大主題</a:t>
            </a:r>
            <a:r>
              <a:rPr lang="zh-TW" altLang="en-US" sz="2000" dirty="0"/>
              <a:t>：</a:t>
            </a:r>
          </a:p>
          <a:p>
            <a:pPr lvl="1"/>
            <a:r>
              <a:rPr lang="zh-TW" altLang="en-US" sz="2000" b="1" dirty="0"/>
              <a:t>組織控制 </a:t>
            </a:r>
            <a:r>
              <a:rPr lang="en-US" altLang="zh-TW" sz="2000" b="1" dirty="0"/>
              <a:t>(Organizational)</a:t>
            </a:r>
            <a:r>
              <a:rPr lang="zh-TW" altLang="en-US" sz="2000" b="1" dirty="0"/>
              <a:t>：</a:t>
            </a:r>
            <a:r>
              <a:rPr lang="zh-TW" altLang="en-US" sz="2000" dirty="0"/>
              <a:t> 如身分識別管理、情資威脅</a:t>
            </a:r>
            <a:r>
              <a:rPr lang="zh-TW" altLang="en-US" sz="2000" dirty="0" smtClean="0"/>
              <a:t>蒐集。</a:t>
            </a:r>
            <a:endParaRPr lang="zh-TW" altLang="en-US" sz="2000" dirty="0"/>
          </a:p>
          <a:p>
            <a:pPr lvl="1"/>
            <a:r>
              <a:rPr lang="zh-TW" altLang="en-US" sz="2000" b="1" dirty="0"/>
              <a:t>人員控制 </a:t>
            </a:r>
            <a:r>
              <a:rPr lang="en-US" altLang="zh-TW" sz="2000" b="1" dirty="0"/>
              <a:t>(People)</a:t>
            </a:r>
            <a:r>
              <a:rPr lang="zh-TW" altLang="en-US" sz="2000" b="1" dirty="0"/>
              <a:t>：</a:t>
            </a:r>
            <a:r>
              <a:rPr lang="zh-TW" altLang="en-US" sz="2000" dirty="0"/>
              <a:t> 如人員報到</a:t>
            </a:r>
            <a:r>
              <a:rPr lang="en-US" altLang="zh-TW" sz="2000" dirty="0"/>
              <a:t>/</a:t>
            </a:r>
            <a:r>
              <a:rPr lang="zh-TW" altLang="en-US" sz="2000" dirty="0"/>
              <a:t>離職篩選、資安意識教育訓練。</a:t>
            </a:r>
          </a:p>
          <a:p>
            <a:pPr lvl="1"/>
            <a:r>
              <a:rPr lang="zh-TW" altLang="en-US" sz="2000" b="1" dirty="0"/>
              <a:t>實體控制 </a:t>
            </a:r>
            <a:r>
              <a:rPr lang="en-US" altLang="zh-TW" sz="2000" b="1" dirty="0"/>
              <a:t>(Physical)</a:t>
            </a:r>
            <a:r>
              <a:rPr lang="zh-TW" altLang="en-US" sz="2000" b="1" dirty="0"/>
              <a:t>：</a:t>
            </a:r>
            <a:r>
              <a:rPr lang="zh-TW" altLang="en-US" sz="2000" dirty="0"/>
              <a:t> 如機房門禁</a:t>
            </a:r>
            <a:r>
              <a:rPr lang="zh-TW" altLang="en-US" sz="2000" dirty="0" smtClean="0"/>
              <a:t>、辦公桌</a:t>
            </a:r>
            <a:r>
              <a:rPr lang="zh-TW" altLang="en-US" sz="2000" dirty="0"/>
              <a:t>淨空 </a:t>
            </a:r>
            <a:r>
              <a:rPr lang="en-US" altLang="zh-TW" sz="2000" dirty="0"/>
              <a:t>(Clear Desk Policy)</a:t>
            </a:r>
            <a:r>
              <a:rPr lang="zh-TW" altLang="en-US" sz="2000" dirty="0"/>
              <a:t>。</a:t>
            </a:r>
          </a:p>
          <a:p>
            <a:pPr lvl="1"/>
            <a:r>
              <a:rPr lang="zh-TW" altLang="en-US" sz="2000" b="1" dirty="0"/>
              <a:t>技術控制 </a:t>
            </a:r>
            <a:r>
              <a:rPr lang="en-US" altLang="zh-TW" sz="2000" b="1" dirty="0"/>
              <a:t>(Technological)</a:t>
            </a:r>
            <a:r>
              <a:rPr lang="zh-TW" altLang="en-US" sz="2000" b="1" dirty="0"/>
              <a:t>：</a:t>
            </a:r>
            <a:r>
              <a:rPr lang="zh-TW" altLang="en-US" sz="2000" dirty="0"/>
              <a:t> 如網路安全、加密、惡意軟體防護、程式碼安全</a:t>
            </a:r>
            <a:r>
              <a:rPr lang="zh-TW" altLang="en-US" sz="2000" dirty="0" smtClean="0"/>
              <a:t>。</a:t>
            </a:r>
            <a:endParaRPr lang="en-US" altLang="zh-TW" sz="2000" kern="0" dirty="0"/>
          </a:p>
          <a:p>
            <a:pPr lvl="1"/>
            <a:endParaRPr lang="en-US" altLang="zh-TW" sz="2000" kern="0" dirty="0" smtClean="0"/>
          </a:p>
          <a:p>
            <a:pPr>
              <a:buFont typeface="Wingdings" panose="05000000000000000000" pitchFamily="2" charset="2"/>
              <a:buChar char="l"/>
            </a:pPr>
            <a:endParaRPr lang="en-US" altLang="zh-TW" kern="0" dirty="0" smtClean="0"/>
          </a:p>
        </p:txBody>
      </p:sp>
    </p:spTree>
    <p:extLst>
      <p:ext uri="{BB962C8B-B14F-4D97-AF65-F5344CB8AC3E}">
        <p14:creationId xmlns:p14="http://schemas.microsoft.com/office/powerpoint/2010/main" val="3629162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319161" y="44592"/>
            <a:ext cx="7886700" cy="936136"/>
          </a:xfrm>
        </p:spPr>
        <p:txBody>
          <a:bodyPr/>
          <a:lstStyle/>
          <a:p>
            <a:r>
              <a:rPr lang="en-US" altLang="zh-TW" dirty="0"/>
              <a:t>NIST CSF(</a:t>
            </a:r>
            <a:r>
              <a:rPr lang="zh-TW" altLang="en-US" dirty="0"/>
              <a:t>網路安全框架</a:t>
            </a:r>
            <a:r>
              <a:rPr lang="en-US" altLang="zh-TW" dirty="0" smtClean="0"/>
              <a:t>) (1/6)</a:t>
            </a:r>
            <a:endParaRPr lang="en-US" altLang="zh-TW" dirty="0"/>
          </a:p>
        </p:txBody>
      </p:sp>
      <p:sp>
        <p:nvSpPr>
          <p:cNvPr id="3" name="內容版面配置區 9"/>
          <p:cNvSpPr txBox="1">
            <a:spLocks/>
          </p:cNvSpPr>
          <p:nvPr/>
        </p:nvSpPr>
        <p:spPr>
          <a:xfrm>
            <a:off x="143000" y="980728"/>
            <a:ext cx="8677472" cy="5112568"/>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b="1" kern="0" dirty="0"/>
              <a:t>NIST CSF</a:t>
            </a:r>
            <a:r>
              <a:rPr lang="zh-TW" altLang="en-US" b="1" kern="0" dirty="0" smtClean="0"/>
              <a:t>（</a:t>
            </a:r>
            <a:r>
              <a:rPr lang="en-US" altLang="zh-TW" b="1" kern="0" dirty="0"/>
              <a:t>The NIST Cybersecurity Framework </a:t>
            </a:r>
            <a:r>
              <a:rPr lang="zh-TW" altLang="en-US" b="1" kern="0" dirty="0" smtClean="0"/>
              <a:t>）</a:t>
            </a:r>
            <a:r>
              <a:rPr lang="zh-TW" altLang="en-US" b="1" kern="0" dirty="0"/>
              <a:t>是由美國國家標準與技術</a:t>
            </a:r>
            <a:r>
              <a:rPr lang="zh-TW" altLang="en-US" b="1" kern="0" dirty="0" smtClean="0"/>
              <a:t>研究院開發</a:t>
            </a:r>
            <a:r>
              <a:rPr lang="zh-TW" altLang="en-US" b="1" kern="0" dirty="0"/>
              <a:t>的一套指導方針，旨在幫助組織管理和降低網路安全風險</a:t>
            </a:r>
            <a:r>
              <a:rPr lang="zh-TW" altLang="en-US" b="1" kern="0" dirty="0" smtClean="0"/>
              <a:t>。</a:t>
            </a:r>
            <a:endParaRPr lang="en-US" altLang="zh-TW" b="1" kern="0" dirty="0" smtClean="0"/>
          </a:p>
          <a:p>
            <a:r>
              <a:rPr lang="en-US" altLang="zh-TW" b="1" kern="0" dirty="0" smtClean="0"/>
              <a:t>2024</a:t>
            </a:r>
            <a:r>
              <a:rPr lang="zh-TW" altLang="en-US" b="1" kern="0" dirty="0" smtClean="0"/>
              <a:t>年</a:t>
            </a:r>
            <a:r>
              <a:rPr lang="en-US" altLang="zh-TW" b="1" kern="0" dirty="0" smtClean="0"/>
              <a:t>2</a:t>
            </a:r>
            <a:r>
              <a:rPr lang="zh-TW" altLang="en-US" b="1" kern="0" dirty="0" smtClean="0"/>
              <a:t>月發表</a:t>
            </a:r>
            <a:r>
              <a:rPr lang="en-US" altLang="zh-TW" b="1" kern="0" dirty="0" smtClean="0"/>
              <a:t>NIST</a:t>
            </a:r>
            <a:r>
              <a:rPr lang="zh-TW" altLang="en-US" b="1" kern="0" dirty="0" smtClean="0"/>
              <a:t> </a:t>
            </a:r>
            <a:r>
              <a:rPr lang="en-US" altLang="zh-TW" b="1" kern="0" dirty="0" smtClean="0"/>
              <a:t>CSF 2.0</a:t>
            </a:r>
            <a:r>
              <a:rPr lang="zh-TW" altLang="en-US" b="1" kern="0" dirty="0" smtClean="0"/>
              <a:t>版取代</a:t>
            </a:r>
            <a:r>
              <a:rPr lang="en-US" altLang="zh-TW" b="1" kern="0" dirty="0"/>
              <a:t>2018</a:t>
            </a:r>
            <a:r>
              <a:rPr lang="zh-TW" altLang="en-US" b="1" kern="0" dirty="0" smtClean="0"/>
              <a:t>年</a:t>
            </a:r>
            <a:r>
              <a:rPr lang="zh-TW" altLang="en-US" b="1" kern="0" dirty="0"/>
              <a:t>發表</a:t>
            </a:r>
            <a:r>
              <a:rPr lang="zh-TW" altLang="en-US" b="1" kern="0" dirty="0" smtClean="0"/>
              <a:t>的</a:t>
            </a:r>
            <a:r>
              <a:rPr lang="en-US" altLang="zh-TW" b="1" kern="0" dirty="0" smtClean="0"/>
              <a:t>NIST </a:t>
            </a:r>
            <a:r>
              <a:rPr lang="en-US" altLang="zh-TW" b="1" kern="0" dirty="0"/>
              <a:t>CSF </a:t>
            </a:r>
            <a:r>
              <a:rPr lang="en-US" altLang="zh-TW" b="1" kern="0" dirty="0" smtClean="0"/>
              <a:t>1.1</a:t>
            </a:r>
            <a:r>
              <a:rPr lang="zh-TW" altLang="en-US" b="1" kern="0" dirty="0" smtClean="0"/>
              <a:t>版</a:t>
            </a:r>
            <a:endParaRPr lang="en-US" altLang="zh-TW" b="1" kern="0" dirty="0" smtClean="0"/>
          </a:p>
          <a:p>
            <a:r>
              <a:rPr lang="zh-TW" altLang="en-US" b="1" kern="0" dirty="0"/>
              <a:t>主要</a:t>
            </a:r>
            <a:r>
              <a:rPr lang="zh-TW" altLang="en-US" b="1" kern="0" dirty="0" smtClean="0"/>
              <a:t>改版內容</a:t>
            </a:r>
            <a:r>
              <a:rPr lang="en-US" altLang="zh-TW" b="1" kern="0" dirty="0" smtClean="0"/>
              <a:t>:</a:t>
            </a:r>
          </a:p>
          <a:p>
            <a:r>
              <a:rPr lang="en-US" altLang="zh-TW" b="1" kern="0" dirty="0" smtClean="0"/>
              <a:t>1.</a:t>
            </a:r>
            <a:r>
              <a:rPr lang="zh-TW" altLang="en-US" b="1" kern="0" dirty="0"/>
              <a:t>新增的「治理</a:t>
            </a:r>
            <a:r>
              <a:rPr lang="zh-TW" altLang="en-US" b="1" kern="0" dirty="0" smtClean="0"/>
              <a:t>」功能</a:t>
            </a:r>
            <a:endParaRPr lang="en-US" altLang="zh-TW" kern="0" dirty="0"/>
          </a:p>
          <a:p>
            <a:r>
              <a:rPr lang="en-US" altLang="zh-TW" b="1" kern="0" dirty="0" smtClean="0"/>
              <a:t>2.</a:t>
            </a:r>
            <a:r>
              <a:rPr lang="zh-TW" altLang="en-US" b="1" kern="0" dirty="0"/>
              <a:t>新</a:t>
            </a:r>
            <a:r>
              <a:rPr lang="zh-TW" altLang="en-US" b="1" kern="0" dirty="0" smtClean="0"/>
              <a:t>的供應</a:t>
            </a:r>
            <a:r>
              <a:rPr lang="zh-TW" altLang="en-US" b="1" kern="0" dirty="0"/>
              <a:t>鏈</a:t>
            </a:r>
            <a:r>
              <a:rPr lang="zh-TW" altLang="en-US" b="1" kern="0" dirty="0" smtClean="0"/>
              <a:t>指南</a:t>
            </a:r>
            <a:endParaRPr lang="en-US" altLang="zh-TW" b="1" kern="0" dirty="0"/>
          </a:p>
          <a:p>
            <a:r>
              <a:rPr lang="en-US" altLang="zh-TW" b="1" dirty="0" smtClean="0">
                <a:effectLst>
                  <a:outerShdw blurRad="38100" dist="38100" dir="2700000" algn="tl">
                    <a:srgbClr val="000000">
                      <a:alpha val="43137"/>
                    </a:srgbClr>
                  </a:outerShdw>
                </a:effectLst>
              </a:rPr>
              <a:t>3.</a:t>
            </a:r>
            <a:r>
              <a:rPr lang="zh-TW" altLang="en-US" b="1" dirty="0" smtClean="0">
                <a:effectLst>
                  <a:outerShdw blurRad="38100" dist="38100" dir="2700000" algn="tl">
                    <a:srgbClr val="000000">
                      <a:alpha val="43137"/>
                    </a:srgbClr>
                  </a:outerShdw>
                </a:effectLst>
              </a:rPr>
              <a:t>更新</a:t>
            </a:r>
            <a:r>
              <a:rPr lang="zh-TW" altLang="en-US" b="1" dirty="0">
                <a:effectLst>
                  <a:outerShdw blurRad="38100" dist="38100" dir="2700000" algn="tl">
                    <a:srgbClr val="000000">
                      <a:alpha val="43137"/>
                    </a:srgbClr>
                  </a:outerShdw>
                </a:effectLst>
              </a:rPr>
              <a:t>的類別與子</a:t>
            </a:r>
            <a:r>
              <a:rPr lang="zh-TW" altLang="en-US" b="1" dirty="0" smtClean="0">
                <a:effectLst>
                  <a:outerShdw blurRad="38100" dist="38100" dir="2700000" algn="tl">
                    <a:srgbClr val="000000">
                      <a:alpha val="43137"/>
                    </a:srgbClr>
                  </a:outerShdw>
                </a:effectLst>
              </a:rPr>
              <a:t>類別 等</a:t>
            </a:r>
            <a:endParaRPr lang="zh-TW" altLang="en-US" b="1" dirty="0">
              <a:effectLst>
                <a:outerShdw blurRad="38100" dist="38100" dir="2700000" algn="tl">
                  <a:srgbClr val="000000">
                    <a:alpha val="43137"/>
                  </a:srgbClr>
                </a:outerShdw>
              </a:effectLst>
            </a:endParaRPr>
          </a:p>
          <a:p>
            <a:endParaRPr lang="en-US" altLang="zh-TW" b="1" kern="0" dirty="0" smtClean="0"/>
          </a:p>
        </p:txBody>
      </p:sp>
      <p:pic>
        <p:nvPicPr>
          <p:cNvPr id="5" name="圖片 4"/>
          <p:cNvPicPr>
            <a:picLocks noChangeAspect="1"/>
          </p:cNvPicPr>
          <p:nvPr/>
        </p:nvPicPr>
        <p:blipFill>
          <a:blip r:embed="rId3"/>
          <a:stretch>
            <a:fillRect/>
          </a:stretch>
        </p:blipFill>
        <p:spPr>
          <a:xfrm>
            <a:off x="4211960" y="3284984"/>
            <a:ext cx="4522311" cy="2098106"/>
          </a:xfrm>
          <a:prstGeom prst="rect">
            <a:avLst/>
          </a:prstGeom>
        </p:spPr>
      </p:pic>
    </p:spTree>
    <p:extLst>
      <p:ext uri="{BB962C8B-B14F-4D97-AF65-F5344CB8AC3E}">
        <p14:creationId xmlns:p14="http://schemas.microsoft.com/office/powerpoint/2010/main" val="36702291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221797" y="1052736"/>
            <a:ext cx="8785778" cy="5112568"/>
          </a:xfrm>
        </p:spPr>
        <p:txBody>
          <a:bodyPr/>
          <a:lstStyle/>
          <a:p>
            <a:r>
              <a:rPr lang="zh-TW" altLang="en-US" sz="2400" dirty="0"/>
              <a:t>網路安全框架可以分為三個部份：框架核心（</a:t>
            </a:r>
            <a:r>
              <a:rPr lang="en-US" altLang="zh-TW" sz="2400" dirty="0"/>
              <a:t>Framework Core</a:t>
            </a:r>
            <a:r>
              <a:rPr lang="zh-TW" altLang="en-US" sz="2400" dirty="0"/>
              <a:t>）、框架輪廓（</a:t>
            </a:r>
            <a:r>
              <a:rPr lang="en-US" altLang="zh-TW" sz="2400" dirty="0"/>
              <a:t>Framework Profile</a:t>
            </a:r>
            <a:r>
              <a:rPr lang="zh-TW" altLang="en-US" sz="2400" dirty="0"/>
              <a:t>）及框架實施層級（</a:t>
            </a:r>
            <a:r>
              <a:rPr lang="en-US" altLang="zh-TW" sz="2400" dirty="0"/>
              <a:t>Framework Implementation Tiers</a:t>
            </a:r>
            <a:r>
              <a:rPr lang="zh-TW" altLang="en-US" sz="2400" dirty="0" smtClean="0"/>
              <a:t>）</a:t>
            </a:r>
            <a:endParaRPr lang="en-US" altLang="zh-TW" sz="2400" dirty="0" smtClean="0"/>
          </a:p>
          <a:p>
            <a:r>
              <a:rPr lang="zh-TW" altLang="en-US" sz="2400" dirty="0"/>
              <a:t>框架核心（</a:t>
            </a:r>
            <a:r>
              <a:rPr lang="en-US" altLang="zh-TW" sz="2400" dirty="0"/>
              <a:t>Framework Core</a:t>
            </a:r>
            <a:r>
              <a:rPr lang="zh-TW" altLang="en-US" sz="2400" dirty="0" smtClean="0"/>
              <a:t>）</a:t>
            </a:r>
            <a:r>
              <a:rPr lang="zh-TW" altLang="en-US" sz="2400" dirty="0"/>
              <a:t>由</a:t>
            </a:r>
            <a:r>
              <a:rPr lang="zh-TW" altLang="en-US" sz="2400" dirty="0" smtClean="0"/>
              <a:t>六大</a:t>
            </a:r>
            <a:r>
              <a:rPr lang="zh-TW" altLang="en-US" sz="2400" dirty="0"/>
              <a:t>功能</a:t>
            </a:r>
            <a:r>
              <a:rPr lang="en-US" altLang="zh-TW" sz="2400" dirty="0"/>
              <a:t>(Functions</a:t>
            </a:r>
            <a:r>
              <a:rPr lang="en-US" altLang="zh-TW" sz="2400" dirty="0" smtClean="0"/>
              <a:t>)</a:t>
            </a:r>
            <a:r>
              <a:rPr lang="zh-TW" altLang="en-US" sz="2400" dirty="0" smtClean="0"/>
              <a:t>組成</a:t>
            </a:r>
            <a:endParaRPr lang="en-US" altLang="zh-TW" sz="2400" dirty="0" smtClean="0"/>
          </a:p>
          <a:p>
            <a:r>
              <a:rPr lang="zh-TW" altLang="en-US" sz="2400" dirty="0" smtClean="0"/>
              <a:t>每一功能</a:t>
            </a:r>
            <a:r>
              <a:rPr lang="en-US" altLang="zh-TW" sz="2400" dirty="0"/>
              <a:t>(Functions</a:t>
            </a:r>
            <a:r>
              <a:rPr lang="en-US" altLang="zh-TW" sz="2400" dirty="0" smtClean="0"/>
              <a:t>)</a:t>
            </a:r>
            <a:r>
              <a:rPr lang="zh-TW" altLang="en-US" sz="2400" dirty="0" smtClean="0"/>
              <a:t>還有不同的類別</a:t>
            </a:r>
            <a:r>
              <a:rPr lang="en-US" altLang="zh-TW" sz="2400" dirty="0"/>
              <a:t>(Categories</a:t>
            </a:r>
            <a:r>
              <a:rPr lang="en-US" altLang="zh-TW" sz="2400" dirty="0" smtClean="0"/>
              <a:t>)</a:t>
            </a:r>
          </a:p>
          <a:p>
            <a:r>
              <a:rPr lang="zh-TW" altLang="en-US" sz="2400" dirty="0"/>
              <a:t>類別</a:t>
            </a:r>
            <a:r>
              <a:rPr lang="en-US" altLang="zh-TW" sz="2400" dirty="0"/>
              <a:t>(Categories</a:t>
            </a:r>
            <a:r>
              <a:rPr lang="en-US" altLang="zh-TW" sz="2400" dirty="0" smtClean="0"/>
              <a:t>)</a:t>
            </a:r>
            <a:r>
              <a:rPr lang="zh-TW" altLang="en-US" sz="2400" dirty="0" smtClean="0"/>
              <a:t>又有不同的子類別</a:t>
            </a:r>
            <a:r>
              <a:rPr lang="en-US" altLang="zh-TW" sz="2400" dirty="0" smtClean="0"/>
              <a:t>(</a:t>
            </a:r>
            <a:r>
              <a:rPr lang="en-US" altLang="zh-TW" sz="2400" dirty="0" err="1" smtClean="0"/>
              <a:t>SubCategories</a:t>
            </a:r>
            <a:r>
              <a:rPr lang="en-US" altLang="zh-TW" sz="2400" dirty="0"/>
              <a:t>)</a:t>
            </a:r>
          </a:p>
          <a:p>
            <a:endParaRPr lang="en-US" altLang="zh-TW" sz="2400" dirty="0" smtClean="0"/>
          </a:p>
          <a:p>
            <a:endParaRPr lang="en-US" altLang="zh-TW" sz="2400" dirty="0"/>
          </a:p>
          <a:p>
            <a:endParaRPr lang="zh-TW" altLang="en-US" sz="2400" dirty="0"/>
          </a:p>
        </p:txBody>
      </p:sp>
      <p:sp>
        <p:nvSpPr>
          <p:cNvPr id="3" name="標題 2"/>
          <p:cNvSpPr>
            <a:spLocks noGrp="1"/>
          </p:cNvSpPr>
          <p:nvPr>
            <p:ph type="title"/>
          </p:nvPr>
        </p:nvSpPr>
        <p:spPr/>
        <p:txBody>
          <a:bodyPr/>
          <a:lstStyle/>
          <a:p>
            <a:r>
              <a:rPr lang="en-US" altLang="zh-TW" dirty="0"/>
              <a:t>NIST CSF(</a:t>
            </a:r>
            <a:r>
              <a:rPr lang="zh-TW" altLang="en-US" dirty="0"/>
              <a:t>網路安全框架</a:t>
            </a:r>
            <a:r>
              <a:rPr lang="en-US" altLang="zh-TW" dirty="0" smtClean="0"/>
              <a:t>) (2/6</a:t>
            </a:r>
            <a:r>
              <a:rPr lang="en-US" altLang="zh-TW" dirty="0"/>
              <a:t>)</a:t>
            </a:r>
            <a:endParaRPr lang="zh-TW" altLang="en-US" dirty="0"/>
          </a:p>
        </p:txBody>
      </p:sp>
      <p:pic>
        <p:nvPicPr>
          <p:cNvPr id="4" name="內容版面配置區 3"/>
          <p:cNvPicPr>
            <a:picLocks noChangeAspect="1"/>
          </p:cNvPicPr>
          <p:nvPr/>
        </p:nvPicPr>
        <p:blipFill>
          <a:blip r:embed="rId3"/>
          <a:stretch>
            <a:fillRect/>
          </a:stretch>
        </p:blipFill>
        <p:spPr bwMode="auto">
          <a:xfrm>
            <a:off x="818623" y="4135718"/>
            <a:ext cx="2243554" cy="2295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圖片 4"/>
          <p:cNvPicPr>
            <a:picLocks noChangeAspect="1"/>
          </p:cNvPicPr>
          <p:nvPr/>
        </p:nvPicPr>
        <p:blipFill>
          <a:blip r:embed="rId4"/>
          <a:stretch>
            <a:fillRect/>
          </a:stretch>
        </p:blipFill>
        <p:spPr>
          <a:xfrm>
            <a:off x="3810905" y="3962069"/>
            <a:ext cx="4376652" cy="2643247"/>
          </a:xfrm>
          <a:prstGeom prst="rect">
            <a:avLst/>
          </a:prstGeom>
        </p:spPr>
      </p:pic>
    </p:spTree>
    <p:extLst>
      <p:ext uri="{BB962C8B-B14F-4D97-AF65-F5344CB8AC3E}">
        <p14:creationId xmlns:p14="http://schemas.microsoft.com/office/powerpoint/2010/main" val="23353801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內容版面配置區 3"/>
          <p:cNvPicPr>
            <a:picLocks noGrp="1" noChangeAspect="1"/>
          </p:cNvPicPr>
          <p:nvPr>
            <p:ph sz="quarter" idx="10"/>
          </p:nvPr>
        </p:nvPicPr>
        <p:blipFill>
          <a:blip r:embed="rId2"/>
          <a:stretch>
            <a:fillRect/>
          </a:stretch>
        </p:blipFill>
        <p:spPr>
          <a:xfrm>
            <a:off x="7103425" y="-16692"/>
            <a:ext cx="2040575" cy="2088232"/>
          </a:xfrm>
          <a:prstGeom prst="rect">
            <a:avLst/>
          </a:prstGeom>
        </p:spPr>
      </p:pic>
      <p:sp>
        <p:nvSpPr>
          <p:cNvPr id="3" name="標題 2"/>
          <p:cNvSpPr>
            <a:spLocks noGrp="1"/>
          </p:cNvSpPr>
          <p:nvPr>
            <p:ph type="title"/>
          </p:nvPr>
        </p:nvSpPr>
        <p:spPr>
          <a:xfrm>
            <a:off x="0" y="83661"/>
            <a:ext cx="7785825" cy="777600"/>
          </a:xfrm>
        </p:spPr>
        <p:txBody>
          <a:bodyPr/>
          <a:lstStyle/>
          <a:p>
            <a:r>
              <a:rPr lang="en-US" altLang="zh-TW" dirty="0"/>
              <a:t>NIST CSF(</a:t>
            </a:r>
            <a:r>
              <a:rPr lang="zh-TW" altLang="en-US" dirty="0"/>
              <a:t>網路安全框架</a:t>
            </a:r>
            <a:r>
              <a:rPr lang="en-US" altLang="zh-TW" dirty="0"/>
              <a:t>) </a:t>
            </a:r>
            <a:r>
              <a:rPr lang="en-US" altLang="zh-TW" dirty="0" smtClean="0"/>
              <a:t>(3/6</a:t>
            </a:r>
            <a:r>
              <a:rPr lang="en-US" altLang="zh-TW" dirty="0"/>
              <a:t>)</a:t>
            </a:r>
          </a:p>
        </p:txBody>
      </p:sp>
      <p:graphicFrame>
        <p:nvGraphicFramePr>
          <p:cNvPr id="6" name="表格 5"/>
          <p:cNvGraphicFramePr>
            <a:graphicFrameLocks noGrp="1"/>
          </p:cNvGraphicFramePr>
          <p:nvPr>
            <p:extLst/>
          </p:nvPr>
        </p:nvGraphicFramePr>
        <p:xfrm>
          <a:off x="251521" y="2127049"/>
          <a:ext cx="8352927" cy="4424351"/>
        </p:xfrm>
        <a:graphic>
          <a:graphicData uri="http://schemas.openxmlformats.org/drawingml/2006/table">
            <a:tbl>
              <a:tblPr/>
              <a:tblGrid>
                <a:gridCol w="1628531">
                  <a:extLst>
                    <a:ext uri="{9D8B030D-6E8A-4147-A177-3AD203B41FA5}">
                      <a16:colId xmlns:a16="http://schemas.microsoft.com/office/drawing/2014/main" val="2314142777"/>
                    </a:ext>
                  </a:extLst>
                </a:gridCol>
                <a:gridCol w="1029574">
                  <a:extLst>
                    <a:ext uri="{9D8B030D-6E8A-4147-A177-3AD203B41FA5}">
                      <a16:colId xmlns:a16="http://schemas.microsoft.com/office/drawing/2014/main" val="2266372576"/>
                    </a:ext>
                  </a:extLst>
                </a:gridCol>
                <a:gridCol w="5694822">
                  <a:extLst>
                    <a:ext uri="{9D8B030D-6E8A-4147-A177-3AD203B41FA5}">
                      <a16:colId xmlns:a16="http://schemas.microsoft.com/office/drawing/2014/main" val="405974318"/>
                    </a:ext>
                  </a:extLst>
                </a:gridCol>
              </a:tblGrid>
              <a:tr h="212928">
                <a:tc>
                  <a:txBody>
                    <a:bodyPr/>
                    <a:lstStyle/>
                    <a:p>
                      <a:r>
                        <a:rPr lang="zh-TW" altLang="en-US" sz="1800" b="0" dirty="0">
                          <a:effectLst>
                            <a:outerShdw blurRad="38100" dist="38100" dir="2700000" algn="tl">
                              <a:srgbClr val="000000">
                                <a:alpha val="43137"/>
                              </a:srgbClr>
                            </a:outerShdw>
                          </a:effectLst>
                        </a:rPr>
                        <a:t>功能 </a:t>
                      </a:r>
                      <a:endParaRPr 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smtClean="0">
                          <a:effectLst>
                            <a:outerShdw blurRad="38100" dist="38100" dir="2700000" algn="tl">
                              <a:srgbClr val="000000">
                                <a:alpha val="43137"/>
                              </a:srgbClr>
                            </a:outerShdw>
                          </a:effectLst>
                        </a:rPr>
                        <a:t>中文</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核心定義與目標</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58148842"/>
                  </a:ext>
                </a:extLst>
              </a:tr>
              <a:tr h="979467">
                <a:tc>
                  <a:txBody>
                    <a:bodyPr/>
                    <a:lstStyle/>
                    <a:p>
                      <a:r>
                        <a:rPr lang="en-US" sz="1800" b="0" dirty="0">
                          <a:effectLst>
                            <a:outerShdw blurRad="38100" dist="38100" dir="2700000" algn="tl">
                              <a:srgbClr val="000000">
                                <a:alpha val="43137"/>
                              </a:srgbClr>
                            </a:outerShdw>
                          </a:effectLst>
                        </a:rPr>
                        <a:t>GOVERN (GV)</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治理</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建立與監控組織的網路安全風險管理策略、期望與政策</a:t>
                      </a:r>
                      <a:r>
                        <a:rPr lang="zh-TW" altLang="en-US" sz="1800" b="0" dirty="0" smtClean="0">
                          <a:effectLst>
                            <a:outerShdw blurRad="38100" dist="38100" dir="2700000" algn="tl">
                              <a:srgbClr val="000000">
                                <a:alpha val="43137"/>
                              </a:srgbClr>
                            </a:outerShdw>
                          </a:effectLst>
                        </a:rPr>
                        <a:t>。</a:t>
                      </a:r>
                      <a:r>
                        <a:rPr lang="zh-TW" altLang="en-US" sz="1800" b="0" dirty="0">
                          <a:effectLst>
                            <a:outerShdw blurRad="38100" dist="38100" dir="2700000" algn="tl">
                              <a:srgbClr val="000000">
                                <a:alpha val="43137"/>
                              </a:srgbClr>
                            </a:outerShdw>
                          </a:effectLst>
                        </a:rPr>
                        <a:t/>
                      </a:r>
                      <a:br>
                        <a:rPr lang="zh-TW" altLang="en-US" sz="1800" b="0" dirty="0">
                          <a:effectLst>
                            <a:outerShdw blurRad="38100" dist="38100" dir="2700000" algn="tl">
                              <a:srgbClr val="000000">
                                <a:alpha val="43137"/>
                              </a:srgbClr>
                            </a:outerShdw>
                          </a:effectLst>
                        </a:rPr>
                      </a:br>
                      <a:r>
                        <a:rPr lang="zh-TW" altLang="en-US" sz="1800" b="1" dirty="0">
                          <a:solidFill>
                            <a:srgbClr val="FF0000"/>
                          </a:solidFill>
                          <a:effectLst>
                            <a:outerShdw blurRad="38100" dist="38100" dir="2700000" algn="tl">
                              <a:srgbClr val="000000">
                                <a:alpha val="43137"/>
                              </a:srgbClr>
                            </a:outerShdw>
                          </a:effectLst>
                        </a:rPr>
                        <a:t>這是 </a:t>
                      </a:r>
                      <a:r>
                        <a:rPr lang="en-US" altLang="zh-TW" sz="1800" b="1" dirty="0">
                          <a:solidFill>
                            <a:srgbClr val="FF0000"/>
                          </a:solidFill>
                          <a:effectLst>
                            <a:outerShdw blurRad="38100" dist="38100" dir="2700000" algn="tl">
                              <a:srgbClr val="000000">
                                <a:alpha val="43137"/>
                              </a:srgbClr>
                            </a:outerShdw>
                          </a:effectLst>
                        </a:rPr>
                        <a:t>2.0 </a:t>
                      </a:r>
                      <a:r>
                        <a:rPr lang="zh-TW" altLang="en-US" sz="1800" b="1" dirty="0">
                          <a:solidFill>
                            <a:srgbClr val="FF0000"/>
                          </a:solidFill>
                          <a:effectLst>
                            <a:outerShdw blurRad="38100" dist="38100" dir="2700000" algn="tl">
                              <a:srgbClr val="000000">
                                <a:alpha val="43137"/>
                              </a:srgbClr>
                            </a:outerShdw>
                          </a:effectLst>
                        </a:rPr>
                        <a:t>新增且最核心的功能，強調整個</a:t>
                      </a:r>
                      <a:r>
                        <a:rPr lang="zh-TW" altLang="en-US" sz="1800" b="1" dirty="0" smtClean="0">
                          <a:solidFill>
                            <a:srgbClr val="FF0000"/>
                          </a:solidFill>
                          <a:effectLst>
                            <a:outerShdw blurRad="38100" dist="38100" dir="2700000" algn="tl">
                              <a:srgbClr val="000000">
                                <a:alpha val="43137"/>
                              </a:srgbClr>
                            </a:outerShdw>
                          </a:effectLst>
                        </a:rPr>
                        <a:t>組織</a:t>
                      </a:r>
                      <a:r>
                        <a:rPr lang="en-US" altLang="zh-TW" sz="1800" b="1" dirty="0" smtClean="0">
                          <a:solidFill>
                            <a:srgbClr val="FF0000"/>
                          </a:solidFill>
                          <a:effectLst>
                            <a:outerShdw blurRad="38100" dist="38100" dir="2700000" algn="tl">
                              <a:srgbClr val="000000">
                                <a:alpha val="43137"/>
                              </a:srgbClr>
                            </a:outerShdw>
                          </a:effectLst>
                        </a:rPr>
                        <a:t>(</a:t>
                      </a:r>
                      <a:r>
                        <a:rPr lang="zh-TW" altLang="en-US" sz="1800" b="1" dirty="0" smtClean="0">
                          <a:solidFill>
                            <a:srgbClr val="FF0000"/>
                          </a:solidFill>
                          <a:effectLst>
                            <a:outerShdw blurRad="38100" dist="38100" dir="2700000" algn="tl">
                              <a:srgbClr val="000000">
                                <a:alpha val="43137"/>
                              </a:srgbClr>
                            </a:outerShdw>
                          </a:effectLst>
                        </a:rPr>
                        <a:t>從</a:t>
                      </a:r>
                      <a:r>
                        <a:rPr lang="zh-TW" altLang="en-US" sz="1800" b="1" dirty="0">
                          <a:solidFill>
                            <a:srgbClr val="FF0000"/>
                          </a:solidFill>
                          <a:effectLst>
                            <a:outerShdw blurRad="38100" dist="38100" dir="2700000" algn="tl">
                              <a:srgbClr val="000000">
                                <a:alpha val="43137"/>
                              </a:srgbClr>
                            </a:outerShdw>
                          </a:effectLst>
                        </a:rPr>
                        <a:t>董事會到執行</a:t>
                      </a:r>
                      <a:r>
                        <a:rPr lang="zh-TW" altLang="en-US" sz="1800" b="1" dirty="0" smtClean="0">
                          <a:solidFill>
                            <a:srgbClr val="FF0000"/>
                          </a:solidFill>
                          <a:effectLst>
                            <a:outerShdw blurRad="38100" dist="38100" dir="2700000" algn="tl">
                              <a:srgbClr val="000000">
                                <a:alpha val="43137"/>
                              </a:srgbClr>
                            </a:outerShdw>
                          </a:effectLst>
                        </a:rPr>
                        <a:t>層</a:t>
                      </a:r>
                      <a:r>
                        <a:rPr lang="en-US" altLang="zh-TW" sz="1800" b="1" dirty="0" smtClean="0">
                          <a:solidFill>
                            <a:srgbClr val="FF0000"/>
                          </a:solidFill>
                          <a:effectLst>
                            <a:outerShdw blurRad="38100" dist="38100" dir="2700000" algn="tl">
                              <a:srgbClr val="000000">
                                <a:alpha val="43137"/>
                              </a:srgbClr>
                            </a:outerShdw>
                          </a:effectLst>
                        </a:rPr>
                        <a:t>)</a:t>
                      </a:r>
                      <a:r>
                        <a:rPr lang="zh-TW" altLang="en-US" sz="1800" b="1" dirty="0" smtClean="0">
                          <a:solidFill>
                            <a:srgbClr val="FF0000"/>
                          </a:solidFill>
                          <a:effectLst>
                            <a:outerShdw blurRad="38100" dist="38100" dir="2700000" algn="tl">
                              <a:srgbClr val="000000">
                                <a:alpha val="43137"/>
                              </a:srgbClr>
                            </a:outerShdw>
                          </a:effectLst>
                        </a:rPr>
                        <a:t>如何</a:t>
                      </a:r>
                      <a:r>
                        <a:rPr lang="zh-TW" altLang="en-US" sz="1800" b="1" dirty="0">
                          <a:solidFill>
                            <a:srgbClr val="FF0000"/>
                          </a:solidFill>
                          <a:effectLst>
                            <a:outerShdw blurRad="38100" dist="38100" dir="2700000" algn="tl">
                              <a:srgbClr val="000000">
                                <a:alpha val="43137"/>
                              </a:srgbClr>
                            </a:outerShdw>
                          </a:effectLst>
                        </a:rPr>
                        <a:t>指導與監控資安決策。</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5264721"/>
                  </a:ext>
                </a:extLst>
              </a:tr>
              <a:tr h="482784">
                <a:tc>
                  <a:txBody>
                    <a:bodyPr/>
                    <a:lstStyle/>
                    <a:p>
                      <a:r>
                        <a:rPr lang="en-US" sz="1800" b="0">
                          <a:effectLst>
                            <a:outerShdw blurRad="38100" dist="38100" dir="2700000" algn="tl">
                              <a:srgbClr val="000000">
                                <a:alpha val="43137"/>
                              </a:srgbClr>
                            </a:outerShdw>
                          </a:effectLst>
                        </a:rPr>
                        <a:t>IDENTIFY (ID)</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識別</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協助組織了解其資產、風險及業務環境</a:t>
                      </a:r>
                      <a:r>
                        <a:rPr lang="zh-TW" altLang="en-US" sz="1800" b="0" dirty="0" smtClean="0">
                          <a:effectLst>
                            <a:outerShdw blurRad="38100" dist="38100" dir="2700000" algn="tl">
                              <a:srgbClr val="000000">
                                <a:alpha val="43137"/>
                              </a:srgbClr>
                            </a:outerShdw>
                          </a:effectLst>
                        </a:rPr>
                        <a:t>。</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61618305"/>
                  </a:ext>
                </a:extLst>
              </a:tr>
              <a:tr h="854284">
                <a:tc>
                  <a:txBody>
                    <a:bodyPr/>
                    <a:lstStyle/>
                    <a:p>
                      <a:r>
                        <a:rPr lang="en-US" sz="1800" b="0">
                          <a:effectLst>
                            <a:outerShdw blurRad="38100" dist="38100" dir="2700000" algn="tl">
                              <a:srgbClr val="000000">
                                <a:alpha val="43137"/>
                              </a:srgbClr>
                            </a:outerShdw>
                          </a:effectLst>
                        </a:rPr>
                        <a:t>PROTECT (PR)</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保護</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實施防護措施以確保關鍵服務的運作，並限制資安事件的影響</a:t>
                      </a:r>
                      <a:r>
                        <a:rPr lang="zh-TW" altLang="en-US" sz="1800" b="0" dirty="0" smtClean="0">
                          <a:effectLst>
                            <a:outerShdw blurRad="38100" dist="38100" dir="2700000" algn="tl">
                              <a:srgbClr val="000000">
                                <a:alpha val="43137"/>
                              </a:srgbClr>
                            </a:outerShdw>
                          </a:effectLst>
                        </a:rPr>
                        <a:t>。</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56262708"/>
                  </a:ext>
                </a:extLst>
              </a:tr>
              <a:tr h="660076">
                <a:tc>
                  <a:txBody>
                    <a:bodyPr/>
                    <a:lstStyle/>
                    <a:p>
                      <a:r>
                        <a:rPr lang="en-US" sz="1800" b="0" dirty="0">
                          <a:effectLst>
                            <a:outerShdw blurRad="38100" dist="38100" dir="2700000" algn="tl">
                              <a:srgbClr val="000000">
                                <a:alpha val="43137"/>
                              </a:srgbClr>
                            </a:outerShdw>
                          </a:effectLst>
                        </a:rPr>
                        <a:t>DETECT (DE)</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偵測</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smtClean="0">
                          <a:effectLst>
                            <a:outerShdw blurRad="38100" dist="38100" dir="2700000" algn="tl">
                              <a:srgbClr val="000000">
                                <a:alpha val="43137"/>
                              </a:srgbClr>
                            </a:outerShdw>
                          </a:effectLst>
                        </a:rPr>
                        <a:t>即時</a:t>
                      </a:r>
                      <a:r>
                        <a:rPr lang="zh-TW" altLang="en-US" sz="1800" b="0" dirty="0">
                          <a:effectLst>
                            <a:outerShdw blurRad="38100" dist="38100" dir="2700000" algn="tl">
                              <a:srgbClr val="000000">
                                <a:alpha val="43137"/>
                              </a:srgbClr>
                            </a:outerShdw>
                          </a:effectLst>
                        </a:rPr>
                        <a:t>發現並確認網路安全事件的發生。</a:t>
                      </a:r>
                    </a:p>
                    <a:p>
                      <a:r>
                        <a:rPr lang="en-US" altLang="zh-TW" sz="1800" b="0" dirty="0" smtClean="0">
                          <a:effectLst>
                            <a:outerShdw blurRad="38100" dist="38100" dir="2700000" algn="tl">
                              <a:srgbClr val="000000">
                                <a:alpha val="43137"/>
                              </a:srgbClr>
                            </a:outerShdw>
                          </a:effectLst>
                        </a:rPr>
                        <a:t>(</a:t>
                      </a:r>
                      <a:r>
                        <a:rPr lang="zh-TW" altLang="en-US" sz="1800" b="0" dirty="0" smtClean="0">
                          <a:effectLst>
                            <a:outerShdw blurRad="38100" dist="38100" dir="2700000" algn="tl">
                              <a:srgbClr val="000000">
                                <a:alpha val="43137"/>
                              </a:srgbClr>
                            </a:outerShdw>
                          </a:effectLst>
                        </a:rPr>
                        <a:t>重點</a:t>
                      </a:r>
                      <a:r>
                        <a:rPr lang="zh-TW" altLang="en-US" sz="1800" b="0" dirty="0">
                          <a:effectLst>
                            <a:outerShdw blurRad="38100" dist="38100" dir="2700000" algn="tl">
                              <a:srgbClr val="000000">
                                <a:alpha val="43137"/>
                              </a:srgbClr>
                            </a:outerShdw>
                          </a:effectLst>
                        </a:rPr>
                        <a:t>在於監控與發現異常的能力</a:t>
                      </a:r>
                      <a:r>
                        <a:rPr lang="zh-TW" altLang="en-US" sz="1800" b="0" dirty="0" smtClean="0">
                          <a:effectLst>
                            <a:outerShdw blurRad="38100" dist="38100" dir="2700000" algn="tl">
                              <a:srgbClr val="000000">
                                <a:alpha val="43137"/>
                              </a:srgbClr>
                            </a:outerShdw>
                          </a:effectLst>
                        </a:rPr>
                        <a:t>。</a:t>
                      </a:r>
                      <a:r>
                        <a:rPr lang="en-US" altLang="zh-TW" sz="1800" b="0" dirty="0" smtClean="0">
                          <a:effectLst>
                            <a:outerShdw blurRad="38100" dist="38100" dir="2700000" algn="tl">
                              <a:srgbClr val="000000">
                                <a:alpha val="43137"/>
                              </a:srgbClr>
                            </a:outerShdw>
                          </a:effectLst>
                        </a:rPr>
                        <a:t>)</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2855397"/>
                  </a:ext>
                </a:extLst>
              </a:tr>
              <a:tr h="492052">
                <a:tc>
                  <a:txBody>
                    <a:bodyPr/>
                    <a:lstStyle/>
                    <a:p>
                      <a:r>
                        <a:rPr lang="en-US" sz="1800" b="0">
                          <a:effectLst>
                            <a:outerShdw blurRad="38100" dist="38100" dir="2700000" algn="tl">
                              <a:srgbClr val="000000">
                                <a:alpha val="43137"/>
                              </a:srgbClr>
                            </a:outerShdw>
                          </a:effectLst>
                        </a:rPr>
                        <a:t>RESPOND (RS)</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回應</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針對偵測到的資安事件採取行動，以控制並減輕衝擊</a:t>
                      </a:r>
                      <a:r>
                        <a:rPr lang="zh-TW" altLang="en-US" sz="1800" b="0" dirty="0" smtClean="0">
                          <a:effectLst>
                            <a:outerShdw blurRad="38100" dist="38100" dir="2700000" algn="tl">
                              <a:srgbClr val="000000">
                                <a:alpha val="43137"/>
                              </a:srgbClr>
                            </a:outerShdw>
                          </a:effectLst>
                        </a:rPr>
                        <a:t>。</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6182046"/>
                  </a:ext>
                </a:extLst>
              </a:tr>
              <a:tr h="660076">
                <a:tc>
                  <a:txBody>
                    <a:bodyPr/>
                    <a:lstStyle/>
                    <a:p>
                      <a:r>
                        <a:rPr lang="en-US" sz="1800" b="0">
                          <a:effectLst>
                            <a:outerShdw blurRad="38100" dist="38100" dir="2700000" algn="tl">
                              <a:srgbClr val="000000">
                                <a:alpha val="43137"/>
                              </a:srgbClr>
                            </a:outerShdw>
                          </a:effectLst>
                        </a:rPr>
                        <a:t>RECOVER (RC)</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a:effectLst>
                            <a:outerShdw blurRad="38100" dist="38100" dir="2700000" algn="tl">
                              <a:srgbClr val="000000">
                                <a:alpha val="43137"/>
                              </a:srgbClr>
                            </a:outerShdw>
                          </a:effectLst>
                        </a:rPr>
                        <a:t>復原</a:t>
                      </a: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0" dirty="0">
                          <a:effectLst>
                            <a:outerShdw blurRad="38100" dist="38100" dir="2700000" algn="tl">
                              <a:srgbClr val="000000">
                                <a:alpha val="43137"/>
                              </a:srgbClr>
                            </a:outerShdw>
                          </a:effectLst>
                        </a:rPr>
                        <a:t>修復受損的資產與服務，並從事件中學習以恢復正常</a:t>
                      </a:r>
                      <a:r>
                        <a:rPr lang="zh-TW" altLang="en-US" sz="1800" b="0" dirty="0" smtClean="0">
                          <a:effectLst>
                            <a:outerShdw blurRad="38100" dist="38100" dir="2700000" algn="tl">
                              <a:srgbClr val="000000">
                                <a:alpha val="43137"/>
                              </a:srgbClr>
                            </a:outerShdw>
                          </a:effectLst>
                        </a:rPr>
                        <a:t>運作</a:t>
                      </a:r>
                      <a:r>
                        <a:rPr lang="en-US" altLang="zh-TW" sz="1800" b="0" dirty="0" smtClean="0">
                          <a:effectLst>
                            <a:outerShdw blurRad="38100" dist="38100" dir="2700000" algn="tl">
                              <a:srgbClr val="000000">
                                <a:alpha val="43137"/>
                              </a:srgbClr>
                            </a:outerShdw>
                          </a:effectLst>
                        </a:rPr>
                        <a:t>(</a:t>
                      </a:r>
                      <a:r>
                        <a:rPr lang="zh-TW" altLang="en-US" sz="1800" b="0" dirty="0" smtClean="0">
                          <a:effectLst>
                            <a:outerShdw blurRad="38100" dist="38100" dir="2700000" algn="tl">
                              <a:srgbClr val="000000">
                                <a:alpha val="43137"/>
                              </a:srgbClr>
                            </a:outerShdw>
                          </a:effectLst>
                        </a:rPr>
                        <a:t>重點</a:t>
                      </a:r>
                      <a:r>
                        <a:rPr lang="zh-TW" altLang="en-US" sz="1800" b="0" dirty="0">
                          <a:effectLst>
                            <a:outerShdw blurRad="38100" dist="38100" dir="2700000" algn="tl">
                              <a:srgbClr val="000000">
                                <a:alpha val="43137"/>
                              </a:srgbClr>
                            </a:outerShdw>
                          </a:effectLst>
                        </a:rPr>
                        <a:t>在於韌性 </a:t>
                      </a:r>
                      <a:r>
                        <a:rPr lang="en-US" altLang="zh-TW" sz="1800" b="0" dirty="0">
                          <a:effectLst>
                            <a:outerShdw blurRad="38100" dist="38100" dir="2700000" algn="tl">
                              <a:srgbClr val="000000">
                                <a:alpha val="43137"/>
                              </a:srgbClr>
                            </a:outerShdw>
                          </a:effectLst>
                        </a:rPr>
                        <a:t>(Resilience) </a:t>
                      </a:r>
                      <a:r>
                        <a:rPr lang="zh-TW" altLang="en-US" sz="1800" b="0" dirty="0">
                          <a:effectLst>
                            <a:outerShdw blurRad="38100" dist="38100" dir="2700000" algn="tl">
                              <a:srgbClr val="000000">
                                <a:alpha val="43137"/>
                              </a:srgbClr>
                            </a:outerShdw>
                          </a:effectLst>
                        </a:rPr>
                        <a:t>與恢復</a:t>
                      </a:r>
                      <a:r>
                        <a:rPr lang="zh-TW" altLang="en-US" sz="1800" b="0" dirty="0" smtClean="0">
                          <a:effectLst>
                            <a:outerShdw blurRad="38100" dist="38100" dir="2700000" algn="tl">
                              <a:srgbClr val="000000">
                                <a:alpha val="43137"/>
                              </a:srgbClr>
                            </a:outerShdw>
                          </a:effectLst>
                        </a:rPr>
                        <a:t>力</a:t>
                      </a:r>
                      <a:r>
                        <a:rPr lang="en-US" altLang="zh-TW" sz="1800" b="0" dirty="0" smtClean="0">
                          <a:effectLst>
                            <a:outerShdw blurRad="38100" dist="38100" dir="2700000" algn="tl">
                              <a:srgbClr val="000000">
                                <a:alpha val="43137"/>
                              </a:srgbClr>
                            </a:outerShdw>
                          </a:effectLst>
                        </a:rPr>
                        <a:t>)</a:t>
                      </a:r>
                      <a:r>
                        <a:rPr lang="zh-TW" altLang="en-US" sz="1800" b="0" dirty="0" smtClean="0">
                          <a:effectLst>
                            <a:outerShdw blurRad="38100" dist="38100" dir="2700000" algn="tl">
                              <a:srgbClr val="000000">
                                <a:alpha val="43137"/>
                              </a:srgbClr>
                            </a:outerShdw>
                          </a:effectLst>
                        </a:rPr>
                        <a:t>。</a:t>
                      </a:r>
                      <a:endParaRPr lang="zh-TW" altLang="en-US" sz="1800" b="0" dirty="0">
                        <a:effectLst>
                          <a:outerShdw blurRad="38100" dist="38100" dir="2700000" algn="tl">
                            <a:srgbClr val="000000">
                              <a:alpha val="43137"/>
                            </a:srgbClr>
                          </a:outerShdw>
                        </a:effectLst>
                      </a:endParaRPr>
                    </a:p>
                  </a:txBody>
                  <a:tcPr marL="21293" marR="21293" marT="10646" marB="10646"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71357172"/>
                  </a:ext>
                </a:extLst>
              </a:tr>
            </a:tbl>
          </a:graphicData>
        </a:graphic>
      </p:graphicFrame>
      <p:sp>
        <p:nvSpPr>
          <p:cNvPr id="2" name="矩形 1"/>
          <p:cNvSpPr/>
          <p:nvPr/>
        </p:nvSpPr>
        <p:spPr>
          <a:xfrm>
            <a:off x="179512" y="1277815"/>
            <a:ext cx="7282763" cy="523220"/>
          </a:xfrm>
          <a:prstGeom prst="rect">
            <a:avLst/>
          </a:prstGeom>
        </p:spPr>
        <p:txBody>
          <a:bodyPr wrap="none">
            <a:spAutoFit/>
          </a:bodyPr>
          <a:lstStyle/>
          <a:p>
            <a:r>
              <a:rPr lang="en-US" altLang="zh-TW" sz="2800" dirty="0"/>
              <a:t>NIST </a:t>
            </a:r>
            <a:r>
              <a:rPr lang="en-US" altLang="zh-TW" sz="2800" dirty="0" smtClean="0"/>
              <a:t>CSF 2.0 </a:t>
            </a:r>
            <a:r>
              <a:rPr lang="zh-TW" altLang="en-US" sz="2800" dirty="0" smtClean="0"/>
              <a:t>六大</a:t>
            </a:r>
            <a:r>
              <a:rPr lang="zh-TW" altLang="en-US" sz="2800" b="1" dirty="0" smtClean="0">
                <a:solidFill>
                  <a:srgbClr val="FF0000"/>
                </a:solidFill>
                <a:effectLst>
                  <a:outerShdw blurRad="38100" dist="38100" dir="2700000" algn="tl">
                    <a:srgbClr val="000000">
                      <a:alpha val="43137"/>
                    </a:srgbClr>
                  </a:outerShdw>
                </a:effectLst>
              </a:rPr>
              <a:t>功能</a:t>
            </a:r>
            <a:r>
              <a:rPr lang="en-US" altLang="zh-TW" sz="2800" b="1" dirty="0" smtClean="0">
                <a:solidFill>
                  <a:srgbClr val="FF0000"/>
                </a:solidFill>
                <a:effectLst>
                  <a:outerShdw blurRad="38100" dist="38100" dir="2700000" algn="tl">
                    <a:srgbClr val="000000">
                      <a:alpha val="43137"/>
                    </a:srgbClr>
                  </a:outerShdw>
                </a:effectLst>
              </a:rPr>
              <a:t>(Functions)</a:t>
            </a:r>
            <a:r>
              <a:rPr lang="zh-TW" altLang="en-US" sz="2800" dirty="0" smtClean="0"/>
              <a:t>及其內涵</a:t>
            </a:r>
            <a:r>
              <a:rPr lang="en-US" altLang="zh-TW" sz="2800" dirty="0" smtClean="0"/>
              <a:t>:</a:t>
            </a:r>
            <a:endParaRPr lang="zh-TW" altLang="en-US" sz="2800" dirty="0"/>
          </a:p>
        </p:txBody>
      </p:sp>
    </p:spTree>
    <p:extLst>
      <p:ext uri="{BB962C8B-B14F-4D97-AF65-F5344CB8AC3E}">
        <p14:creationId xmlns:p14="http://schemas.microsoft.com/office/powerpoint/2010/main" val="285435881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179512" y="1632206"/>
          <a:ext cx="8771201" cy="5043864"/>
        </p:xfrm>
        <a:graphic>
          <a:graphicData uri="http://schemas.openxmlformats.org/drawingml/2006/table">
            <a:tbl>
              <a:tblPr/>
              <a:tblGrid>
                <a:gridCol w="1006532">
                  <a:extLst>
                    <a:ext uri="{9D8B030D-6E8A-4147-A177-3AD203B41FA5}">
                      <a16:colId xmlns:a16="http://schemas.microsoft.com/office/drawing/2014/main" val="4240026466"/>
                    </a:ext>
                  </a:extLst>
                </a:gridCol>
                <a:gridCol w="3012142">
                  <a:extLst>
                    <a:ext uri="{9D8B030D-6E8A-4147-A177-3AD203B41FA5}">
                      <a16:colId xmlns:a16="http://schemas.microsoft.com/office/drawing/2014/main" val="2324429327"/>
                    </a:ext>
                  </a:extLst>
                </a:gridCol>
                <a:gridCol w="4752527">
                  <a:extLst>
                    <a:ext uri="{9D8B030D-6E8A-4147-A177-3AD203B41FA5}">
                      <a16:colId xmlns:a16="http://schemas.microsoft.com/office/drawing/2014/main" val="3094903659"/>
                    </a:ext>
                  </a:extLst>
                </a:gridCol>
              </a:tblGrid>
              <a:tr h="273356">
                <a:tc>
                  <a:txBody>
                    <a:bodyPr/>
                    <a:lstStyle/>
                    <a:p>
                      <a:r>
                        <a:rPr lang="zh-TW" altLang="en-US" sz="1800"/>
                        <a:t>編碼 </a:t>
                      </a:r>
                      <a:r>
                        <a:rPr lang="en-US" altLang="zh-TW" sz="1800"/>
                        <a:t>(</a:t>
                      </a:r>
                      <a:r>
                        <a:rPr lang="en-US" sz="1800"/>
                        <a:t>ID)</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類別</a:t>
                      </a:r>
                      <a:r>
                        <a:rPr lang="zh-TW" altLang="en-US" sz="1800" dirty="0" smtClean="0"/>
                        <a:t>名稱</a:t>
                      </a:r>
                      <a:endParaRPr 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定義與核心重點</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5517728"/>
                  </a:ext>
                </a:extLst>
              </a:tr>
              <a:tr h="683389">
                <a:tc>
                  <a:txBody>
                    <a:bodyPr/>
                    <a:lstStyle/>
                    <a:p>
                      <a:r>
                        <a:rPr lang="en-US" sz="1800" b="1" dirty="0"/>
                        <a:t>GV.OC</a:t>
                      </a:r>
                      <a:endParaRPr 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組織</a:t>
                      </a:r>
                      <a:r>
                        <a:rPr lang="zh-TW" altLang="en-US" sz="1800" b="1" dirty="0" smtClean="0"/>
                        <a:t>情境</a:t>
                      </a:r>
                      <a:r>
                        <a:rPr lang="zh-TW" altLang="en-US" sz="1800" dirty="0"/>
                        <a:t/>
                      </a:r>
                      <a:br>
                        <a:rPr lang="zh-TW" altLang="en-US" sz="1800" dirty="0"/>
                      </a:br>
                      <a:r>
                        <a:rPr lang="en-US" altLang="zh-TW" sz="1800" dirty="0"/>
                        <a:t>(</a:t>
                      </a:r>
                      <a:r>
                        <a:rPr lang="en-US" sz="1800" dirty="0"/>
                        <a:t>Organizational Context)</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了解組織的使命、利害關係人以及法律</a:t>
                      </a:r>
                      <a:r>
                        <a:rPr lang="en-US" altLang="zh-TW" sz="1800" b="1" dirty="0"/>
                        <a:t>/</a:t>
                      </a:r>
                      <a:r>
                        <a:rPr lang="zh-TW" altLang="en-US" sz="1800" b="1" dirty="0"/>
                        <a:t>法規要求</a:t>
                      </a:r>
                      <a:r>
                        <a:rPr lang="zh-TW" altLang="en-US" sz="1800" b="1"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4525429"/>
                  </a:ext>
                </a:extLst>
              </a:tr>
              <a:tr h="765396">
                <a:tc>
                  <a:txBody>
                    <a:bodyPr/>
                    <a:lstStyle/>
                    <a:p>
                      <a:r>
                        <a:rPr lang="en-US" sz="1800" b="1"/>
                        <a:t>GV.RM</a:t>
                      </a:r>
                      <a:endParaRPr lang="en-US" sz="180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風險管理</a:t>
                      </a:r>
                      <a:r>
                        <a:rPr lang="zh-TW" altLang="en-US" sz="1800" b="1" dirty="0" smtClean="0"/>
                        <a:t>策略</a:t>
                      </a:r>
                      <a:r>
                        <a:rPr lang="zh-TW" altLang="en-US" sz="1800" dirty="0"/>
                        <a:t/>
                      </a:r>
                      <a:br>
                        <a:rPr lang="zh-TW" altLang="en-US" sz="1800" dirty="0"/>
                      </a:br>
                      <a:r>
                        <a:rPr lang="en-US" altLang="zh-TW" sz="1800" dirty="0"/>
                        <a:t>(</a:t>
                      </a:r>
                      <a:r>
                        <a:rPr lang="en-US" sz="1800" dirty="0"/>
                        <a:t>Risk Management Strategy)</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確立組織的優先順序、風險限制、容忍度與假設</a:t>
                      </a:r>
                      <a:r>
                        <a:rPr lang="zh-TW" altLang="en-US" sz="1800" b="1"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53603394"/>
                  </a:ext>
                </a:extLst>
              </a:tr>
              <a:tr h="847402">
                <a:tc>
                  <a:txBody>
                    <a:bodyPr/>
                    <a:lstStyle/>
                    <a:p>
                      <a:r>
                        <a:rPr lang="en-US" sz="1800" b="1"/>
                        <a:t>GV.RR</a:t>
                      </a:r>
                      <a:endParaRPr lang="en-US" sz="180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角色、職責與</a:t>
                      </a:r>
                      <a:r>
                        <a:rPr lang="zh-TW" altLang="en-US" sz="1800" b="1" dirty="0" smtClean="0"/>
                        <a:t>授權</a:t>
                      </a:r>
                      <a:r>
                        <a:rPr lang="zh-TW" altLang="en-US" sz="1800" dirty="0"/>
                        <a:t/>
                      </a:r>
                      <a:br>
                        <a:rPr lang="zh-TW" altLang="en-US" sz="1800" dirty="0"/>
                      </a:br>
                      <a:r>
                        <a:rPr lang="en-US" altLang="zh-TW" sz="1800" dirty="0"/>
                        <a:t>(</a:t>
                      </a:r>
                      <a:r>
                        <a:rPr lang="en-US" sz="1800" dirty="0"/>
                        <a:t>Roles, Responsibilities, and Authorities)</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確保領導層與工作人員了解其資安責任，並培養相關人才</a:t>
                      </a:r>
                      <a:r>
                        <a:rPr lang="zh-TW" altLang="en-US" sz="1800" b="1"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87695818"/>
                  </a:ext>
                </a:extLst>
              </a:tr>
              <a:tr h="765396">
                <a:tc>
                  <a:txBody>
                    <a:bodyPr/>
                    <a:lstStyle/>
                    <a:p>
                      <a:r>
                        <a:rPr lang="en-US" sz="1800" b="1"/>
                        <a:t>GV.PO</a:t>
                      </a:r>
                      <a:endParaRPr lang="en-US" sz="180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smtClean="0"/>
                        <a:t>政策</a:t>
                      </a:r>
                      <a:r>
                        <a:rPr lang="en-US" altLang="zh-TW" sz="1800" dirty="0" smtClean="0"/>
                        <a:t>(</a:t>
                      </a:r>
                      <a:r>
                        <a:rPr lang="en-US" sz="1800" dirty="0"/>
                        <a:t>Policy)</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建立、溝通並執行組織的網路安全政策</a:t>
                      </a:r>
                      <a:r>
                        <a:rPr lang="zh-TW" altLang="en-US" sz="1800" b="1" dirty="0" smtClean="0"/>
                        <a:t>。</a:t>
                      </a:r>
                      <a:r>
                        <a:rPr lang="zh-TW" altLang="en-US" sz="1800" dirty="0"/>
                        <a:t/>
                      </a:r>
                      <a:br>
                        <a:rPr lang="zh-TW" altLang="en-US" sz="1800" dirty="0"/>
                      </a:br>
                      <a:r>
                        <a:rPr lang="en-US" altLang="zh-TW" sz="1800" dirty="0" smtClean="0"/>
                        <a:t>(</a:t>
                      </a:r>
                      <a:r>
                        <a:rPr lang="zh-TW" altLang="en-US" sz="1800" dirty="0" smtClean="0"/>
                        <a:t>將</a:t>
                      </a:r>
                      <a:r>
                        <a:rPr lang="zh-TW" altLang="en-US" sz="1800" dirty="0"/>
                        <a:t>策略轉化為具體的書面規則，讓所有人遵循</a:t>
                      </a:r>
                      <a:r>
                        <a:rPr lang="zh-TW" altLang="en-US" sz="1800" dirty="0" smtClean="0"/>
                        <a:t>。</a:t>
                      </a:r>
                      <a:r>
                        <a:rPr lang="en-US" altLang="zh-TW" sz="1800"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94784627"/>
                  </a:ext>
                </a:extLst>
              </a:tr>
              <a:tr h="581415">
                <a:tc>
                  <a:txBody>
                    <a:bodyPr/>
                    <a:lstStyle/>
                    <a:p>
                      <a:r>
                        <a:rPr lang="en-US" sz="1800" b="1"/>
                        <a:t>GV.OV</a:t>
                      </a:r>
                      <a:endParaRPr lang="en-US" sz="180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smtClean="0"/>
                        <a:t>監督</a:t>
                      </a:r>
                      <a:r>
                        <a:rPr lang="en-US" altLang="zh-TW" sz="1800" dirty="0" smtClean="0"/>
                        <a:t>(</a:t>
                      </a:r>
                      <a:r>
                        <a:rPr lang="en-US" sz="1800" dirty="0"/>
                        <a:t>Oversight)</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監控風險管理活動的結果，並用以調整策略</a:t>
                      </a:r>
                      <a:r>
                        <a:rPr lang="zh-TW" altLang="en-US" sz="1800" b="1"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495103097"/>
                  </a:ext>
                </a:extLst>
              </a:tr>
              <a:tr h="1011416">
                <a:tc>
                  <a:txBody>
                    <a:bodyPr/>
                    <a:lstStyle/>
                    <a:p>
                      <a:r>
                        <a:rPr lang="en-US" sz="1800" b="1"/>
                        <a:t>GV.SC</a:t>
                      </a:r>
                      <a:endParaRPr lang="en-US" sz="180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網路安全供應鏈風險</a:t>
                      </a:r>
                      <a:r>
                        <a:rPr lang="zh-TW" altLang="en-US" sz="1800" b="1" dirty="0" smtClean="0"/>
                        <a:t>管理</a:t>
                      </a:r>
                      <a:r>
                        <a:rPr lang="en-US" altLang="zh-TW" sz="1800" dirty="0" smtClean="0"/>
                        <a:t>(</a:t>
                      </a:r>
                      <a:r>
                        <a:rPr lang="en-US" sz="1800" dirty="0"/>
                        <a:t>Cybersecurity Supply Chain Risk Management)</a:t>
                      </a:r>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b="1" dirty="0"/>
                        <a:t>管理與供應商、合作夥伴相關的資安風險</a:t>
                      </a:r>
                      <a:r>
                        <a:rPr lang="zh-TW" altLang="en-US" sz="1800" b="1" dirty="0" smtClean="0"/>
                        <a:t>。</a:t>
                      </a:r>
                      <a:endParaRPr lang="zh-TW" altLang="en-US" sz="1800" dirty="0"/>
                    </a:p>
                  </a:txBody>
                  <a:tcPr marL="27336" marR="27336" marT="13668" marB="1366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33950611"/>
                  </a:ext>
                </a:extLst>
              </a:tr>
            </a:tbl>
          </a:graphicData>
        </a:graphic>
      </p:graphicFrame>
      <p:sp>
        <p:nvSpPr>
          <p:cNvPr id="3" name="標題 2"/>
          <p:cNvSpPr>
            <a:spLocks noGrp="1"/>
          </p:cNvSpPr>
          <p:nvPr>
            <p:ph type="title"/>
          </p:nvPr>
        </p:nvSpPr>
        <p:spPr>
          <a:xfrm>
            <a:off x="179512" y="53748"/>
            <a:ext cx="7785825" cy="777600"/>
          </a:xfrm>
        </p:spPr>
        <p:txBody>
          <a:bodyPr/>
          <a:lstStyle/>
          <a:p>
            <a:r>
              <a:rPr lang="en-US" altLang="zh-TW" dirty="0"/>
              <a:t>NIST CSF(</a:t>
            </a:r>
            <a:r>
              <a:rPr lang="zh-TW" altLang="en-US" dirty="0"/>
              <a:t>網路安全框架</a:t>
            </a:r>
            <a:r>
              <a:rPr lang="en-US" altLang="zh-TW" dirty="0"/>
              <a:t>) </a:t>
            </a:r>
            <a:r>
              <a:rPr lang="en-US" altLang="zh-TW" dirty="0" smtClean="0"/>
              <a:t>(4/6</a:t>
            </a:r>
            <a:r>
              <a:rPr lang="en-US" altLang="zh-TW" dirty="0"/>
              <a:t>)</a:t>
            </a:r>
            <a:endParaRPr lang="zh-TW" altLang="en-US" dirty="0"/>
          </a:p>
        </p:txBody>
      </p:sp>
      <p:sp>
        <p:nvSpPr>
          <p:cNvPr id="2" name="矩形 1"/>
          <p:cNvSpPr/>
          <p:nvPr/>
        </p:nvSpPr>
        <p:spPr>
          <a:xfrm>
            <a:off x="15171" y="1025715"/>
            <a:ext cx="8425255" cy="523220"/>
          </a:xfrm>
          <a:prstGeom prst="rect">
            <a:avLst/>
          </a:prstGeom>
        </p:spPr>
        <p:txBody>
          <a:bodyPr wrap="none">
            <a:spAutoFit/>
          </a:bodyPr>
          <a:lstStyle/>
          <a:p>
            <a:r>
              <a:rPr lang="zh-TW" altLang="en-US" sz="2800" dirty="0" smtClean="0"/>
              <a:t>範例說明</a:t>
            </a:r>
            <a:r>
              <a:rPr lang="en-US" altLang="zh-TW" sz="2800" dirty="0" smtClean="0"/>
              <a:t>:</a:t>
            </a:r>
            <a:r>
              <a:rPr lang="zh-TW" altLang="en-US" sz="2800" dirty="0" smtClean="0"/>
              <a:t> </a:t>
            </a:r>
            <a:r>
              <a:rPr lang="en-US" altLang="zh-TW" sz="2800" dirty="0" smtClean="0"/>
              <a:t>GOVERN </a:t>
            </a:r>
            <a:r>
              <a:rPr lang="en-US" altLang="zh-TW" sz="2800" dirty="0"/>
              <a:t>(GV</a:t>
            </a:r>
            <a:r>
              <a:rPr lang="en-US" altLang="zh-TW" sz="2800" dirty="0" smtClean="0"/>
              <a:t>)</a:t>
            </a:r>
            <a:r>
              <a:rPr lang="zh-TW" altLang="en-US" sz="2800" dirty="0" smtClean="0"/>
              <a:t>功能的六大</a:t>
            </a:r>
            <a:r>
              <a:rPr lang="zh-TW" altLang="en-US" sz="2800" b="1" dirty="0" smtClean="0">
                <a:solidFill>
                  <a:srgbClr val="FF0000"/>
                </a:solidFill>
                <a:effectLst>
                  <a:outerShdw blurRad="38100" dist="38100" dir="2700000" algn="tl">
                    <a:srgbClr val="000000">
                      <a:alpha val="43137"/>
                    </a:srgbClr>
                  </a:outerShdw>
                </a:effectLst>
              </a:rPr>
              <a:t>類別</a:t>
            </a:r>
            <a:r>
              <a:rPr lang="en-US" altLang="zh-TW" sz="2800" b="1" dirty="0" smtClean="0">
                <a:solidFill>
                  <a:srgbClr val="FF0000"/>
                </a:solidFill>
                <a:effectLst>
                  <a:outerShdw blurRad="38100" dist="38100" dir="2700000" algn="tl">
                    <a:srgbClr val="000000">
                      <a:alpha val="43137"/>
                    </a:srgbClr>
                  </a:outerShdw>
                </a:effectLst>
              </a:rPr>
              <a:t>(</a:t>
            </a:r>
            <a:r>
              <a:rPr lang="en-US" altLang="zh-TW" sz="2800" b="1" dirty="0">
                <a:solidFill>
                  <a:srgbClr val="FF0000"/>
                </a:solidFill>
                <a:effectLst>
                  <a:outerShdw blurRad="38100" dist="38100" dir="2700000" algn="tl">
                    <a:srgbClr val="000000">
                      <a:alpha val="43137"/>
                    </a:srgbClr>
                  </a:outerShdw>
                </a:effectLst>
              </a:rPr>
              <a:t>Category</a:t>
            </a:r>
            <a:r>
              <a:rPr lang="en-US" altLang="zh-TW" sz="2800" dirty="0"/>
              <a:t>)</a:t>
            </a:r>
          </a:p>
        </p:txBody>
      </p:sp>
    </p:spTree>
    <p:extLst>
      <p:ext uri="{BB962C8B-B14F-4D97-AF65-F5344CB8AC3E}">
        <p14:creationId xmlns:p14="http://schemas.microsoft.com/office/powerpoint/2010/main" val="28030514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91025" y="-28363"/>
            <a:ext cx="7886700" cy="1050837"/>
          </a:xfrm>
        </p:spPr>
        <p:txBody>
          <a:bodyPr/>
          <a:lstStyle/>
          <a:p>
            <a:r>
              <a:rPr lang="en-US" altLang="zh-TW" dirty="0"/>
              <a:t>NIST CSF(</a:t>
            </a:r>
            <a:r>
              <a:rPr lang="zh-TW" altLang="en-US" dirty="0"/>
              <a:t>網路安全框架</a:t>
            </a:r>
            <a:r>
              <a:rPr lang="en-US" altLang="zh-TW" dirty="0" smtClean="0"/>
              <a:t>) (5/6</a:t>
            </a:r>
            <a:r>
              <a:rPr lang="en-US" altLang="zh-TW" dirty="0"/>
              <a:t>)</a:t>
            </a:r>
            <a:endParaRPr lang="zh-TW" altLang="en-US" dirty="0"/>
          </a:p>
        </p:txBody>
      </p:sp>
      <p:sp>
        <p:nvSpPr>
          <p:cNvPr id="5" name="矩形 4"/>
          <p:cNvSpPr/>
          <p:nvPr/>
        </p:nvSpPr>
        <p:spPr>
          <a:xfrm>
            <a:off x="107504" y="1196752"/>
            <a:ext cx="6016199" cy="523220"/>
          </a:xfrm>
          <a:prstGeom prst="rect">
            <a:avLst/>
          </a:prstGeom>
        </p:spPr>
        <p:txBody>
          <a:bodyPr wrap="none">
            <a:spAutoFit/>
          </a:bodyPr>
          <a:lstStyle/>
          <a:p>
            <a:r>
              <a:rPr lang="zh-TW" altLang="en-US" sz="2800" dirty="0" smtClean="0"/>
              <a:t>範例說明</a:t>
            </a:r>
            <a:r>
              <a:rPr lang="en-US" altLang="zh-TW" sz="2800" dirty="0" smtClean="0"/>
              <a:t>:</a:t>
            </a:r>
            <a:r>
              <a:rPr lang="en-US" altLang="zh-TW" sz="2800" b="1" dirty="0" smtClean="0"/>
              <a:t>GV.OC</a:t>
            </a:r>
            <a:r>
              <a:rPr lang="zh-TW" altLang="en-US" sz="2800" dirty="0" smtClean="0"/>
              <a:t>類別</a:t>
            </a:r>
            <a:r>
              <a:rPr lang="zh-TW" altLang="en-US" sz="2800" dirty="0" smtClean="0"/>
              <a:t>的</a:t>
            </a:r>
            <a:r>
              <a:rPr lang="zh-TW" altLang="en-US" sz="2800" b="1" dirty="0" smtClean="0">
                <a:solidFill>
                  <a:srgbClr val="FF0000"/>
                </a:solidFill>
                <a:effectLst>
                  <a:outerShdw blurRad="38100" dist="38100" dir="2700000" algn="tl">
                    <a:srgbClr val="000000">
                      <a:alpha val="43137"/>
                    </a:srgbClr>
                  </a:outerShdw>
                </a:effectLst>
              </a:rPr>
              <a:t>子類別</a:t>
            </a:r>
            <a:r>
              <a:rPr lang="en-US" altLang="zh-TW" sz="2800" dirty="0" smtClean="0"/>
              <a:t>(</a:t>
            </a:r>
            <a:r>
              <a:rPr lang="zh-TW" altLang="en-US" sz="2800" dirty="0" smtClean="0"/>
              <a:t>有</a:t>
            </a:r>
            <a:r>
              <a:rPr lang="en-US" altLang="zh-TW" sz="2800" dirty="0" smtClean="0"/>
              <a:t>3</a:t>
            </a:r>
            <a:r>
              <a:rPr lang="zh-TW" altLang="en-US" sz="2800" dirty="0" smtClean="0"/>
              <a:t>個</a:t>
            </a:r>
            <a:r>
              <a:rPr lang="en-US" altLang="zh-TW" sz="2800" dirty="0" smtClean="0"/>
              <a:t>):</a:t>
            </a:r>
            <a:endParaRPr lang="en-US" altLang="zh-TW" sz="2800" dirty="0"/>
          </a:p>
        </p:txBody>
      </p:sp>
      <p:graphicFrame>
        <p:nvGraphicFramePr>
          <p:cNvPr id="7" name="表格 6"/>
          <p:cNvGraphicFramePr>
            <a:graphicFrameLocks noGrp="1"/>
          </p:cNvGraphicFramePr>
          <p:nvPr>
            <p:extLst/>
          </p:nvPr>
        </p:nvGraphicFramePr>
        <p:xfrm>
          <a:off x="353234" y="2276872"/>
          <a:ext cx="8464622" cy="2834640"/>
        </p:xfrm>
        <a:graphic>
          <a:graphicData uri="http://schemas.openxmlformats.org/drawingml/2006/table">
            <a:tbl>
              <a:tblPr firstRow="1" bandRow="1">
                <a:tableStyleId>{5C22544A-7EE6-4342-B048-85BDC9FD1C3A}</a:tableStyleId>
              </a:tblPr>
              <a:tblGrid>
                <a:gridCol w="2032598">
                  <a:extLst>
                    <a:ext uri="{9D8B030D-6E8A-4147-A177-3AD203B41FA5}">
                      <a16:colId xmlns:a16="http://schemas.microsoft.com/office/drawing/2014/main" val="3143016746"/>
                    </a:ext>
                  </a:extLst>
                </a:gridCol>
                <a:gridCol w="6432024">
                  <a:extLst>
                    <a:ext uri="{9D8B030D-6E8A-4147-A177-3AD203B41FA5}">
                      <a16:colId xmlns:a16="http://schemas.microsoft.com/office/drawing/2014/main" val="1387469415"/>
                    </a:ext>
                  </a:extLst>
                </a:gridCol>
              </a:tblGrid>
              <a:tr h="370840">
                <a:tc>
                  <a:txBody>
                    <a:bodyPr/>
                    <a:lstStyle/>
                    <a:p>
                      <a:r>
                        <a:rPr lang="en-US" altLang="zh-TW" sz="2400" b="1" dirty="0" smtClean="0">
                          <a:solidFill>
                            <a:schemeClr val="tx1"/>
                          </a:solidFill>
                          <a:effectLst>
                            <a:outerShdw blurRad="38100" dist="38100" dir="2700000" algn="tl">
                              <a:srgbClr val="000000">
                                <a:alpha val="43137"/>
                              </a:srgbClr>
                            </a:outerShdw>
                          </a:effectLst>
                        </a:rPr>
                        <a:t>GV.OC-01</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2400" b="1" dirty="0" smtClean="0">
                          <a:solidFill>
                            <a:schemeClr val="tx1"/>
                          </a:solidFill>
                          <a:effectLst>
                            <a:outerShdw blurRad="38100" dist="38100" dir="2700000" algn="tl">
                              <a:srgbClr val="000000">
                                <a:alpha val="43137"/>
                              </a:srgbClr>
                            </a:outerShdw>
                          </a:effectLst>
                        </a:rPr>
                        <a:t>理 解 組 織 任 務 並 告 知 其 網 路 安 全 風 險 管 理 </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9838887"/>
                  </a:ext>
                </a:extLst>
              </a:tr>
              <a:tr h="370840">
                <a:tc>
                  <a:txBody>
                    <a:bodyPr/>
                    <a:lstStyle/>
                    <a:p>
                      <a:r>
                        <a:rPr lang="en-US" altLang="zh-TW" sz="2400" b="1" dirty="0" smtClean="0">
                          <a:solidFill>
                            <a:schemeClr val="tx1"/>
                          </a:solidFill>
                          <a:effectLst>
                            <a:outerShdw blurRad="38100" dist="38100" dir="2700000" algn="tl">
                              <a:srgbClr val="000000">
                                <a:alpha val="43137"/>
                              </a:srgbClr>
                            </a:outerShdw>
                          </a:effectLst>
                        </a:rPr>
                        <a:t>GV.OC-02</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2400" b="1" dirty="0" smtClean="0">
                          <a:solidFill>
                            <a:schemeClr val="tx1"/>
                          </a:solidFill>
                          <a:effectLst>
                            <a:outerShdw blurRad="38100" dist="38100" dir="2700000" algn="tl">
                              <a:srgbClr val="000000">
                                <a:alpha val="43137"/>
                              </a:srgbClr>
                            </a:outerShdw>
                          </a:effectLst>
                        </a:rPr>
                        <a:t>理 解 內 部 與 外 部 之 利 害 關 係 者 </a:t>
                      </a:r>
                      <a:r>
                        <a:rPr lang="en-US" altLang="zh-TW" sz="2400" b="1" dirty="0" smtClean="0">
                          <a:solidFill>
                            <a:schemeClr val="tx1"/>
                          </a:solidFill>
                          <a:effectLst>
                            <a:outerShdw blurRad="38100" dist="38100" dir="2700000" algn="tl">
                              <a:srgbClr val="000000">
                                <a:alpha val="43137"/>
                              </a:srgbClr>
                            </a:outerShdw>
                          </a:effectLst>
                        </a:rPr>
                        <a:t>, </a:t>
                      </a:r>
                      <a:r>
                        <a:rPr lang="zh-TW" altLang="en-US" sz="2400" b="1" dirty="0" smtClean="0">
                          <a:solidFill>
                            <a:schemeClr val="tx1"/>
                          </a:solidFill>
                          <a:effectLst>
                            <a:outerShdw blurRad="38100" dist="38100" dir="2700000" algn="tl">
                              <a:srgbClr val="000000">
                                <a:alpha val="43137"/>
                              </a:srgbClr>
                            </a:outerShdw>
                          </a:effectLst>
                        </a:rPr>
                        <a:t>並 考 量 其 對網 路 安 全 風 險 管 理 的 需 求 與 期 望 </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24745869"/>
                  </a:ext>
                </a:extLst>
              </a:tr>
              <a:tr h="370840">
                <a:tc>
                  <a:txBody>
                    <a:bodyPr/>
                    <a:lstStyle/>
                    <a:p>
                      <a:r>
                        <a:rPr lang="en-US" altLang="zh-TW" sz="2400" b="1" dirty="0" smtClean="0">
                          <a:solidFill>
                            <a:schemeClr val="tx1"/>
                          </a:solidFill>
                          <a:effectLst>
                            <a:outerShdw blurRad="38100" dist="38100" dir="2700000" algn="tl">
                              <a:srgbClr val="000000">
                                <a:alpha val="43137"/>
                              </a:srgbClr>
                            </a:outerShdw>
                          </a:effectLst>
                        </a:rPr>
                        <a:t>GV.OC-03</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zh-TW" altLang="en-US" sz="2400" b="1" dirty="0" smtClean="0">
                          <a:solidFill>
                            <a:schemeClr val="tx1"/>
                          </a:solidFill>
                          <a:effectLst>
                            <a:outerShdw blurRad="38100" dist="38100" dir="2700000" algn="tl">
                              <a:srgbClr val="000000">
                                <a:alpha val="43137"/>
                              </a:srgbClr>
                            </a:outerShdw>
                          </a:effectLst>
                        </a:rPr>
                        <a:t>理 解 並 管 理 有 關 網 路 安 全 的 法 律 、 監 管 及 契約 要 求 事 項 </a:t>
                      </a:r>
                      <a:r>
                        <a:rPr lang="en-US" altLang="zh-TW" sz="2400" b="1" dirty="0" smtClean="0">
                          <a:solidFill>
                            <a:schemeClr val="tx1"/>
                          </a:solidFill>
                          <a:effectLst>
                            <a:outerShdw blurRad="38100" dist="38100" dir="2700000" algn="tl">
                              <a:srgbClr val="000000">
                                <a:alpha val="43137"/>
                              </a:srgbClr>
                            </a:outerShdw>
                          </a:effectLst>
                        </a:rPr>
                        <a:t>– </a:t>
                      </a:r>
                      <a:r>
                        <a:rPr lang="zh-TW" altLang="en-US" sz="2400" b="1" dirty="0" smtClean="0">
                          <a:solidFill>
                            <a:schemeClr val="tx1"/>
                          </a:solidFill>
                          <a:effectLst>
                            <a:outerShdw blurRad="38100" dist="38100" dir="2700000" algn="tl">
                              <a:srgbClr val="000000">
                                <a:alpha val="43137"/>
                              </a:srgbClr>
                            </a:outerShdw>
                          </a:effectLst>
                        </a:rPr>
                        <a:t>包 含 隱 私 與 公 民 自 由 義 務 </a:t>
                      </a:r>
                      <a:endParaRPr lang="zh-TW" altLang="en-US" sz="24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099631358"/>
                  </a:ext>
                </a:extLst>
              </a:tr>
            </a:tbl>
          </a:graphicData>
        </a:graphic>
      </p:graphicFrame>
    </p:spTree>
    <p:extLst>
      <p:ext uri="{BB962C8B-B14F-4D97-AF65-F5344CB8AC3E}">
        <p14:creationId xmlns:p14="http://schemas.microsoft.com/office/powerpoint/2010/main" val="1255155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251520" y="1094266"/>
            <a:ext cx="8640960" cy="2106712"/>
          </a:xfrm>
        </p:spPr>
        <p:txBody>
          <a:bodyPr/>
          <a:lstStyle/>
          <a:p>
            <a:r>
              <a:rPr lang="zh-TW" altLang="en-US" dirty="0"/>
              <a:t>每一個子類別提供相關的</a:t>
            </a:r>
            <a:r>
              <a:rPr lang="zh-TW" altLang="en-US" dirty="0" smtClean="0"/>
              <a:t>指南</a:t>
            </a:r>
            <a:endParaRPr lang="en-US" altLang="zh-TW" dirty="0" smtClean="0"/>
          </a:p>
          <a:p>
            <a:r>
              <a:rPr lang="zh-TW" altLang="en-US" dirty="0" smtClean="0"/>
              <a:t>範例</a:t>
            </a:r>
            <a:r>
              <a:rPr lang="zh-TW" altLang="en-US" dirty="0"/>
              <a:t>說明</a:t>
            </a:r>
            <a:r>
              <a:rPr lang="en-US" altLang="zh-TW" dirty="0" smtClean="0"/>
              <a:t>:</a:t>
            </a:r>
            <a:r>
              <a:rPr lang="en-US" altLang="zh-TW" b="1" dirty="0" smtClean="0"/>
              <a:t>GV.OC-01(</a:t>
            </a:r>
            <a:r>
              <a:rPr lang="zh-TW" altLang="en-US" b="1" dirty="0" smtClean="0"/>
              <a:t>理解組織任務並告知其網路安全風險 管理</a:t>
            </a:r>
            <a:r>
              <a:rPr lang="en-US" altLang="zh-TW" b="1" dirty="0" smtClean="0"/>
              <a:t>)</a:t>
            </a:r>
            <a:endParaRPr lang="en-US" altLang="zh-TW" dirty="0"/>
          </a:p>
          <a:p>
            <a:r>
              <a:rPr lang="zh-TW" altLang="en-US" dirty="0" smtClean="0"/>
              <a:t>相關安全控制措施可參考底下做法</a:t>
            </a:r>
            <a:r>
              <a:rPr lang="en-US" altLang="zh-TW" dirty="0" smtClean="0"/>
              <a:t>:(</a:t>
            </a:r>
            <a:r>
              <a:rPr lang="zh-TW" altLang="en-US" dirty="0" smtClean="0"/>
              <a:t>詳見備忘稿說明</a:t>
            </a:r>
            <a:r>
              <a:rPr lang="en-US" altLang="zh-TW" dirty="0" smtClean="0"/>
              <a:t>)</a:t>
            </a:r>
            <a:endParaRPr lang="zh-TW" altLang="en-US" dirty="0"/>
          </a:p>
        </p:txBody>
      </p:sp>
      <p:sp>
        <p:nvSpPr>
          <p:cNvPr id="3" name="標題 2"/>
          <p:cNvSpPr>
            <a:spLocks noGrp="1"/>
          </p:cNvSpPr>
          <p:nvPr>
            <p:ph type="title"/>
          </p:nvPr>
        </p:nvSpPr>
        <p:spPr/>
        <p:txBody>
          <a:bodyPr/>
          <a:lstStyle/>
          <a:p>
            <a:r>
              <a:rPr lang="en-US" altLang="zh-TW" dirty="0"/>
              <a:t>NIST CSF(</a:t>
            </a:r>
            <a:r>
              <a:rPr lang="zh-TW" altLang="en-US" dirty="0"/>
              <a:t>網路安全框架</a:t>
            </a:r>
            <a:r>
              <a:rPr lang="en-US" altLang="zh-TW" dirty="0" smtClean="0"/>
              <a:t>) (6/6</a:t>
            </a:r>
            <a:r>
              <a:rPr lang="en-US" altLang="zh-TW" dirty="0"/>
              <a:t>)</a:t>
            </a:r>
            <a:endParaRPr lang="zh-TW" altLang="en-US" dirty="0"/>
          </a:p>
        </p:txBody>
      </p:sp>
      <p:sp>
        <p:nvSpPr>
          <p:cNvPr id="4" name="矩形 3"/>
          <p:cNvSpPr/>
          <p:nvPr/>
        </p:nvSpPr>
        <p:spPr>
          <a:xfrm>
            <a:off x="1475656" y="3235268"/>
            <a:ext cx="5184576" cy="3416320"/>
          </a:xfrm>
          <a:prstGeom prst="rect">
            <a:avLst/>
          </a:prstGeom>
        </p:spPr>
        <p:txBody>
          <a:bodyPr wrap="square">
            <a:spAutoFit/>
          </a:bodyPr>
          <a:lstStyle/>
          <a:p>
            <a:r>
              <a:rPr lang="en-US" altLang="zh-TW" sz="2400" dirty="0"/>
              <a:t>CCMv4.0: </a:t>
            </a:r>
            <a:r>
              <a:rPr lang="en-US" altLang="zh-TW" sz="2400" dirty="0" smtClean="0"/>
              <a:t>BCR-01 </a:t>
            </a:r>
          </a:p>
          <a:p>
            <a:r>
              <a:rPr lang="en-US" altLang="zh-TW" sz="2400" dirty="0" smtClean="0"/>
              <a:t>CCMv4.0</a:t>
            </a:r>
            <a:r>
              <a:rPr lang="en-US" altLang="zh-TW" sz="2400" dirty="0"/>
              <a:t>: BCR-07</a:t>
            </a:r>
          </a:p>
          <a:p>
            <a:r>
              <a:rPr lang="en-US" altLang="zh-TW" sz="2400" dirty="0"/>
              <a:t>CRI Profile v2.0: GV.OC-01</a:t>
            </a:r>
          </a:p>
          <a:p>
            <a:r>
              <a:rPr lang="en-US" altLang="zh-TW" sz="2400" dirty="0"/>
              <a:t>CRI Profile v2.0: GV.OC-01.01</a:t>
            </a:r>
          </a:p>
          <a:p>
            <a:r>
              <a:rPr lang="en-US" altLang="zh-TW" sz="2400" dirty="0"/>
              <a:t>CSF v1.1: ID.BE-2</a:t>
            </a:r>
          </a:p>
          <a:p>
            <a:r>
              <a:rPr lang="en-US" altLang="zh-TW" sz="2400" dirty="0"/>
              <a:t>CSF v1.1: ID.BE-3</a:t>
            </a:r>
          </a:p>
          <a:p>
            <a:r>
              <a:rPr lang="en-US" altLang="zh-TW" sz="2400" dirty="0"/>
              <a:t>SP 800-221A: GV.CT-5</a:t>
            </a:r>
          </a:p>
          <a:p>
            <a:r>
              <a:rPr lang="en-US" altLang="zh-TW" sz="2400" dirty="0"/>
              <a:t>SP 800-221A: GV.CT-3</a:t>
            </a:r>
          </a:p>
          <a:p>
            <a:r>
              <a:rPr lang="en-US" altLang="zh-TW" sz="2400" dirty="0"/>
              <a:t>SP 800-53 Rev 5.1.1: PM-11</a:t>
            </a:r>
            <a:endParaRPr lang="zh-TW" altLang="en-US" sz="2400" dirty="0"/>
          </a:p>
        </p:txBody>
      </p:sp>
    </p:spTree>
    <p:extLst>
      <p:ext uri="{BB962C8B-B14F-4D97-AF65-F5344CB8AC3E}">
        <p14:creationId xmlns:p14="http://schemas.microsoft.com/office/powerpoint/2010/main" val="39816946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a:xfrm>
            <a:off x="323557" y="131120"/>
            <a:ext cx="8568923" cy="777600"/>
          </a:xfrm>
        </p:spPr>
        <p:txBody>
          <a:bodyPr>
            <a:normAutofit fontScale="90000"/>
          </a:bodyPr>
          <a:lstStyle/>
          <a:p>
            <a:r>
              <a:rPr lang="en-US" altLang="zh-TW" dirty="0" smtClean="0"/>
              <a:t>Taiwan</a:t>
            </a:r>
            <a:r>
              <a:rPr lang="zh-TW" altLang="en-US" dirty="0" smtClean="0"/>
              <a:t>推動</a:t>
            </a:r>
            <a:r>
              <a:rPr lang="zh-TW" altLang="en-US" dirty="0" smtClean="0"/>
              <a:t>資訊安全</a:t>
            </a:r>
            <a:r>
              <a:rPr lang="zh-TW" altLang="en-US" dirty="0"/>
              <a:t>管理</a:t>
            </a:r>
            <a:r>
              <a:rPr lang="zh-TW" altLang="en-US" dirty="0" smtClean="0"/>
              <a:t>系統的規範</a:t>
            </a:r>
            <a:endParaRPr lang="zh-TW" altLang="en-US" dirty="0"/>
          </a:p>
        </p:txBody>
      </p:sp>
      <p:sp>
        <p:nvSpPr>
          <p:cNvPr id="4" name="內容版面配置區 9"/>
          <p:cNvSpPr txBox="1">
            <a:spLocks/>
          </p:cNvSpPr>
          <p:nvPr/>
        </p:nvSpPr>
        <p:spPr>
          <a:xfrm>
            <a:off x="20270" y="943966"/>
            <a:ext cx="9123730" cy="5797402"/>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kern="0" dirty="0" smtClean="0"/>
              <a:t>我國</a:t>
            </a:r>
            <a:r>
              <a:rPr lang="zh-TW" altLang="en-US" kern="0" dirty="0"/>
              <a:t>對於推動資訊安全管理</a:t>
            </a:r>
            <a:r>
              <a:rPr lang="zh-TW" altLang="en-US" kern="0" dirty="0" smtClean="0"/>
              <a:t>系統係以資</a:t>
            </a:r>
            <a:r>
              <a:rPr lang="zh-TW" altLang="en-US" kern="0" dirty="0"/>
              <a:t>通安全責任等級分級</a:t>
            </a:r>
            <a:r>
              <a:rPr lang="zh-TW" altLang="en-US" kern="0" dirty="0" smtClean="0"/>
              <a:t>辦法及各級相關</a:t>
            </a:r>
            <a:r>
              <a:rPr lang="zh-TW" altLang="en-US" dirty="0" smtClean="0">
                <a:solidFill>
                  <a:prstClr val="black"/>
                </a:solidFill>
                <a:latin typeface="Calibri"/>
                <a:ea typeface="新細明體" panose="02020500000000000000" pitchFamily="18" charset="-120"/>
              </a:rPr>
              <a:t>應</a:t>
            </a:r>
            <a:r>
              <a:rPr lang="zh-TW" altLang="en-US" dirty="0">
                <a:solidFill>
                  <a:prstClr val="black"/>
                </a:solidFill>
                <a:latin typeface="Calibri"/>
                <a:ea typeface="新細明體" panose="02020500000000000000" pitchFamily="18" charset="-120"/>
              </a:rPr>
              <a:t>辦事</a:t>
            </a:r>
            <a:r>
              <a:rPr lang="zh-TW" altLang="en-US" dirty="0" smtClean="0">
                <a:solidFill>
                  <a:prstClr val="black"/>
                </a:solidFill>
                <a:latin typeface="Calibri"/>
                <a:ea typeface="新細明體" panose="02020500000000000000" pitchFamily="18" charset="-120"/>
              </a:rPr>
              <a:t>項規範之</a:t>
            </a:r>
            <a:r>
              <a:rPr lang="en-US" altLang="zh-TW" dirty="0" smtClean="0">
                <a:solidFill>
                  <a:prstClr val="black"/>
                </a:solidFill>
                <a:latin typeface="Calibri"/>
                <a:ea typeface="新細明體" panose="02020500000000000000" pitchFamily="18" charset="-120"/>
              </a:rPr>
              <a:t>:</a:t>
            </a:r>
            <a:endParaRPr lang="en-US" altLang="zh-TW" dirty="0">
              <a:solidFill>
                <a:prstClr val="black"/>
              </a:solidFill>
              <a:latin typeface="Calibri"/>
              <a:ea typeface="新細明體" panose="02020500000000000000" pitchFamily="18" charset="-120"/>
            </a:endParaRPr>
          </a:p>
          <a:p>
            <a:pPr lvl="0"/>
            <a:r>
              <a:rPr lang="zh-TW" altLang="en-US" dirty="0">
                <a:solidFill>
                  <a:prstClr val="black"/>
                </a:solidFill>
                <a:latin typeface="Calibri"/>
                <a:ea typeface="新細明體" panose="02020500000000000000" pitchFamily="18" charset="-120"/>
              </a:rPr>
              <a:t> </a:t>
            </a:r>
            <a:r>
              <a:rPr lang="en-US" altLang="zh-TW" dirty="0">
                <a:solidFill>
                  <a:prstClr val="black"/>
                </a:solidFill>
                <a:latin typeface="Calibri"/>
                <a:ea typeface="新細明體" panose="02020500000000000000" pitchFamily="18" charset="-120"/>
              </a:rPr>
              <a:t>A </a:t>
            </a:r>
            <a:r>
              <a:rPr lang="zh-TW" altLang="en-US" dirty="0">
                <a:solidFill>
                  <a:prstClr val="black"/>
                </a:solidFill>
                <a:latin typeface="Calibri"/>
                <a:ea typeface="新細明體" panose="02020500000000000000" pitchFamily="18" charset="-120"/>
              </a:rPr>
              <a:t>級與</a:t>
            </a:r>
            <a:r>
              <a:rPr lang="en-US" altLang="zh-TW" dirty="0">
                <a:solidFill>
                  <a:prstClr val="black"/>
                </a:solidFill>
                <a:latin typeface="Calibri"/>
                <a:ea typeface="新細明體" panose="02020500000000000000" pitchFamily="18" charset="-120"/>
              </a:rPr>
              <a:t>B </a:t>
            </a:r>
            <a:r>
              <a:rPr lang="zh-TW" altLang="en-US" dirty="0">
                <a:solidFill>
                  <a:prstClr val="black"/>
                </a:solidFill>
                <a:latin typeface="Calibri"/>
                <a:ea typeface="新細明體" panose="02020500000000000000" pitchFamily="18" charset="-120"/>
              </a:rPr>
              <a:t>級公務機關應辦事項</a:t>
            </a:r>
            <a:r>
              <a:rPr lang="en-US" altLang="zh-TW" dirty="0" smtClean="0">
                <a:solidFill>
                  <a:prstClr val="black"/>
                </a:solidFill>
                <a:latin typeface="Calibri"/>
                <a:ea typeface="新細明體" panose="02020500000000000000" pitchFamily="18" charset="-120"/>
              </a:rPr>
              <a:t>:</a:t>
            </a:r>
          </a:p>
          <a:p>
            <a:pPr lvl="1"/>
            <a:r>
              <a:rPr lang="zh-TW" altLang="en-US" sz="2000" dirty="0" smtClean="0">
                <a:solidFill>
                  <a:prstClr val="black"/>
                </a:solidFill>
                <a:latin typeface="Calibri"/>
                <a:ea typeface="新細明體" panose="02020500000000000000" pitchFamily="18" charset="-120"/>
              </a:rPr>
              <a:t>資訊安全</a:t>
            </a:r>
            <a:r>
              <a:rPr lang="zh-TW" altLang="en-US" sz="2000" dirty="0">
                <a:solidFill>
                  <a:prstClr val="black"/>
                </a:solidFill>
                <a:latin typeface="Calibri"/>
                <a:ea typeface="新細明體" panose="02020500000000000000" pitchFamily="18" charset="-120"/>
              </a:rPr>
              <a:t>管理系統之導入及</a:t>
            </a:r>
            <a:r>
              <a:rPr lang="zh-TW" altLang="en-US" sz="2000" b="1" dirty="0">
                <a:solidFill>
                  <a:srgbClr val="FF0000"/>
                </a:solidFill>
                <a:effectLst>
                  <a:outerShdw blurRad="38100" dist="38100" dir="2700000" algn="tl">
                    <a:srgbClr val="000000">
                      <a:alpha val="43137"/>
                    </a:srgbClr>
                  </a:outerShdw>
                </a:effectLst>
                <a:latin typeface="Calibri"/>
                <a:ea typeface="新細明體" panose="02020500000000000000" pitchFamily="18" charset="-120"/>
              </a:rPr>
              <a:t>通過公正第三方之驗證 </a:t>
            </a:r>
            <a:endParaRPr lang="en-US" altLang="zh-TW" sz="2000" b="1" dirty="0">
              <a:solidFill>
                <a:srgbClr val="FF0000"/>
              </a:solidFill>
              <a:effectLst>
                <a:outerShdw blurRad="38100" dist="38100" dir="2700000" algn="tl">
                  <a:srgbClr val="000000">
                    <a:alpha val="43137"/>
                  </a:srgbClr>
                </a:outerShdw>
              </a:effectLst>
              <a:latin typeface="Calibri"/>
              <a:ea typeface="新細明體" panose="02020500000000000000" pitchFamily="18" charset="-120"/>
            </a:endParaRPr>
          </a:p>
          <a:p>
            <a:pPr lvl="1"/>
            <a:r>
              <a:rPr lang="zh-TW" altLang="en-US" sz="2000" dirty="0">
                <a:solidFill>
                  <a:prstClr val="black"/>
                </a:solidFill>
                <a:latin typeface="Calibri"/>
                <a:ea typeface="新細明體" panose="02020500000000000000" pitchFamily="18" charset="-120"/>
              </a:rPr>
              <a:t>初次受核定或等級變更後之二年內，全部核心資通系統導入 </a:t>
            </a:r>
            <a:r>
              <a:rPr lang="en-US" altLang="zh-TW" sz="2000" dirty="0">
                <a:solidFill>
                  <a:prstClr val="black"/>
                </a:solidFill>
                <a:latin typeface="Calibri"/>
                <a:ea typeface="新細明體" panose="02020500000000000000" pitchFamily="18" charset="-120"/>
              </a:rPr>
              <a:t>CNS 27001 </a:t>
            </a:r>
            <a:r>
              <a:rPr lang="zh-TW" altLang="en-US" sz="2000" dirty="0">
                <a:solidFill>
                  <a:prstClr val="black"/>
                </a:solidFill>
                <a:latin typeface="Calibri"/>
                <a:ea typeface="新細明體" panose="02020500000000000000" pitchFamily="18" charset="-120"/>
              </a:rPr>
              <a:t>或 </a:t>
            </a:r>
            <a:r>
              <a:rPr lang="en-US" altLang="zh-TW" sz="2000" dirty="0">
                <a:solidFill>
                  <a:prstClr val="black"/>
                </a:solidFill>
                <a:latin typeface="Calibri"/>
                <a:ea typeface="新細明體" panose="02020500000000000000" pitchFamily="18" charset="-120"/>
              </a:rPr>
              <a:t>ISO27001 </a:t>
            </a:r>
            <a:r>
              <a:rPr lang="zh-TW" altLang="en-US" sz="2000" dirty="0">
                <a:solidFill>
                  <a:prstClr val="black"/>
                </a:solidFill>
                <a:latin typeface="Calibri"/>
                <a:ea typeface="新細明體" panose="02020500000000000000" pitchFamily="18" charset="-120"/>
              </a:rPr>
              <a:t>等資訊安全管理系統標準、</a:t>
            </a:r>
            <a:r>
              <a:rPr lang="zh-TW" altLang="en-US" sz="2000" dirty="0" smtClean="0">
                <a:solidFill>
                  <a:prstClr val="black"/>
                </a:solidFill>
                <a:latin typeface="Calibri"/>
                <a:ea typeface="新細明體" panose="02020500000000000000" pitchFamily="18" charset="-120"/>
              </a:rPr>
              <a:t>其他具有</a:t>
            </a:r>
            <a:r>
              <a:rPr lang="zh-TW" altLang="en-US" sz="2000" dirty="0">
                <a:solidFill>
                  <a:prstClr val="black"/>
                </a:solidFill>
                <a:latin typeface="Calibri"/>
                <a:ea typeface="新細明體" panose="02020500000000000000" pitchFamily="18" charset="-120"/>
              </a:rPr>
              <a:t>同等或以上效果之系統或標準，或其他公務機關自行發展並經主管機關認可之標準，於三年內完成公正第三方驗證</a:t>
            </a:r>
            <a:r>
              <a:rPr lang="zh-TW" altLang="en-US" sz="2000" dirty="0" smtClean="0">
                <a:solidFill>
                  <a:prstClr val="black"/>
                </a:solidFill>
                <a:latin typeface="Calibri"/>
                <a:ea typeface="新細明體" panose="02020500000000000000" pitchFamily="18" charset="-120"/>
              </a:rPr>
              <a:t>，並</a:t>
            </a:r>
            <a:r>
              <a:rPr lang="zh-TW" altLang="en-US" sz="2000" dirty="0">
                <a:solidFill>
                  <a:prstClr val="black"/>
                </a:solidFill>
                <a:latin typeface="Calibri"/>
                <a:ea typeface="新細明體" panose="02020500000000000000" pitchFamily="18" charset="-120"/>
              </a:rPr>
              <a:t>持續維持其驗證有效性</a:t>
            </a:r>
            <a:r>
              <a:rPr lang="zh-TW" altLang="en-US" sz="2000" dirty="0" smtClean="0">
                <a:solidFill>
                  <a:prstClr val="black"/>
                </a:solidFill>
                <a:latin typeface="Calibri"/>
                <a:ea typeface="新細明體" panose="02020500000000000000" pitchFamily="18" charset="-120"/>
              </a:rPr>
              <a:t>。</a:t>
            </a:r>
            <a:endParaRPr lang="en-US" altLang="zh-TW" sz="2000" dirty="0">
              <a:solidFill>
                <a:prstClr val="black"/>
              </a:solidFill>
              <a:latin typeface="Calibri"/>
              <a:ea typeface="新細明體" panose="02020500000000000000" pitchFamily="18" charset="-120"/>
            </a:endParaRPr>
          </a:p>
          <a:p>
            <a:pPr lvl="0">
              <a:defRPr/>
            </a:pPr>
            <a:r>
              <a:rPr lang="zh-TW" altLang="en-US" dirty="0">
                <a:solidFill>
                  <a:prstClr val="black"/>
                </a:solidFill>
                <a:latin typeface="Calibri"/>
                <a:ea typeface="新細明體" panose="02020500000000000000" pitchFamily="18" charset="-120"/>
              </a:rPr>
              <a:t> </a:t>
            </a:r>
            <a:r>
              <a:rPr lang="en-US" altLang="zh-TW" dirty="0">
                <a:solidFill>
                  <a:prstClr val="black"/>
                </a:solidFill>
                <a:latin typeface="Calibri"/>
                <a:ea typeface="新細明體" panose="02020500000000000000" pitchFamily="18" charset="-120"/>
              </a:rPr>
              <a:t>C </a:t>
            </a:r>
            <a:r>
              <a:rPr lang="zh-TW" altLang="en-US" dirty="0">
                <a:solidFill>
                  <a:prstClr val="black"/>
                </a:solidFill>
                <a:latin typeface="Calibri"/>
                <a:ea typeface="新細明體" panose="02020500000000000000" pitchFamily="18" charset="-120"/>
              </a:rPr>
              <a:t>級公務機關應辦事項</a:t>
            </a:r>
            <a:r>
              <a:rPr lang="en-US" altLang="zh-TW" dirty="0" smtClean="0">
                <a:solidFill>
                  <a:prstClr val="black"/>
                </a:solidFill>
                <a:latin typeface="Calibri"/>
                <a:ea typeface="新細明體" panose="02020500000000000000" pitchFamily="18" charset="-120"/>
              </a:rPr>
              <a:t>:</a:t>
            </a:r>
          </a:p>
          <a:p>
            <a:pPr lvl="1">
              <a:defRPr/>
            </a:pPr>
            <a:r>
              <a:rPr lang="zh-TW" altLang="en-US" sz="2000" dirty="0" smtClean="0">
                <a:solidFill>
                  <a:prstClr val="black"/>
                </a:solidFill>
                <a:latin typeface="Calibri"/>
                <a:ea typeface="新細明體" panose="02020500000000000000" pitchFamily="18" charset="-120"/>
              </a:rPr>
              <a:t>資訊安全</a:t>
            </a:r>
            <a:r>
              <a:rPr lang="zh-TW" altLang="en-US" sz="2000" dirty="0">
                <a:solidFill>
                  <a:prstClr val="black"/>
                </a:solidFill>
                <a:latin typeface="Calibri"/>
                <a:ea typeface="新細明體" panose="02020500000000000000" pitchFamily="18" charset="-120"/>
              </a:rPr>
              <a:t>管理系統之導入</a:t>
            </a:r>
            <a:endParaRPr lang="en-US" altLang="zh-TW" sz="2000" dirty="0">
              <a:solidFill>
                <a:prstClr val="black"/>
              </a:solidFill>
              <a:latin typeface="Calibri"/>
              <a:ea typeface="新細明體" panose="02020500000000000000" pitchFamily="18" charset="-120"/>
            </a:endParaRPr>
          </a:p>
          <a:p>
            <a:pPr lvl="1"/>
            <a:r>
              <a:rPr lang="zh-TW" altLang="en-US" sz="2000" dirty="0">
                <a:solidFill>
                  <a:prstClr val="black"/>
                </a:solidFill>
                <a:latin typeface="Calibri"/>
                <a:ea typeface="新細明體" panose="02020500000000000000" pitchFamily="18" charset="-120"/>
              </a:rPr>
              <a:t>初次受核定或等級變更後之二年內，全部核心資通系統導入 </a:t>
            </a:r>
            <a:r>
              <a:rPr lang="en-US" altLang="zh-TW" sz="2000" dirty="0">
                <a:solidFill>
                  <a:prstClr val="black"/>
                </a:solidFill>
                <a:latin typeface="Calibri"/>
                <a:ea typeface="新細明體" panose="02020500000000000000" pitchFamily="18" charset="-120"/>
              </a:rPr>
              <a:t>CNS 27001 </a:t>
            </a:r>
            <a:r>
              <a:rPr lang="zh-TW" altLang="en-US" sz="2000" dirty="0">
                <a:solidFill>
                  <a:prstClr val="black"/>
                </a:solidFill>
                <a:latin typeface="Calibri"/>
                <a:ea typeface="新細明體" panose="02020500000000000000" pitchFamily="18" charset="-120"/>
              </a:rPr>
              <a:t>或 </a:t>
            </a:r>
            <a:r>
              <a:rPr lang="en-US" altLang="zh-TW" sz="2000" dirty="0">
                <a:solidFill>
                  <a:prstClr val="black"/>
                </a:solidFill>
                <a:latin typeface="Calibri"/>
                <a:ea typeface="新細明體" panose="02020500000000000000" pitchFamily="18" charset="-120"/>
              </a:rPr>
              <a:t>ISO27001 </a:t>
            </a:r>
            <a:r>
              <a:rPr lang="zh-TW" altLang="en-US" sz="2000" dirty="0">
                <a:solidFill>
                  <a:prstClr val="black"/>
                </a:solidFill>
                <a:latin typeface="Calibri"/>
                <a:ea typeface="新細明體" panose="02020500000000000000" pitchFamily="18" charset="-120"/>
              </a:rPr>
              <a:t>等資訊安全管理系統標準、</a:t>
            </a:r>
            <a:r>
              <a:rPr lang="zh-TW" altLang="en-US" sz="2000" dirty="0" smtClean="0">
                <a:solidFill>
                  <a:prstClr val="black"/>
                </a:solidFill>
                <a:latin typeface="Calibri"/>
                <a:ea typeface="新細明體" panose="02020500000000000000" pitchFamily="18" charset="-120"/>
              </a:rPr>
              <a:t>其他具有</a:t>
            </a:r>
            <a:r>
              <a:rPr lang="zh-TW" altLang="en-US" sz="2000" dirty="0">
                <a:solidFill>
                  <a:prstClr val="black"/>
                </a:solidFill>
                <a:latin typeface="Calibri"/>
                <a:ea typeface="新細明體" panose="02020500000000000000" pitchFamily="18" charset="-120"/>
              </a:rPr>
              <a:t>同等或以上效果之系統或標準，或其他公務機關自行發展並經主管機關認可之標準，並持續維持導入。</a:t>
            </a:r>
            <a:endParaRPr lang="en-US" altLang="zh-TW" sz="2000" dirty="0">
              <a:solidFill>
                <a:prstClr val="black"/>
              </a:solidFill>
              <a:latin typeface="Calibri"/>
              <a:ea typeface="新細明體" panose="02020500000000000000" pitchFamily="18" charset="-120"/>
            </a:endParaRPr>
          </a:p>
          <a:p>
            <a:pPr marL="0" indent="0">
              <a:buNone/>
            </a:pPr>
            <a:endParaRPr lang="en-US" altLang="zh-TW" kern="0" dirty="0" smtClean="0"/>
          </a:p>
        </p:txBody>
      </p:sp>
    </p:spTree>
    <p:extLst>
      <p:ext uri="{BB962C8B-B14F-4D97-AF65-F5344CB8AC3E}">
        <p14:creationId xmlns:p14="http://schemas.microsoft.com/office/powerpoint/2010/main" val="42890895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51874" y="0"/>
            <a:ext cx="7886700" cy="994338"/>
          </a:xfrm>
        </p:spPr>
        <p:txBody>
          <a:bodyPr/>
          <a:lstStyle/>
          <a:p>
            <a:r>
              <a:rPr lang="en-US" altLang="zh-TW" dirty="0" smtClean="0"/>
              <a:t>ISMS</a:t>
            </a:r>
            <a:r>
              <a:rPr lang="zh-TW" altLang="en-US" dirty="0" smtClean="0"/>
              <a:t>與安全控制措施</a:t>
            </a:r>
            <a:endParaRPr lang="zh-TW" altLang="en-US" dirty="0"/>
          </a:p>
        </p:txBody>
      </p:sp>
      <p:sp>
        <p:nvSpPr>
          <p:cNvPr id="3" name="內容版面配置區 9"/>
          <p:cNvSpPr txBox="1">
            <a:spLocks/>
          </p:cNvSpPr>
          <p:nvPr/>
        </p:nvSpPr>
        <p:spPr>
          <a:xfrm>
            <a:off x="107504" y="1124744"/>
            <a:ext cx="8856984" cy="5472608"/>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kern="0" dirty="0"/>
              <a:t>ISMS</a:t>
            </a:r>
            <a:r>
              <a:rPr lang="zh-TW" altLang="en-US" kern="0" dirty="0"/>
              <a:t>與安全控制</a:t>
            </a:r>
            <a:r>
              <a:rPr lang="zh-TW" altLang="en-US" kern="0" dirty="0" smtClean="0"/>
              <a:t>措施</a:t>
            </a:r>
            <a:r>
              <a:rPr lang="zh-TW" altLang="en-US" kern="0" dirty="0"/>
              <a:t>（</a:t>
            </a:r>
            <a:r>
              <a:rPr lang="en-US" altLang="zh-TW" kern="0" dirty="0"/>
              <a:t>Security Controls</a:t>
            </a:r>
            <a:r>
              <a:rPr lang="zh-TW" altLang="en-US" kern="0" dirty="0"/>
              <a:t>）</a:t>
            </a:r>
            <a:endParaRPr lang="en-US" altLang="zh-TW" kern="0" dirty="0" smtClean="0"/>
          </a:p>
          <a:p>
            <a:pPr lvl="1"/>
            <a:r>
              <a:rPr lang="en-US" altLang="zh-TW" kern="0" dirty="0" smtClean="0"/>
              <a:t>ISMS</a:t>
            </a:r>
            <a:r>
              <a:rPr lang="zh-TW" altLang="en-US" kern="0" dirty="0" smtClean="0"/>
              <a:t>與</a:t>
            </a:r>
            <a:r>
              <a:rPr lang="zh-TW" altLang="en-US" kern="0" dirty="0"/>
              <a:t>安全控制</a:t>
            </a:r>
            <a:r>
              <a:rPr lang="zh-TW" altLang="en-US" kern="0" dirty="0" smtClean="0"/>
              <a:t>措施是</a:t>
            </a:r>
            <a:r>
              <a:rPr lang="zh-TW" altLang="en-US" kern="0" dirty="0"/>
              <a:t>資訊安全治理的一體兩面</a:t>
            </a:r>
            <a:r>
              <a:rPr lang="zh-TW" altLang="en-US" kern="0" dirty="0" smtClean="0"/>
              <a:t>。</a:t>
            </a:r>
            <a:endParaRPr lang="en-US" altLang="zh-TW" kern="0" dirty="0" smtClean="0"/>
          </a:p>
          <a:p>
            <a:pPr lvl="1"/>
            <a:r>
              <a:rPr lang="en-US" altLang="zh-TW" kern="0" dirty="0" smtClean="0"/>
              <a:t>ISMS </a:t>
            </a:r>
            <a:r>
              <a:rPr lang="zh-TW" altLang="en-US" kern="0" dirty="0" smtClean="0"/>
              <a:t>相當於是「</a:t>
            </a:r>
            <a:r>
              <a:rPr lang="zh-TW" altLang="en-US" kern="0" dirty="0"/>
              <a:t>戰略指揮中心」，負責制定計畫、</a:t>
            </a:r>
            <a:r>
              <a:rPr lang="zh-TW" altLang="en-US" kern="0" dirty="0" smtClean="0"/>
              <a:t>評鑑風險</a:t>
            </a:r>
            <a:r>
              <a:rPr lang="zh-TW" altLang="en-US" kern="0" dirty="0"/>
              <a:t>與調度</a:t>
            </a:r>
            <a:r>
              <a:rPr lang="zh-TW" altLang="en-US" kern="0" dirty="0" smtClean="0"/>
              <a:t>資源</a:t>
            </a:r>
            <a:endParaRPr lang="en-US" altLang="zh-TW" kern="0" dirty="0"/>
          </a:p>
          <a:p>
            <a:pPr lvl="1"/>
            <a:r>
              <a:rPr lang="zh-TW" altLang="en-US" kern="0" dirty="0" smtClean="0"/>
              <a:t>安全</a:t>
            </a:r>
            <a:r>
              <a:rPr lang="zh-TW" altLang="en-US" kern="0" dirty="0"/>
              <a:t>控制措施則</a:t>
            </a:r>
            <a:r>
              <a:rPr lang="zh-TW" altLang="en-US" kern="0" dirty="0" smtClean="0"/>
              <a:t>是實際</a:t>
            </a:r>
            <a:r>
              <a:rPr lang="zh-TW" altLang="en-US" kern="0" dirty="0"/>
              <a:t>用來抵禦威脅的具體</a:t>
            </a:r>
            <a:r>
              <a:rPr lang="zh-TW" altLang="en-US" kern="0" dirty="0" smtClean="0"/>
              <a:t>手段與方法。</a:t>
            </a:r>
            <a:endParaRPr lang="en-US" altLang="zh-TW" kern="0" dirty="0" smtClean="0"/>
          </a:p>
          <a:p>
            <a:r>
              <a:rPr lang="zh-TW" altLang="en-US" kern="0" dirty="0" smtClean="0"/>
              <a:t>安全</a:t>
            </a:r>
            <a:r>
              <a:rPr lang="zh-TW" altLang="en-US" kern="0" dirty="0"/>
              <a:t>控制措施 </a:t>
            </a:r>
            <a:endParaRPr lang="en-US" altLang="zh-TW" kern="0" dirty="0" smtClean="0"/>
          </a:p>
          <a:p>
            <a:pPr lvl="1"/>
            <a:r>
              <a:rPr lang="zh-TW" altLang="en-US" kern="0" dirty="0" smtClean="0"/>
              <a:t>有多種稱呼</a:t>
            </a:r>
            <a:r>
              <a:rPr lang="en-US" altLang="zh-TW" kern="0" dirty="0" smtClean="0"/>
              <a:t>:</a:t>
            </a:r>
            <a:r>
              <a:rPr lang="zh-TW" altLang="en-US" kern="0" dirty="0" smtClean="0"/>
              <a:t>控制</a:t>
            </a:r>
            <a:r>
              <a:rPr lang="en-US" altLang="zh-TW" kern="0" dirty="0" smtClean="0"/>
              <a:t>(Controls)</a:t>
            </a:r>
            <a:r>
              <a:rPr lang="zh-TW" altLang="en-US" kern="0" dirty="0" smtClean="0">
                <a:latin typeface="PMingLiU" panose="02020500000000000000" pitchFamily="18" charset="-120"/>
                <a:ea typeface="PMingLiU" panose="02020500000000000000" pitchFamily="18" charset="-120"/>
              </a:rPr>
              <a:t>、</a:t>
            </a:r>
            <a:r>
              <a:rPr lang="zh-TW" altLang="en-US" kern="0" dirty="0" smtClean="0"/>
              <a:t>控制項</a:t>
            </a:r>
            <a:r>
              <a:rPr lang="zh-TW" altLang="en-US" kern="0" dirty="0">
                <a:latin typeface="PMingLiU" panose="02020500000000000000" pitchFamily="18" charset="-120"/>
                <a:ea typeface="PMingLiU" panose="02020500000000000000" pitchFamily="18" charset="-120"/>
              </a:rPr>
              <a:t>、</a:t>
            </a:r>
            <a:r>
              <a:rPr lang="zh-TW" altLang="en-US" kern="0" dirty="0" smtClean="0"/>
              <a:t>安控措施</a:t>
            </a:r>
            <a:r>
              <a:rPr lang="zh-TW" altLang="en-US" kern="0" dirty="0"/>
              <a:t>及防護措施 </a:t>
            </a:r>
            <a:r>
              <a:rPr lang="en-US" altLang="zh-TW" kern="0" dirty="0"/>
              <a:t>(Safeguards)</a:t>
            </a:r>
            <a:r>
              <a:rPr lang="zh-TW" altLang="en-US" kern="0" dirty="0" smtClean="0"/>
              <a:t>等 </a:t>
            </a:r>
            <a:endParaRPr lang="en-US" altLang="zh-TW" kern="0" dirty="0" smtClean="0"/>
          </a:p>
          <a:p>
            <a:pPr lvl="1"/>
            <a:r>
              <a:rPr lang="zh-TW" altLang="en-US" kern="0" dirty="0" smtClean="0"/>
              <a:t>主要概念</a:t>
            </a:r>
            <a:r>
              <a:rPr lang="en-US" altLang="zh-TW" kern="0" dirty="0" smtClean="0"/>
              <a:t>:</a:t>
            </a:r>
            <a:r>
              <a:rPr lang="zh-TW" altLang="en-US" kern="0" dirty="0" smtClean="0"/>
              <a:t>將資訊安全</a:t>
            </a:r>
            <a:r>
              <a:rPr lang="zh-TW" altLang="en-US" kern="0" dirty="0"/>
              <a:t>風險降低到可接受水準而實施</a:t>
            </a:r>
            <a:r>
              <a:rPr lang="zh-TW" altLang="en-US" kern="0" dirty="0" smtClean="0"/>
              <a:t>的各種具體手段與方法。</a:t>
            </a:r>
            <a:endParaRPr lang="en-US" altLang="zh-TW" kern="0" dirty="0" smtClean="0"/>
          </a:p>
          <a:p>
            <a:pPr lvl="1"/>
            <a:endParaRPr lang="en-US" altLang="zh-TW" kern="0" dirty="0" smtClean="0"/>
          </a:p>
        </p:txBody>
      </p:sp>
    </p:spTree>
    <p:extLst>
      <p:ext uri="{BB962C8B-B14F-4D97-AF65-F5344CB8AC3E}">
        <p14:creationId xmlns:p14="http://schemas.microsoft.com/office/powerpoint/2010/main" val="20643957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92552" y="0"/>
            <a:ext cx="7886700" cy="1008406"/>
          </a:xfrm>
        </p:spPr>
        <p:txBody>
          <a:bodyPr/>
          <a:lstStyle/>
          <a:p>
            <a:r>
              <a:rPr lang="zh-TW" altLang="en-US" dirty="0" smtClean="0"/>
              <a:t>安全控制措施</a:t>
            </a:r>
            <a:r>
              <a:rPr lang="zh-TW" altLang="en-US" dirty="0"/>
              <a:t>類型</a:t>
            </a:r>
            <a:endParaRPr lang="en-US" altLang="zh-TW" dirty="0"/>
          </a:p>
        </p:txBody>
      </p:sp>
      <p:sp>
        <p:nvSpPr>
          <p:cNvPr id="3" name="內容版面配置區 9"/>
          <p:cNvSpPr txBox="1">
            <a:spLocks/>
          </p:cNvSpPr>
          <p:nvPr/>
        </p:nvSpPr>
        <p:spPr>
          <a:xfrm>
            <a:off x="134516" y="1196752"/>
            <a:ext cx="8496944" cy="4608512"/>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kern="0" dirty="0" smtClean="0"/>
              <a:t>安全控制措施 </a:t>
            </a:r>
            <a:r>
              <a:rPr lang="en-US" altLang="zh-TW" kern="0" dirty="0" smtClean="0"/>
              <a:t>(Security Controls)</a:t>
            </a:r>
            <a:r>
              <a:rPr lang="zh-TW" altLang="en-US" kern="0" dirty="0" smtClean="0"/>
              <a:t>類型</a:t>
            </a:r>
            <a:endParaRPr lang="en-US" altLang="zh-TW" kern="0" dirty="0" smtClean="0"/>
          </a:p>
          <a:p>
            <a:pPr lvl="1"/>
            <a:r>
              <a:rPr lang="zh-TW" altLang="en-US" kern="0" dirty="0" smtClean="0"/>
              <a:t>控制措施通常分為三大類</a:t>
            </a:r>
            <a:r>
              <a:rPr lang="en-US" altLang="zh-TW" kern="0" dirty="0" smtClean="0">
                <a:sym typeface="Wingdings" panose="05000000000000000000" pitchFamily="2" charset="2"/>
              </a:rPr>
              <a:t>:(CNS/ISO</a:t>
            </a:r>
            <a:r>
              <a:rPr lang="zh-TW" altLang="en-US" kern="0" dirty="0" smtClean="0">
                <a:sym typeface="Wingdings" panose="05000000000000000000" pitchFamily="2" charset="2"/>
              </a:rPr>
              <a:t> </a:t>
            </a:r>
            <a:r>
              <a:rPr lang="en-US" altLang="zh-TW" kern="0" dirty="0" smtClean="0">
                <a:sym typeface="Wingdings" panose="05000000000000000000" pitchFamily="2" charset="2"/>
              </a:rPr>
              <a:t>27002</a:t>
            </a:r>
            <a:r>
              <a:rPr lang="zh-TW" altLang="en-US" kern="0" dirty="0" smtClean="0">
                <a:sym typeface="Wingdings" panose="05000000000000000000" pitchFamily="2" charset="2"/>
              </a:rPr>
              <a:t>使用</a:t>
            </a:r>
            <a:r>
              <a:rPr lang="en-US" altLang="zh-TW" kern="0" dirty="0" smtClean="0">
                <a:sym typeface="Wingdings" panose="05000000000000000000" pitchFamily="2" charset="2"/>
              </a:rPr>
              <a:t>)</a:t>
            </a:r>
            <a:endParaRPr lang="en-US" altLang="zh-TW" kern="0" dirty="0" smtClean="0"/>
          </a:p>
          <a:p>
            <a:pPr lvl="2"/>
            <a:r>
              <a:rPr lang="zh-TW" altLang="en-US" kern="0" dirty="0" smtClean="0"/>
              <a:t>預防型 </a:t>
            </a:r>
            <a:r>
              <a:rPr lang="en-US" altLang="zh-TW" kern="0" dirty="0"/>
              <a:t>(Preventive)</a:t>
            </a:r>
            <a:r>
              <a:rPr lang="zh-TW" altLang="en-US" kern="0" dirty="0"/>
              <a:t>： 防止資安事件發生（例如：防火牆、門禁卡、加密）</a:t>
            </a:r>
            <a:r>
              <a:rPr lang="zh-TW" altLang="en-US" kern="0" dirty="0" smtClean="0"/>
              <a:t>。</a:t>
            </a:r>
            <a:endParaRPr lang="en-US" altLang="zh-TW" kern="0" dirty="0" smtClean="0"/>
          </a:p>
          <a:p>
            <a:pPr lvl="2"/>
            <a:r>
              <a:rPr lang="zh-TW" altLang="en-US" kern="0" dirty="0" smtClean="0"/>
              <a:t>偵測</a:t>
            </a:r>
            <a:r>
              <a:rPr lang="zh-TW" altLang="en-US" kern="0" dirty="0"/>
              <a:t>型</a:t>
            </a:r>
            <a:r>
              <a:rPr lang="en-US" altLang="zh-TW" kern="0" dirty="0" smtClean="0"/>
              <a:t>(</a:t>
            </a:r>
            <a:r>
              <a:rPr lang="en-US" altLang="zh-TW" kern="0" dirty="0"/>
              <a:t>Detective)</a:t>
            </a:r>
            <a:r>
              <a:rPr lang="zh-TW" altLang="en-US" kern="0" dirty="0"/>
              <a:t>： 當事件</a:t>
            </a:r>
            <a:r>
              <a:rPr lang="zh-TW" altLang="en-US" b="1" kern="0" dirty="0">
                <a:solidFill>
                  <a:srgbClr val="FF0000"/>
                </a:solidFill>
                <a:effectLst>
                  <a:outerShdw blurRad="38100" dist="38100" dir="2700000" algn="tl">
                    <a:srgbClr val="000000">
                      <a:alpha val="43137"/>
                    </a:srgbClr>
                  </a:outerShdw>
                </a:effectLst>
              </a:rPr>
              <a:t>發生時</a:t>
            </a:r>
            <a:r>
              <a:rPr lang="zh-TW" altLang="en-US" kern="0" dirty="0"/>
              <a:t>能被發現（例如：入侵偵測系統、</a:t>
            </a:r>
            <a:r>
              <a:rPr lang="en-US" altLang="zh-TW" kern="0" dirty="0"/>
              <a:t>Log </a:t>
            </a:r>
            <a:r>
              <a:rPr lang="zh-TW" altLang="en-US" kern="0" dirty="0"/>
              <a:t>監控）</a:t>
            </a:r>
            <a:r>
              <a:rPr lang="zh-TW" altLang="en-US" kern="0" dirty="0" smtClean="0"/>
              <a:t>。</a:t>
            </a:r>
            <a:endParaRPr lang="en-US" altLang="zh-TW" kern="0" dirty="0" smtClean="0"/>
          </a:p>
          <a:p>
            <a:pPr lvl="2"/>
            <a:r>
              <a:rPr lang="zh-TW" altLang="en-US" kern="0" dirty="0" smtClean="0"/>
              <a:t>矯正</a:t>
            </a:r>
            <a:r>
              <a:rPr lang="zh-TW" altLang="en-US" kern="0" dirty="0"/>
              <a:t>型</a:t>
            </a:r>
            <a:r>
              <a:rPr lang="en-US" altLang="zh-TW" kern="0" dirty="0" smtClean="0"/>
              <a:t>(</a:t>
            </a:r>
            <a:r>
              <a:rPr lang="en-US" altLang="zh-TW" kern="0" dirty="0"/>
              <a:t>Corrective)</a:t>
            </a:r>
            <a:r>
              <a:rPr lang="zh-TW" altLang="en-US" kern="0" dirty="0"/>
              <a:t>： 事件</a:t>
            </a:r>
            <a:r>
              <a:rPr lang="zh-TW" altLang="en-US" b="1" kern="0" dirty="0">
                <a:solidFill>
                  <a:srgbClr val="FF0000"/>
                </a:solidFill>
                <a:effectLst>
                  <a:outerShdw blurRad="38100" dist="38100" dir="2700000" algn="tl">
                    <a:srgbClr val="000000">
                      <a:alpha val="43137"/>
                    </a:srgbClr>
                  </a:outerShdw>
                </a:effectLst>
              </a:rPr>
              <a:t>發生後</a:t>
            </a:r>
            <a:r>
              <a:rPr lang="zh-TW" altLang="en-US" kern="0" dirty="0"/>
              <a:t>進行修復與減災（例如：備份還原、應變計畫）</a:t>
            </a:r>
            <a:r>
              <a:rPr lang="zh-TW" altLang="en-US" kern="0" dirty="0" smtClean="0"/>
              <a:t>。</a:t>
            </a:r>
            <a:endParaRPr lang="en-US" altLang="zh-TW" kern="0" dirty="0" smtClean="0"/>
          </a:p>
          <a:p>
            <a:pPr lvl="1"/>
            <a:r>
              <a:rPr lang="zh-TW" altLang="en-US" kern="0" dirty="0" smtClean="0"/>
              <a:t>有許多不同</a:t>
            </a:r>
            <a:r>
              <a:rPr lang="zh-TW" altLang="en-US" kern="0" dirty="0"/>
              <a:t>安全控制</a:t>
            </a:r>
            <a:r>
              <a:rPr lang="zh-TW" altLang="en-US" kern="0" dirty="0" smtClean="0"/>
              <a:t>措施框架可供參考</a:t>
            </a:r>
            <a:r>
              <a:rPr lang="en-US" altLang="zh-TW" kern="0" dirty="0" smtClean="0"/>
              <a:t>(</a:t>
            </a:r>
            <a:r>
              <a:rPr lang="zh-TW" altLang="en-US" kern="0" dirty="0" smtClean="0"/>
              <a:t>機關可適度整合相關框架</a:t>
            </a:r>
            <a:r>
              <a:rPr lang="en-US" altLang="zh-TW" kern="0" dirty="0" smtClean="0"/>
              <a:t>)</a:t>
            </a:r>
            <a:endParaRPr lang="en-US" altLang="zh-TW" kern="0" dirty="0"/>
          </a:p>
        </p:txBody>
      </p:sp>
    </p:spTree>
    <p:extLst>
      <p:ext uri="{BB962C8B-B14F-4D97-AF65-F5344CB8AC3E}">
        <p14:creationId xmlns:p14="http://schemas.microsoft.com/office/powerpoint/2010/main" val="2158584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1450" y="126609"/>
            <a:ext cx="7886700" cy="790357"/>
          </a:xfrm>
        </p:spPr>
        <p:txBody>
          <a:bodyPr/>
          <a:lstStyle/>
          <a:p>
            <a:r>
              <a:rPr lang="zh-TW" altLang="en-US" dirty="0"/>
              <a:t>安全控制措施</a:t>
            </a:r>
            <a:r>
              <a:rPr lang="zh-TW" altLang="en-US" dirty="0" smtClean="0"/>
              <a:t>框架</a:t>
            </a:r>
            <a:r>
              <a:rPr lang="en-US" altLang="zh-TW" dirty="0" smtClean="0"/>
              <a:t>(1/7)</a:t>
            </a:r>
            <a:endParaRPr lang="zh-TW" altLang="en-US" dirty="0"/>
          </a:p>
        </p:txBody>
      </p:sp>
      <p:sp>
        <p:nvSpPr>
          <p:cNvPr id="3" name="內容版面配置區 9"/>
          <p:cNvSpPr txBox="1">
            <a:spLocks/>
          </p:cNvSpPr>
          <p:nvPr/>
        </p:nvSpPr>
        <p:spPr>
          <a:xfrm>
            <a:off x="107504" y="1052736"/>
            <a:ext cx="8902700" cy="5230800"/>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dirty="0"/>
              <a:t>著名的</a:t>
            </a:r>
            <a:r>
              <a:rPr lang="zh-TW" altLang="en-US" dirty="0" smtClean="0"/>
              <a:t>安全</a:t>
            </a:r>
            <a:r>
              <a:rPr lang="zh-TW" altLang="en-US" dirty="0"/>
              <a:t>控制措施</a:t>
            </a:r>
            <a:r>
              <a:rPr lang="zh-TW" altLang="en-US" dirty="0" smtClean="0"/>
              <a:t>框架</a:t>
            </a:r>
            <a:r>
              <a:rPr lang="en-US" altLang="zh-TW" dirty="0" smtClean="0"/>
              <a:t>(</a:t>
            </a:r>
            <a:r>
              <a:rPr lang="zh-TW" altLang="en-US" dirty="0" smtClean="0"/>
              <a:t>僅列舉與本課程有直接相關</a:t>
            </a:r>
            <a:r>
              <a:rPr lang="en-US" altLang="zh-TW" dirty="0" smtClean="0"/>
              <a:t>)</a:t>
            </a:r>
            <a:r>
              <a:rPr lang="zh-TW" altLang="en-US" dirty="0" smtClean="0"/>
              <a:t>包括</a:t>
            </a:r>
            <a:r>
              <a:rPr lang="en-US" altLang="zh-TW" dirty="0"/>
              <a:t>(</a:t>
            </a:r>
            <a:r>
              <a:rPr lang="zh-TW" altLang="en-US" dirty="0"/>
              <a:t>詳見後續說明</a:t>
            </a:r>
            <a:r>
              <a:rPr lang="en-US" altLang="zh-TW" dirty="0"/>
              <a:t>) :</a:t>
            </a:r>
            <a:endParaRPr lang="en-US" altLang="zh-TW" dirty="0" smtClean="0"/>
          </a:p>
          <a:p>
            <a:pPr lvl="1"/>
            <a:r>
              <a:rPr lang="zh-TW" altLang="en-US" dirty="0" smtClean="0"/>
              <a:t> </a:t>
            </a:r>
            <a:r>
              <a:rPr lang="en-US" altLang="zh-TW" dirty="0" smtClean="0"/>
              <a:t>CNS/ISO 27002:</a:t>
            </a:r>
            <a:r>
              <a:rPr lang="zh-TW" altLang="en-US" dirty="0" smtClean="0"/>
              <a:t> 配合</a:t>
            </a:r>
            <a:r>
              <a:rPr lang="en-US" altLang="zh-TW" dirty="0"/>
              <a:t>CNS/ISO </a:t>
            </a:r>
            <a:r>
              <a:rPr lang="en-US" altLang="zh-TW" dirty="0" smtClean="0"/>
              <a:t>27001</a:t>
            </a:r>
          </a:p>
          <a:p>
            <a:pPr lvl="1"/>
            <a:r>
              <a:rPr lang="zh-TW" altLang="en-US" dirty="0" smtClean="0"/>
              <a:t> </a:t>
            </a:r>
            <a:r>
              <a:rPr lang="en-US" altLang="zh-TW" dirty="0" smtClean="0"/>
              <a:t>NIST</a:t>
            </a:r>
            <a:r>
              <a:rPr lang="zh-TW" altLang="en-US" dirty="0" smtClean="0"/>
              <a:t> </a:t>
            </a:r>
            <a:r>
              <a:rPr lang="en-US" altLang="zh-TW" dirty="0" smtClean="0"/>
              <a:t>SP 800-53</a:t>
            </a:r>
            <a:r>
              <a:rPr lang="zh-TW" altLang="en-US" dirty="0" smtClean="0"/>
              <a:t>系列</a:t>
            </a:r>
            <a:r>
              <a:rPr lang="zh-TW" altLang="en-US" dirty="0"/>
              <a:t>安全控制</a:t>
            </a:r>
            <a:r>
              <a:rPr lang="zh-TW" altLang="en-US" dirty="0" smtClean="0"/>
              <a:t>措施</a:t>
            </a:r>
            <a:r>
              <a:rPr lang="en-US" altLang="zh-TW" dirty="0" smtClean="0"/>
              <a:t>:</a:t>
            </a:r>
            <a:r>
              <a:rPr lang="zh-TW" altLang="en-US" dirty="0" smtClean="0"/>
              <a:t> 配合</a:t>
            </a:r>
            <a:r>
              <a:rPr lang="en-US" altLang="zh-TW" dirty="0"/>
              <a:t>NIST CSF </a:t>
            </a:r>
            <a:r>
              <a:rPr lang="en-US" altLang="zh-TW" dirty="0" smtClean="0"/>
              <a:t>2</a:t>
            </a:r>
          </a:p>
          <a:p>
            <a:pPr lvl="1"/>
            <a:r>
              <a:rPr lang="zh-TW" altLang="en-US" dirty="0" smtClean="0"/>
              <a:t> </a:t>
            </a:r>
            <a:r>
              <a:rPr lang="en-US" altLang="zh-TW" dirty="0" smtClean="0"/>
              <a:t>CIS</a:t>
            </a:r>
            <a:r>
              <a:rPr lang="zh-TW" altLang="en-US" dirty="0" smtClean="0"/>
              <a:t> </a:t>
            </a:r>
            <a:r>
              <a:rPr lang="en-US" altLang="zh-TW" dirty="0" smtClean="0"/>
              <a:t>Controls:</a:t>
            </a:r>
            <a:r>
              <a:rPr lang="zh-TW" altLang="en-US" dirty="0" smtClean="0"/>
              <a:t>雖無特定</a:t>
            </a:r>
            <a:r>
              <a:rPr lang="en-US" altLang="zh-TW" dirty="0" smtClean="0"/>
              <a:t>ISMS</a:t>
            </a:r>
            <a:r>
              <a:rPr lang="zh-TW" altLang="en-US" dirty="0" smtClean="0"/>
              <a:t>框架但可配合</a:t>
            </a:r>
            <a:r>
              <a:rPr lang="en-US" altLang="zh-TW" dirty="0"/>
              <a:t>CNS/ISO </a:t>
            </a:r>
            <a:r>
              <a:rPr lang="en-US" altLang="zh-TW" dirty="0" smtClean="0"/>
              <a:t>27001</a:t>
            </a:r>
            <a:r>
              <a:rPr lang="zh-TW" altLang="en-US" dirty="0" smtClean="0"/>
              <a:t>與</a:t>
            </a:r>
            <a:r>
              <a:rPr lang="en-US" altLang="zh-TW" dirty="0" smtClean="0"/>
              <a:t>/</a:t>
            </a:r>
            <a:r>
              <a:rPr lang="zh-TW" altLang="en-US" dirty="0" smtClean="0"/>
              <a:t>或</a:t>
            </a:r>
            <a:r>
              <a:rPr lang="en-US" altLang="zh-TW" dirty="0" smtClean="0"/>
              <a:t>NIST </a:t>
            </a:r>
            <a:r>
              <a:rPr lang="en-US" altLang="zh-TW" dirty="0"/>
              <a:t>CSF </a:t>
            </a:r>
            <a:r>
              <a:rPr lang="en-US" altLang="zh-TW" dirty="0" smtClean="0"/>
              <a:t>2,</a:t>
            </a:r>
            <a:r>
              <a:rPr lang="zh-TW" altLang="en-US" dirty="0" smtClean="0"/>
              <a:t>其實施技術備受肯定</a:t>
            </a:r>
            <a:endParaRPr lang="en-US" altLang="zh-TW" dirty="0"/>
          </a:p>
          <a:p>
            <a:r>
              <a:rPr lang="zh-TW" altLang="en-US" dirty="0"/>
              <a:t>各安全控制措施</a:t>
            </a:r>
            <a:r>
              <a:rPr lang="zh-TW" altLang="en-US" dirty="0" smtClean="0"/>
              <a:t>框架強調內涵與重點未必全然一致</a:t>
            </a:r>
            <a:r>
              <a:rPr lang="zh-TW" altLang="en-US" dirty="0" smtClean="0">
                <a:latin typeface="PMingLiU" panose="02020500000000000000" pitchFamily="18" charset="-120"/>
                <a:ea typeface="PMingLiU" panose="02020500000000000000" pitchFamily="18" charset="-120"/>
              </a:rPr>
              <a:t>，機關導入時須特別留意各框架差異</a:t>
            </a:r>
            <a:r>
              <a:rPr lang="en-US" altLang="zh-TW" dirty="0" smtClean="0">
                <a:latin typeface="PMingLiU" panose="02020500000000000000" pitchFamily="18" charset="-120"/>
                <a:ea typeface="PMingLiU" panose="02020500000000000000" pitchFamily="18" charset="-120"/>
              </a:rPr>
              <a:t>[</a:t>
            </a:r>
            <a:r>
              <a:rPr lang="zh-TW" altLang="en-US" dirty="0" smtClean="0">
                <a:latin typeface="PMingLiU" panose="02020500000000000000" pitchFamily="18" charset="-120"/>
                <a:ea typeface="PMingLiU" panose="02020500000000000000" pitchFamily="18" charset="-120"/>
              </a:rPr>
              <a:t>備忘稿註</a:t>
            </a:r>
            <a:r>
              <a:rPr lang="en-US" altLang="zh-TW" dirty="0" smtClean="0">
                <a:latin typeface="PMingLiU" panose="02020500000000000000" pitchFamily="18" charset="-120"/>
                <a:ea typeface="PMingLiU" panose="02020500000000000000" pitchFamily="18" charset="-120"/>
              </a:rPr>
              <a:t>1]</a:t>
            </a:r>
            <a:endParaRPr lang="en-US" altLang="zh-TW" dirty="0" smtClean="0"/>
          </a:p>
          <a:p>
            <a:r>
              <a:rPr lang="zh-TW" altLang="en-US" dirty="0" smtClean="0"/>
              <a:t>範例</a:t>
            </a:r>
            <a:r>
              <a:rPr lang="en-US" altLang="zh-TW" dirty="0" smtClean="0"/>
              <a:t>:</a:t>
            </a:r>
            <a:r>
              <a:rPr lang="zh-TW" altLang="en-US" dirty="0" smtClean="0"/>
              <a:t>學員可參考底下微軟</a:t>
            </a:r>
            <a:r>
              <a:rPr lang="en-US" altLang="zh-TW" dirty="0" smtClean="0"/>
              <a:t>Azure</a:t>
            </a:r>
            <a:r>
              <a:rPr lang="zh-TW" altLang="en-US" dirty="0" smtClean="0"/>
              <a:t>雲端平台符合的</a:t>
            </a:r>
            <a:r>
              <a:rPr lang="zh-TW" altLang="en-US" dirty="0"/>
              <a:t>合規</a:t>
            </a:r>
            <a:r>
              <a:rPr lang="zh-TW" altLang="en-US" dirty="0" smtClean="0"/>
              <a:t>性與</a:t>
            </a:r>
            <a:r>
              <a:rPr lang="zh-TW" altLang="en-US" dirty="0"/>
              <a:t>相關的安全控制措施</a:t>
            </a:r>
            <a:r>
              <a:rPr lang="zh-TW" altLang="en-US" dirty="0" smtClean="0"/>
              <a:t>框架</a:t>
            </a:r>
            <a:r>
              <a:rPr lang="en-US" altLang="zh-TW" dirty="0">
                <a:latin typeface="PMingLiU" panose="02020500000000000000" pitchFamily="18" charset="-120"/>
                <a:ea typeface="PMingLiU" panose="02020500000000000000" pitchFamily="18" charset="-120"/>
              </a:rPr>
              <a:t>[</a:t>
            </a:r>
            <a:r>
              <a:rPr lang="zh-TW" altLang="en-US" dirty="0">
                <a:latin typeface="PMingLiU" panose="02020500000000000000" pitchFamily="18" charset="-120"/>
                <a:ea typeface="PMingLiU" panose="02020500000000000000" pitchFamily="18" charset="-120"/>
              </a:rPr>
              <a:t>備忘稿註</a:t>
            </a:r>
            <a:r>
              <a:rPr lang="en-US" altLang="zh-TW" dirty="0">
                <a:latin typeface="PMingLiU" panose="02020500000000000000" pitchFamily="18" charset="-120"/>
                <a:ea typeface="PMingLiU" panose="02020500000000000000" pitchFamily="18" charset="-120"/>
              </a:rPr>
              <a:t>1</a:t>
            </a:r>
            <a:r>
              <a:rPr lang="en-US" altLang="zh-TW" dirty="0" smtClean="0">
                <a:latin typeface="PMingLiU" panose="02020500000000000000" pitchFamily="18" charset="-120"/>
                <a:ea typeface="PMingLiU" panose="02020500000000000000" pitchFamily="18" charset="-120"/>
              </a:rPr>
              <a:t>]</a:t>
            </a:r>
            <a:endParaRPr lang="en-US" altLang="zh-TW" dirty="0"/>
          </a:p>
        </p:txBody>
      </p:sp>
    </p:spTree>
    <p:extLst>
      <p:ext uri="{BB962C8B-B14F-4D97-AF65-F5344CB8AC3E}">
        <p14:creationId xmlns:p14="http://schemas.microsoft.com/office/powerpoint/2010/main" val="2624436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84967" y="-64517"/>
            <a:ext cx="7886700" cy="973237"/>
          </a:xfrm>
        </p:spPr>
        <p:txBody>
          <a:bodyPr/>
          <a:lstStyle/>
          <a:p>
            <a:r>
              <a:rPr lang="zh-TW" altLang="en-US" dirty="0"/>
              <a:t>安全控制措施</a:t>
            </a:r>
            <a:r>
              <a:rPr lang="zh-TW" altLang="en-US" dirty="0" smtClean="0"/>
              <a:t>框架</a:t>
            </a:r>
            <a:r>
              <a:rPr lang="en-US" altLang="zh-TW" dirty="0" smtClean="0"/>
              <a:t>(2/</a:t>
            </a:r>
            <a:r>
              <a:rPr lang="en-US" altLang="zh-TW" dirty="0"/>
              <a:t>7</a:t>
            </a:r>
            <a:r>
              <a:rPr lang="en-US" altLang="zh-TW" dirty="0" smtClean="0"/>
              <a:t>)</a:t>
            </a:r>
            <a:endParaRPr lang="zh-TW" altLang="en-US" dirty="0"/>
          </a:p>
        </p:txBody>
      </p:sp>
      <p:graphicFrame>
        <p:nvGraphicFramePr>
          <p:cNvPr id="3" name="表格 2"/>
          <p:cNvGraphicFramePr>
            <a:graphicFrameLocks noGrp="1"/>
          </p:cNvGraphicFramePr>
          <p:nvPr>
            <p:extLst/>
          </p:nvPr>
        </p:nvGraphicFramePr>
        <p:xfrm>
          <a:off x="251520" y="4077072"/>
          <a:ext cx="8640960" cy="2590800"/>
        </p:xfrm>
        <a:graphic>
          <a:graphicData uri="http://schemas.openxmlformats.org/drawingml/2006/table">
            <a:tbl>
              <a:tblPr/>
              <a:tblGrid>
                <a:gridCol w="1369862">
                  <a:extLst>
                    <a:ext uri="{9D8B030D-6E8A-4147-A177-3AD203B41FA5}">
                      <a16:colId xmlns:a16="http://schemas.microsoft.com/office/drawing/2014/main" val="2365149220"/>
                    </a:ext>
                  </a:extLst>
                </a:gridCol>
                <a:gridCol w="3401675">
                  <a:extLst>
                    <a:ext uri="{9D8B030D-6E8A-4147-A177-3AD203B41FA5}">
                      <a16:colId xmlns:a16="http://schemas.microsoft.com/office/drawing/2014/main" val="425336573"/>
                    </a:ext>
                  </a:extLst>
                </a:gridCol>
                <a:gridCol w="3869423">
                  <a:extLst>
                    <a:ext uri="{9D8B030D-6E8A-4147-A177-3AD203B41FA5}">
                      <a16:colId xmlns:a16="http://schemas.microsoft.com/office/drawing/2014/main" val="3486306638"/>
                    </a:ext>
                  </a:extLst>
                </a:gridCol>
              </a:tblGrid>
              <a:tr h="0">
                <a:tc>
                  <a:txBody>
                    <a:bodyPr/>
                    <a:lstStyle/>
                    <a:p>
                      <a:pPr rtl="0"/>
                      <a:r>
                        <a:rPr lang="zh-TW" altLang="en-US" sz="2000" b="1" dirty="0">
                          <a:solidFill>
                            <a:srgbClr val="1F1F1F"/>
                          </a:solidFill>
                          <a:effectLst/>
                          <a:latin typeface="Google Sans Text"/>
                        </a:rPr>
                        <a:t>特性</a:t>
                      </a:r>
                      <a:endParaRPr lang="zh-TW" alt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zh-TW" sz="2000" b="1" dirty="0" smtClean="0">
                          <a:solidFill>
                            <a:srgbClr val="1F1F1F"/>
                          </a:solidFill>
                          <a:effectLst/>
                          <a:latin typeface="Google Sans Text"/>
                        </a:rPr>
                        <a:t>CNS/</a:t>
                      </a:r>
                      <a:r>
                        <a:rPr lang="en-US" sz="2000" b="1" dirty="0" smtClean="0">
                          <a:solidFill>
                            <a:srgbClr val="1F1F1F"/>
                          </a:solidFill>
                          <a:effectLst/>
                          <a:latin typeface="Google Sans Text"/>
                        </a:rPr>
                        <a:t>ISO </a:t>
                      </a:r>
                      <a:r>
                        <a:rPr lang="en-US" sz="2000" b="1" dirty="0">
                          <a:solidFill>
                            <a:srgbClr val="1F1F1F"/>
                          </a:solidFill>
                          <a:effectLst/>
                          <a:latin typeface="Google Sans Text"/>
                        </a:rPr>
                        <a:t>27001</a:t>
                      </a:r>
                      <a:endParaRPr 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sz="2000" b="1" dirty="0" smtClean="0">
                          <a:solidFill>
                            <a:srgbClr val="1F1F1F"/>
                          </a:solidFill>
                          <a:effectLst/>
                          <a:latin typeface="Google Sans Text"/>
                        </a:rPr>
                        <a:t>CNS/ISO </a:t>
                      </a:r>
                      <a:r>
                        <a:rPr lang="en-US" sz="2000" b="1" dirty="0">
                          <a:solidFill>
                            <a:srgbClr val="1F1F1F"/>
                          </a:solidFill>
                          <a:effectLst/>
                          <a:latin typeface="Google Sans Text"/>
                        </a:rPr>
                        <a:t>27002</a:t>
                      </a:r>
                      <a:endParaRPr 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98611865"/>
                  </a:ext>
                </a:extLst>
              </a:tr>
              <a:tr h="0">
                <a:tc>
                  <a:txBody>
                    <a:bodyPr/>
                    <a:lstStyle/>
                    <a:p>
                      <a:pPr rtl="0"/>
                      <a:r>
                        <a:rPr lang="zh-TW" altLang="en-US" sz="2000" b="1">
                          <a:solidFill>
                            <a:srgbClr val="1F1F1F"/>
                          </a:solidFill>
                          <a:effectLst/>
                          <a:latin typeface="Google Sans Text"/>
                        </a:rPr>
                        <a:t>性質</a:t>
                      </a:r>
                      <a:endParaRPr lang="zh-TW" altLang="en-US" sz="200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b="1" dirty="0">
                          <a:solidFill>
                            <a:srgbClr val="1F1F1F"/>
                          </a:solidFill>
                          <a:effectLst/>
                          <a:latin typeface="Google Sans Text"/>
                        </a:rPr>
                        <a:t>規範 </a:t>
                      </a:r>
                      <a:r>
                        <a:rPr lang="en-US" altLang="zh-TW" sz="2000" b="1" dirty="0">
                          <a:solidFill>
                            <a:srgbClr val="1F1F1F"/>
                          </a:solidFill>
                          <a:effectLst/>
                          <a:latin typeface="Google Sans Text"/>
                        </a:rPr>
                        <a:t>(</a:t>
                      </a:r>
                      <a:r>
                        <a:rPr lang="en-US" sz="2000" b="1" dirty="0">
                          <a:solidFill>
                            <a:srgbClr val="1F1F1F"/>
                          </a:solidFill>
                          <a:effectLst/>
                          <a:latin typeface="Google Sans Text"/>
                        </a:rPr>
                        <a:t>Normative)</a:t>
                      </a:r>
                      <a:endParaRPr 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b="1">
                          <a:solidFill>
                            <a:srgbClr val="1F1F1F"/>
                          </a:solidFill>
                          <a:effectLst/>
                          <a:latin typeface="Google Sans Text"/>
                        </a:rPr>
                        <a:t>資訊性 </a:t>
                      </a:r>
                      <a:r>
                        <a:rPr lang="en-US" altLang="zh-TW" sz="2000" b="1">
                          <a:solidFill>
                            <a:srgbClr val="1F1F1F"/>
                          </a:solidFill>
                          <a:effectLst/>
                          <a:latin typeface="Google Sans Text"/>
                        </a:rPr>
                        <a:t>(</a:t>
                      </a:r>
                      <a:r>
                        <a:rPr lang="en-US" sz="2000" b="1">
                          <a:solidFill>
                            <a:srgbClr val="1F1F1F"/>
                          </a:solidFill>
                          <a:effectLst/>
                          <a:latin typeface="Google Sans Text"/>
                        </a:rPr>
                        <a:t>Informative)</a:t>
                      </a:r>
                      <a:endParaRPr lang="en-US" sz="200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8962579"/>
                  </a:ext>
                </a:extLst>
              </a:tr>
              <a:tr h="0">
                <a:tc>
                  <a:txBody>
                    <a:bodyPr/>
                    <a:lstStyle/>
                    <a:p>
                      <a:pPr rtl="0"/>
                      <a:r>
                        <a:rPr lang="zh-TW" altLang="en-US" sz="2000" b="1">
                          <a:solidFill>
                            <a:srgbClr val="1F1F1F"/>
                          </a:solidFill>
                          <a:effectLst/>
                          <a:latin typeface="Google Sans Text"/>
                        </a:rPr>
                        <a:t>主要用途</a:t>
                      </a:r>
                      <a:endParaRPr lang="zh-TW" altLang="en-US" sz="200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dirty="0">
                          <a:solidFill>
                            <a:srgbClr val="1F1F1F"/>
                          </a:solidFill>
                          <a:effectLst/>
                          <a:latin typeface="Google Sans Text"/>
                        </a:rPr>
                        <a:t>建立管理制度、</a:t>
                      </a:r>
                      <a:r>
                        <a:rPr lang="zh-TW" altLang="en-US" sz="2000" b="1" dirty="0" smtClean="0">
                          <a:solidFill>
                            <a:srgbClr val="1F1F1F"/>
                          </a:solidFill>
                          <a:effectLst/>
                          <a:latin typeface="Google Sans Text"/>
                        </a:rPr>
                        <a:t>申請驗證</a:t>
                      </a:r>
                      <a:endParaRPr lang="zh-TW" alt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dirty="0">
                          <a:solidFill>
                            <a:srgbClr val="1F1F1F"/>
                          </a:solidFill>
                          <a:effectLst/>
                          <a:latin typeface="Google Sans Text"/>
                        </a:rPr>
                        <a:t>作為實作控制措施的</a:t>
                      </a:r>
                      <a:r>
                        <a:rPr lang="zh-TW" altLang="en-US" sz="2000" b="1" dirty="0">
                          <a:solidFill>
                            <a:srgbClr val="1F1F1F"/>
                          </a:solidFill>
                          <a:effectLst/>
                          <a:latin typeface="Google Sans Text"/>
                        </a:rPr>
                        <a:t>參考手冊</a:t>
                      </a:r>
                      <a:endParaRPr lang="zh-TW" alt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62745726"/>
                  </a:ext>
                </a:extLst>
              </a:tr>
              <a:tr h="0">
                <a:tc>
                  <a:txBody>
                    <a:bodyPr/>
                    <a:lstStyle/>
                    <a:p>
                      <a:pPr rtl="0"/>
                      <a:r>
                        <a:rPr lang="zh-TW" altLang="en-US" sz="2000" b="1" dirty="0">
                          <a:solidFill>
                            <a:srgbClr val="1F1F1F"/>
                          </a:solidFill>
                          <a:effectLst/>
                          <a:latin typeface="Google Sans Text"/>
                        </a:rPr>
                        <a:t>內容長度</a:t>
                      </a:r>
                      <a:endParaRPr lang="zh-TW" altLang="en-US"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dirty="0" smtClean="0">
                          <a:solidFill>
                            <a:srgbClr val="1F1F1F"/>
                          </a:solidFill>
                          <a:effectLst/>
                          <a:latin typeface="Google Sans Text"/>
                        </a:rPr>
                        <a:t>較短，</a:t>
                      </a:r>
                      <a:r>
                        <a:rPr lang="zh-TW" altLang="en-US" sz="2000" dirty="0">
                          <a:solidFill>
                            <a:srgbClr val="1F1F1F"/>
                          </a:solidFill>
                          <a:effectLst/>
                          <a:latin typeface="Google Sans Text"/>
                        </a:rPr>
                        <a:t>強調管理流程 </a:t>
                      </a:r>
                      <a:r>
                        <a:rPr lang="en-US" altLang="zh-TW" sz="2000" dirty="0">
                          <a:solidFill>
                            <a:srgbClr val="1F1F1F"/>
                          </a:solidFill>
                          <a:effectLst/>
                          <a:latin typeface="Google Sans Text"/>
                        </a:rPr>
                        <a:t>(PDCA)</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dirty="0">
                          <a:solidFill>
                            <a:srgbClr val="1F1F1F"/>
                          </a:solidFill>
                          <a:effectLst/>
                          <a:latin typeface="Google Sans Text"/>
                        </a:rPr>
                        <a:t>較長，詳細描述技術與管理</a:t>
                      </a:r>
                      <a:r>
                        <a:rPr lang="zh-TW" altLang="en-US" sz="2000" dirty="0" smtClean="0">
                          <a:solidFill>
                            <a:srgbClr val="1F1F1F"/>
                          </a:solidFill>
                          <a:effectLst/>
                          <a:latin typeface="Google Sans Text"/>
                        </a:rPr>
                        <a:t>細節</a:t>
                      </a:r>
                      <a:endParaRPr lang="en-US" altLang="zh-TW" sz="2000" dirty="0" smtClean="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698600"/>
                  </a:ext>
                </a:extLst>
              </a:tr>
              <a:tr h="0">
                <a:tc>
                  <a:txBody>
                    <a:bodyPr/>
                    <a:lstStyle/>
                    <a:p>
                      <a:pPr rtl="0"/>
                      <a:r>
                        <a:rPr lang="zh-TW" altLang="en-US" sz="2000" b="1">
                          <a:solidFill>
                            <a:srgbClr val="1F1F1F"/>
                          </a:solidFill>
                          <a:effectLst/>
                          <a:latin typeface="Google Sans Text"/>
                        </a:rPr>
                        <a:t>強制性</a:t>
                      </a:r>
                      <a:endParaRPr lang="zh-TW" altLang="en-US" sz="200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b="1" dirty="0">
                          <a:solidFill>
                            <a:srgbClr val="1F1F1F"/>
                          </a:solidFill>
                          <a:effectLst/>
                          <a:latin typeface="Google Sans Text"/>
                        </a:rPr>
                        <a:t>高</a:t>
                      </a:r>
                      <a:r>
                        <a:rPr lang="zh-TW" altLang="en-US" sz="2000" dirty="0">
                          <a:solidFill>
                            <a:srgbClr val="1F1F1F"/>
                          </a:solidFill>
                          <a:effectLst/>
                          <a:latin typeface="Google Sans Text"/>
                        </a:rPr>
                        <a:t> </a:t>
                      </a:r>
                      <a:r>
                        <a:rPr lang="en-US" altLang="zh-TW" sz="2000" dirty="0">
                          <a:solidFill>
                            <a:srgbClr val="1F1F1F"/>
                          </a:solidFill>
                          <a:effectLst/>
                          <a:latin typeface="Google Sans Text"/>
                        </a:rPr>
                        <a:t>(</a:t>
                      </a:r>
                      <a:r>
                        <a:rPr lang="zh-TW" altLang="en-US" sz="2000" dirty="0">
                          <a:solidFill>
                            <a:srgbClr val="1F1F1F"/>
                          </a:solidFill>
                          <a:effectLst/>
                          <a:latin typeface="Google Sans Text"/>
                        </a:rPr>
                        <a:t>必須符合才能過稽核</a:t>
                      </a:r>
                      <a:r>
                        <a:rPr lang="en-US" altLang="zh-TW" sz="2000" dirty="0">
                          <a:solidFill>
                            <a:srgbClr val="1F1F1F"/>
                          </a:solidFill>
                          <a:effectLst/>
                          <a:latin typeface="Google Sans Text"/>
                        </a:rPr>
                        <a:t>)</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b="1" dirty="0">
                          <a:solidFill>
                            <a:srgbClr val="1F1F1F"/>
                          </a:solidFill>
                          <a:effectLst/>
                          <a:latin typeface="Google Sans Text"/>
                        </a:rPr>
                        <a:t>低</a:t>
                      </a:r>
                      <a:r>
                        <a:rPr lang="zh-TW" altLang="en-US" sz="2000" dirty="0">
                          <a:solidFill>
                            <a:srgbClr val="1F1F1F"/>
                          </a:solidFill>
                          <a:effectLst/>
                          <a:latin typeface="Google Sans Text"/>
                        </a:rPr>
                        <a:t> </a:t>
                      </a:r>
                      <a:r>
                        <a:rPr lang="en-US" altLang="zh-TW" sz="2000" dirty="0">
                          <a:solidFill>
                            <a:srgbClr val="1F1F1F"/>
                          </a:solidFill>
                          <a:effectLst/>
                          <a:latin typeface="Google Sans Text"/>
                        </a:rPr>
                        <a:t>(</a:t>
                      </a:r>
                      <a:r>
                        <a:rPr lang="zh-TW" altLang="en-US" sz="2000" dirty="0">
                          <a:solidFill>
                            <a:srgbClr val="1F1F1F"/>
                          </a:solidFill>
                          <a:effectLst/>
                          <a:latin typeface="Google Sans Text"/>
                        </a:rPr>
                        <a:t>企業可依自身狀況調整</a:t>
                      </a:r>
                      <a:r>
                        <a:rPr lang="zh-TW" altLang="en-US" sz="2000" dirty="0" smtClean="0">
                          <a:solidFill>
                            <a:srgbClr val="1F1F1F"/>
                          </a:solidFill>
                          <a:effectLst/>
                          <a:latin typeface="Google Sans Text"/>
                        </a:rPr>
                        <a:t>實施方式</a:t>
                      </a:r>
                      <a:r>
                        <a:rPr lang="en-US" altLang="zh-TW" sz="2000" dirty="0" smtClean="0">
                          <a:solidFill>
                            <a:srgbClr val="1F1F1F"/>
                          </a:solidFill>
                          <a:effectLst/>
                          <a:latin typeface="Google Sans Text"/>
                        </a:rPr>
                        <a:t>)</a:t>
                      </a:r>
                      <a:endParaRPr lang="en-US" altLang="zh-TW" sz="2000"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51599615"/>
                  </a:ext>
                </a:extLst>
              </a:tr>
              <a:tr h="0">
                <a:tc>
                  <a:txBody>
                    <a:bodyPr/>
                    <a:lstStyle/>
                    <a:p>
                      <a:pPr rtl="0"/>
                      <a:r>
                        <a:rPr lang="zh-TW" altLang="en-US" sz="2000" b="1">
                          <a:solidFill>
                            <a:srgbClr val="1F1F1F"/>
                          </a:solidFill>
                          <a:effectLst/>
                          <a:latin typeface="Google Sans Text"/>
                        </a:rPr>
                        <a:t>對應關係</a:t>
                      </a:r>
                      <a:endParaRPr lang="zh-TW" altLang="en-US" sz="200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a:solidFill>
                            <a:srgbClr val="1F1F1F"/>
                          </a:solidFill>
                          <a:effectLst/>
                          <a:latin typeface="Google Sans Text"/>
                        </a:rPr>
                        <a:t>提出「做什麼」</a:t>
                      </a:r>
                      <a:r>
                        <a:rPr lang="en-US" altLang="zh-TW" sz="2000">
                          <a:solidFill>
                            <a:srgbClr val="1F1F1F"/>
                          </a:solidFill>
                          <a:effectLst/>
                          <a:latin typeface="Google Sans Text"/>
                        </a:rPr>
                        <a:t>(</a:t>
                      </a:r>
                      <a:r>
                        <a:rPr lang="en-US" sz="2000">
                          <a:solidFill>
                            <a:srgbClr val="1F1F1F"/>
                          </a:solidFill>
                          <a:effectLst/>
                          <a:latin typeface="Google Sans Text"/>
                        </a:rPr>
                        <a:t>What)</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sz="2000" dirty="0">
                          <a:solidFill>
                            <a:srgbClr val="1F1F1F"/>
                          </a:solidFill>
                          <a:effectLst/>
                          <a:latin typeface="Google Sans Text"/>
                        </a:rPr>
                        <a:t>解釋「怎麼做」</a:t>
                      </a:r>
                      <a:r>
                        <a:rPr lang="en-US" altLang="zh-TW" sz="2000" dirty="0">
                          <a:solidFill>
                            <a:srgbClr val="1F1F1F"/>
                          </a:solidFill>
                          <a:effectLst/>
                          <a:latin typeface="Google Sans Text"/>
                        </a:rPr>
                        <a:t>(</a:t>
                      </a:r>
                      <a:r>
                        <a:rPr lang="en-US" sz="2000" dirty="0">
                          <a:solidFill>
                            <a:srgbClr val="1F1F1F"/>
                          </a:solidFill>
                          <a:effectLst/>
                          <a:latin typeface="Google Sans Text"/>
                        </a:rPr>
                        <a:t>How)</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1268578"/>
                  </a:ext>
                </a:extLst>
              </a:tr>
            </a:tbl>
          </a:graphicData>
        </a:graphic>
      </p:graphicFrame>
      <p:sp>
        <p:nvSpPr>
          <p:cNvPr id="5" name="矩形 4"/>
          <p:cNvSpPr/>
          <p:nvPr/>
        </p:nvSpPr>
        <p:spPr>
          <a:xfrm>
            <a:off x="251520" y="908720"/>
            <a:ext cx="5003293" cy="523220"/>
          </a:xfrm>
          <a:prstGeom prst="rect">
            <a:avLst/>
          </a:prstGeom>
        </p:spPr>
        <p:txBody>
          <a:bodyPr wrap="none">
            <a:spAutoFit/>
          </a:bodyPr>
          <a:lstStyle/>
          <a:p>
            <a:r>
              <a:rPr lang="en-US" altLang="zh-TW" sz="2800" b="1" dirty="0">
                <a:solidFill>
                  <a:srgbClr val="1F1F1F"/>
                </a:solidFill>
                <a:latin typeface="Google Sans Text"/>
              </a:rPr>
              <a:t>CNS/ISO </a:t>
            </a:r>
            <a:r>
              <a:rPr lang="en-US" altLang="zh-TW" sz="2800" b="1" dirty="0" smtClean="0">
                <a:solidFill>
                  <a:srgbClr val="1F1F1F"/>
                </a:solidFill>
                <a:latin typeface="Google Sans Text"/>
              </a:rPr>
              <a:t>27001</a:t>
            </a:r>
            <a:r>
              <a:rPr lang="zh-TW" altLang="en-US" sz="2800" b="1" dirty="0" smtClean="0">
                <a:solidFill>
                  <a:srgbClr val="1F1F1F"/>
                </a:solidFill>
                <a:latin typeface="Google Sans Text"/>
              </a:rPr>
              <a:t>與</a:t>
            </a:r>
            <a:r>
              <a:rPr lang="en-US" altLang="zh-TW" sz="2800" b="1" dirty="0">
                <a:solidFill>
                  <a:srgbClr val="1F1F1F"/>
                </a:solidFill>
                <a:latin typeface="Google Sans Text"/>
              </a:rPr>
              <a:t>CNS/ISO </a:t>
            </a:r>
            <a:r>
              <a:rPr lang="en-US" altLang="zh-TW" sz="2800" b="1" dirty="0" smtClean="0">
                <a:solidFill>
                  <a:srgbClr val="1F1F1F"/>
                </a:solidFill>
                <a:latin typeface="Google Sans Text"/>
              </a:rPr>
              <a:t>27002</a:t>
            </a:r>
            <a:endParaRPr lang="en-US" altLang="zh-TW" sz="2800" dirty="0">
              <a:solidFill>
                <a:srgbClr val="1F1F1F"/>
              </a:solidFill>
              <a:latin typeface="Google Sans Text"/>
            </a:endParaRPr>
          </a:p>
        </p:txBody>
      </p:sp>
      <p:sp>
        <p:nvSpPr>
          <p:cNvPr id="4" name="矩形 3"/>
          <p:cNvSpPr/>
          <p:nvPr/>
        </p:nvSpPr>
        <p:spPr>
          <a:xfrm>
            <a:off x="284967" y="1340768"/>
            <a:ext cx="8352928" cy="2585323"/>
          </a:xfrm>
          <a:prstGeom prst="rect">
            <a:avLst/>
          </a:prstGeom>
        </p:spPr>
        <p:txBody>
          <a:bodyPr wrap="square">
            <a:spAutoFit/>
          </a:bodyPr>
          <a:lstStyle/>
          <a:p>
            <a:r>
              <a:rPr lang="en-US" altLang="zh-TW" b="1" dirty="0">
                <a:solidFill>
                  <a:srgbClr val="1F1F1F"/>
                </a:solidFill>
                <a:latin typeface="Google Sans Text"/>
              </a:rPr>
              <a:t>CNS/ISO </a:t>
            </a:r>
            <a:r>
              <a:rPr lang="en-US" altLang="zh-TW" b="1" dirty="0" smtClean="0">
                <a:solidFill>
                  <a:srgbClr val="1F1F1F"/>
                </a:solidFill>
                <a:latin typeface="Google Sans Text"/>
              </a:rPr>
              <a:t>27001 </a:t>
            </a:r>
            <a:r>
              <a:rPr lang="zh-TW" altLang="en-US" dirty="0" smtClean="0"/>
              <a:t>附錄 </a:t>
            </a:r>
            <a:r>
              <a:rPr lang="en-US" altLang="zh-TW" dirty="0"/>
              <a:t>A (Annex A) – </a:t>
            </a:r>
            <a:r>
              <a:rPr lang="zh-TW" altLang="en-US" dirty="0"/>
              <a:t>安全控制</a:t>
            </a:r>
            <a:r>
              <a:rPr lang="zh-TW" altLang="en-US" dirty="0" smtClean="0"/>
              <a:t>措施</a:t>
            </a:r>
            <a:endParaRPr lang="en-US" altLang="zh-TW" dirty="0" smtClean="0"/>
          </a:p>
          <a:p>
            <a:r>
              <a:rPr lang="en-US" altLang="zh-TW" dirty="0" smtClean="0"/>
              <a:t>2022 </a:t>
            </a:r>
            <a:r>
              <a:rPr lang="zh-TW" altLang="en-US" dirty="0"/>
              <a:t>新版中，控制措施從舊版的 </a:t>
            </a:r>
            <a:r>
              <a:rPr lang="en-US" altLang="zh-TW" dirty="0"/>
              <a:t>114</a:t>
            </a:r>
            <a:r>
              <a:rPr lang="zh-TW" altLang="en-US" dirty="0"/>
              <a:t>項整併為 </a:t>
            </a:r>
            <a:r>
              <a:rPr lang="en-US" altLang="zh-TW" dirty="0"/>
              <a:t>93 </a:t>
            </a:r>
            <a:r>
              <a:rPr lang="zh-TW" altLang="en-US" dirty="0"/>
              <a:t>項，並簡化為 </a:t>
            </a:r>
            <a:r>
              <a:rPr lang="en-US" altLang="zh-TW" dirty="0"/>
              <a:t>4 </a:t>
            </a:r>
            <a:r>
              <a:rPr lang="zh-TW" altLang="en-US" dirty="0"/>
              <a:t>大主題：</a:t>
            </a:r>
          </a:p>
          <a:p>
            <a:pPr marL="342900" indent="-342900">
              <a:buFont typeface="+mj-lt"/>
              <a:buAutoNum type="arabicPeriod"/>
            </a:pPr>
            <a:r>
              <a:rPr lang="zh-TW" altLang="en-US" dirty="0"/>
              <a:t>組織控制 </a:t>
            </a:r>
            <a:r>
              <a:rPr lang="en-US" altLang="zh-TW" dirty="0"/>
              <a:t>(Organizational)</a:t>
            </a:r>
            <a:r>
              <a:rPr lang="zh-TW" altLang="en-US" dirty="0"/>
              <a:t>： 如身分識別管理、情資威脅蒐集。</a:t>
            </a:r>
          </a:p>
          <a:p>
            <a:pPr marL="342900" indent="-342900">
              <a:buFont typeface="+mj-lt"/>
              <a:buAutoNum type="arabicPeriod"/>
            </a:pPr>
            <a:r>
              <a:rPr lang="zh-TW" altLang="en-US" dirty="0"/>
              <a:t>人員控制 </a:t>
            </a:r>
            <a:r>
              <a:rPr lang="en-US" altLang="zh-TW" dirty="0"/>
              <a:t>(People)</a:t>
            </a:r>
            <a:r>
              <a:rPr lang="zh-TW" altLang="en-US" dirty="0"/>
              <a:t>： 如人員報到</a:t>
            </a:r>
            <a:r>
              <a:rPr lang="en-US" altLang="zh-TW" dirty="0"/>
              <a:t>/</a:t>
            </a:r>
            <a:r>
              <a:rPr lang="zh-TW" altLang="en-US" dirty="0"/>
              <a:t>離職篩選、資安意識教育訓練。</a:t>
            </a:r>
          </a:p>
          <a:p>
            <a:pPr marL="342900" indent="-342900">
              <a:buFont typeface="+mj-lt"/>
              <a:buAutoNum type="arabicPeriod"/>
            </a:pPr>
            <a:r>
              <a:rPr lang="zh-TW" altLang="en-US" dirty="0"/>
              <a:t>實體控制 </a:t>
            </a:r>
            <a:r>
              <a:rPr lang="en-US" altLang="zh-TW" dirty="0"/>
              <a:t>(Physical)</a:t>
            </a:r>
            <a:r>
              <a:rPr lang="zh-TW" altLang="en-US" dirty="0"/>
              <a:t>： 如機房門禁、辦公桌淨空 </a:t>
            </a:r>
            <a:r>
              <a:rPr lang="en-US" altLang="zh-TW" dirty="0"/>
              <a:t>(Clear Desk Policy)</a:t>
            </a:r>
            <a:r>
              <a:rPr lang="zh-TW" altLang="en-US" dirty="0"/>
              <a:t>。</a:t>
            </a:r>
          </a:p>
          <a:p>
            <a:pPr marL="342900" indent="-342900">
              <a:buFont typeface="+mj-lt"/>
              <a:buAutoNum type="arabicPeriod"/>
            </a:pPr>
            <a:r>
              <a:rPr lang="zh-TW" altLang="en-US" dirty="0"/>
              <a:t>技術控制 </a:t>
            </a:r>
            <a:r>
              <a:rPr lang="en-US" altLang="zh-TW" dirty="0"/>
              <a:t>(Technological)</a:t>
            </a:r>
            <a:r>
              <a:rPr lang="zh-TW" altLang="en-US" dirty="0"/>
              <a:t>： 如網路安全、加密、惡意軟體防護、程式碼安全</a:t>
            </a:r>
            <a:r>
              <a:rPr lang="zh-TW" altLang="en-US" dirty="0" smtClean="0"/>
              <a:t>。</a:t>
            </a:r>
            <a:endParaRPr lang="en-US" altLang="zh-TW" dirty="0" smtClean="0"/>
          </a:p>
          <a:p>
            <a:endParaRPr lang="en-US" altLang="zh-TW" dirty="0"/>
          </a:p>
          <a:p>
            <a:r>
              <a:rPr lang="en-US" altLang="zh-TW" b="1" dirty="0">
                <a:solidFill>
                  <a:srgbClr val="1F1F1F"/>
                </a:solidFill>
                <a:latin typeface="Google Sans Text"/>
              </a:rPr>
              <a:t>CNS/ISO </a:t>
            </a:r>
            <a:r>
              <a:rPr lang="en-US" altLang="zh-TW" b="1" dirty="0" smtClean="0">
                <a:solidFill>
                  <a:srgbClr val="1F1F1F"/>
                </a:solidFill>
                <a:latin typeface="Google Sans Text"/>
              </a:rPr>
              <a:t>27002 </a:t>
            </a:r>
            <a:r>
              <a:rPr lang="zh-TW" altLang="en-US" b="1" dirty="0" smtClean="0">
                <a:solidFill>
                  <a:srgbClr val="1F1F1F"/>
                </a:solidFill>
                <a:latin typeface="Google Sans Text"/>
              </a:rPr>
              <a:t>則針對 </a:t>
            </a:r>
            <a:r>
              <a:rPr lang="en-US" altLang="zh-TW" b="1" dirty="0">
                <a:solidFill>
                  <a:srgbClr val="1F1F1F"/>
                </a:solidFill>
                <a:latin typeface="Google Sans Text"/>
              </a:rPr>
              <a:t>CNS/ISO </a:t>
            </a:r>
            <a:r>
              <a:rPr lang="en-US" altLang="zh-TW" b="1" dirty="0" smtClean="0">
                <a:solidFill>
                  <a:srgbClr val="1F1F1F"/>
                </a:solidFill>
                <a:latin typeface="Google Sans Text"/>
              </a:rPr>
              <a:t>27001</a:t>
            </a:r>
            <a:r>
              <a:rPr lang="zh-TW" altLang="en-US" b="1" dirty="0" smtClean="0">
                <a:solidFill>
                  <a:srgbClr val="1F1F1F"/>
                </a:solidFill>
                <a:latin typeface="Google Sans Text"/>
              </a:rPr>
              <a:t> </a:t>
            </a:r>
            <a:r>
              <a:rPr lang="zh-TW" altLang="en-US" dirty="0" smtClean="0"/>
              <a:t>附錄 </a:t>
            </a:r>
            <a:r>
              <a:rPr lang="en-US" altLang="zh-TW" dirty="0"/>
              <a:t>A (Annex A) – </a:t>
            </a:r>
            <a:r>
              <a:rPr lang="zh-TW" altLang="en-US" dirty="0"/>
              <a:t>安全控制</a:t>
            </a:r>
            <a:r>
              <a:rPr lang="zh-TW" altLang="en-US" dirty="0" smtClean="0"/>
              <a:t>措施詳加說明</a:t>
            </a:r>
            <a:r>
              <a:rPr lang="zh-TW" altLang="en-US" dirty="0">
                <a:latin typeface="PMingLiU" panose="02020500000000000000" pitchFamily="18" charset="-120"/>
                <a:ea typeface="PMingLiU" panose="02020500000000000000" pitchFamily="18" charset="-120"/>
              </a:rPr>
              <a:t>，作為實作控制措施的參考</a:t>
            </a:r>
            <a:r>
              <a:rPr lang="zh-TW" altLang="en-US" dirty="0" smtClean="0">
                <a:latin typeface="PMingLiU" panose="02020500000000000000" pitchFamily="18" charset="-120"/>
                <a:ea typeface="PMingLiU" panose="02020500000000000000" pitchFamily="18" charset="-120"/>
              </a:rPr>
              <a:t>手冊。</a:t>
            </a:r>
            <a:endParaRPr lang="en-US" altLang="zh-TW" dirty="0"/>
          </a:p>
        </p:txBody>
      </p:sp>
    </p:spTree>
    <p:extLst>
      <p:ext uri="{BB962C8B-B14F-4D97-AF65-F5344CB8AC3E}">
        <p14:creationId xmlns:p14="http://schemas.microsoft.com/office/powerpoint/2010/main" val="3150592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1450" y="0"/>
            <a:ext cx="7886700" cy="987304"/>
          </a:xfrm>
        </p:spPr>
        <p:txBody>
          <a:bodyPr/>
          <a:lstStyle/>
          <a:p>
            <a:r>
              <a:rPr lang="zh-TW" altLang="en-US" dirty="0" smtClean="0"/>
              <a:t>安全</a:t>
            </a:r>
            <a:r>
              <a:rPr lang="zh-TW" altLang="en-US" dirty="0"/>
              <a:t>控制</a:t>
            </a:r>
            <a:r>
              <a:rPr lang="zh-TW" altLang="en-US" dirty="0" smtClean="0"/>
              <a:t>措施框架</a:t>
            </a:r>
            <a:r>
              <a:rPr lang="en-US" altLang="zh-TW" dirty="0" smtClean="0"/>
              <a:t>(3/7)</a:t>
            </a:r>
            <a:endParaRPr lang="zh-TW" altLang="en-US" dirty="0"/>
          </a:p>
        </p:txBody>
      </p:sp>
      <p:graphicFrame>
        <p:nvGraphicFramePr>
          <p:cNvPr id="3" name="表格 2"/>
          <p:cNvGraphicFramePr>
            <a:graphicFrameLocks noGrp="1"/>
          </p:cNvGraphicFramePr>
          <p:nvPr>
            <p:extLst/>
          </p:nvPr>
        </p:nvGraphicFramePr>
        <p:xfrm>
          <a:off x="422681" y="2685113"/>
          <a:ext cx="8577708" cy="3474720"/>
        </p:xfrm>
        <a:graphic>
          <a:graphicData uri="http://schemas.openxmlformats.org/drawingml/2006/table">
            <a:tbl>
              <a:tblPr/>
              <a:tblGrid>
                <a:gridCol w="1434874">
                  <a:extLst>
                    <a:ext uri="{9D8B030D-6E8A-4147-A177-3AD203B41FA5}">
                      <a16:colId xmlns:a16="http://schemas.microsoft.com/office/drawing/2014/main" val="3232976281"/>
                    </a:ext>
                  </a:extLst>
                </a:gridCol>
                <a:gridCol w="3317654">
                  <a:extLst>
                    <a:ext uri="{9D8B030D-6E8A-4147-A177-3AD203B41FA5}">
                      <a16:colId xmlns:a16="http://schemas.microsoft.com/office/drawing/2014/main" val="3724352721"/>
                    </a:ext>
                  </a:extLst>
                </a:gridCol>
                <a:gridCol w="3825180">
                  <a:extLst>
                    <a:ext uri="{9D8B030D-6E8A-4147-A177-3AD203B41FA5}">
                      <a16:colId xmlns:a16="http://schemas.microsoft.com/office/drawing/2014/main" val="3998882958"/>
                    </a:ext>
                  </a:extLst>
                </a:gridCol>
              </a:tblGrid>
              <a:tr h="0">
                <a:tc>
                  <a:txBody>
                    <a:bodyPr/>
                    <a:lstStyle/>
                    <a:p>
                      <a:pPr rtl="0"/>
                      <a:r>
                        <a:rPr lang="zh-TW" altLang="en-US" b="1" dirty="0">
                          <a:solidFill>
                            <a:srgbClr val="1F1F1F"/>
                          </a:solidFill>
                          <a:effectLst/>
                          <a:latin typeface="Google Sans Text"/>
                        </a:rPr>
                        <a:t>特性</a:t>
                      </a:r>
                      <a:endParaRPr lang="zh-TW" alt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b="1" dirty="0">
                          <a:solidFill>
                            <a:srgbClr val="1F1F1F"/>
                          </a:solidFill>
                          <a:effectLst/>
                          <a:latin typeface="Google Sans Text"/>
                        </a:rPr>
                        <a:t>NIST CSF 2.0</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b="1" dirty="0">
                          <a:solidFill>
                            <a:srgbClr val="1F1F1F"/>
                          </a:solidFill>
                          <a:effectLst/>
                          <a:latin typeface="Google Sans Text"/>
                        </a:rPr>
                        <a:t>NIST SP 800-53 </a:t>
                      </a:r>
                      <a:r>
                        <a:rPr lang="en-US" b="1" dirty="0" smtClean="0">
                          <a:solidFill>
                            <a:srgbClr val="1F1F1F"/>
                          </a:solidFill>
                          <a:effectLst/>
                          <a:latin typeface="Google Sans Text"/>
                        </a:rPr>
                        <a:t>(Rev</a:t>
                      </a:r>
                      <a:r>
                        <a:rPr lang="en-US" b="1" dirty="0">
                          <a:solidFill>
                            <a:srgbClr val="1F1F1F"/>
                          </a:solidFill>
                          <a:effectLst/>
                          <a:latin typeface="Google Sans Text"/>
                        </a:rPr>
                        <a:t>. 5)</a:t>
                      </a:r>
                      <a:endParaRPr lang="en-US" dirty="0">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4115870"/>
                  </a:ext>
                </a:extLst>
              </a:tr>
              <a:tr h="0">
                <a:tc>
                  <a:txBody>
                    <a:bodyPr/>
                    <a:lstStyle/>
                    <a:p>
                      <a:pPr rtl="0"/>
                      <a:r>
                        <a:rPr lang="zh-TW" altLang="en-US" b="1">
                          <a:solidFill>
                            <a:srgbClr val="1F1F1F"/>
                          </a:solidFill>
                          <a:effectLst/>
                          <a:latin typeface="Google Sans Text"/>
                        </a:rPr>
                        <a:t>主要目的</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smtClean="0">
                          <a:solidFill>
                            <a:srgbClr val="1F1F1F"/>
                          </a:solidFill>
                          <a:effectLst/>
                          <a:latin typeface="Google Sans Text"/>
                        </a:rPr>
                        <a:t>強調風險</a:t>
                      </a:r>
                      <a:r>
                        <a:rPr lang="zh-TW" altLang="en-US" b="1" dirty="0">
                          <a:solidFill>
                            <a:srgbClr val="1F1F1F"/>
                          </a:solidFill>
                          <a:effectLst/>
                          <a:latin typeface="Google Sans Text"/>
                        </a:rPr>
                        <a:t>管理</a:t>
                      </a:r>
                      <a:r>
                        <a:rPr lang="zh-TW" altLang="en-US" dirty="0">
                          <a:solidFill>
                            <a:srgbClr val="1F1F1F"/>
                          </a:solidFill>
                          <a:effectLst/>
                          <a:latin typeface="Google Sans Text"/>
                        </a:rPr>
                        <a:t>：協助組織排定優先順序、溝通資安需求。</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合規與</a:t>
                      </a:r>
                      <a:r>
                        <a:rPr lang="zh-TW" altLang="en-US" b="1" dirty="0" smtClean="0">
                          <a:solidFill>
                            <a:srgbClr val="1F1F1F"/>
                          </a:solidFill>
                          <a:effectLst/>
                          <a:latin typeface="Google Sans Text"/>
                        </a:rPr>
                        <a:t>實施</a:t>
                      </a:r>
                      <a:r>
                        <a:rPr lang="zh-TW" altLang="en-US" dirty="0" smtClean="0">
                          <a:solidFill>
                            <a:srgbClr val="1F1F1F"/>
                          </a:solidFill>
                          <a:effectLst/>
                          <a:latin typeface="Google Sans Text"/>
                        </a:rPr>
                        <a:t>：</a:t>
                      </a:r>
                      <a:r>
                        <a:rPr lang="zh-TW" altLang="en-US" dirty="0">
                          <a:solidFill>
                            <a:srgbClr val="1F1F1F"/>
                          </a:solidFill>
                          <a:effectLst/>
                          <a:latin typeface="Google Sans Text"/>
                        </a:rPr>
                        <a:t>提供具體的操作標準和安全控制措施。</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4151076"/>
                  </a:ext>
                </a:extLst>
              </a:tr>
              <a:tr h="0">
                <a:tc>
                  <a:txBody>
                    <a:bodyPr/>
                    <a:lstStyle/>
                    <a:p>
                      <a:pPr rtl="0"/>
                      <a:r>
                        <a:rPr lang="zh-TW" altLang="en-US" b="1">
                          <a:solidFill>
                            <a:srgbClr val="1F1F1F"/>
                          </a:solidFill>
                          <a:effectLst/>
                          <a:latin typeface="Google Sans Text"/>
                        </a:rPr>
                        <a:t>適用對象</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所有組織</a:t>
                      </a:r>
                      <a:r>
                        <a:rPr lang="zh-TW" altLang="en-US" dirty="0">
                          <a:solidFill>
                            <a:srgbClr val="1F1F1F"/>
                          </a:solidFill>
                          <a:effectLst/>
                          <a:latin typeface="Google Sans Text"/>
                        </a:rPr>
                        <a:t> </a:t>
                      </a:r>
                      <a:r>
                        <a:rPr lang="en-US" altLang="zh-TW" dirty="0">
                          <a:solidFill>
                            <a:srgbClr val="1F1F1F"/>
                          </a:solidFill>
                          <a:effectLst/>
                          <a:latin typeface="Google Sans Text"/>
                        </a:rPr>
                        <a:t>(</a:t>
                      </a:r>
                      <a:r>
                        <a:rPr lang="zh-TW" altLang="en-US" dirty="0">
                          <a:solidFill>
                            <a:srgbClr val="1F1F1F"/>
                          </a:solidFill>
                          <a:effectLst/>
                          <a:latin typeface="Google Sans Text"/>
                        </a:rPr>
                        <a:t>不分產業、規模、公私部門</a:t>
                      </a:r>
                      <a:r>
                        <a:rPr lang="en-US" altLang="zh-TW" dirty="0">
                          <a:solidFill>
                            <a:srgbClr val="1F1F1F"/>
                          </a:solidFill>
                          <a:effectLst/>
                          <a:latin typeface="Google Sans Text"/>
                        </a:rPr>
                        <a:t>)</a:t>
                      </a:r>
                      <a:r>
                        <a:rPr lang="zh-TW" altLang="en-US" dirty="0">
                          <a:solidFill>
                            <a:srgbClr val="1F1F1F"/>
                          </a:solidFill>
                          <a:effectLst/>
                          <a:latin typeface="Google Sans Text"/>
                        </a:rPr>
                        <a:t>。</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美國聯邦機構</a:t>
                      </a:r>
                      <a:r>
                        <a:rPr lang="zh-TW" altLang="en-US" dirty="0">
                          <a:solidFill>
                            <a:srgbClr val="1F1F1F"/>
                          </a:solidFill>
                          <a:effectLst/>
                          <a:latin typeface="Google Sans Text"/>
                        </a:rPr>
                        <a:t> </a:t>
                      </a:r>
                      <a:r>
                        <a:rPr lang="en-US" altLang="zh-TW" dirty="0">
                          <a:solidFill>
                            <a:srgbClr val="1F1F1F"/>
                          </a:solidFill>
                          <a:effectLst/>
                          <a:latin typeface="Google Sans Text"/>
                        </a:rPr>
                        <a:t>(</a:t>
                      </a:r>
                      <a:r>
                        <a:rPr lang="zh-TW" altLang="en-US" dirty="0" smtClean="0">
                          <a:solidFill>
                            <a:srgbClr val="1F1F1F"/>
                          </a:solidFill>
                          <a:effectLst/>
                          <a:latin typeface="Google Sans Text"/>
                        </a:rPr>
                        <a:t>強制性要求</a:t>
                      </a:r>
                      <a:r>
                        <a:rPr lang="en-US" altLang="zh-TW" dirty="0" smtClean="0">
                          <a:solidFill>
                            <a:srgbClr val="1F1F1F"/>
                          </a:solidFill>
                          <a:effectLst/>
                          <a:latin typeface="Google Sans Text"/>
                        </a:rPr>
                        <a:t>)</a:t>
                      </a:r>
                    </a:p>
                    <a:p>
                      <a:pPr rtl="0"/>
                      <a:r>
                        <a:rPr lang="zh-TW" altLang="en-US" dirty="0" smtClean="0">
                          <a:solidFill>
                            <a:srgbClr val="1F1F1F"/>
                          </a:solidFill>
                          <a:effectLst/>
                          <a:latin typeface="Google Sans Text"/>
                        </a:rPr>
                        <a:t>但民間</a:t>
                      </a:r>
                      <a:r>
                        <a:rPr lang="zh-TW" altLang="en-US" dirty="0">
                          <a:solidFill>
                            <a:srgbClr val="1F1F1F"/>
                          </a:solidFill>
                          <a:effectLst/>
                          <a:latin typeface="Google Sans Text"/>
                        </a:rPr>
                        <a:t>企業廣泛採納作為最佳實務。</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4999873"/>
                  </a:ext>
                </a:extLst>
              </a:tr>
              <a:tr h="0">
                <a:tc>
                  <a:txBody>
                    <a:bodyPr/>
                    <a:lstStyle/>
                    <a:p>
                      <a:pPr rtl="0"/>
                      <a:r>
                        <a:rPr lang="zh-TW" altLang="en-US" b="1">
                          <a:solidFill>
                            <a:srgbClr val="1F1F1F"/>
                          </a:solidFill>
                          <a:effectLst/>
                          <a:latin typeface="Google Sans Text"/>
                        </a:rPr>
                        <a:t>顆粒度</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高階 </a:t>
                      </a:r>
                      <a:r>
                        <a:rPr lang="en-US" altLang="zh-TW" b="1" dirty="0">
                          <a:solidFill>
                            <a:srgbClr val="1F1F1F"/>
                          </a:solidFill>
                          <a:effectLst/>
                          <a:latin typeface="Google Sans Text"/>
                        </a:rPr>
                        <a:t>(</a:t>
                      </a:r>
                      <a:r>
                        <a:rPr lang="en-US" b="1" dirty="0">
                          <a:solidFill>
                            <a:srgbClr val="1F1F1F"/>
                          </a:solidFill>
                          <a:effectLst/>
                          <a:latin typeface="Google Sans Text"/>
                        </a:rPr>
                        <a:t>High-level)</a:t>
                      </a:r>
                      <a:r>
                        <a:rPr lang="en-US" dirty="0">
                          <a:solidFill>
                            <a:srgbClr val="1F1F1F"/>
                          </a:solidFill>
                          <a:effectLst/>
                          <a:latin typeface="Google Sans Text"/>
                        </a:rPr>
                        <a:t>：</a:t>
                      </a:r>
                      <a:r>
                        <a:rPr lang="zh-TW" altLang="en-US" dirty="0">
                          <a:solidFill>
                            <a:srgbClr val="1F1F1F"/>
                          </a:solidFill>
                          <a:effectLst/>
                          <a:latin typeface="Google Sans Text"/>
                        </a:rPr>
                        <a:t>描述預期的「結果」。</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b="1" dirty="0">
                          <a:solidFill>
                            <a:srgbClr val="1F1F1F"/>
                          </a:solidFill>
                          <a:effectLst/>
                          <a:latin typeface="Google Sans Text"/>
                        </a:rPr>
                        <a:t>細緻 </a:t>
                      </a:r>
                      <a:r>
                        <a:rPr lang="en-US" altLang="zh-TW" b="1" dirty="0">
                          <a:solidFill>
                            <a:srgbClr val="1F1F1F"/>
                          </a:solidFill>
                          <a:effectLst/>
                          <a:latin typeface="Google Sans Text"/>
                        </a:rPr>
                        <a:t>(Granular)</a:t>
                      </a:r>
                      <a:r>
                        <a:rPr lang="zh-TW" altLang="en-US" dirty="0">
                          <a:solidFill>
                            <a:srgbClr val="1F1F1F"/>
                          </a:solidFill>
                          <a:effectLst/>
                          <a:latin typeface="Google Sans Text"/>
                        </a:rPr>
                        <a:t>：描述具體的「配置與參數」。</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03588446"/>
                  </a:ext>
                </a:extLst>
              </a:tr>
              <a:tr h="0">
                <a:tc>
                  <a:txBody>
                    <a:bodyPr/>
                    <a:lstStyle/>
                    <a:p>
                      <a:pPr rtl="0"/>
                      <a:r>
                        <a:rPr lang="zh-TW" altLang="en-US" b="1">
                          <a:solidFill>
                            <a:srgbClr val="1F1F1F"/>
                          </a:solidFill>
                          <a:effectLst/>
                          <a:latin typeface="Google Sans Text"/>
                        </a:rPr>
                        <a:t>彈性</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a:solidFill>
                            <a:srgbClr val="1F1F1F"/>
                          </a:solidFill>
                          <a:effectLst/>
                          <a:latin typeface="Google Sans Text"/>
                        </a:rPr>
                        <a:t>高：組織可根據風險偏好選擇要達成哪些目標。</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dirty="0">
                          <a:solidFill>
                            <a:srgbClr val="1F1F1F"/>
                          </a:solidFill>
                          <a:effectLst/>
                          <a:latin typeface="Google Sans Text"/>
                        </a:rPr>
                        <a:t>中</a:t>
                      </a:r>
                      <a:r>
                        <a:rPr lang="en-US" altLang="zh-TW" dirty="0">
                          <a:solidFill>
                            <a:srgbClr val="1F1F1F"/>
                          </a:solidFill>
                          <a:effectLst/>
                          <a:latin typeface="Google Sans Text"/>
                        </a:rPr>
                        <a:t>/</a:t>
                      </a:r>
                      <a:r>
                        <a:rPr lang="zh-TW" altLang="en-US" dirty="0">
                          <a:solidFill>
                            <a:srgbClr val="1F1F1F"/>
                          </a:solidFill>
                          <a:effectLst/>
                          <a:latin typeface="Google Sans Text"/>
                        </a:rPr>
                        <a:t>低：通常需透過「裁減 </a:t>
                      </a:r>
                      <a:r>
                        <a:rPr lang="en-US" altLang="zh-TW" dirty="0">
                          <a:solidFill>
                            <a:srgbClr val="1F1F1F"/>
                          </a:solidFill>
                          <a:effectLst/>
                          <a:latin typeface="Google Sans Text"/>
                        </a:rPr>
                        <a:t>(Tailoring)</a:t>
                      </a:r>
                      <a:r>
                        <a:rPr lang="zh-TW" altLang="en-US" dirty="0">
                          <a:solidFill>
                            <a:srgbClr val="1F1F1F"/>
                          </a:solidFill>
                          <a:effectLst/>
                          <a:latin typeface="Google Sans Text"/>
                        </a:rPr>
                        <a:t>」過程來決定適用哪些控制項。</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94869417"/>
                  </a:ext>
                </a:extLst>
              </a:tr>
              <a:tr h="0">
                <a:tc>
                  <a:txBody>
                    <a:bodyPr/>
                    <a:lstStyle/>
                    <a:p>
                      <a:pPr rtl="0"/>
                      <a:r>
                        <a:rPr lang="zh-TW" altLang="en-US" b="1">
                          <a:solidFill>
                            <a:srgbClr val="1F1F1F"/>
                          </a:solidFill>
                          <a:effectLst/>
                          <a:latin typeface="Google Sans Text"/>
                        </a:rPr>
                        <a:t>最新變化</a:t>
                      </a:r>
                      <a:endParaRPr lang="zh-TW" altLang="en-US">
                        <a:solidFill>
                          <a:srgbClr val="1F1F1F"/>
                        </a:solidFill>
                        <a:effectLst/>
                        <a:latin typeface="Google Sans Text"/>
                      </a:endParaRP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zh-TW" altLang="en-US">
                          <a:solidFill>
                            <a:srgbClr val="1F1F1F"/>
                          </a:solidFill>
                          <a:effectLst/>
                          <a:latin typeface="Google Sans Text"/>
                        </a:rPr>
                        <a:t>新增 </a:t>
                      </a:r>
                      <a:r>
                        <a:rPr lang="en-US" altLang="zh-TW" b="1">
                          <a:solidFill>
                            <a:srgbClr val="1F1F1F"/>
                          </a:solidFill>
                          <a:effectLst/>
                          <a:latin typeface="Google Sans Text"/>
                        </a:rPr>
                        <a:t>"Govern" (</a:t>
                      </a:r>
                      <a:r>
                        <a:rPr lang="zh-TW" altLang="en-US" b="1">
                          <a:solidFill>
                            <a:srgbClr val="1F1F1F"/>
                          </a:solidFill>
                          <a:effectLst/>
                          <a:latin typeface="Google Sans Text"/>
                        </a:rPr>
                        <a:t>治理</a:t>
                      </a:r>
                      <a:r>
                        <a:rPr lang="en-US" altLang="zh-TW" b="1">
                          <a:solidFill>
                            <a:srgbClr val="1F1F1F"/>
                          </a:solidFill>
                          <a:effectLst/>
                          <a:latin typeface="Google Sans Text"/>
                        </a:rPr>
                        <a:t>)</a:t>
                      </a:r>
                      <a:r>
                        <a:rPr lang="zh-TW" altLang="en-US">
                          <a:solidFill>
                            <a:srgbClr val="1F1F1F"/>
                          </a:solidFill>
                          <a:effectLst/>
                          <a:latin typeface="Google Sans Text"/>
                        </a:rPr>
                        <a:t> 功能，強調供應鏈風險與高層治理。</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rtl="0"/>
                      <a:r>
                        <a:rPr lang="en-US" altLang="zh-TW" dirty="0">
                          <a:solidFill>
                            <a:srgbClr val="1F1F1F"/>
                          </a:solidFill>
                          <a:effectLst/>
                          <a:latin typeface="Google Sans Text"/>
                        </a:rPr>
                        <a:t>Rev. 5 </a:t>
                      </a:r>
                      <a:r>
                        <a:rPr lang="zh-TW" altLang="en-US" dirty="0">
                          <a:solidFill>
                            <a:srgbClr val="1F1F1F"/>
                          </a:solidFill>
                          <a:effectLst/>
                          <a:latin typeface="Google Sans Text"/>
                        </a:rPr>
                        <a:t>移除了「聯邦」字眼，使其</a:t>
                      </a:r>
                      <a:r>
                        <a:rPr lang="zh-TW" altLang="en-US" dirty="0" smtClean="0">
                          <a:solidFill>
                            <a:srgbClr val="1F1F1F"/>
                          </a:solidFill>
                          <a:effectLst/>
                          <a:latin typeface="Google Sans Text"/>
                        </a:rPr>
                        <a:t>更具通用性，</a:t>
                      </a:r>
                      <a:r>
                        <a:rPr lang="zh-TW" altLang="en-US" dirty="0">
                          <a:solidFill>
                            <a:srgbClr val="1F1F1F"/>
                          </a:solidFill>
                          <a:effectLst/>
                          <a:latin typeface="Google Sans Text"/>
                        </a:rPr>
                        <a:t>並更強調隱私 </a:t>
                      </a:r>
                      <a:r>
                        <a:rPr lang="en-US" altLang="zh-TW" dirty="0">
                          <a:solidFill>
                            <a:srgbClr val="1F1F1F"/>
                          </a:solidFill>
                          <a:effectLst/>
                          <a:latin typeface="Google Sans Text"/>
                        </a:rPr>
                        <a:t>(Privacy)</a:t>
                      </a:r>
                      <a:r>
                        <a:rPr lang="zh-TW" altLang="en-US" dirty="0">
                          <a:solidFill>
                            <a:srgbClr val="1F1F1F"/>
                          </a:solidFill>
                          <a:effectLst/>
                          <a:latin typeface="Google Sans Text"/>
                        </a:rPr>
                        <a:t>。</a:t>
                      </a:r>
                    </a:p>
                  </a:txBody>
                  <a:tcPr marL="57150" marR="57150" marT="38100" marB="381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76874855"/>
                  </a:ext>
                </a:extLst>
              </a:tr>
            </a:tbl>
          </a:graphicData>
        </a:graphic>
      </p:graphicFrame>
      <p:sp>
        <p:nvSpPr>
          <p:cNvPr id="4" name="矩形 3"/>
          <p:cNvSpPr/>
          <p:nvPr/>
        </p:nvSpPr>
        <p:spPr>
          <a:xfrm>
            <a:off x="289255" y="1084210"/>
            <a:ext cx="8505700" cy="1200329"/>
          </a:xfrm>
          <a:prstGeom prst="rect">
            <a:avLst/>
          </a:prstGeom>
        </p:spPr>
        <p:txBody>
          <a:bodyPr wrap="square">
            <a:spAutoFit/>
          </a:bodyPr>
          <a:lstStyle/>
          <a:p>
            <a:r>
              <a:rPr lang="en-US" altLang="zh-TW" sz="2400" dirty="0"/>
              <a:t>NIST CSF 2.0 (Cybersecurity Framework) </a:t>
            </a:r>
            <a:r>
              <a:rPr lang="zh-TW" altLang="en-US" sz="2400" dirty="0"/>
              <a:t>與 </a:t>
            </a:r>
            <a:r>
              <a:rPr lang="en-US" altLang="zh-TW" sz="2400" dirty="0"/>
              <a:t>NIST SP 800-53 </a:t>
            </a:r>
            <a:r>
              <a:rPr lang="zh-TW" altLang="en-US" sz="2400" dirty="0"/>
              <a:t>是由美國國家標準與技術研究院 </a:t>
            </a:r>
            <a:r>
              <a:rPr lang="en-US" altLang="zh-TW" sz="2400" dirty="0"/>
              <a:t>(NIST) </a:t>
            </a:r>
            <a:r>
              <a:rPr lang="zh-TW" altLang="en-US" sz="2400" dirty="0"/>
              <a:t>發布的兩份關鍵文件，它們在資安領域中扮演著互補但層次不同的角色</a:t>
            </a:r>
          </a:p>
        </p:txBody>
      </p:sp>
    </p:spTree>
    <p:extLst>
      <p:ext uri="{BB962C8B-B14F-4D97-AF65-F5344CB8AC3E}">
        <p14:creationId xmlns:p14="http://schemas.microsoft.com/office/powerpoint/2010/main" val="32880422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79512" y="114669"/>
            <a:ext cx="7886700" cy="938067"/>
          </a:xfrm>
        </p:spPr>
        <p:txBody>
          <a:bodyPr/>
          <a:lstStyle/>
          <a:p>
            <a:r>
              <a:rPr lang="zh-TW" altLang="en-US" dirty="0"/>
              <a:t>安全控制措施</a:t>
            </a:r>
            <a:r>
              <a:rPr lang="zh-TW" altLang="en-US" dirty="0" smtClean="0"/>
              <a:t>框架 </a:t>
            </a:r>
            <a:r>
              <a:rPr lang="en-US" altLang="zh-TW" dirty="0" smtClean="0"/>
              <a:t>(4/</a:t>
            </a:r>
            <a:r>
              <a:rPr lang="en-US" altLang="zh-TW" dirty="0"/>
              <a:t>7</a:t>
            </a:r>
            <a:r>
              <a:rPr lang="en-US" altLang="zh-TW" dirty="0" smtClean="0"/>
              <a:t>)</a:t>
            </a:r>
            <a:endParaRPr lang="zh-TW" altLang="en-US" dirty="0"/>
          </a:p>
        </p:txBody>
      </p:sp>
      <p:sp>
        <p:nvSpPr>
          <p:cNvPr id="3" name="內容版面配置區 9"/>
          <p:cNvSpPr txBox="1">
            <a:spLocks/>
          </p:cNvSpPr>
          <p:nvPr/>
        </p:nvSpPr>
        <p:spPr>
          <a:xfrm>
            <a:off x="179512" y="1052736"/>
            <a:ext cx="8784976" cy="5230800"/>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en-US" altLang="zh-TW" dirty="0"/>
              <a:t>CIS Controls (Center for Internet Security Controls) </a:t>
            </a:r>
            <a:r>
              <a:rPr lang="zh-TW" altLang="en-US" dirty="0"/>
              <a:t>是目前全球公認最實用、最具權威性的資安防禦指引之</a:t>
            </a:r>
            <a:r>
              <a:rPr lang="zh-TW" altLang="en-US" dirty="0" smtClean="0"/>
              <a:t>一</a:t>
            </a:r>
            <a:endParaRPr lang="en-US" altLang="zh-TW" dirty="0" smtClean="0"/>
          </a:p>
          <a:p>
            <a:r>
              <a:rPr lang="zh-TW" altLang="en-US" dirty="0"/>
              <a:t>目前最新</a:t>
            </a:r>
            <a:r>
              <a:rPr lang="zh-TW" altLang="en-US" dirty="0" smtClean="0"/>
              <a:t>版本為</a:t>
            </a:r>
            <a:r>
              <a:rPr lang="en-US" altLang="zh-TW" dirty="0"/>
              <a:t>CIS Controls</a:t>
            </a:r>
            <a:r>
              <a:rPr lang="zh-TW" altLang="en-US" dirty="0"/>
              <a:t> </a:t>
            </a:r>
            <a:r>
              <a:rPr lang="en-US" altLang="zh-TW" dirty="0" smtClean="0"/>
              <a:t>v8.1</a:t>
            </a:r>
            <a:r>
              <a:rPr lang="zh-TW" altLang="en-US" dirty="0" smtClean="0"/>
              <a:t> ，其核心</a:t>
            </a:r>
            <a:r>
              <a:rPr lang="zh-TW" altLang="en-US" dirty="0"/>
              <a:t>架構</a:t>
            </a:r>
            <a:r>
              <a:rPr lang="zh-TW" altLang="en-US" dirty="0" smtClean="0"/>
              <a:t>在於</a:t>
            </a:r>
            <a:r>
              <a:rPr lang="en-US" altLang="zh-TW" dirty="0" smtClean="0"/>
              <a:t>18 </a:t>
            </a:r>
            <a:r>
              <a:rPr lang="zh-TW" altLang="en-US" dirty="0"/>
              <a:t>類安全控制措施 </a:t>
            </a:r>
            <a:r>
              <a:rPr lang="en-US" altLang="zh-TW" dirty="0" smtClean="0"/>
              <a:t>(</a:t>
            </a:r>
            <a:r>
              <a:rPr lang="zh-TW" altLang="en-US" dirty="0" smtClean="0"/>
              <a:t>請參閱備忘稿說明</a:t>
            </a:r>
            <a:r>
              <a:rPr lang="en-US" altLang="zh-TW" dirty="0" smtClean="0"/>
              <a:t>)</a:t>
            </a:r>
          </a:p>
          <a:p>
            <a:r>
              <a:rPr lang="en-US" altLang="zh-TW" dirty="0" smtClean="0"/>
              <a:t>CIS </a:t>
            </a:r>
            <a:r>
              <a:rPr lang="en-US" altLang="zh-TW" dirty="0"/>
              <a:t>Controls </a:t>
            </a:r>
            <a:r>
              <a:rPr lang="zh-TW" altLang="en-US" dirty="0"/>
              <a:t>並非孤立的標準，它可以與其他框架（如 </a:t>
            </a:r>
            <a:r>
              <a:rPr lang="en-US" altLang="zh-TW" dirty="0"/>
              <a:t>NIST CSF, ISO 27001, PCI DSS, HIPAA</a:t>
            </a:r>
            <a:r>
              <a:rPr lang="zh-TW" altLang="en-US" dirty="0"/>
              <a:t>）互相對照</a:t>
            </a:r>
            <a:r>
              <a:rPr lang="zh-TW" altLang="en-US" dirty="0" smtClean="0"/>
              <a:t>。</a:t>
            </a:r>
            <a:endParaRPr lang="en-US" altLang="zh-TW" dirty="0" smtClean="0"/>
          </a:p>
          <a:p>
            <a:r>
              <a:rPr lang="zh-TW" altLang="en-US" dirty="0" smtClean="0"/>
              <a:t>企業</a:t>
            </a:r>
            <a:r>
              <a:rPr lang="zh-TW" altLang="en-US" dirty="0"/>
              <a:t>實施 </a:t>
            </a:r>
            <a:r>
              <a:rPr lang="en-US" altLang="zh-TW" dirty="0"/>
              <a:t>CIS Controls </a:t>
            </a:r>
            <a:r>
              <a:rPr lang="zh-TW" altLang="en-US" dirty="0"/>
              <a:t>後，往往能滿足多項法規遵循的要求。</a:t>
            </a:r>
            <a:endParaRPr lang="en-US" altLang="zh-TW" dirty="0" smtClean="0"/>
          </a:p>
          <a:p>
            <a:endParaRPr lang="en-US" altLang="zh-TW" dirty="0"/>
          </a:p>
          <a:p>
            <a:endParaRPr lang="en-US" altLang="zh-TW" dirty="0" smtClean="0"/>
          </a:p>
          <a:p>
            <a:endParaRPr lang="en-US" altLang="zh-TW" dirty="0" smtClean="0"/>
          </a:p>
        </p:txBody>
      </p:sp>
    </p:spTree>
    <p:extLst>
      <p:ext uri="{BB962C8B-B14F-4D97-AF65-F5344CB8AC3E}">
        <p14:creationId xmlns:p14="http://schemas.microsoft.com/office/powerpoint/2010/main" val="40130711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157029" y="131120"/>
            <a:ext cx="7785825" cy="777600"/>
          </a:xfrm>
        </p:spPr>
        <p:txBody>
          <a:bodyPr/>
          <a:lstStyle/>
          <a:p>
            <a:r>
              <a:rPr lang="zh-TW" altLang="en-US" dirty="0"/>
              <a:t>安全控制措施</a:t>
            </a:r>
            <a:r>
              <a:rPr lang="zh-TW" altLang="en-US" dirty="0" smtClean="0"/>
              <a:t>框架</a:t>
            </a:r>
            <a:r>
              <a:rPr lang="en-US" altLang="zh-TW" dirty="0" smtClean="0"/>
              <a:t>(5/</a:t>
            </a:r>
            <a:r>
              <a:rPr lang="en-US" altLang="zh-TW" dirty="0"/>
              <a:t>7</a:t>
            </a:r>
            <a:r>
              <a:rPr lang="en-US" altLang="zh-TW" dirty="0" smtClean="0"/>
              <a:t>)</a:t>
            </a:r>
            <a:endParaRPr lang="zh-TW" altLang="en-US" dirty="0"/>
          </a:p>
        </p:txBody>
      </p:sp>
      <p:sp>
        <p:nvSpPr>
          <p:cNvPr id="3" name="內容版面配置區 9"/>
          <p:cNvSpPr txBox="1">
            <a:spLocks/>
          </p:cNvSpPr>
          <p:nvPr/>
        </p:nvSpPr>
        <p:spPr>
          <a:xfrm>
            <a:off x="157029" y="908720"/>
            <a:ext cx="8856984" cy="1296144"/>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sz="2400" dirty="0" smtClean="0"/>
              <a:t>為了</a:t>
            </a:r>
            <a:r>
              <a:rPr lang="zh-TW" altLang="en-US" sz="2400" dirty="0"/>
              <a:t>讓不同規模的企業都</a:t>
            </a:r>
            <a:r>
              <a:rPr lang="zh-TW" altLang="en-US" sz="2400" dirty="0" smtClean="0"/>
              <a:t>能運用，從</a:t>
            </a:r>
            <a:r>
              <a:rPr lang="en-US" altLang="zh-TW" sz="2400" dirty="0" smtClean="0"/>
              <a:t>CIS </a:t>
            </a:r>
            <a:r>
              <a:rPr lang="en-US" altLang="zh-TW" sz="2400" dirty="0"/>
              <a:t>Controls v8 </a:t>
            </a:r>
            <a:r>
              <a:rPr lang="zh-TW" altLang="en-US" sz="2400" dirty="0" smtClean="0"/>
              <a:t>開始引入</a:t>
            </a:r>
            <a:r>
              <a:rPr lang="zh-TW" altLang="en-US" sz="2400" dirty="0"/>
              <a:t>了 </a:t>
            </a:r>
            <a:r>
              <a:rPr lang="en-US" altLang="zh-TW" sz="2400" dirty="0"/>
              <a:t>IG (Implementation Groups) </a:t>
            </a:r>
            <a:r>
              <a:rPr lang="zh-TW" altLang="en-US" sz="2400" dirty="0"/>
              <a:t>的概念，讓</a:t>
            </a:r>
            <a:r>
              <a:rPr lang="zh-TW" altLang="en-US" sz="2400" dirty="0" smtClean="0"/>
              <a:t>企業依據</a:t>
            </a:r>
            <a:r>
              <a:rPr lang="zh-TW" altLang="en-US" sz="2400" dirty="0"/>
              <a:t>資源多寡循序漸進</a:t>
            </a:r>
            <a:r>
              <a:rPr lang="zh-TW" altLang="en-US" sz="2400" dirty="0" smtClean="0"/>
              <a:t>：</a:t>
            </a:r>
            <a:endParaRPr lang="en-US" altLang="zh-TW" sz="2400" dirty="0" smtClean="0"/>
          </a:p>
          <a:p>
            <a:endParaRPr lang="en-US" altLang="zh-TW" dirty="0"/>
          </a:p>
          <a:p>
            <a:endParaRPr lang="en-US" altLang="zh-TW" dirty="0" smtClean="0"/>
          </a:p>
          <a:p>
            <a:endParaRPr lang="en-US" altLang="zh-TW" dirty="0" smtClean="0"/>
          </a:p>
        </p:txBody>
      </p:sp>
      <p:graphicFrame>
        <p:nvGraphicFramePr>
          <p:cNvPr id="4" name="表格 3"/>
          <p:cNvGraphicFramePr>
            <a:graphicFrameLocks noGrp="1"/>
          </p:cNvGraphicFramePr>
          <p:nvPr>
            <p:extLst/>
          </p:nvPr>
        </p:nvGraphicFramePr>
        <p:xfrm>
          <a:off x="401069" y="2204864"/>
          <a:ext cx="8604957" cy="3017520"/>
        </p:xfrm>
        <a:graphic>
          <a:graphicData uri="http://schemas.openxmlformats.org/drawingml/2006/table">
            <a:tbl>
              <a:tblPr/>
              <a:tblGrid>
                <a:gridCol w="1350259">
                  <a:extLst>
                    <a:ext uri="{9D8B030D-6E8A-4147-A177-3AD203B41FA5}">
                      <a16:colId xmlns:a16="http://schemas.microsoft.com/office/drawing/2014/main" val="833293848"/>
                    </a:ext>
                  </a:extLst>
                </a:gridCol>
                <a:gridCol w="3036696">
                  <a:extLst>
                    <a:ext uri="{9D8B030D-6E8A-4147-A177-3AD203B41FA5}">
                      <a16:colId xmlns:a16="http://schemas.microsoft.com/office/drawing/2014/main" val="1872720784"/>
                    </a:ext>
                  </a:extLst>
                </a:gridCol>
                <a:gridCol w="2152253">
                  <a:extLst>
                    <a:ext uri="{9D8B030D-6E8A-4147-A177-3AD203B41FA5}">
                      <a16:colId xmlns:a16="http://schemas.microsoft.com/office/drawing/2014/main" val="3389624926"/>
                    </a:ext>
                  </a:extLst>
                </a:gridCol>
                <a:gridCol w="2065749">
                  <a:extLst>
                    <a:ext uri="{9D8B030D-6E8A-4147-A177-3AD203B41FA5}">
                      <a16:colId xmlns:a16="http://schemas.microsoft.com/office/drawing/2014/main" val="537660291"/>
                    </a:ext>
                  </a:extLst>
                </a:gridCol>
              </a:tblGrid>
              <a:tr h="648072">
                <a:tc>
                  <a:txBody>
                    <a:bodyPr/>
                    <a:lstStyle/>
                    <a:p>
                      <a:r>
                        <a:rPr lang="zh-TW" altLang="en-US" sz="2000" dirty="0" smtClean="0"/>
                        <a:t>實施等級 </a:t>
                      </a:r>
                      <a:r>
                        <a:rPr lang="en-US" altLang="zh-TW" sz="2000" dirty="0"/>
                        <a:t>(</a:t>
                      </a:r>
                      <a:r>
                        <a:rPr lang="en-US" sz="2000" dirty="0"/>
                        <a:t>IG)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smtClean="0"/>
                        <a:t>適用對象</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smtClean="0"/>
                        <a:t>新增</a:t>
                      </a:r>
                      <a:r>
                        <a:rPr lang="en-US" altLang="zh-TW" sz="2000" dirty="0" smtClean="0"/>
                        <a:t>CIS Safeguards</a:t>
                      </a:r>
                      <a:r>
                        <a:rPr lang="zh-TW" altLang="en-US" sz="2000" dirty="0" smtClean="0"/>
                        <a:t>項目</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en-US" altLang="zh-TW" sz="2000" dirty="0" smtClean="0"/>
                        <a:t>Safeguards</a:t>
                      </a:r>
                      <a:r>
                        <a:rPr lang="zh-TW" altLang="en-US" sz="2000" b="1" dirty="0" smtClean="0"/>
                        <a:t>總數</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73755123"/>
                  </a:ext>
                </a:extLst>
              </a:tr>
              <a:tr h="656064">
                <a:tc>
                  <a:txBody>
                    <a:bodyPr/>
                    <a:lstStyle/>
                    <a:p>
                      <a:r>
                        <a:rPr lang="en-US" sz="2000" b="1" dirty="0"/>
                        <a:t>IG1</a:t>
                      </a:r>
                      <a:endParaRPr 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zh-TW" altLang="en-US" sz="2000" b="1" dirty="0" smtClean="0"/>
                        <a:t>基本版本</a:t>
                      </a:r>
                      <a:r>
                        <a:rPr lang="en-US" altLang="zh-TW" sz="2000" b="1" dirty="0" smtClean="0"/>
                        <a:t>(Cyber Hygiene </a:t>
                      </a:r>
                      <a:r>
                        <a:rPr lang="en-US" altLang="zh-TW" sz="2000" b="0" dirty="0" smtClean="0">
                          <a:latin typeface="PMingLiU" panose="02020500000000000000" pitchFamily="18" charset="-120"/>
                          <a:ea typeface="PMingLiU" panose="02020500000000000000" pitchFamily="18" charset="-120"/>
                        </a:rPr>
                        <a:t>，</a:t>
                      </a:r>
                      <a:r>
                        <a:rPr lang="zh-TW" altLang="en-US" sz="2000" dirty="0" smtClean="0"/>
                        <a:t>中小企業、資源有限者</a:t>
                      </a:r>
                      <a:r>
                        <a:rPr lang="en-US" altLang="zh-TW" sz="2000" dirty="0" smtClean="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2000" dirty="0"/>
                        <a:t>56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2000" b="1" dirty="0"/>
                        <a:t>56</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1984620"/>
                  </a:ext>
                </a:extLst>
              </a:tr>
              <a:tr h="640080">
                <a:tc>
                  <a:txBody>
                    <a:bodyPr/>
                    <a:lstStyle/>
                    <a:p>
                      <a:r>
                        <a:rPr lang="en-US" sz="2000" b="1"/>
                        <a:t>IG2</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zh-TW" altLang="en-US" sz="2000" b="1" dirty="0" smtClean="0"/>
                        <a:t>企業級防護</a:t>
                      </a:r>
                      <a:r>
                        <a:rPr lang="zh-TW" altLang="en-US" sz="2000" dirty="0" smtClean="0"/>
                        <a:t> </a:t>
                      </a:r>
                      <a:r>
                        <a:rPr lang="en-US" altLang="zh-TW" sz="2000" dirty="0" smtClean="0"/>
                        <a:t>(</a:t>
                      </a:r>
                      <a:r>
                        <a:rPr lang="zh-TW" altLang="en-US" sz="2000" dirty="0" smtClean="0"/>
                        <a:t>有專職 </a:t>
                      </a:r>
                      <a:r>
                        <a:rPr lang="en-US" altLang="zh-TW" sz="2000" dirty="0" smtClean="0"/>
                        <a:t>IT/</a:t>
                      </a:r>
                      <a:r>
                        <a:rPr lang="zh-TW" altLang="en-US" sz="2000" dirty="0" smtClean="0"/>
                        <a:t>資安團隊</a:t>
                      </a:r>
                      <a:r>
                        <a:rPr lang="en-US" altLang="zh-TW" sz="2000" dirty="0" smtClean="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en-US" altLang="zh-TW" sz="2000" dirty="0" smtClean="0"/>
                        <a:t>74</a:t>
                      </a:r>
                      <a:endParaRPr lang="en-US" altLang="zh-TW"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en-US" altLang="zh-TW" sz="2000" b="1" dirty="0" smtClean="0"/>
                        <a:t>130(</a:t>
                      </a:r>
                      <a:r>
                        <a:rPr lang="en-US" altLang="zh-TW" sz="2000" dirty="0" smtClean="0"/>
                        <a:t>56+74</a:t>
                      </a:r>
                      <a:r>
                        <a:rPr lang="en-US" altLang="zh-TW" sz="2000" b="1" dirty="0" smtClean="0"/>
                        <a:t>)</a:t>
                      </a:r>
                      <a:endParaRPr lang="zh-TW" altLang="en-US"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13674531"/>
                  </a:ext>
                </a:extLst>
              </a:tr>
              <a:tr h="914400">
                <a:tc>
                  <a:txBody>
                    <a:bodyPr/>
                    <a:lstStyle/>
                    <a:p>
                      <a:r>
                        <a:rPr lang="en-US" sz="2000" b="1"/>
                        <a:t>IG3</a:t>
                      </a:r>
                      <a:endParaRPr lang="en-US" sz="20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zh-TW" altLang="en-US" sz="2000" b="1" dirty="0" smtClean="0"/>
                        <a:t>高敏感防護</a:t>
                      </a:r>
                      <a:r>
                        <a:rPr lang="zh-TW" altLang="en-US" sz="2000" dirty="0" smtClean="0"/>
                        <a:t> </a:t>
                      </a:r>
                      <a:r>
                        <a:rPr lang="en-US" altLang="zh-TW" sz="2000" dirty="0" smtClean="0"/>
                        <a:t>(</a:t>
                      </a:r>
                      <a:r>
                        <a:rPr lang="zh-TW" altLang="en-US" sz="2000" dirty="0" smtClean="0"/>
                        <a:t>關鍵基礎設施、受監管單位</a:t>
                      </a:r>
                      <a:r>
                        <a:rPr lang="en-US" altLang="zh-TW" sz="2000" dirty="0" smtClean="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en-US" altLang="zh-TW" sz="2000" dirty="0" smtClean="0"/>
                        <a:t>56+74+23</a:t>
                      </a:r>
                      <a:endParaRPr lang="en-US" altLang="zh-TW" sz="20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en-US" altLang="zh-TW" sz="2000" b="1" dirty="0" smtClean="0"/>
                        <a:t>153(</a:t>
                      </a:r>
                      <a:r>
                        <a:rPr lang="en-US" altLang="zh-TW" sz="2000" dirty="0" smtClean="0"/>
                        <a:t>56+74+23</a:t>
                      </a:r>
                      <a:r>
                        <a:rPr lang="en-US" altLang="zh-TW" sz="2000" b="1" dirty="0" smtClean="0"/>
                        <a:t>)</a:t>
                      </a:r>
                      <a:endParaRPr lang="zh-TW" altLang="en-US" sz="2000" dirty="0" smtClean="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383767"/>
                  </a:ext>
                </a:extLst>
              </a:tr>
            </a:tbl>
          </a:graphicData>
        </a:graphic>
      </p:graphicFrame>
      <p:sp>
        <p:nvSpPr>
          <p:cNvPr id="5" name="矩形 4"/>
          <p:cNvSpPr/>
          <p:nvPr/>
        </p:nvSpPr>
        <p:spPr>
          <a:xfrm>
            <a:off x="409403" y="5589240"/>
            <a:ext cx="8422657" cy="923330"/>
          </a:xfrm>
          <a:prstGeom prst="rect">
            <a:avLst/>
          </a:prstGeom>
        </p:spPr>
        <p:txBody>
          <a:bodyPr wrap="square">
            <a:spAutoFit/>
          </a:bodyPr>
          <a:lstStyle/>
          <a:p>
            <a:pPr marL="285750" indent="-285750">
              <a:buFont typeface="Wingdings" panose="05000000000000000000" pitchFamily="2" charset="2"/>
              <a:buChar char="ü"/>
            </a:pPr>
            <a:r>
              <a:rPr lang="zh-TW" altLang="en-US" dirty="0" smtClean="0"/>
              <a:t>防護</a:t>
            </a:r>
            <a:r>
              <a:rPr lang="zh-TW" altLang="en-US" dirty="0"/>
              <a:t>措施 </a:t>
            </a:r>
            <a:r>
              <a:rPr lang="en-US" altLang="zh-TW" dirty="0"/>
              <a:t>(Safeguards</a:t>
            </a:r>
            <a:r>
              <a:rPr lang="en-US" altLang="zh-TW" dirty="0" smtClean="0"/>
              <a:t>)</a:t>
            </a:r>
            <a:r>
              <a:rPr lang="zh-TW" altLang="en-US" dirty="0" smtClean="0"/>
              <a:t>相當於安全控制措施</a:t>
            </a:r>
            <a:r>
              <a:rPr lang="en-US" altLang="zh-TW" dirty="0" smtClean="0"/>
              <a:t>(Security Controls)</a:t>
            </a:r>
          </a:p>
          <a:p>
            <a:pPr marL="285750" indent="-285750">
              <a:buFont typeface="Wingdings" panose="05000000000000000000" pitchFamily="2" charset="2"/>
              <a:buChar char="ü"/>
            </a:pPr>
            <a:r>
              <a:rPr lang="en-US" altLang="zh-TW" dirty="0" smtClean="0"/>
              <a:t>CIS </a:t>
            </a:r>
            <a:r>
              <a:rPr lang="zh-TW" altLang="en-US" dirty="0" smtClean="0"/>
              <a:t>採 </a:t>
            </a:r>
            <a:r>
              <a:rPr lang="zh-TW" altLang="en-US" b="1" dirty="0"/>
              <a:t>「累加式」</a:t>
            </a:r>
            <a:r>
              <a:rPr lang="en-US" altLang="zh-TW" b="1" dirty="0"/>
              <a:t>(Cumulative)</a:t>
            </a:r>
            <a:r>
              <a:rPr lang="en-US" altLang="zh-TW" dirty="0"/>
              <a:t> </a:t>
            </a:r>
            <a:r>
              <a:rPr lang="zh-TW" altLang="en-US" dirty="0"/>
              <a:t>的</a:t>
            </a:r>
            <a:r>
              <a:rPr lang="zh-TW" altLang="en-US" dirty="0" smtClean="0"/>
              <a:t>設計：</a:t>
            </a:r>
            <a:r>
              <a:rPr lang="zh-TW" altLang="en-US" dirty="0"/>
              <a:t>要做到 </a:t>
            </a:r>
            <a:r>
              <a:rPr lang="en-US" altLang="zh-TW" dirty="0"/>
              <a:t>IG2</a:t>
            </a:r>
            <a:r>
              <a:rPr lang="zh-TW" altLang="en-US" dirty="0"/>
              <a:t>，必須先完成 </a:t>
            </a:r>
            <a:r>
              <a:rPr lang="en-US" altLang="zh-TW" dirty="0"/>
              <a:t>IG1</a:t>
            </a:r>
            <a:r>
              <a:rPr lang="zh-TW" altLang="en-US" dirty="0"/>
              <a:t>；要做到 </a:t>
            </a:r>
            <a:r>
              <a:rPr lang="en-US" altLang="zh-TW" dirty="0"/>
              <a:t>IG3</a:t>
            </a:r>
            <a:r>
              <a:rPr lang="zh-TW" altLang="en-US" dirty="0"/>
              <a:t>，則必須包含 </a:t>
            </a:r>
            <a:r>
              <a:rPr lang="en-US" altLang="zh-TW" dirty="0"/>
              <a:t>IG1 </a:t>
            </a:r>
            <a:r>
              <a:rPr lang="zh-TW" altLang="en-US" dirty="0"/>
              <a:t>和 </a:t>
            </a:r>
            <a:r>
              <a:rPr lang="en-US" altLang="zh-TW" dirty="0"/>
              <a:t>IG2</a:t>
            </a:r>
            <a:r>
              <a:rPr lang="zh-TW" altLang="en-US" dirty="0"/>
              <a:t>。</a:t>
            </a:r>
          </a:p>
        </p:txBody>
      </p:sp>
    </p:spTree>
    <p:extLst>
      <p:ext uri="{BB962C8B-B14F-4D97-AF65-F5344CB8AC3E}">
        <p14:creationId xmlns:p14="http://schemas.microsoft.com/office/powerpoint/2010/main" val="91857894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251520" y="2492896"/>
          <a:ext cx="8640961" cy="3992880"/>
        </p:xfrm>
        <a:graphic>
          <a:graphicData uri="http://schemas.openxmlformats.org/drawingml/2006/table">
            <a:tbl>
              <a:tblPr/>
              <a:tblGrid>
                <a:gridCol w="1445455">
                  <a:extLst>
                    <a:ext uri="{9D8B030D-6E8A-4147-A177-3AD203B41FA5}">
                      <a16:colId xmlns:a16="http://schemas.microsoft.com/office/drawing/2014/main" val="670453027"/>
                    </a:ext>
                  </a:extLst>
                </a:gridCol>
                <a:gridCol w="3401675">
                  <a:extLst>
                    <a:ext uri="{9D8B030D-6E8A-4147-A177-3AD203B41FA5}">
                      <a16:colId xmlns:a16="http://schemas.microsoft.com/office/drawing/2014/main" val="1427059333"/>
                    </a:ext>
                  </a:extLst>
                </a:gridCol>
                <a:gridCol w="3793831">
                  <a:extLst>
                    <a:ext uri="{9D8B030D-6E8A-4147-A177-3AD203B41FA5}">
                      <a16:colId xmlns:a16="http://schemas.microsoft.com/office/drawing/2014/main" val="3493031834"/>
                    </a:ext>
                  </a:extLst>
                </a:gridCol>
              </a:tblGrid>
              <a:tr h="0">
                <a:tc>
                  <a:txBody>
                    <a:bodyPr/>
                    <a:lstStyle/>
                    <a:p>
                      <a:r>
                        <a:rPr lang="zh-TW" altLang="en-US" sz="2000" b="1" dirty="0">
                          <a:effectLst/>
                          <a:latin typeface="Google Sans Text"/>
                        </a:rPr>
                        <a:t>特性</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latin typeface="Google Sans Text"/>
                        </a:rPr>
                        <a:t>CIS Controls (</a:t>
                      </a:r>
                      <a:r>
                        <a:rPr lang="zh-TW" altLang="en-US" sz="2000" b="1" dirty="0">
                          <a:effectLst/>
                          <a:latin typeface="Google Sans Text"/>
                        </a:rPr>
                        <a:t>控制措施</a:t>
                      </a:r>
                      <a:r>
                        <a:rPr lang="en-US" altLang="zh-TW" sz="2000" b="1" dirty="0">
                          <a:effectLst/>
                          <a:latin typeface="Google Sans Text"/>
                        </a:rPr>
                        <a:t>)</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latin typeface="Google Sans Text"/>
                        </a:rPr>
                        <a:t>CIS Benchmarks (</a:t>
                      </a:r>
                      <a:r>
                        <a:rPr lang="zh-TW" altLang="en-US" sz="2000" b="1" dirty="0">
                          <a:effectLst/>
                          <a:latin typeface="Google Sans Text"/>
                        </a:rPr>
                        <a:t>基準</a:t>
                      </a:r>
                      <a:r>
                        <a:rPr lang="en-US" altLang="zh-TW" sz="2000" b="1" dirty="0">
                          <a:effectLst/>
                          <a:latin typeface="Google Sans Text"/>
                        </a:rPr>
                        <a:t>)</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8235311"/>
                  </a:ext>
                </a:extLst>
              </a:tr>
              <a:tr h="0">
                <a:tc>
                  <a:txBody>
                    <a:bodyPr/>
                    <a:lstStyle/>
                    <a:p>
                      <a:r>
                        <a:rPr lang="zh-TW" altLang="en-US" sz="2000" b="1">
                          <a:effectLst/>
                          <a:latin typeface="Google Sans Text"/>
                        </a:rPr>
                        <a:t>問題焦點</a:t>
                      </a:r>
                      <a:endParaRPr lang="zh-TW" altLang="en-US" sz="20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dirty="0">
                          <a:effectLst/>
                          <a:latin typeface="Google Sans Text"/>
                        </a:rPr>
                        <a:t>What</a:t>
                      </a:r>
                      <a:r>
                        <a:rPr lang="en-US" sz="2000" dirty="0">
                          <a:effectLst/>
                          <a:latin typeface="Google Sans Text"/>
                        </a:rPr>
                        <a:t> (</a:t>
                      </a:r>
                      <a:r>
                        <a:rPr lang="zh-TW" altLang="en-US" sz="2000" dirty="0">
                          <a:effectLst/>
                          <a:latin typeface="Google Sans Text"/>
                        </a:rPr>
                        <a:t>要做什麼？</a:t>
                      </a:r>
                      <a:r>
                        <a:rPr lang="en-US" altLang="zh-TW" sz="2000" dirty="0">
                          <a:effectLst/>
                          <a:latin typeface="Google Sans Tex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b="1">
                          <a:effectLst/>
                          <a:latin typeface="Google Sans Text"/>
                        </a:rPr>
                        <a:t>How</a:t>
                      </a:r>
                      <a:r>
                        <a:rPr lang="en-US" sz="2000">
                          <a:effectLst/>
                          <a:latin typeface="Google Sans Text"/>
                        </a:rPr>
                        <a:t> (</a:t>
                      </a:r>
                      <a:r>
                        <a:rPr lang="zh-TW" altLang="en-US" sz="2000">
                          <a:effectLst/>
                          <a:latin typeface="Google Sans Text"/>
                        </a:rPr>
                        <a:t>如何設定？</a:t>
                      </a:r>
                      <a:r>
                        <a:rPr lang="en-US" altLang="zh-TW" sz="2000">
                          <a:effectLst/>
                          <a:latin typeface="Google Sans Tex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37438884"/>
                  </a:ext>
                </a:extLst>
              </a:tr>
              <a:tr h="0">
                <a:tc>
                  <a:txBody>
                    <a:bodyPr/>
                    <a:lstStyle/>
                    <a:p>
                      <a:r>
                        <a:rPr lang="zh-TW" altLang="en-US" sz="2000" b="1">
                          <a:effectLst/>
                          <a:latin typeface="Google Sans Text"/>
                        </a:rPr>
                        <a:t>層次</a:t>
                      </a:r>
                      <a:endParaRPr lang="zh-TW" altLang="en-US" sz="20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effectLst/>
                          <a:latin typeface="Google Sans Text"/>
                        </a:rPr>
                        <a:t>戰略 </a:t>
                      </a:r>
                      <a:r>
                        <a:rPr lang="en-US" altLang="zh-TW" sz="2000" dirty="0">
                          <a:effectLst/>
                          <a:latin typeface="Google Sans Text"/>
                        </a:rPr>
                        <a:t>/ </a:t>
                      </a:r>
                      <a:r>
                        <a:rPr lang="zh-TW" altLang="en-US" sz="2000" dirty="0">
                          <a:effectLst/>
                          <a:latin typeface="Google Sans Text"/>
                        </a:rPr>
                        <a:t>管理層面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effectLst/>
                          <a:latin typeface="Google Sans Text"/>
                        </a:rPr>
                        <a:t>戰術 </a:t>
                      </a:r>
                      <a:r>
                        <a:rPr lang="en-US" altLang="zh-TW" sz="2000">
                          <a:effectLst/>
                          <a:latin typeface="Google Sans Text"/>
                        </a:rPr>
                        <a:t>/ </a:t>
                      </a:r>
                      <a:r>
                        <a:rPr lang="zh-TW" altLang="en-US" sz="2000">
                          <a:effectLst/>
                          <a:latin typeface="Google Sans Text"/>
                        </a:rPr>
                        <a:t>技術層面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03633399"/>
                  </a:ext>
                </a:extLst>
              </a:tr>
              <a:tr h="0">
                <a:tc>
                  <a:txBody>
                    <a:bodyPr/>
                    <a:lstStyle/>
                    <a:p>
                      <a:r>
                        <a:rPr lang="zh-TW" altLang="en-US" sz="2000" b="1">
                          <a:effectLst/>
                          <a:latin typeface="Google Sans Text"/>
                        </a:rPr>
                        <a:t>內容範例</a:t>
                      </a:r>
                      <a:endParaRPr lang="zh-TW" altLang="en-US" sz="20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2000" dirty="0">
                          <a:effectLst/>
                          <a:latin typeface="Google Sans Text"/>
                        </a:rPr>
                        <a:t>"</a:t>
                      </a:r>
                      <a:r>
                        <a:rPr lang="zh-TW" altLang="en-US" sz="2000" dirty="0">
                          <a:effectLst/>
                          <a:latin typeface="Google Sans Text"/>
                        </a:rPr>
                        <a:t>應確保所有使用者使用強密碼</a:t>
                      </a:r>
                      <a:r>
                        <a:rPr lang="en-US" altLang="zh-TW" sz="2000" dirty="0">
                          <a:effectLst/>
                          <a:latin typeface="Google Sans Tex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2000" dirty="0">
                          <a:effectLst/>
                          <a:latin typeface="Google Sans Text"/>
                        </a:rPr>
                        <a:t>"</a:t>
                      </a:r>
                      <a:r>
                        <a:rPr lang="zh-TW" altLang="en-US" sz="2000" dirty="0">
                          <a:effectLst/>
                          <a:latin typeface="Google Sans Text"/>
                        </a:rPr>
                        <a:t>在 </a:t>
                      </a:r>
                      <a:r>
                        <a:rPr lang="en-US" sz="2000" dirty="0">
                          <a:effectLst/>
                          <a:latin typeface="Google Sans Text"/>
                        </a:rPr>
                        <a:t>Windows Server 2019 </a:t>
                      </a:r>
                      <a:r>
                        <a:rPr lang="zh-TW" altLang="en-US" sz="2000" dirty="0">
                          <a:effectLst/>
                          <a:latin typeface="Google Sans Text"/>
                        </a:rPr>
                        <a:t>中，將密碼最短使用期限設為 </a:t>
                      </a:r>
                      <a:r>
                        <a:rPr lang="en-US" altLang="zh-TW" sz="2000" dirty="0">
                          <a:effectLst/>
                          <a:latin typeface="Google Sans Text"/>
                        </a:rPr>
                        <a:t>1 </a:t>
                      </a:r>
                      <a:r>
                        <a:rPr lang="zh-TW" altLang="en-US" sz="2000" dirty="0">
                          <a:effectLst/>
                          <a:latin typeface="Google Sans Text"/>
                        </a:rPr>
                        <a:t>天</a:t>
                      </a:r>
                      <a:r>
                        <a:rPr lang="en-US" altLang="zh-TW" sz="2000" dirty="0">
                          <a:effectLst/>
                          <a:latin typeface="Google Sans Text"/>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08025757"/>
                  </a:ext>
                </a:extLst>
              </a:tr>
              <a:tr h="0">
                <a:tc>
                  <a:txBody>
                    <a:bodyPr/>
                    <a:lstStyle/>
                    <a:p>
                      <a:r>
                        <a:rPr lang="zh-TW" altLang="en-US" sz="2000" b="1">
                          <a:effectLst/>
                          <a:latin typeface="Google Sans Text"/>
                        </a:rPr>
                        <a:t>通用性</a:t>
                      </a:r>
                      <a:endParaRPr lang="zh-TW" altLang="en-US" sz="20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effectLst/>
                          <a:latin typeface="Google Sans Text"/>
                        </a:rPr>
                        <a:t>適用於任何組織</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effectLst/>
                          <a:latin typeface="Google Sans Text"/>
                        </a:rPr>
                        <a:t>針對特定產品 </a:t>
                      </a:r>
                      <a:r>
                        <a:rPr lang="en-US" altLang="zh-TW" sz="2000" dirty="0">
                          <a:effectLst/>
                          <a:latin typeface="Google Sans Text"/>
                        </a:rPr>
                        <a:t>(</a:t>
                      </a:r>
                      <a:r>
                        <a:rPr lang="zh-TW" altLang="en-US" sz="2000" dirty="0">
                          <a:effectLst/>
                          <a:latin typeface="Google Sans Text"/>
                        </a:rPr>
                        <a:t>如 </a:t>
                      </a:r>
                      <a:r>
                        <a:rPr lang="en-US" sz="2000" dirty="0" err="1">
                          <a:effectLst/>
                          <a:latin typeface="Google Sans Text"/>
                        </a:rPr>
                        <a:t>RedHat</a:t>
                      </a:r>
                      <a:r>
                        <a:rPr lang="en-US" sz="2000" dirty="0">
                          <a:effectLst/>
                          <a:latin typeface="Google Sans Text"/>
                        </a:rPr>
                        <a:t> Linux, SQL Server)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33880954"/>
                  </a:ext>
                </a:extLst>
              </a:tr>
              <a:tr h="0">
                <a:tc>
                  <a:txBody>
                    <a:bodyPr/>
                    <a:lstStyle/>
                    <a:p>
                      <a:r>
                        <a:rPr lang="zh-TW" altLang="en-US" sz="2000" b="1">
                          <a:effectLst/>
                          <a:latin typeface="Google Sans Text"/>
                        </a:rPr>
                        <a:t>主要用途</a:t>
                      </a:r>
                      <a:endParaRPr lang="zh-TW" altLang="en-US" sz="200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effectLst/>
                          <a:latin typeface="Google Sans Text"/>
                        </a:rPr>
                        <a:t>建立資安藍圖、合規性檢查 </a:t>
                      </a:r>
                      <a:r>
                        <a:rPr lang="en-US" altLang="zh-TW" sz="2000">
                          <a:effectLst/>
                          <a:latin typeface="Google Sans Text"/>
                        </a:rPr>
                        <a:t>(Audit)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effectLst/>
                          <a:latin typeface="Google Sans Text"/>
                        </a:rPr>
                        <a:t>系統強化 </a:t>
                      </a:r>
                      <a:r>
                        <a:rPr lang="en-US" altLang="zh-TW" sz="2000" dirty="0">
                          <a:effectLst/>
                          <a:latin typeface="Google Sans Text"/>
                        </a:rPr>
                        <a:t>(</a:t>
                      </a:r>
                      <a:r>
                        <a:rPr lang="en-US" sz="2000" dirty="0">
                          <a:effectLst/>
                          <a:latin typeface="Google Sans Text"/>
                        </a:rPr>
                        <a:t>Hardening)、</a:t>
                      </a:r>
                      <a:r>
                        <a:rPr lang="zh-TW" altLang="en-US" sz="2000" dirty="0">
                          <a:effectLst/>
                          <a:latin typeface="Google Sans Text"/>
                        </a:rPr>
                        <a:t>漏洞修補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2041462"/>
                  </a:ext>
                </a:extLst>
              </a:tr>
              <a:tr h="0">
                <a:tc>
                  <a:txBody>
                    <a:bodyPr/>
                    <a:lstStyle/>
                    <a:p>
                      <a:r>
                        <a:rPr lang="zh-TW" altLang="en-US" sz="2000" b="1" dirty="0">
                          <a:effectLst/>
                          <a:latin typeface="Google Sans Text"/>
                        </a:rPr>
                        <a:t>對應數量</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ltLang="zh-TW" sz="2000" dirty="0">
                          <a:effectLst/>
                          <a:latin typeface="Google Sans Text"/>
                        </a:rPr>
                        <a:t>18 </a:t>
                      </a:r>
                      <a:r>
                        <a:rPr lang="zh-TW" altLang="en-US" sz="2000" dirty="0" smtClean="0">
                          <a:effectLst/>
                          <a:latin typeface="Google Sans Text"/>
                        </a:rPr>
                        <a:t>類安全控制措施</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smtClean="0">
                          <a:effectLst/>
                          <a:latin typeface="Google Sans Text"/>
                        </a:rPr>
                        <a:t>目前有超過 </a:t>
                      </a:r>
                      <a:r>
                        <a:rPr lang="en-US" altLang="zh-TW" sz="2000" dirty="0" smtClean="0">
                          <a:effectLst/>
                          <a:latin typeface="Google Sans Text"/>
                        </a:rPr>
                        <a:t>100 </a:t>
                      </a:r>
                      <a:r>
                        <a:rPr lang="zh-TW" altLang="en-US" sz="2000" dirty="0" smtClean="0">
                          <a:effectLst/>
                          <a:latin typeface="Google Sans Text"/>
                        </a:rPr>
                        <a:t>項 </a:t>
                      </a:r>
                      <a:r>
                        <a:rPr lang="en-US" altLang="zh-TW" sz="2000" dirty="0" smtClean="0">
                          <a:effectLst/>
                          <a:latin typeface="Google Sans Text"/>
                        </a:rPr>
                        <a:t>CIS </a:t>
                      </a:r>
                      <a:r>
                        <a:rPr lang="zh-TW" altLang="en-US" sz="2000" dirty="0" smtClean="0">
                          <a:effectLst/>
                          <a:latin typeface="Google Sans Text"/>
                        </a:rPr>
                        <a:t>基準測試，涵蓋 </a:t>
                      </a:r>
                      <a:r>
                        <a:rPr lang="en-US" altLang="zh-TW" sz="2000" dirty="0" smtClean="0">
                          <a:effectLst/>
                          <a:latin typeface="Google Sans Text"/>
                        </a:rPr>
                        <a:t>25+ </a:t>
                      </a:r>
                      <a:r>
                        <a:rPr lang="zh-TW" altLang="en-US" sz="2000" dirty="0" smtClean="0">
                          <a:effectLst/>
                          <a:latin typeface="Google Sans Text"/>
                        </a:rPr>
                        <a:t>個廠商產品系列。</a:t>
                      </a:r>
                      <a:endParaRPr lang="zh-TW" altLang="en-US" sz="2000" dirty="0">
                        <a:effectLst/>
                        <a:latin typeface="Google Sans Text"/>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747694920"/>
                  </a:ext>
                </a:extLst>
              </a:tr>
            </a:tbl>
          </a:graphicData>
        </a:graphic>
      </p:graphicFrame>
      <p:sp>
        <p:nvSpPr>
          <p:cNvPr id="3" name="標題 2"/>
          <p:cNvSpPr>
            <a:spLocks noGrp="1"/>
          </p:cNvSpPr>
          <p:nvPr>
            <p:ph type="title"/>
          </p:nvPr>
        </p:nvSpPr>
        <p:spPr>
          <a:xfrm>
            <a:off x="251520" y="110018"/>
            <a:ext cx="7785825" cy="777600"/>
          </a:xfrm>
        </p:spPr>
        <p:txBody>
          <a:bodyPr/>
          <a:lstStyle/>
          <a:p>
            <a:r>
              <a:rPr lang="zh-TW" altLang="en-US" dirty="0"/>
              <a:t>安全控制措施</a:t>
            </a:r>
            <a:r>
              <a:rPr lang="zh-TW" altLang="en-US" dirty="0" smtClean="0"/>
              <a:t>框架</a:t>
            </a:r>
            <a:r>
              <a:rPr lang="en-US" altLang="zh-TW" dirty="0" smtClean="0"/>
              <a:t>(6/</a:t>
            </a:r>
            <a:r>
              <a:rPr lang="en-US" altLang="zh-TW" dirty="0"/>
              <a:t>7</a:t>
            </a:r>
            <a:r>
              <a:rPr lang="en-US" altLang="zh-TW" dirty="0" smtClean="0"/>
              <a:t>)</a:t>
            </a:r>
            <a:endParaRPr lang="zh-TW" altLang="en-US" dirty="0"/>
          </a:p>
        </p:txBody>
      </p:sp>
      <p:sp>
        <p:nvSpPr>
          <p:cNvPr id="5" name="矩形 4"/>
          <p:cNvSpPr/>
          <p:nvPr/>
        </p:nvSpPr>
        <p:spPr>
          <a:xfrm>
            <a:off x="251520" y="1052736"/>
            <a:ext cx="8212757" cy="1384995"/>
          </a:xfrm>
          <a:prstGeom prst="rect">
            <a:avLst/>
          </a:prstGeom>
        </p:spPr>
        <p:txBody>
          <a:bodyPr wrap="square">
            <a:spAutoFit/>
          </a:bodyPr>
          <a:lstStyle/>
          <a:p>
            <a:r>
              <a:rPr lang="en-US" altLang="zh-TW" sz="2800" dirty="0" smtClean="0"/>
              <a:t>CIS</a:t>
            </a:r>
            <a:r>
              <a:rPr lang="zh-TW" altLang="en-US" sz="2800" dirty="0" smtClean="0"/>
              <a:t>另外提供龐大的</a:t>
            </a:r>
            <a:r>
              <a:rPr lang="en-US" altLang="zh-TW" sz="2800" dirty="0"/>
              <a:t>CIS Benchmarks (</a:t>
            </a:r>
            <a:r>
              <a:rPr lang="zh-TW" altLang="en-US" sz="2800" dirty="0"/>
              <a:t>基準</a:t>
            </a:r>
            <a:r>
              <a:rPr lang="en-US" altLang="zh-TW" sz="2800" dirty="0" smtClean="0"/>
              <a:t>)</a:t>
            </a:r>
            <a:r>
              <a:rPr lang="zh-TW" altLang="en-US" sz="2800" dirty="0" smtClean="0"/>
              <a:t>針對特定</a:t>
            </a:r>
            <a:r>
              <a:rPr lang="zh-TW" altLang="en-US" sz="2800" dirty="0"/>
              <a:t>技術產品（如 </a:t>
            </a:r>
            <a:r>
              <a:rPr lang="en-US" altLang="zh-TW" sz="2800" dirty="0"/>
              <a:t>Windows, Linux, Docker, AWS, Chrome </a:t>
            </a:r>
            <a:r>
              <a:rPr lang="zh-TW" altLang="en-US" sz="2800" dirty="0"/>
              <a:t>等）的詳細</a:t>
            </a:r>
            <a:r>
              <a:rPr lang="zh-TW" altLang="en-US" sz="2800" dirty="0" smtClean="0"/>
              <a:t>設定</a:t>
            </a:r>
            <a:endParaRPr lang="en-US" altLang="zh-TW" sz="2800" dirty="0"/>
          </a:p>
        </p:txBody>
      </p:sp>
    </p:spTree>
    <p:extLst>
      <p:ext uri="{BB962C8B-B14F-4D97-AF65-F5344CB8AC3E}">
        <p14:creationId xmlns:p14="http://schemas.microsoft.com/office/powerpoint/2010/main" val="3439338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179512" y="2420888"/>
          <a:ext cx="8749478" cy="4137938"/>
        </p:xfrm>
        <a:graphic>
          <a:graphicData uri="http://schemas.openxmlformats.org/drawingml/2006/table">
            <a:tbl>
              <a:tblPr/>
              <a:tblGrid>
                <a:gridCol w="769954">
                  <a:extLst>
                    <a:ext uri="{9D8B030D-6E8A-4147-A177-3AD203B41FA5}">
                      <a16:colId xmlns:a16="http://schemas.microsoft.com/office/drawing/2014/main" val="3092212768"/>
                    </a:ext>
                  </a:extLst>
                </a:gridCol>
                <a:gridCol w="769988">
                  <a:extLst>
                    <a:ext uri="{9D8B030D-6E8A-4147-A177-3AD203B41FA5}">
                      <a16:colId xmlns:a16="http://schemas.microsoft.com/office/drawing/2014/main" val="83705350"/>
                    </a:ext>
                  </a:extLst>
                </a:gridCol>
                <a:gridCol w="1959850">
                  <a:extLst>
                    <a:ext uri="{9D8B030D-6E8A-4147-A177-3AD203B41FA5}">
                      <a16:colId xmlns:a16="http://schemas.microsoft.com/office/drawing/2014/main" val="3625279925"/>
                    </a:ext>
                  </a:extLst>
                </a:gridCol>
                <a:gridCol w="2936694">
                  <a:extLst>
                    <a:ext uri="{9D8B030D-6E8A-4147-A177-3AD203B41FA5}">
                      <a16:colId xmlns:a16="http://schemas.microsoft.com/office/drawing/2014/main" val="2850793748"/>
                    </a:ext>
                  </a:extLst>
                </a:gridCol>
                <a:gridCol w="764314">
                  <a:extLst>
                    <a:ext uri="{9D8B030D-6E8A-4147-A177-3AD203B41FA5}">
                      <a16:colId xmlns:a16="http://schemas.microsoft.com/office/drawing/2014/main" val="1438123619"/>
                    </a:ext>
                  </a:extLst>
                </a:gridCol>
                <a:gridCol w="756591">
                  <a:extLst>
                    <a:ext uri="{9D8B030D-6E8A-4147-A177-3AD203B41FA5}">
                      <a16:colId xmlns:a16="http://schemas.microsoft.com/office/drawing/2014/main" val="2119424978"/>
                    </a:ext>
                  </a:extLst>
                </a:gridCol>
                <a:gridCol w="792087">
                  <a:extLst>
                    <a:ext uri="{9D8B030D-6E8A-4147-A177-3AD203B41FA5}">
                      <a16:colId xmlns:a16="http://schemas.microsoft.com/office/drawing/2014/main" val="3576069924"/>
                    </a:ext>
                  </a:extLst>
                </a:gridCol>
              </a:tblGrid>
              <a:tr h="293779">
                <a:tc>
                  <a:txBody>
                    <a:bodyPr/>
                    <a:lstStyle/>
                    <a:p>
                      <a:r>
                        <a:rPr lang="zh-TW" altLang="en-US" sz="2000" dirty="0"/>
                        <a:t>編號</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資產類型</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t>功能 </a:t>
                      </a:r>
                      <a:r>
                        <a:rPr lang="en-US" altLang="zh-TW" sz="2000"/>
                        <a:t>(</a:t>
                      </a:r>
                      <a:r>
                        <a:rPr lang="en-US" sz="2000"/>
                        <a:t>Function)</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措施描述</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IG1</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IG2</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2000"/>
                        <a:t>IG3</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8570508"/>
                  </a:ext>
                </a:extLst>
              </a:tr>
              <a:tr h="788961">
                <a:tc>
                  <a:txBody>
                    <a:bodyPr/>
                    <a:lstStyle/>
                    <a:p>
                      <a:r>
                        <a:rPr lang="en-US" altLang="zh-TW" sz="2000" b="1"/>
                        <a:t>1.1</a:t>
                      </a:r>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dirty="0"/>
                        <a:t>設備</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b="1" dirty="0"/>
                        <a:t>識別 </a:t>
                      </a:r>
                      <a:r>
                        <a:rPr lang="en-US" altLang="zh-TW" sz="2000" b="1" dirty="0"/>
                        <a:t>(</a:t>
                      </a:r>
                      <a:r>
                        <a:rPr lang="en-US" sz="2000" b="1" dirty="0"/>
                        <a:t>Identify)</a:t>
                      </a:r>
                      <a:endParaRPr 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b="1" dirty="0"/>
                        <a:t>建立並維護詳細的企業資產</a:t>
                      </a:r>
                      <a:r>
                        <a:rPr lang="zh-TW" altLang="en-US" sz="2000" b="1" dirty="0" smtClean="0"/>
                        <a:t>清冊</a:t>
                      </a:r>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extLst>
                  <a:ext uri="{0D108BD9-81ED-4DB2-BD59-A6C34878D82A}">
                    <a16:rowId xmlns:a16="http://schemas.microsoft.com/office/drawing/2014/main" val="1830154051"/>
                  </a:ext>
                </a:extLst>
              </a:tr>
              <a:tr h="621958">
                <a:tc>
                  <a:txBody>
                    <a:bodyPr/>
                    <a:lstStyle/>
                    <a:p>
                      <a:r>
                        <a:rPr lang="en-US" altLang="zh-TW" sz="2000" b="1"/>
                        <a:t>1.2</a:t>
                      </a:r>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a:t>設備</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b="1"/>
                        <a:t>回應 </a:t>
                      </a:r>
                      <a:r>
                        <a:rPr lang="en-US" altLang="zh-TW" sz="2000" b="1"/>
                        <a:t>(</a:t>
                      </a:r>
                      <a:r>
                        <a:rPr lang="en-US" sz="2000" b="1"/>
                        <a:t>Respond)</a:t>
                      </a:r>
                      <a:endParaRPr 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b="1" dirty="0"/>
                        <a:t>處理未經授權的</a:t>
                      </a:r>
                      <a:r>
                        <a:rPr lang="zh-TW" altLang="en-US" sz="2000" b="1" dirty="0" smtClean="0"/>
                        <a:t>資產</a:t>
                      </a:r>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EDF7E1"/>
                    </a:solidFill>
                  </a:tcPr>
                </a:tc>
                <a:extLst>
                  <a:ext uri="{0D108BD9-81ED-4DB2-BD59-A6C34878D82A}">
                    <a16:rowId xmlns:a16="http://schemas.microsoft.com/office/drawing/2014/main" val="579824920"/>
                  </a:ext>
                </a:extLst>
              </a:tr>
              <a:tr h="607591">
                <a:tc>
                  <a:txBody>
                    <a:bodyPr/>
                    <a:lstStyle/>
                    <a:p>
                      <a:r>
                        <a:rPr lang="en-US" altLang="zh-TW" sz="2000" b="1"/>
                        <a:t>1.3</a:t>
                      </a:r>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t>設備</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a:t>偵測 </a:t>
                      </a:r>
                      <a:r>
                        <a:rPr lang="en-US" altLang="zh-TW" sz="2000" b="1"/>
                        <a:t>(</a:t>
                      </a:r>
                      <a:r>
                        <a:rPr lang="en-US" sz="2000" b="1"/>
                        <a:t>Detect)</a:t>
                      </a:r>
                      <a:endParaRPr 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dirty="0"/>
                        <a:t>使用主動式發現</a:t>
                      </a:r>
                      <a:r>
                        <a:rPr lang="zh-TW" altLang="en-US" sz="2000" b="1" dirty="0" smtClean="0"/>
                        <a:t>工具</a:t>
                      </a:r>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1339164"/>
                  </a:ext>
                </a:extLst>
              </a:tr>
              <a:tr h="657870">
                <a:tc>
                  <a:txBody>
                    <a:bodyPr/>
                    <a:lstStyle/>
                    <a:p>
                      <a:r>
                        <a:rPr lang="en-US" altLang="zh-TW" sz="2000" b="1"/>
                        <a:t>1.4</a:t>
                      </a:r>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t>設備</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a:t>識別 </a:t>
                      </a:r>
                      <a:r>
                        <a:rPr lang="en-US" altLang="zh-TW" sz="2000" b="1"/>
                        <a:t>(</a:t>
                      </a:r>
                      <a:r>
                        <a:rPr lang="en-US" sz="2000" b="1"/>
                        <a:t>Identify)</a:t>
                      </a:r>
                      <a:endParaRPr 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dirty="0"/>
                        <a:t>利用 </a:t>
                      </a:r>
                      <a:r>
                        <a:rPr lang="en-US" sz="2000" b="1" dirty="0"/>
                        <a:t>DHCP </a:t>
                      </a:r>
                      <a:r>
                        <a:rPr lang="zh-TW" altLang="en-US" sz="2000" b="1" dirty="0"/>
                        <a:t>記錄來更新企業資產</a:t>
                      </a:r>
                      <a:r>
                        <a:rPr lang="zh-TW" altLang="en-US" sz="2000" b="1" dirty="0" smtClean="0"/>
                        <a:t>清單</a:t>
                      </a:r>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26305956"/>
                  </a:ext>
                </a:extLst>
              </a:tr>
              <a:tr h="822580">
                <a:tc>
                  <a:txBody>
                    <a:bodyPr/>
                    <a:lstStyle/>
                    <a:p>
                      <a:r>
                        <a:rPr lang="en-US" altLang="zh-TW" sz="2000" b="1"/>
                        <a:t>1.5</a:t>
                      </a:r>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a:t>設備</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a:t>偵測 </a:t>
                      </a:r>
                      <a:r>
                        <a:rPr lang="en-US" altLang="zh-TW" sz="2000" b="1"/>
                        <a:t>(</a:t>
                      </a:r>
                      <a:r>
                        <a:rPr lang="en-US" sz="2000" b="1"/>
                        <a:t>Detect)</a:t>
                      </a:r>
                      <a:endParaRPr 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b="1" dirty="0"/>
                        <a:t>使用被動式資產發現</a:t>
                      </a:r>
                      <a:r>
                        <a:rPr lang="zh-TW" altLang="en-US" sz="2000" b="1" dirty="0" smtClean="0"/>
                        <a:t>工具</a:t>
                      </a:r>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200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zh-TW" altLang="en-US" sz="2000" dirty="0"/>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2000" dirty="0"/>
                        <a:t>✔</a:t>
                      </a:r>
                    </a:p>
                  </a:txBody>
                  <a:tcPr marL="29378" marR="29378" marT="14689" marB="1468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731189"/>
                  </a:ext>
                </a:extLst>
              </a:tr>
            </a:tbl>
          </a:graphicData>
        </a:graphic>
      </p:graphicFrame>
      <p:sp>
        <p:nvSpPr>
          <p:cNvPr id="3" name="標題 2"/>
          <p:cNvSpPr>
            <a:spLocks noGrp="1"/>
          </p:cNvSpPr>
          <p:nvPr>
            <p:ph type="title"/>
          </p:nvPr>
        </p:nvSpPr>
        <p:spPr>
          <a:xfrm>
            <a:off x="269983" y="95951"/>
            <a:ext cx="7785825" cy="777600"/>
          </a:xfrm>
        </p:spPr>
        <p:txBody>
          <a:bodyPr/>
          <a:lstStyle/>
          <a:p>
            <a:r>
              <a:rPr lang="zh-TW" altLang="en-US" dirty="0"/>
              <a:t>安全控制措施</a:t>
            </a:r>
            <a:r>
              <a:rPr lang="zh-TW" altLang="en-US" dirty="0" smtClean="0"/>
              <a:t>框架</a:t>
            </a:r>
            <a:r>
              <a:rPr lang="en-US" altLang="zh-TW" dirty="0" smtClean="0"/>
              <a:t>(7/</a:t>
            </a:r>
            <a:r>
              <a:rPr lang="en-US" altLang="zh-TW" dirty="0"/>
              <a:t>7</a:t>
            </a:r>
            <a:r>
              <a:rPr lang="en-US" altLang="zh-TW" dirty="0" smtClean="0"/>
              <a:t>)</a:t>
            </a:r>
            <a:endParaRPr lang="zh-TW" altLang="en-US" dirty="0"/>
          </a:p>
        </p:txBody>
      </p:sp>
      <p:sp>
        <p:nvSpPr>
          <p:cNvPr id="5" name="矩形 4"/>
          <p:cNvSpPr/>
          <p:nvPr/>
        </p:nvSpPr>
        <p:spPr>
          <a:xfrm>
            <a:off x="151738" y="1125614"/>
            <a:ext cx="8596726" cy="1200329"/>
          </a:xfrm>
          <a:prstGeom prst="rect">
            <a:avLst/>
          </a:prstGeom>
        </p:spPr>
        <p:txBody>
          <a:bodyPr wrap="square">
            <a:spAutoFit/>
          </a:bodyPr>
          <a:lstStyle/>
          <a:p>
            <a:r>
              <a:rPr lang="zh-TW" altLang="en-US" sz="2400" dirty="0"/>
              <a:t>範</a:t>
            </a:r>
            <a:r>
              <a:rPr lang="zh-TW" altLang="en-US" sz="2400" dirty="0" smtClean="0"/>
              <a:t>例說明</a:t>
            </a:r>
            <a:r>
              <a:rPr lang="en-US" altLang="zh-TW" sz="2400" dirty="0"/>
              <a:t>:</a:t>
            </a:r>
            <a:r>
              <a:rPr lang="zh-TW" altLang="en-US" sz="2400" dirty="0" smtClean="0"/>
              <a:t>企業</a:t>
            </a:r>
            <a:r>
              <a:rPr lang="zh-TW" altLang="en-US" sz="2400" dirty="0"/>
              <a:t>資產清冊與控制 </a:t>
            </a:r>
            <a:r>
              <a:rPr lang="en-US" altLang="zh-TW" sz="2400" dirty="0"/>
              <a:t>(Inventory and Control of Enterprise Assets</a:t>
            </a:r>
            <a:r>
              <a:rPr lang="en-US" altLang="zh-TW" sz="2400" dirty="0" smtClean="0"/>
              <a:t>):</a:t>
            </a:r>
            <a:r>
              <a:rPr lang="zh-TW" altLang="en-US" sz="2400" dirty="0" smtClean="0"/>
              <a:t>共有五項安全控制措施</a:t>
            </a:r>
            <a:r>
              <a:rPr lang="en-US" altLang="zh-TW" sz="2400" dirty="0" smtClean="0"/>
              <a:t>(</a:t>
            </a:r>
            <a:r>
              <a:rPr lang="zh-TW" altLang="en-US" sz="2400" dirty="0" smtClean="0"/>
              <a:t>打勾部分代表必須實施的項目</a:t>
            </a:r>
            <a:r>
              <a:rPr lang="en-US" altLang="zh-TW" sz="2400" dirty="0" smtClean="0"/>
              <a:t>)</a:t>
            </a:r>
            <a:endParaRPr lang="en-US" altLang="zh-TW" sz="2400" dirty="0"/>
          </a:p>
        </p:txBody>
      </p:sp>
    </p:spTree>
    <p:extLst>
      <p:ext uri="{BB962C8B-B14F-4D97-AF65-F5344CB8AC3E}">
        <p14:creationId xmlns:p14="http://schemas.microsoft.com/office/powerpoint/2010/main" val="4016011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8822" y="0"/>
            <a:ext cx="7886700" cy="874763"/>
          </a:xfrm>
        </p:spPr>
        <p:txBody>
          <a:bodyPr/>
          <a:lstStyle/>
          <a:p>
            <a:r>
              <a:rPr lang="zh-TW" altLang="en-US" dirty="0"/>
              <a:t>安全控制措施與防護</a:t>
            </a:r>
            <a:r>
              <a:rPr lang="zh-TW" altLang="en-US" dirty="0" smtClean="0"/>
              <a:t>基準</a:t>
            </a:r>
            <a:endParaRPr lang="zh-TW" altLang="en-US" dirty="0"/>
          </a:p>
        </p:txBody>
      </p:sp>
      <p:sp>
        <p:nvSpPr>
          <p:cNvPr id="4" name="內容版面配置區 9"/>
          <p:cNvSpPr txBox="1">
            <a:spLocks/>
          </p:cNvSpPr>
          <p:nvPr/>
        </p:nvSpPr>
        <p:spPr>
          <a:xfrm>
            <a:off x="189098" y="980728"/>
            <a:ext cx="8703381" cy="5230800"/>
          </a:xfrm>
          <a:prstGeom prst="rect">
            <a:avLst/>
          </a:prstGeom>
        </p:spPr>
        <p:txBody>
          <a:bodyPr/>
          <a:lstStyle>
            <a:lvl1pPr marL="287999" indent="-287999"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chemeClr val="tx1"/>
                </a:solidFill>
                <a:latin typeface="微軟正黑體" panose="020B0604030504040204" pitchFamily="34" charset="-120"/>
                <a:ea typeface="微軟正黑體" panose="020B0604030504040204" pitchFamily="34" charset="-120"/>
                <a:cs typeface="+mn-cs"/>
              </a:defRPr>
            </a:lvl1pPr>
            <a:lvl2pPr marL="467998" marR="0" indent="-179999" algn="l" defTabSz="914395"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3996" indent="-215999"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899995" indent="-179999"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79994" indent="-179999"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184"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381"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579"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776" indent="-457197"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dirty="0"/>
              <a:t>安全控制</a:t>
            </a:r>
            <a:r>
              <a:rPr lang="zh-TW" altLang="en-US" dirty="0" smtClean="0"/>
              <a:t>措施框架包含許多</a:t>
            </a:r>
            <a:r>
              <a:rPr lang="zh-TW" altLang="en-US" dirty="0"/>
              <a:t>安全控制</a:t>
            </a:r>
            <a:r>
              <a:rPr lang="zh-TW" altLang="en-US" dirty="0" smtClean="0"/>
              <a:t>措施</a:t>
            </a:r>
            <a:endParaRPr lang="en-US" altLang="zh-TW" dirty="0" smtClean="0"/>
          </a:p>
          <a:p>
            <a:r>
              <a:rPr lang="zh-TW" altLang="en-US" dirty="0"/>
              <a:t>防護基準</a:t>
            </a:r>
            <a:r>
              <a:rPr lang="en-US" altLang="zh-TW" dirty="0"/>
              <a:t>(	Security Control Baselines)</a:t>
            </a:r>
            <a:r>
              <a:rPr lang="zh-TW" altLang="en-US" dirty="0"/>
              <a:t>則</a:t>
            </a:r>
            <a:r>
              <a:rPr lang="zh-TW" altLang="en-US" dirty="0" smtClean="0"/>
              <a:t>為預先訂</a:t>
            </a:r>
            <a:r>
              <a:rPr lang="zh-TW" altLang="en-US" dirty="0"/>
              <a:t>	定的一組控制</a:t>
            </a:r>
            <a:r>
              <a:rPr lang="zh-TW" altLang="en-US" dirty="0" smtClean="0"/>
              <a:t>措施。</a:t>
            </a:r>
            <a:r>
              <a:rPr lang="zh-TW" altLang="en-US" kern="0" dirty="0" smtClean="0"/>
              <a:t>這</a:t>
            </a:r>
            <a:r>
              <a:rPr lang="zh-TW" altLang="en-US" kern="0" dirty="0"/>
              <a:t>是根據系統的</a:t>
            </a:r>
            <a:r>
              <a:rPr lang="zh-TW" altLang="en-US" kern="0" dirty="0" smtClean="0"/>
              <a:t>重要性</a:t>
            </a:r>
            <a:r>
              <a:rPr lang="en-US" altLang="zh-TW" kern="0" dirty="0"/>
              <a:t>(</a:t>
            </a:r>
            <a:r>
              <a:rPr lang="zh-TW" altLang="en-US" kern="0" dirty="0" smtClean="0"/>
              <a:t>普</a:t>
            </a:r>
            <a:r>
              <a:rPr lang="en-US" altLang="zh-TW" kern="0" dirty="0" smtClean="0"/>
              <a:t>/</a:t>
            </a:r>
            <a:r>
              <a:rPr lang="zh-TW" altLang="en-US" kern="0" dirty="0"/>
              <a:t>中</a:t>
            </a:r>
            <a:r>
              <a:rPr lang="en-US" altLang="zh-TW" kern="0" dirty="0"/>
              <a:t>/</a:t>
            </a:r>
            <a:r>
              <a:rPr lang="zh-TW" altLang="en-US" kern="0" dirty="0" smtClean="0"/>
              <a:t>高</a:t>
            </a:r>
            <a:r>
              <a:rPr lang="en-US" altLang="zh-TW" kern="0" dirty="0" smtClean="0"/>
              <a:t>)</a:t>
            </a:r>
            <a:r>
              <a:rPr lang="zh-TW" altLang="en-US" kern="0" dirty="0" smtClean="0"/>
              <a:t>，</a:t>
            </a:r>
            <a:r>
              <a:rPr lang="zh-TW" altLang="en-US" kern="0" dirty="0"/>
              <a:t>規定「最少」必須具備哪些控制措施的</a:t>
            </a:r>
            <a:r>
              <a:rPr lang="zh-TW" altLang="en-US" kern="0" dirty="0" smtClean="0"/>
              <a:t>集合</a:t>
            </a:r>
            <a:endParaRPr lang="en-US" altLang="zh-TW" kern="0" dirty="0" smtClean="0"/>
          </a:p>
          <a:p>
            <a:r>
              <a:rPr lang="zh-TW" altLang="en-US" kern="0" dirty="0" smtClean="0"/>
              <a:t>我國參考眾多</a:t>
            </a:r>
            <a:r>
              <a:rPr lang="zh-TW" altLang="en-US" dirty="0"/>
              <a:t>安全控制措施</a:t>
            </a:r>
            <a:r>
              <a:rPr lang="zh-TW" altLang="en-US" dirty="0" smtClean="0"/>
              <a:t>框架與</a:t>
            </a:r>
            <a:r>
              <a:rPr lang="zh-TW" altLang="en-US" dirty="0"/>
              <a:t>防護</a:t>
            </a:r>
            <a:r>
              <a:rPr lang="zh-TW" altLang="en-US" dirty="0" smtClean="0"/>
              <a:t>基準</a:t>
            </a:r>
            <a:r>
              <a:rPr lang="zh-TW" altLang="en-US" dirty="0">
                <a:latin typeface="PMingLiU" panose="02020500000000000000" pitchFamily="18" charset="-120"/>
                <a:ea typeface="PMingLiU" panose="02020500000000000000" pitchFamily="18" charset="-120"/>
              </a:rPr>
              <a:t>，於資通安全責任等級分級</a:t>
            </a:r>
            <a:r>
              <a:rPr lang="zh-TW" altLang="en-US" dirty="0" smtClean="0">
                <a:latin typeface="PMingLiU" panose="02020500000000000000" pitchFamily="18" charset="-120"/>
                <a:ea typeface="PMingLiU" panose="02020500000000000000" pitchFamily="18" charset="-120"/>
              </a:rPr>
              <a:t>辦法</a:t>
            </a:r>
            <a:r>
              <a:rPr lang="zh-TW" altLang="en-US" dirty="0">
                <a:latin typeface="PMingLiU" panose="02020500000000000000" pitchFamily="18" charset="-120"/>
                <a:ea typeface="PMingLiU" panose="02020500000000000000" pitchFamily="18" charset="-120"/>
              </a:rPr>
              <a:t>與</a:t>
            </a:r>
            <a:r>
              <a:rPr lang="zh-TW" altLang="en-US" dirty="0" smtClean="0">
                <a:latin typeface="PMingLiU" panose="02020500000000000000" pitchFamily="18" charset="-120"/>
                <a:ea typeface="PMingLiU" panose="02020500000000000000" pitchFamily="18" charset="-120"/>
              </a:rPr>
              <a:t>各級應辦事項</a:t>
            </a:r>
            <a:r>
              <a:rPr lang="en-US" altLang="zh-TW" dirty="0" smtClean="0">
                <a:latin typeface="PMingLiU" panose="02020500000000000000" pitchFamily="18" charset="-120"/>
                <a:ea typeface="PMingLiU" panose="02020500000000000000" pitchFamily="18" charset="-120"/>
              </a:rPr>
              <a:t>(</a:t>
            </a:r>
            <a:r>
              <a:rPr lang="zh-TW" altLang="en-US" dirty="0" smtClean="0">
                <a:latin typeface="PMingLiU" panose="02020500000000000000" pitchFamily="18" charset="-120"/>
                <a:ea typeface="PMingLiU" panose="02020500000000000000" pitchFamily="18" charset="-120"/>
              </a:rPr>
              <a:t>及十個附表</a:t>
            </a:r>
            <a:r>
              <a:rPr lang="en-US" altLang="zh-TW" dirty="0" smtClean="0">
                <a:latin typeface="PMingLiU" panose="02020500000000000000" pitchFamily="18" charset="-120"/>
                <a:ea typeface="PMingLiU" panose="02020500000000000000" pitchFamily="18" charset="-120"/>
              </a:rPr>
              <a:t>)</a:t>
            </a:r>
            <a:r>
              <a:rPr lang="zh-TW" altLang="en-US" dirty="0" smtClean="0">
                <a:latin typeface="PMingLiU" panose="02020500000000000000" pitchFamily="18" charset="-120"/>
                <a:ea typeface="PMingLiU" panose="02020500000000000000" pitchFamily="18" charset="-120"/>
              </a:rPr>
              <a:t>規範之</a:t>
            </a:r>
            <a:endParaRPr lang="en-US" altLang="zh-TW" dirty="0" smtClean="0">
              <a:latin typeface="PMingLiU" panose="02020500000000000000" pitchFamily="18" charset="-120"/>
              <a:ea typeface="PMingLiU" panose="02020500000000000000" pitchFamily="18" charset="-120"/>
            </a:endParaRPr>
          </a:p>
          <a:p>
            <a:r>
              <a:rPr lang="zh-TW" altLang="en-US" dirty="0">
                <a:latin typeface="PMingLiU" panose="02020500000000000000" pitchFamily="18" charset="-120"/>
                <a:ea typeface="PMingLiU" panose="02020500000000000000" pitchFamily="18" charset="-120"/>
              </a:rPr>
              <a:t>本</a:t>
            </a:r>
            <a:r>
              <a:rPr lang="zh-TW" altLang="en-US" dirty="0" smtClean="0">
                <a:latin typeface="PMingLiU" panose="02020500000000000000" pitchFamily="18" charset="-120"/>
                <a:ea typeface="PMingLiU" panose="02020500000000000000" pitchFamily="18" charset="-120"/>
              </a:rPr>
              <a:t>課程主要目標在於這些</a:t>
            </a:r>
            <a:r>
              <a:rPr lang="zh-TW" altLang="en-US" dirty="0" smtClean="0"/>
              <a:t>防護基準的</a:t>
            </a:r>
            <a:r>
              <a:rPr lang="zh-TW" altLang="en-US" b="1" dirty="0" smtClean="0">
                <a:effectLst>
                  <a:outerShdw blurRad="38100" dist="38100" dir="2700000" algn="tl">
                    <a:srgbClr val="000000">
                      <a:alpha val="43137"/>
                    </a:srgbClr>
                  </a:outerShdw>
                </a:effectLst>
              </a:rPr>
              <a:t>驗證</a:t>
            </a:r>
            <a:endParaRPr lang="en-US" altLang="zh-TW" b="1" dirty="0" smtClean="0">
              <a:effectLst>
                <a:outerShdw blurRad="38100" dist="38100" dir="2700000" algn="tl">
                  <a:srgbClr val="000000">
                    <a:alpha val="43137"/>
                  </a:srgbClr>
                </a:outerShdw>
              </a:effectLst>
            </a:endParaRPr>
          </a:p>
          <a:p>
            <a:pPr lvl="1"/>
            <a:r>
              <a:rPr lang="zh-TW" altLang="en-US" b="1" dirty="0" smtClean="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參考指引</a:t>
            </a:r>
            <a:r>
              <a:rPr lang="en-US" altLang="zh-TW" b="1" dirty="0" smtClean="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a:t>
            </a:r>
            <a:r>
              <a:rPr lang="zh-TW" altLang="en-US" b="1" dirty="0" smtClean="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更多說明請參閱共通規範</a:t>
            </a:r>
            <a:r>
              <a:rPr lang="zh-TW" altLang="en-US" b="1" dirty="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之</a:t>
            </a:r>
            <a:endParaRPr lang="en-US" altLang="zh-TW" b="1" dirty="0" smtClean="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endParaRPr>
          </a:p>
          <a:p>
            <a:pPr lvl="2"/>
            <a:r>
              <a:rPr lang="zh-TW" altLang="en-US" b="1" dirty="0" smtClean="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資</a:t>
            </a:r>
            <a:r>
              <a:rPr lang="zh-TW" altLang="en-US" b="1" dirty="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通系統防護基準驗證實務</a:t>
            </a:r>
            <a:r>
              <a:rPr lang="en-US" altLang="zh-TW" b="1" dirty="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rPr>
              <a:t>(V1.1)_1110928</a:t>
            </a:r>
            <a:endParaRPr lang="zh-TW" altLang="en-US" b="1" dirty="0">
              <a:effectLst>
                <a:outerShdw blurRad="38100" dist="38100" dir="2700000" algn="tl">
                  <a:srgbClr val="000000">
                    <a:alpha val="43137"/>
                  </a:srgbClr>
                </a:outerShdw>
              </a:effectLst>
              <a:latin typeface="PMingLiU" panose="02020500000000000000" pitchFamily="18" charset="-120"/>
              <a:ea typeface="PMingLiU" panose="02020500000000000000" pitchFamily="18" charset="-120"/>
            </a:endParaRPr>
          </a:p>
          <a:p>
            <a:endParaRPr lang="en-US" altLang="zh-TW" kern="0" dirty="0" smtClean="0"/>
          </a:p>
        </p:txBody>
      </p:sp>
    </p:spTree>
    <p:extLst>
      <p:ext uri="{BB962C8B-B14F-4D97-AF65-F5344CB8AC3E}">
        <p14:creationId xmlns:p14="http://schemas.microsoft.com/office/powerpoint/2010/main" val="377916206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4"/>
          <p:cNvSpPr>
            <a:spLocks noGrp="1" noChangeArrowheads="1"/>
          </p:cNvSpPr>
          <p:nvPr>
            <p:ph type="ctrTitle"/>
          </p:nvPr>
        </p:nvSpPr>
        <p:spPr>
          <a:xfrm>
            <a:off x="685800" y="2132856"/>
            <a:ext cx="7772400" cy="1224136"/>
          </a:xfrm>
        </p:spPr>
        <p:txBody>
          <a:bodyPr/>
          <a:lstStyle/>
          <a:p>
            <a:r>
              <a:rPr lang="en-US" altLang="zh-TW" sz="4000" dirty="0" smtClean="0"/>
              <a:t>Part B</a:t>
            </a:r>
            <a:r>
              <a:rPr lang="en-US" altLang="zh-TW" sz="4000" dirty="0" smtClean="0"/>
              <a:t>  Risk management</a:t>
            </a:r>
            <a:br>
              <a:rPr lang="en-US" altLang="zh-TW" sz="4000" dirty="0" smtClean="0"/>
            </a:br>
            <a:r>
              <a:rPr lang="zh-TW" altLang="en-US" sz="4000" dirty="0" smtClean="0"/>
              <a:t>風險管理</a:t>
            </a:r>
            <a:endParaRPr lang="zh-TW" altLang="en-US" sz="4000" dirty="0"/>
          </a:p>
        </p:txBody>
      </p:sp>
    </p:spTree>
    <p:extLst>
      <p:ext uri="{BB962C8B-B14F-4D97-AF65-F5344CB8AC3E}">
        <p14:creationId xmlns:p14="http://schemas.microsoft.com/office/powerpoint/2010/main" val="17624133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27" descr="Screen Shot 2016-07-28 at 1.13.35 PM.png"/>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475656" y="1700808"/>
            <a:ext cx="1436984" cy="46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Content Placeholder 2"/>
          <p:cNvSpPr>
            <a:spLocks noGrp="1"/>
          </p:cNvSpPr>
          <p:nvPr>
            <p:ph sz="quarter" idx="10"/>
          </p:nvPr>
        </p:nvSpPr>
        <p:spPr>
          <a:xfrm>
            <a:off x="539552" y="1080000"/>
            <a:ext cx="8071200" cy="3141088"/>
          </a:xfrm>
          <a:ln w="38100"/>
        </p:spPr>
        <p:txBody>
          <a:bodyPr/>
          <a:lstStyle/>
          <a:p>
            <a:r>
              <a:rPr lang="zh-TW" altLang="en-US" dirty="0">
                <a:cs typeface="微軟正黑體" panose="020B0604030504040204" pitchFamily="34" charset="-120"/>
              </a:rPr>
              <a:t>參考</a:t>
            </a:r>
            <a:r>
              <a:rPr lang="en-US" altLang="en-US" dirty="0">
                <a:cs typeface="微軟正黑體" panose="020B0604030504040204" pitchFamily="34" charset="-120"/>
              </a:rPr>
              <a:t>CNS </a:t>
            </a:r>
            <a:r>
              <a:rPr lang="en-US" altLang="zh-TW" dirty="0">
                <a:cs typeface="微軟正黑體" panose="020B0604030504040204" pitchFamily="34" charset="-120"/>
              </a:rPr>
              <a:t>31000</a:t>
            </a:r>
            <a:r>
              <a:rPr lang="zh-CN" altLang="en-US" dirty="0">
                <a:cs typeface="微軟正黑體" panose="020B0604030504040204" pitchFamily="34" charset="-120"/>
              </a:rPr>
              <a:t>的風險</a:t>
            </a:r>
            <a:r>
              <a:rPr lang="en-US" altLang="zh-CN" dirty="0">
                <a:cs typeface="微軟正黑體" panose="020B0604030504040204" pitchFamily="34" charset="-120"/>
              </a:rPr>
              <a:t>(Risk)</a:t>
            </a:r>
            <a:r>
              <a:rPr lang="zh-CN" altLang="en-US" dirty="0" smtClean="0">
                <a:cs typeface="微軟正黑體" panose="020B0604030504040204" pitchFamily="34" charset="-120"/>
              </a:rPr>
              <a:t>定義</a:t>
            </a:r>
            <a:endParaRPr lang="en-US" altLang="ja-JP" dirty="0">
              <a:cs typeface="微軟正黑體" panose="020B0604030504040204" pitchFamily="34" charset="-120"/>
            </a:endParaRPr>
          </a:p>
          <a:p>
            <a:pPr marL="288000" lvl="1" indent="0">
              <a:buNone/>
            </a:pPr>
            <a:r>
              <a:rPr lang="zh-TW" altLang="en-US" dirty="0"/>
              <a:t>對於組織目標之不確定影響</a:t>
            </a:r>
            <a:r>
              <a:rPr lang="en-US" altLang="ja-JP" dirty="0"/>
              <a:t>(effect</a:t>
            </a:r>
            <a:r>
              <a:rPr lang="zh-CN" altLang="en-US" dirty="0"/>
              <a:t> </a:t>
            </a:r>
            <a:r>
              <a:rPr lang="en-US" altLang="ja-JP" dirty="0"/>
              <a:t>of</a:t>
            </a:r>
            <a:r>
              <a:rPr lang="zh-CN" altLang="en-US" dirty="0"/>
              <a:t> </a:t>
            </a:r>
            <a:r>
              <a:rPr lang="en-US" altLang="ja-JP" dirty="0"/>
              <a:t>uncertainty</a:t>
            </a:r>
            <a:r>
              <a:rPr lang="zh-CN" altLang="en-US" dirty="0"/>
              <a:t> </a:t>
            </a:r>
            <a:r>
              <a:rPr lang="en-US" altLang="ja-JP" dirty="0"/>
              <a:t>on</a:t>
            </a:r>
            <a:r>
              <a:rPr lang="zh-CN" altLang="en-US" dirty="0"/>
              <a:t> </a:t>
            </a:r>
            <a:r>
              <a:rPr lang="en-US" altLang="ja-JP" dirty="0"/>
              <a:t>objectives)</a:t>
            </a:r>
          </a:p>
          <a:p>
            <a:endParaRPr lang="en-US" altLang="zh-TW" sz="2400" dirty="0">
              <a:cs typeface="微軟正黑體" panose="020B0604030504040204" pitchFamily="34" charset="-120"/>
            </a:endParaRPr>
          </a:p>
          <a:p>
            <a:endParaRPr lang="en-US" altLang="zh-TW" sz="2400" dirty="0">
              <a:cs typeface="微軟正黑體" panose="020B0604030504040204" pitchFamily="34" charset="-120"/>
            </a:endParaRPr>
          </a:p>
          <a:p>
            <a:endParaRPr lang="en-US" altLang="zh-TW" sz="2400" dirty="0">
              <a:cs typeface="微軟正黑體" panose="020B0604030504040204" pitchFamily="34" charset="-120"/>
            </a:endParaRPr>
          </a:p>
        </p:txBody>
      </p:sp>
      <p:sp>
        <p:nvSpPr>
          <p:cNvPr id="27651" name="Title 1"/>
          <p:cNvSpPr>
            <a:spLocks noGrp="1"/>
          </p:cNvSpPr>
          <p:nvPr>
            <p:ph type="title"/>
          </p:nvPr>
        </p:nvSpPr>
        <p:spPr>
          <a:xfrm>
            <a:off x="818623" y="131120"/>
            <a:ext cx="7785825" cy="777600"/>
          </a:xfrm>
        </p:spPr>
        <p:txBody>
          <a:bodyPr/>
          <a:lstStyle/>
          <a:p>
            <a:r>
              <a:rPr lang="zh-CN" altLang="en-US" dirty="0" smtClean="0"/>
              <a:t>風險</a:t>
            </a:r>
            <a:r>
              <a:rPr lang="en-US" altLang="zh-CN" dirty="0"/>
              <a:t>(Risk)</a:t>
            </a:r>
            <a:endParaRPr lang="en-US" altLang="zh-TW" dirty="0"/>
          </a:p>
        </p:txBody>
      </p:sp>
      <p:sp>
        <p:nvSpPr>
          <p:cNvPr id="27653" name="Rectangle 1"/>
          <p:cNvSpPr>
            <a:spLocks noChangeArrowheads="1"/>
          </p:cNvSpPr>
          <p:nvPr/>
        </p:nvSpPr>
        <p:spPr bwMode="auto">
          <a:xfrm>
            <a:off x="4788025" y="2151205"/>
            <a:ext cx="3888431" cy="7017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0" lvl="2">
              <a:lnSpc>
                <a:spcPct val="110000"/>
              </a:lnSpc>
            </a:pPr>
            <a:r>
              <a:rPr lang="zh-TW" altLang="en-US" i="0" dirty="0">
                <a:solidFill>
                  <a:srgbClr val="FF0000"/>
                </a:solidFill>
                <a:latin typeface="微軟正黑體" panose="020B0604030504040204" pitchFamily="34" charset="-120"/>
                <a:ea typeface="微軟正黑體" panose="020B0604030504040204" pitchFamily="34" charset="-120"/>
              </a:rPr>
              <a:t>指對於預期結果的誤差，包括正向與負向的結果</a:t>
            </a:r>
          </a:p>
        </p:txBody>
      </p:sp>
      <p:sp>
        <p:nvSpPr>
          <p:cNvPr id="27654" name="Rectangle 9"/>
          <p:cNvSpPr>
            <a:spLocks noChangeArrowheads="1"/>
          </p:cNvSpPr>
          <p:nvPr/>
        </p:nvSpPr>
        <p:spPr bwMode="auto">
          <a:xfrm>
            <a:off x="1232166" y="2998656"/>
            <a:ext cx="6624736"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nSpc>
                <a:spcPct val="110000"/>
              </a:lnSpc>
            </a:pPr>
            <a:r>
              <a:rPr lang="en-US" altLang="en-US" sz="2000" i="0" dirty="0">
                <a:latin typeface="微軟正黑體" panose="020B0604030504040204" pitchFamily="34" charset="-120"/>
                <a:ea typeface="微軟正黑體" panose="020B0604030504040204" pitchFamily="34" charset="-120"/>
              </a:rPr>
              <a:t>組織目標可以包含不同面向，例如：財務、健康、安全與環保目標等，並且可以應用於不同階層，上至組織策略、專案工作，下至產品發展與過程，或資安等均是</a:t>
            </a:r>
            <a:endParaRPr lang="en-US" altLang="ja-JP" sz="2000" i="0" dirty="0">
              <a:latin typeface="微軟正黑體" panose="020B0604030504040204" pitchFamily="34" charset="-120"/>
              <a:ea typeface="微軟正黑體" panose="020B0604030504040204" pitchFamily="34" charset="-120"/>
            </a:endParaRPr>
          </a:p>
        </p:txBody>
      </p:sp>
      <p:pic>
        <p:nvPicPr>
          <p:cNvPr id="27655" name="Picture 1"/>
          <p:cNvPicPr>
            <a:picLocks noChangeAspect="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2195736" y="1879451"/>
            <a:ext cx="1302148" cy="13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6" name="Picture 2"/>
          <p:cNvPicPr>
            <a:picLocks noChangeAspect="1"/>
          </p:cNvPicPr>
          <p:nvPr/>
        </p:nvPicPr>
        <p:blipFill rotWithShape="1">
          <a:blip r:embed="rId5"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rot="1806874">
            <a:off x="4049671" y="2137289"/>
            <a:ext cx="989726" cy="412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7" name="Picture 3"/>
          <p:cNvPicPr>
            <a:picLocks noChangeAspect="1"/>
          </p:cNvPicPr>
          <p:nvPr/>
        </p:nvPicPr>
        <p:blipFill rotWithShape="1">
          <a:blip r:embed="rId6"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a:off x="3779912" y="1980395"/>
            <a:ext cx="1155700" cy="3684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8" name="Picture 4"/>
          <p:cNvPicPr>
            <a:picLocks noChangeAspect="1"/>
          </p:cNvPicPr>
          <p:nvPr/>
        </p:nvPicPr>
        <p:blipFill rotWithShape="1">
          <a:blip r:embed="rId7" cstate="print">
            <a:clrChange>
              <a:clrFrom>
                <a:srgbClr val="FFFFFF"/>
              </a:clrFrom>
              <a:clrTo>
                <a:srgbClr val="FFFFFF">
                  <a:alpha val="0"/>
                </a:srgbClr>
              </a:clrTo>
            </a:clrChange>
            <a:extLst>
              <a:ext uri="{28A0092B-C50C-407E-A947-70E740481C1C}">
                <a14:useLocalDpi xmlns:a14="http://schemas.microsoft.com/office/drawing/2010/main" val="0"/>
              </a:ext>
            </a:extLst>
          </a:blip>
          <a:srcRect t="-1"/>
          <a:stretch/>
        </p:blipFill>
        <p:spPr bwMode="auto">
          <a:xfrm>
            <a:off x="564210" y="2770133"/>
            <a:ext cx="761704" cy="6453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p:cNvSpPr/>
          <p:nvPr/>
        </p:nvSpPr>
        <p:spPr>
          <a:xfrm>
            <a:off x="818623" y="4733942"/>
            <a:ext cx="7848872" cy="1200329"/>
          </a:xfrm>
          <a:prstGeom prst="rect">
            <a:avLst/>
          </a:prstGeom>
        </p:spPr>
        <p:txBody>
          <a:bodyPr wrap="square">
            <a:spAutoFit/>
          </a:bodyPr>
          <a:lstStyle/>
          <a:p>
            <a:r>
              <a:rPr lang="en-US" altLang="en-US" sz="2400" dirty="0" err="1">
                <a:cs typeface="微軟正黑體" panose="020B0604030504040204" pitchFamily="34" charset="-120"/>
              </a:rPr>
              <a:t>換言之：風險意指任何類型與大小的組織，為達成組織的目標，所面對內部及外部因素影響的不確定性，包含</a:t>
            </a:r>
            <a:r>
              <a:rPr lang="zh-TW" altLang="en-US" sz="2400" dirty="0">
                <a:cs typeface="微軟正黑體" panose="020B0604030504040204" pitchFamily="34" charset="-120"/>
              </a:rPr>
              <a:t>事件</a:t>
            </a:r>
            <a:r>
              <a:rPr lang="en-US" altLang="en-US" sz="2400" dirty="0" err="1">
                <a:cs typeface="微軟正黑體" panose="020B0604030504040204" pitchFamily="34" charset="-120"/>
              </a:rPr>
              <a:t>發生的改變程度與發生的可能性等</a:t>
            </a:r>
            <a:endParaRPr lang="en-US" altLang="zh-TW" sz="2400" dirty="0">
              <a:cs typeface="微軟正黑體" panose="020B0604030504040204" pitchFamily="34" charset="-120"/>
            </a:endParaRPr>
          </a:p>
        </p:txBody>
      </p:sp>
    </p:spTree>
    <p:extLst>
      <p:ext uri="{BB962C8B-B14F-4D97-AF65-F5344CB8AC3E}">
        <p14:creationId xmlns:p14="http://schemas.microsoft.com/office/powerpoint/2010/main" val="8379129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zh-TW" altLang="en-US" dirty="0"/>
              <a:t>風險管理</a:t>
            </a:r>
            <a:r>
              <a:rPr lang="en-US" altLang="zh-TW" dirty="0"/>
              <a:t>(Risk Management</a:t>
            </a:r>
            <a:r>
              <a:rPr lang="en-US" altLang="zh-TW" dirty="0" smtClean="0"/>
              <a:t>):</a:t>
            </a:r>
            <a:endParaRPr lang="zh-TW" altLang="en-US" dirty="0"/>
          </a:p>
        </p:txBody>
      </p:sp>
      <p:sp>
        <p:nvSpPr>
          <p:cNvPr id="4" name="AutoShape 4">
            <a:extLst>
              <a:ext uri="{FF2B5EF4-FFF2-40B4-BE49-F238E27FC236}">
                <a16:creationId xmlns:a16="http://schemas.microsoft.com/office/drawing/2014/main" id="{2FD8976A-9971-CE2C-A363-440B0C38B053}"/>
              </a:ext>
            </a:extLst>
          </p:cNvPr>
          <p:cNvSpPr/>
          <p:nvPr/>
        </p:nvSpPr>
        <p:spPr>
          <a:xfrm>
            <a:off x="205074" y="934300"/>
            <a:ext cx="6982496" cy="0"/>
          </a:xfrm>
          <a:prstGeom prst="line">
            <a:avLst/>
          </a:prstGeom>
          <a:ln w="38100" cap="flat">
            <a:solidFill>
              <a:srgbClr val="1B75BC"/>
            </a:solidFill>
            <a:prstDash val="solid"/>
            <a:headEnd type="none" w="sm" len="sm"/>
            <a:tailEnd type="none" w="sm" len="sm"/>
          </a:ln>
        </p:spPr>
        <p:txBody>
          <a:bodyPr/>
          <a:lstStyle/>
          <a:p>
            <a:endParaRPr lang="en-US" sz="1688"/>
          </a:p>
        </p:txBody>
      </p:sp>
      <p:sp>
        <p:nvSpPr>
          <p:cNvPr id="6" name="文字方塊 5">
            <a:extLst>
              <a:ext uri="{FF2B5EF4-FFF2-40B4-BE49-F238E27FC236}">
                <a16:creationId xmlns:a16="http://schemas.microsoft.com/office/drawing/2014/main" id="{A214723E-6DDB-A56E-1935-D72776A8A63F}"/>
              </a:ext>
            </a:extLst>
          </p:cNvPr>
          <p:cNvSpPr txBox="1"/>
          <p:nvPr/>
        </p:nvSpPr>
        <p:spPr>
          <a:xfrm>
            <a:off x="460573" y="2996952"/>
            <a:ext cx="8143875" cy="2458494"/>
          </a:xfrm>
          <a:prstGeom prst="rect">
            <a:avLst/>
          </a:prstGeom>
          <a:noFill/>
        </p:spPr>
        <p:txBody>
          <a:bodyPr wrap="square">
            <a:spAutoFit/>
          </a:bodyPr>
          <a:lstStyle/>
          <a:p>
            <a:pPr marL="428625" indent="-428625">
              <a:buFont typeface="Wingdings" panose="05000000000000000000" pitchFamily="2" charset="2"/>
              <a:buChar char="ü"/>
            </a:pPr>
            <a:r>
              <a:rPr lang="zh-TW" altLang="en-US" sz="3000" dirty="0"/>
              <a:t>風險管理是一個管理過程，包括對風險的定義、測量、評估和</a:t>
            </a:r>
            <a:r>
              <a:rPr lang="zh-TW" altLang="en-US" sz="3000" b="1" dirty="0">
                <a:effectLst>
                  <a:outerShdw blurRad="38100" dist="38100" dir="2700000" algn="tl">
                    <a:srgbClr val="000000">
                      <a:alpha val="43137"/>
                    </a:srgbClr>
                  </a:outerShdw>
                </a:effectLst>
              </a:rPr>
              <a:t>發展因應風險的策略</a:t>
            </a:r>
            <a:endParaRPr lang="en-US" altLang="zh-TW" sz="3000" b="1" dirty="0">
              <a:effectLst>
                <a:outerShdw blurRad="38100" dist="38100" dir="2700000" algn="tl">
                  <a:srgbClr val="000000">
                    <a:alpha val="43137"/>
                  </a:srgbClr>
                </a:outerShdw>
              </a:effectLst>
            </a:endParaRPr>
          </a:p>
          <a:p>
            <a:pPr marL="428625" indent="-428625">
              <a:buFont typeface="Wingdings" panose="05000000000000000000" pitchFamily="2" charset="2"/>
              <a:buChar char="ü"/>
            </a:pPr>
            <a:endParaRPr lang="zh-TW" altLang="en-US" sz="3000" b="1" dirty="0">
              <a:effectLst>
                <a:outerShdw blurRad="38100" dist="38100" dir="2700000" algn="tl">
                  <a:srgbClr val="000000">
                    <a:alpha val="43137"/>
                  </a:srgbClr>
                </a:outerShdw>
              </a:effectLst>
            </a:endParaRPr>
          </a:p>
          <a:p>
            <a:pPr marL="428625" indent="-428625">
              <a:buFont typeface="Wingdings" panose="05000000000000000000" pitchFamily="2" charset="2"/>
              <a:buChar char="ü"/>
            </a:pPr>
            <a:r>
              <a:rPr lang="zh-TW" altLang="en-US" sz="3000" dirty="0"/>
              <a:t>目的是將可避免的風險、成本及損失極小化</a:t>
            </a:r>
            <a:endParaRPr lang="en-US" altLang="zh-TW" sz="3000" dirty="0"/>
          </a:p>
          <a:p>
            <a:pPr lvl="1"/>
            <a:r>
              <a:rPr lang="en-US" altLang="zh-TW" sz="1688" dirty="0"/>
              <a:t>1.</a:t>
            </a:r>
            <a:r>
              <a:rPr lang="zh-TW" altLang="en-US" sz="1688" dirty="0"/>
              <a:t>在最低的防護成本投入下獲得最優化的安全性</a:t>
            </a:r>
            <a:r>
              <a:rPr lang="en-US" altLang="zh-TW" sz="1688" dirty="0"/>
              <a:t>(</a:t>
            </a:r>
            <a:r>
              <a:rPr lang="zh-TW" altLang="en-US" sz="1688" dirty="0"/>
              <a:t>最優化非最強固，而是最合適</a:t>
            </a:r>
            <a:r>
              <a:rPr lang="en-US" altLang="zh-TW" sz="1688" dirty="0"/>
              <a:t>)</a:t>
            </a:r>
          </a:p>
          <a:p>
            <a:pPr lvl="1"/>
            <a:r>
              <a:rPr lang="en-US" altLang="zh-TW" sz="1688" dirty="0"/>
              <a:t>2.</a:t>
            </a:r>
            <a:r>
              <a:rPr lang="zh-TW" altLang="en-US" sz="1688" dirty="0"/>
              <a:t>識別、評估風險，並將這種風險減小到一個可以接受的程度</a:t>
            </a:r>
            <a:endParaRPr lang="en-US" altLang="zh-TW" sz="1688" dirty="0"/>
          </a:p>
        </p:txBody>
      </p:sp>
      <p:sp>
        <p:nvSpPr>
          <p:cNvPr id="7" name="矩形 6"/>
          <p:cNvSpPr/>
          <p:nvPr/>
        </p:nvSpPr>
        <p:spPr>
          <a:xfrm>
            <a:off x="683569" y="1340768"/>
            <a:ext cx="7632848" cy="1200329"/>
          </a:xfrm>
          <a:prstGeom prst="rect">
            <a:avLst/>
          </a:prstGeom>
          <a:ln w="12700">
            <a:solidFill>
              <a:schemeClr val="tx1"/>
            </a:solidFill>
          </a:ln>
        </p:spPr>
        <p:txBody>
          <a:bodyPr wrap="square">
            <a:spAutoFit/>
          </a:bodyPr>
          <a:lstStyle/>
          <a:p>
            <a:r>
              <a:rPr lang="zh-TW" altLang="en-US" sz="2400" dirty="0"/>
              <a:t>風險管理</a:t>
            </a:r>
            <a:r>
              <a:rPr lang="en-US" altLang="zh-TW" sz="2400" dirty="0"/>
              <a:t>(Risk Management):</a:t>
            </a:r>
          </a:p>
          <a:p>
            <a:endParaRPr lang="en-US" altLang="zh-TW" sz="2400" dirty="0"/>
          </a:p>
          <a:p>
            <a:r>
              <a:rPr lang="zh-TW" altLang="en-US" sz="2400" dirty="0"/>
              <a:t>協同所有活動並加以指導，以控制組織所關注之風險。</a:t>
            </a:r>
            <a:endParaRPr lang="en-US" altLang="zh-TW" sz="2400" dirty="0"/>
          </a:p>
        </p:txBody>
      </p:sp>
    </p:spTree>
    <p:extLst>
      <p:ext uri="{BB962C8B-B14F-4D97-AF65-F5344CB8AC3E}">
        <p14:creationId xmlns:p14="http://schemas.microsoft.com/office/powerpoint/2010/main" val="308459655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 name="內容版面配置區 30"/>
          <p:cNvPicPr>
            <a:picLocks noGrp="1" noChangeAspect="1"/>
          </p:cNvPicPr>
          <p:nvPr>
            <p:ph sz="quarter" idx="10"/>
          </p:nvPr>
        </p:nvPicPr>
        <p:blipFill>
          <a:blip r:embed="rId2"/>
          <a:stretch>
            <a:fillRect/>
          </a:stretch>
        </p:blipFill>
        <p:spPr>
          <a:xfrm>
            <a:off x="395536" y="1196752"/>
            <a:ext cx="7047681" cy="5332988"/>
          </a:xfrm>
          <a:prstGeom prst="rect">
            <a:avLst/>
          </a:prstGeom>
        </p:spPr>
      </p:pic>
      <p:sp>
        <p:nvSpPr>
          <p:cNvPr id="3" name="標題 2"/>
          <p:cNvSpPr>
            <a:spLocks noGrp="1"/>
          </p:cNvSpPr>
          <p:nvPr>
            <p:ph type="title"/>
          </p:nvPr>
        </p:nvSpPr>
        <p:spPr>
          <a:xfrm>
            <a:off x="290029" y="108398"/>
            <a:ext cx="7785825" cy="689317"/>
          </a:xfrm>
        </p:spPr>
        <p:txBody>
          <a:bodyPr>
            <a:normAutofit fontScale="90000"/>
          </a:bodyPr>
          <a:lstStyle/>
          <a:p>
            <a:r>
              <a:rPr lang="zh-TW" altLang="en-US" dirty="0" smtClean="0"/>
              <a:t>不同</a:t>
            </a:r>
            <a:r>
              <a:rPr lang="zh-TW" altLang="en-US" dirty="0"/>
              <a:t>類型的</a:t>
            </a:r>
            <a:r>
              <a:rPr lang="zh-TW" altLang="en-US" dirty="0" smtClean="0"/>
              <a:t>風險與風險管理</a:t>
            </a:r>
            <a:endParaRPr lang="zh-TW" altLang="en-US" dirty="0"/>
          </a:p>
        </p:txBody>
      </p:sp>
      <p:sp>
        <p:nvSpPr>
          <p:cNvPr id="32" name="矩形 31"/>
          <p:cNvSpPr/>
          <p:nvPr/>
        </p:nvSpPr>
        <p:spPr bwMode="auto">
          <a:xfrm>
            <a:off x="2123728" y="4293096"/>
            <a:ext cx="4968552" cy="648072"/>
          </a:xfrm>
          <a:prstGeom prst="rect">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1" u="none" strike="noStrike" cap="none" normalizeH="0" baseline="0" smtClean="0">
              <a:ln>
                <a:noFill/>
              </a:ln>
              <a:solidFill>
                <a:schemeClr val="tx1"/>
              </a:solidFill>
              <a:effectLst/>
              <a:latin typeface="Arial" charset="0"/>
              <a:ea typeface="標楷體" pitchFamily="65" charset="-120"/>
            </a:endParaRPr>
          </a:p>
        </p:txBody>
      </p:sp>
      <p:sp>
        <p:nvSpPr>
          <p:cNvPr id="33" name="向右箭號 32"/>
          <p:cNvSpPr/>
          <p:nvPr/>
        </p:nvSpPr>
        <p:spPr bwMode="auto">
          <a:xfrm flipH="1">
            <a:off x="6732240" y="4293096"/>
            <a:ext cx="792088" cy="720080"/>
          </a:xfrm>
          <a:prstGeom prst="rightArrow">
            <a:avLst/>
          </a:prstGeom>
          <a:solidFill>
            <a:srgbClr val="FF000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1" u="none" strike="noStrike" cap="none" normalizeH="0" baseline="0" smtClean="0">
              <a:ln>
                <a:noFill/>
              </a:ln>
              <a:solidFill>
                <a:schemeClr val="tx1"/>
              </a:solidFill>
              <a:effectLst/>
              <a:latin typeface="Arial" charset="0"/>
              <a:ea typeface="標楷體" pitchFamily="65" charset="-120"/>
            </a:endParaRPr>
          </a:p>
        </p:txBody>
      </p:sp>
      <p:sp>
        <p:nvSpPr>
          <p:cNvPr id="34" name="矩形 33"/>
          <p:cNvSpPr/>
          <p:nvPr/>
        </p:nvSpPr>
        <p:spPr>
          <a:xfrm>
            <a:off x="7596336" y="4293096"/>
            <a:ext cx="1467068" cy="707886"/>
          </a:xfrm>
          <a:prstGeom prst="rect">
            <a:avLst/>
          </a:prstGeom>
        </p:spPr>
        <p:txBody>
          <a:bodyPr wrap="none">
            <a:spAutoFit/>
          </a:bodyPr>
          <a:lstStyle/>
          <a:p>
            <a:r>
              <a:rPr lang="zh-TW" altLang="en-US" sz="2000" b="1" dirty="0" smtClean="0">
                <a:effectLst>
                  <a:outerShdw blurRad="38100" dist="38100" dir="2700000" algn="tl">
                    <a:srgbClr val="000000">
                      <a:alpha val="43137"/>
                    </a:srgbClr>
                  </a:outerShdw>
                </a:effectLst>
              </a:rPr>
              <a:t>本教材聚焦</a:t>
            </a:r>
            <a:endParaRPr lang="en-US" altLang="zh-TW" sz="2000" b="1" dirty="0" smtClean="0">
              <a:effectLst>
                <a:outerShdw blurRad="38100" dist="38100" dir="2700000" algn="tl">
                  <a:srgbClr val="000000">
                    <a:alpha val="43137"/>
                  </a:srgbClr>
                </a:outerShdw>
              </a:effectLst>
            </a:endParaRPr>
          </a:p>
          <a:p>
            <a:r>
              <a:rPr lang="zh-TW" altLang="en-US" sz="2000" b="1" dirty="0" smtClean="0">
                <a:effectLst>
                  <a:outerShdw blurRad="38100" dist="38100" dir="2700000" algn="tl">
                    <a:srgbClr val="000000">
                      <a:alpha val="43137"/>
                    </a:srgbClr>
                  </a:outerShdw>
                </a:effectLst>
              </a:rPr>
              <a:t>的主題</a:t>
            </a:r>
            <a:endParaRPr lang="zh-TW" altLang="en-US" sz="2000" b="1" dirty="0">
              <a:effectLst>
                <a:outerShdw blurRad="38100" dist="38100" dir="2700000" algn="tl">
                  <a:srgbClr val="000000">
                    <a:alpha val="43137"/>
                  </a:srgbClr>
                </a:outerShdw>
              </a:effectLst>
            </a:endParaRPr>
          </a:p>
        </p:txBody>
      </p:sp>
      <p:sp>
        <p:nvSpPr>
          <p:cNvPr id="35" name="右大括弧 34"/>
          <p:cNvSpPr/>
          <p:nvPr/>
        </p:nvSpPr>
        <p:spPr bwMode="auto">
          <a:xfrm>
            <a:off x="6948264" y="5013176"/>
            <a:ext cx="494953" cy="1584176"/>
          </a:xfrm>
          <a:prstGeom prst="rightBrace">
            <a:avLst/>
          </a:prstGeom>
          <a:noFill/>
          <a:ln w="28575"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1" u="none" strike="noStrike" cap="none" normalizeH="0" baseline="0" smtClean="0">
              <a:ln>
                <a:noFill/>
              </a:ln>
              <a:solidFill>
                <a:schemeClr val="tx1"/>
              </a:solidFill>
              <a:effectLst/>
              <a:latin typeface="Arial" charset="0"/>
              <a:ea typeface="標楷體" pitchFamily="65" charset="-120"/>
            </a:endParaRPr>
          </a:p>
        </p:txBody>
      </p:sp>
      <p:sp>
        <p:nvSpPr>
          <p:cNvPr id="36" name="矩形 35"/>
          <p:cNvSpPr/>
          <p:nvPr/>
        </p:nvSpPr>
        <p:spPr>
          <a:xfrm>
            <a:off x="7524328" y="5412213"/>
            <a:ext cx="1440160" cy="830997"/>
          </a:xfrm>
          <a:prstGeom prst="rect">
            <a:avLst/>
          </a:prstGeom>
        </p:spPr>
        <p:txBody>
          <a:bodyPr wrap="square">
            <a:spAutoFit/>
          </a:bodyPr>
          <a:lstStyle/>
          <a:p>
            <a:r>
              <a:rPr lang="zh-TW" altLang="en-US" sz="2400" b="1" dirty="0" smtClean="0">
                <a:effectLst>
                  <a:outerShdw blurRad="38100" dist="38100" dir="2700000" algn="tl">
                    <a:srgbClr val="000000">
                      <a:alpha val="43137"/>
                    </a:srgbClr>
                  </a:outerShdw>
                </a:effectLst>
              </a:rPr>
              <a:t>近年熱門</a:t>
            </a:r>
            <a:endParaRPr lang="en-US" altLang="zh-TW" sz="2400" b="1" dirty="0" smtClean="0">
              <a:effectLst>
                <a:outerShdw blurRad="38100" dist="38100" dir="2700000" algn="tl">
                  <a:srgbClr val="000000">
                    <a:alpha val="43137"/>
                  </a:srgbClr>
                </a:outerShdw>
              </a:effectLst>
            </a:endParaRPr>
          </a:p>
          <a:p>
            <a:r>
              <a:rPr lang="zh-TW" altLang="en-US" sz="2400" b="1" dirty="0" smtClean="0">
                <a:effectLst>
                  <a:outerShdw blurRad="38100" dist="38100" dir="2700000" algn="tl">
                    <a:srgbClr val="000000">
                      <a:alpha val="43137"/>
                    </a:srgbClr>
                  </a:outerShdw>
                </a:effectLst>
              </a:rPr>
              <a:t>的主題</a:t>
            </a:r>
            <a:endParaRPr lang="zh-TW" altLang="en-US" sz="2400" b="1" dirty="0">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370056180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Content Placeholder 1"/>
          <p:cNvSpPr>
            <a:spLocks noGrp="1"/>
          </p:cNvSpPr>
          <p:nvPr>
            <p:ph sz="quarter" idx="10"/>
          </p:nvPr>
        </p:nvSpPr>
        <p:spPr>
          <a:xfrm>
            <a:off x="467544" y="1080000"/>
            <a:ext cx="8496944" cy="5230800"/>
          </a:xfrm>
        </p:spPr>
        <p:txBody>
          <a:bodyPr/>
          <a:lstStyle/>
          <a:p>
            <a:r>
              <a:rPr kumimoji="0" lang="zh-TW" altLang="en-US" dirty="0">
                <a:cs typeface="微軟正黑體" panose="020B0604030504040204" pitchFamily="34" charset="-120"/>
              </a:rPr>
              <a:t>保障資訊及資通系統資產免於發生潛在</a:t>
            </a:r>
            <a:r>
              <a:rPr kumimoji="0" lang="en-US" altLang="zh-TW" dirty="0">
                <a:cs typeface="微軟正黑體" panose="020B0604030504040204" pitchFamily="34" charset="-120"/>
              </a:rPr>
              <a:t>〝</a:t>
            </a:r>
            <a:r>
              <a:rPr kumimoji="0" lang="zh-TW" altLang="en-US" dirty="0">
                <a:cs typeface="微軟正黑體" panose="020B0604030504040204" pitchFamily="34" charset="-120"/>
              </a:rPr>
              <a:t>不可承受的風險</a:t>
            </a:r>
            <a:r>
              <a:rPr kumimoji="0" lang="en-US" altLang="zh-TW" dirty="0" smtClean="0">
                <a:cs typeface="微軟正黑體" panose="020B0604030504040204" pitchFamily="34" charset="-120"/>
              </a:rPr>
              <a:t>〞</a:t>
            </a:r>
          </a:p>
          <a:p>
            <a:r>
              <a:rPr kumimoji="0" lang="zh-TW" altLang="en-US" dirty="0" smtClean="0">
                <a:cs typeface="微軟正黑體" panose="020B0604030504040204" pitchFamily="34" charset="-120"/>
              </a:rPr>
              <a:t>特別</a:t>
            </a:r>
            <a:r>
              <a:rPr kumimoji="0" lang="zh-TW" altLang="en-US" dirty="0">
                <a:cs typeface="微軟正黑體" panose="020B0604030504040204" pitchFamily="34" charset="-120"/>
              </a:rPr>
              <a:t>強調</a:t>
            </a:r>
            <a:r>
              <a:rPr kumimoji="0" lang="zh-TW" altLang="en-US" b="1" dirty="0">
                <a:solidFill>
                  <a:srgbClr val="FF0000"/>
                </a:solidFill>
                <a:effectLst>
                  <a:outerShdw blurRad="38100" dist="38100" dir="2700000" algn="tl">
                    <a:srgbClr val="000000">
                      <a:alpha val="43137"/>
                    </a:srgbClr>
                  </a:outerShdw>
                </a:effectLst>
                <a:cs typeface="微軟正黑體" panose="020B0604030504040204" pitchFamily="34" charset="-120"/>
              </a:rPr>
              <a:t>資訊</a:t>
            </a:r>
            <a:r>
              <a:rPr kumimoji="0" lang="zh-TW" altLang="en-US" dirty="0">
                <a:cs typeface="微軟正黑體" panose="020B0604030504040204" pitchFamily="34" charset="-120"/>
              </a:rPr>
              <a:t>及</a:t>
            </a:r>
            <a:r>
              <a:rPr kumimoji="0" lang="zh-TW" altLang="en-US" b="1" dirty="0">
                <a:solidFill>
                  <a:srgbClr val="FF0000"/>
                </a:solidFill>
                <a:effectLst>
                  <a:outerShdw blurRad="38100" dist="38100" dir="2700000" algn="tl">
                    <a:srgbClr val="000000">
                      <a:alpha val="43137"/>
                    </a:srgbClr>
                  </a:outerShdw>
                </a:effectLst>
                <a:cs typeface="微軟正黑體" panose="020B0604030504040204" pitchFamily="34" charset="-120"/>
              </a:rPr>
              <a:t>資通</a:t>
            </a:r>
            <a:r>
              <a:rPr kumimoji="0" lang="zh-TW" altLang="en-US" b="1" dirty="0" smtClean="0">
                <a:solidFill>
                  <a:srgbClr val="FF0000"/>
                </a:solidFill>
                <a:effectLst>
                  <a:outerShdw blurRad="38100" dist="38100" dir="2700000" algn="tl">
                    <a:srgbClr val="000000">
                      <a:alpha val="43137"/>
                    </a:srgbClr>
                  </a:outerShdw>
                </a:effectLst>
                <a:cs typeface="微軟正黑體" panose="020B0604030504040204" pitchFamily="34" charset="-120"/>
              </a:rPr>
              <a:t>系統</a:t>
            </a:r>
            <a:r>
              <a:rPr kumimoji="0" lang="zh-TW" altLang="en-US" dirty="0" smtClean="0">
                <a:cs typeface="微軟正黑體" panose="020B0604030504040204" pitchFamily="34" charset="-120"/>
              </a:rPr>
              <a:t>與</a:t>
            </a:r>
            <a:r>
              <a:rPr kumimoji="0" lang="zh-TW" altLang="en-US" b="1" dirty="0" smtClean="0">
                <a:solidFill>
                  <a:srgbClr val="FF0000"/>
                </a:solidFill>
                <a:effectLst>
                  <a:outerShdw blurRad="38100" dist="38100" dir="2700000" algn="tl">
                    <a:srgbClr val="000000">
                      <a:alpha val="43137"/>
                    </a:srgbClr>
                  </a:outerShdw>
                </a:effectLst>
                <a:cs typeface="微軟正黑體" panose="020B0604030504040204" pitchFamily="34" charset="-120"/>
              </a:rPr>
              <a:t>資產</a:t>
            </a:r>
            <a:endParaRPr kumimoji="0" lang="en-US" altLang="zh-TW" b="1" dirty="0" smtClean="0">
              <a:solidFill>
                <a:srgbClr val="FF0000"/>
              </a:solidFill>
              <a:effectLst>
                <a:outerShdw blurRad="38100" dist="38100" dir="2700000" algn="tl">
                  <a:srgbClr val="000000">
                    <a:alpha val="43137"/>
                  </a:srgbClr>
                </a:outerShdw>
              </a:effectLst>
              <a:cs typeface="微軟正黑體" panose="020B0604030504040204" pitchFamily="34" charset="-120"/>
            </a:endParaRPr>
          </a:p>
          <a:p>
            <a:r>
              <a:rPr kumimoji="0" lang="zh-TW" altLang="en-US" dirty="0" smtClean="0">
                <a:cs typeface="微軟正黑體" panose="020B0604030504040204" pitchFamily="34" charset="-120"/>
              </a:rPr>
              <a:t>資訊安全</a:t>
            </a:r>
            <a:r>
              <a:rPr kumimoji="0" lang="zh-TW" altLang="en-US" dirty="0">
                <a:cs typeface="微軟正黑體" panose="020B0604030504040204" pitchFamily="34" charset="-120"/>
              </a:rPr>
              <a:t>特性</a:t>
            </a:r>
            <a:endParaRPr kumimoji="0" lang="en-US" altLang="zh-TW" dirty="0">
              <a:cs typeface="微軟正黑體" panose="020B0604030504040204" pitchFamily="34" charset="-120"/>
            </a:endParaRPr>
          </a:p>
          <a:p>
            <a:pPr lvl="1"/>
            <a:r>
              <a:rPr kumimoji="0" lang="zh-TW" altLang="en-US" dirty="0"/>
              <a:t>機密性</a:t>
            </a:r>
            <a:r>
              <a:rPr kumimoji="0" lang="en-US" altLang="zh-TW" dirty="0"/>
              <a:t>(</a:t>
            </a:r>
            <a:r>
              <a:rPr kumimoji="0" lang="en-US" altLang="zh-TW" b="1" dirty="0">
                <a:solidFill>
                  <a:srgbClr val="FF0000"/>
                </a:solidFill>
              </a:rPr>
              <a:t>C</a:t>
            </a:r>
            <a:r>
              <a:rPr kumimoji="0" lang="en-US" altLang="zh-TW" dirty="0"/>
              <a:t>onfidentiality)</a:t>
            </a:r>
          </a:p>
          <a:p>
            <a:pPr marL="468000" lvl="2" indent="0">
              <a:buNone/>
            </a:pPr>
            <a:r>
              <a:rPr kumimoji="0" lang="zh-TW" altLang="en-US" sz="2400" dirty="0">
                <a:cs typeface="SimSun-18030"/>
              </a:rPr>
              <a:t>確保只有經授權的人，才能允許存取資訊</a:t>
            </a:r>
          </a:p>
          <a:p>
            <a:pPr lvl="1"/>
            <a:r>
              <a:rPr kumimoji="0" lang="zh-TW" altLang="en-US" dirty="0"/>
              <a:t>完整性</a:t>
            </a:r>
            <a:r>
              <a:rPr kumimoji="0" lang="en-US" altLang="zh-TW" dirty="0"/>
              <a:t>(</a:t>
            </a:r>
            <a:r>
              <a:rPr kumimoji="0" lang="en-US" altLang="zh-TW" b="1" dirty="0">
                <a:solidFill>
                  <a:srgbClr val="FF0000"/>
                </a:solidFill>
              </a:rPr>
              <a:t>I</a:t>
            </a:r>
            <a:r>
              <a:rPr kumimoji="0" lang="en-US" altLang="zh-TW" dirty="0"/>
              <a:t>ntegrity)</a:t>
            </a:r>
          </a:p>
          <a:p>
            <a:pPr marL="468000" lvl="2" indent="0">
              <a:buNone/>
            </a:pPr>
            <a:r>
              <a:rPr kumimoji="0" lang="zh-TW" altLang="en-US" sz="2400" dirty="0">
                <a:cs typeface="SimSun-18030"/>
              </a:rPr>
              <a:t>確保資訊內容與資訊處理方法正確且完整</a:t>
            </a:r>
          </a:p>
          <a:p>
            <a:pPr lvl="1"/>
            <a:r>
              <a:rPr kumimoji="0" lang="zh-TW" altLang="en-US" dirty="0"/>
              <a:t>可用性</a:t>
            </a:r>
            <a:r>
              <a:rPr kumimoji="0" lang="en-US" altLang="zh-TW" dirty="0"/>
              <a:t>(</a:t>
            </a:r>
            <a:r>
              <a:rPr kumimoji="0" lang="en-US" altLang="zh-TW" b="1" dirty="0">
                <a:solidFill>
                  <a:srgbClr val="FF0000"/>
                </a:solidFill>
              </a:rPr>
              <a:t>A</a:t>
            </a:r>
            <a:r>
              <a:rPr kumimoji="0" lang="en-US" altLang="zh-TW" dirty="0"/>
              <a:t>vailability)</a:t>
            </a:r>
          </a:p>
          <a:p>
            <a:pPr marL="468000" lvl="2" indent="0">
              <a:buNone/>
            </a:pPr>
            <a:r>
              <a:rPr kumimoji="0" lang="zh-TW" altLang="en-US" sz="2400" dirty="0">
                <a:cs typeface="SimSun-18030"/>
              </a:rPr>
              <a:t>確保經授權的使用者需要時，能存取資訊與使用相關資產</a:t>
            </a:r>
          </a:p>
          <a:p>
            <a:endParaRPr kumimoji="0" lang="en-US" altLang="zh-TW" dirty="0">
              <a:cs typeface="微軟正黑體" panose="020B0604030504040204" pitchFamily="34" charset="-120"/>
            </a:endParaRPr>
          </a:p>
        </p:txBody>
      </p:sp>
      <p:sp>
        <p:nvSpPr>
          <p:cNvPr id="176129" name="Rectangle 2"/>
          <p:cNvSpPr>
            <a:spLocks noGrp="1" noChangeArrowheads="1"/>
          </p:cNvSpPr>
          <p:nvPr>
            <p:ph type="title"/>
          </p:nvPr>
        </p:nvSpPr>
        <p:spPr>
          <a:xfrm>
            <a:off x="382525" y="208493"/>
            <a:ext cx="7785825" cy="777600"/>
          </a:xfrm>
        </p:spPr>
        <p:txBody>
          <a:bodyPr>
            <a:normAutofit/>
          </a:bodyPr>
          <a:lstStyle/>
          <a:p>
            <a:pPr>
              <a:defRPr/>
            </a:pPr>
            <a:r>
              <a:rPr lang="zh-TW" altLang="en-US" dirty="0"/>
              <a:t>資訊安全</a:t>
            </a:r>
            <a:r>
              <a:rPr lang="en-US" altLang="zh-TW" dirty="0"/>
              <a:t>(Information Security)</a:t>
            </a:r>
          </a:p>
        </p:txBody>
      </p:sp>
    </p:spTree>
    <p:extLst>
      <p:ext uri="{BB962C8B-B14F-4D97-AF65-F5344CB8AC3E}">
        <p14:creationId xmlns:p14="http://schemas.microsoft.com/office/powerpoint/2010/main" val="269849385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533248" y="879350"/>
            <a:ext cx="8071200" cy="2276992"/>
          </a:xfrm>
        </p:spPr>
        <p:txBody>
          <a:bodyPr/>
          <a:lstStyle/>
          <a:p>
            <a:pPr marL="0" indent="0">
              <a:buNone/>
            </a:pPr>
            <a:r>
              <a:rPr lang="zh-TW" altLang="en-US" dirty="0">
                <a:solidFill>
                  <a:schemeClr val="tx1"/>
                </a:solidFill>
              </a:rPr>
              <a:t>當「威脅</a:t>
            </a:r>
            <a:r>
              <a:rPr lang="en-US" altLang="zh-TW" dirty="0">
                <a:solidFill>
                  <a:schemeClr val="tx1"/>
                </a:solidFill>
              </a:rPr>
              <a:t>(Threat)</a:t>
            </a:r>
            <a:r>
              <a:rPr lang="zh-TW" altLang="en-US" dirty="0">
                <a:solidFill>
                  <a:schemeClr val="tx1"/>
                </a:solidFill>
              </a:rPr>
              <a:t>」利用其相對應「脆弱性</a:t>
            </a:r>
            <a:r>
              <a:rPr lang="en-US" altLang="zh-TW" dirty="0">
                <a:solidFill>
                  <a:schemeClr val="tx1"/>
                </a:solidFill>
              </a:rPr>
              <a:t>(Vulnerability)</a:t>
            </a:r>
            <a:r>
              <a:rPr lang="zh-TW" altLang="en-US" dirty="0">
                <a:solidFill>
                  <a:schemeClr val="tx1"/>
                </a:solidFill>
              </a:rPr>
              <a:t>」直接或間接造成組織「資訊及資通系統資產</a:t>
            </a:r>
            <a:r>
              <a:rPr lang="en-US" altLang="zh-TW" dirty="0">
                <a:solidFill>
                  <a:schemeClr val="tx1"/>
                </a:solidFill>
              </a:rPr>
              <a:t>(Asset)</a:t>
            </a:r>
            <a:r>
              <a:rPr lang="zh-TW" altLang="en-US" dirty="0">
                <a:solidFill>
                  <a:schemeClr val="tx1"/>
                </a:solidFill>
              </a:rPr>
              <a:t>」的「機密性」、「完整性」及「可用性」受到漏失或損害的「可能性」</a:t>
            </a:r>
            <a:endParaRPr lang="zh-TW" altLang="en-US" dirty="0"/>
          </a:p>
        </p:txBody>
      </p:sp>
      <p:sp>
        <p:nvSpPr>
          <p:cNvPr id="25602" name="Title 1"/>
          <p:cNvSpPr>
            <a:spLocks noGrp="1"/>
          </p:cNvSpPr>
          <p:nvPr>
            <p:ph type="title"/>
          </p:nvPr>
        </p:nvSpPr>
        <p:spPr>
          <a:xfrm>
            <a:off x="206186" y="113519"/>
            <a:ext cx="7785825" cy="777600"/>
          </a:xfrm>
        </p:spPr>
        <p:txBody>
          <a:bodyPr/>
          <a:lstStyle/>
          <a:p>
            <a:r>
              <a:rPr lang="zh-CN" altLang="en-US" dirty="0" smtClean="0"/>
              <a:t>資訊安全</a:t>
            </a:r>
            <a:r>
              <a:rPr lang="zh-CN" altLang="en-US" dirty="0"/>
              <a:t>風險</a:t>
            </a:r>
            <a:r>
              <a:rPr lang="en-US" altLang="zh-CN" dirty="0"/>
              <a:t>(Risk)</a:t>
            </a:r>
            <a:endParaRPr lang="en-US" altLang="zh-TW" dirty="0"/>
          </a:p>
        </p:txBody>
      </p:sp>
      <p:sp>
        <p:nvSpPr>
          <p:cNvPr id="4" name="內容版面配置區 2">
            <a:extLst>
              <a:ext uri="{FF2B5EF4-FFF2-40B4-BE49-F238E27FC236}">
                <a16:creationId xmlns:a16="http://schemas.microsoft.com/office/drawing/2014/main" id="{3A99F252-4962-D62C-C7FD-756758D871B3}"/>
              </a:ext>
            </a:extLst>
          </p:cNvPr>
          <p:cNvSpPr txBox="1">
            <a:spLocks/>
          </p:cNvSpPr>
          <p:nvPr/>
        </p:nvSpPr>
        <p:spPr>
          <a:xfrm>
            <a:off x="395536" y="5668180"/>
            <a:ext cx="8367213" cy="894567"/>
          </a:xfrm>
          <a:prstGeom prst="rect">
            <a:avLst/>
          </a:prstGeom>
        </p:spPr>
        <p:txBody>
          <a:bodyPr>
            <a:normAutofit fontScale="8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Font typeface="Arial" pitchFamily="34" charset="0"/>
              <a:buNone/>
            </a:pPr>
            <a:r>
              <a:rPr lang="zh-TW" altLang="en-US" dirty="0">
                <a:solidFill>
                  <a:srgbClr val="FF0000"/>
                </a:solidFill>
              </a:rPr>
              <a:t>風險</a:t>
            </a:r>
            <a:r>
              <a:rPr lang="zh-TW" altLang="en-US" dirty="0"/>
              <a:t>是</a:t>
            </a:r>
            <a:r>
              <a:rPr lang="zh-TW" altLang="en-US" dirty="0">
                <a:solidFill>
                  <a:srgbClr val="FF0000"/>
                </a:solidFill>
              </a:rPr>
              <a:t>威脅 </a:t>
            </a:r>
            <a:r>
              <a:rPr lang="en-US" altLang="zh-TW" dirty="0">
                <a:solidFill>
                  <a:srgbClr val="FF0000"/>
                </a:solidFill>
              </a:rPr>
              <a:t>(Threat)</a:t>
            </a:r>
            <a:r>
              <a:rPr lang="zh-TW" altLang="en-US" dirty="0"/>
              <a:t>利用</a:t>
            </a:r>
            <a:r>
              <a:rPr lang="zh-TW" altLang="en-US" dirty="0">
                <a:solidFill>
                  <a:srgbClr val="FF0000"/>
                </a:solidFill>
              </a:rPr>
              <a:t>資產</a:t>
            </a:r>
            <a:r>
              <a:rPr lang="zh-TW" altLang="en-US" dirty="0"/>
              <a:t>的</a:t>
            </a:r>
            <a:r>
              <a:rPr lang="zh-TW" altLang="en-US" dirty="0">
                <a:solidFill>
                  <a:srgbClr val="FF0000"/>
                </a:solidFill>
              </a:rPr>
              <a:t>脆弱性 </a:t>
            </a:r>
            <a:r>
              <a:rPr lang="en-US" altLang="zh-TW" dirty="0">
                <a:solidFill>
                  <a:srgbClr val="FF0000"/>
                </a:solidFill>
              </a:rPr>
              <a:t>(Vulnerability) </a:t>
            </a:r>
          </a:p>
          <a:p>
            <a:pPr marL="0" indent="0">
              <a:buFont typeface="Arial" pitchFamily="34" charset="0"/>
              <a:buNone/>
            </a:pPr>
            <a:r>
              <a:rPr lang="zh-TW" altLang="en-US" dirty="0"/>
              <a:t>造成</a:t>
            </a:r>
            <a:r>
              <a:rPr lang="zh-TW" altLang="en-US" dirty="0">
                <a:solidFill>
                  <a:srgbClr val="FF0000"/>
                </a:solidFill>
              </a:rPr>
              <a:t>衝擊 </a:t>
            </a:r>
            <a:r>
              <a:rPr lang="en-US" altLang="zh-TW" dirty="0">
                <a:solidFill>
                  <a:srgbClr val="FF0000"/>
                </a:solidFill>
              </a:rPr>
              <a:t>(Impact)</a:t>
            </a:r>
            <a:r>
              <a:rPr lang="zh-TW" altLang="en-US" dirty="0"/>
              <a:t>的</a:t>
            </a:r>
            <a:r>
              <a:rPr lang="zh-TW" altLang="en-US" dirty="0">
                <a:solidFill>
                  <a:srgbClr val="FF0000"/>
                </a:solidFill>
              </a:rPr>
              <a:t>可能性 </a:t>
            </a:r>
            <a:r>
              <a:rPr lang="en-US" altLang="zh-TW" dirty="0">
                <a:solidFill>
                  <a:srgbClr val="FF0000"/>
                </a:solidFill>
              </a:rPr>
              <a:t>(Likelihood)</a:t>
            </a:r>
          </a:p>
          <a:p>
            <a:pPr marL="0" indent="0">
              <a:buFont typeface="Arial" pitchFamily="34" charset="0"/>
              <a:buNone/>
            </a:pPr>
            <a:endParaRPr lang="en-US" altLang="zh-TW" dirty="0">
              <a:solidFill>
                <a:srgbClr val="FF0000"/>
              </a:solidFill>
            </a:endParaRPr>
          </a:p>
          <a:p>
            <a:endParaRPr lang="zh-TW" altLang="en-US" dirty="0"/>
          </a:p>
        </p:txBody>
      </p:sp>
      <p:grpSp>
        <p:nvGrpSpPr>
          <p:cNvPr id="6" name="Group 24">
            <a:extLst>
              <a:ext uri="{FF2B5EF4-FFF2-40B4-BE49-F238E27FC236}">
                <a16:creationId xmlns:a16="http://schemas.microsoft.com/office/drawing/2014/main" id="{C0F5BEF2-4FAE-80B9-897B-C45DA1BDB71E}"/>
              </a:ext>
            </a:extLst>
          </p:cNvPr>
          <p:cNvGrpSpPr>
            <a:grpSpLocks/>
          </p:cNvGrpSpPr>
          <p:nvPr/>
        </p:nvGrpSpPr>
        <p:grpSpPr bwMode="auto">
          <a:xfrm>
            <a:off x="1187624" y="3176752"/>
            <a:ext cx="6505575" cy="1811338"/>
            <a:chOff x="959" y="1473"/>
            <a:chExt cx="4098" cy="1141"/>
          </a:xfrm>
        </p:grpSpPr>
        <p:sp>
          <p:nvSpPr>
            <p:cNvPr id="7" name="Rectangle 19">
              <a:extLst>
                <a:ext uri="{FF2B5EF4-FFF2-40B4-BE49-F238E27FC236}">
                  <a16:creationId xmlns:a16="http://schemas.microsoft.com/office/drawing/2014/main" id="{880D9784-AADD-B1B7-D0DA-889A2FEE1E8F}"/>
                </a:ext>
              </a:extLst>
            </p:cNvPr>
            <p:cNvSpPr>
              <a:spLocks noChangeArrowheads="1"/>
            </p:cNvSpPr>
            <p:nvPr/>
          </p:nvSpPr>
          <p:spPr bwMode="auto">
            <a:xfrm>
              <a:off x="2290" y="1480"/>
              <a:ext cx="2767" cy="1134"/>
            </a:xfrm>
            <a:prstGeom prst="rect">
              <a:avLst/>
            </a:prstGeom>
            <a:solidFill>
              <a:srgbClr val="FFFF99"/>
            </a:solidFill>
            <a:ln w="12700" algn="ctr">
              <a:solidFill>
                <a:srgbClr val="000000"/>
              </a:solidFill>
              <a:miter lim="800000"/>
              <a:headEnd/>
              <a:tailEnd/>
            </a:ln>
            <a:effectLst/>
            <a:extLs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TW" altLang="en-US" sz="3600" b="0" i="0" u="none" strike="noStrike" kern="0" cap="none" spc="0" normalizeH="0" baseline="0" noProof="0">
                <a:ln>
                  <a:noFill/>
                </a:ln>
                <a:solidFill>
                  <a:srgbClr val="000000"/>
                </a:solidFill>
                <a:effectLst/>
                <a:uLnTx/>
                <a:uFillTx/>
                <a:latin typeface="微軟正黑體"/>
                <a:ea typeface="微軟正黑體"/>
              </a:endParaRPr>
            </a:p>
          </p:txBody>
        </p:sp>
        <p:sp>
          <p:nvSpPr>
            <p:cNvPr id="8" name="Oval 4">
              <a:extLst>
                <a:ext uri="{FF2B5EF4-FFF2-40B4-BE49-F238E27FC236}">
                  <a16:creationId xmlns:a16="http://schemas.microsoft.com/office/drawing/2014/main" id="{87DEDBF2-54FC-9D55-3D20-3F363280D6D1}"/>
                </a:ext>
              </a:extLst>
            </p:cNvPr>
            <p:cNvSpPr>
              <a:spLocks noChangeArrowheads="1"/>
            </p:cNvSpPr>
            <p:nvPr/>
          </p:nvSpPr>
          <p:spPr bwMode="auto">
            <a:xfrm>
              <a:off x="1065" y="1751"/>
              <a:ext cx="590" cy="545"/>
            </a:xfrm>
            <a:prstGeom prst="ellipse">
              <a:avLst/>
            </a:prstGeom>
            <a:solidFill>
              <a:srgbClr val="99CCFF"/>
            </a:solidFill>
            <a:ln w="12700" algn="ctr">
              <a:solidFill>
                <a:srgbClr val="000000"/>
              </a:solidFill>
              <a:round/>
              <a:headEnd/>
              <a:tailEnd/>
            </a:ln>
            <a:effectLst/>
            <a:extLs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TW" altLang="en-US" sz="2400" b="0" i="0" u="none" strike="noStrike" kern="0" cap="none" spc="0" normalizeH="0" baseline="0" noProof="0" dirty="0">
                  <a:ln>
                    <a:noFill/>
                  </a:ln>
                  <a:solidFill>
                    <a:srgbClr val="000000"/>
                  </a:solidFill>
                  <a:effectLst/>
                  <a:uLnTx/>
                  <a:uFillTx/>
                  <a:latin typeface="微軟正黑體"/>
                  <a:ea typeface="微軟正黑體"/>
                </a:rPr>
                <a:t>威脅</a:t>
              </a:r>
              <a:endParaRPr kumimoji="0" lang="en-US" altLang="zh-TW" sz="2400" b="0" i="0" u="none" strike="noStrike" kern="0" cap="none" spc="0" normalizeH="0" baseline="0" noProof="0" dirty="0">
                <a:ln>
                  <a:noFill/>
                </a:ln>
                <a:solidFill>
                  <a:srgbClr val="000000"/>
                </a:solidFill>
                <a:effectLst/>
                <a:uLnTx/>
                <a:uFillTx/>
                <a:latin typeface="微軟正黑體"/>
                <a:ea typeface="微軟正黑體"/>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1200" kern="0" dirty="0">
                  <a:solidFill>
                    <a:srgbClr val="000000"/>
                  </a:solidFill>
                  <a:latin typeface="微軟正黑體"/>
                  <a:ea typeface="微軟正黑體"/>
                </a:rPr>
                <a:t>T</a:t>
              </a:r>
              <a:r>
                <a:rPr kumimoji="0" lang="en-US" altLang="zh-TW" sz="1200" b="0" i="0" u="none" strike="noStrike" kern="0" cap="none" spc="0" normalizeH="0" baseline="0" noProof="0" dirty="0" err="1">
                  <a:ln>
                    <a:noFill/>
                  </a:ln>
                  <a:solidFill>
                    <a:srgbClr val="000000"/>
                  </a:solidFill>
                  <a:effectLst/>
                  <a:uLnTx/>
                  <a:uFillTx/>
                  <a:latin typeface="微軟正黑體"/>
                  <a:ea typeface="微軟正黑體"/>
                </a:rPr>
                <a:t>hreat</a:t>
              </a:r>
              <a:endParaRPr kumimoji="0" lang="zh-TW" altLang="en-US" sz="1200" b="0" i="0" u="none" strike="noStrike" kern="0" cap="none" spc="0" normalizeH="0" baseline="0" noProof="0" dirty="0">
                <a:ln>
                  <a:noFill/>
                </a:ln>
                <a:solidFill>
                  <a:srgbClr val="000000"/>
                </a:solidFill>
                <a:effectLst/>
                <a:uLnTx/>
                <a:uFillTx/>
                <a:latin typeface="微軟正黑體"/>
                <a:ea typeface="微軟正黑體"/>
              </a:endParaRPr>
            </a:p>
          </p:txBody>
        </p:sp>
        <p:sp>
          <p:nvSpPr>
            <p:cNvPr id="9" name="Oval 5">
              <a:extLst>
                <a:ext uri="{FF2B5EF4-FFF2-40B4-BE49-F238E27FC236}">
                  <a16:creationId xmlns:a16="http://schemas.microsoft.com/office/drawing/2014/main" id="{68E91012-1F78-62E9-DCAC-F441322CA01A}"/>
                </a:ext>
              </a:extLst>
            </p:cNvPr>
            <p:cNvSpPr>
              <a:spLocks noChangeArrowheads="1"/>
            </p:cNvSpPr>
            <p:nvPr/>
          </p:nvSpPr>
          <p:spPr bwMode="auto">
            <a:xfrm>
              <a:off x="2154" y="1751"/>
              <a:ext cx="590" cy="545"/>
            </a:xfrm>
            <a:prstGeom prst="ellipse">
              <a:avLst/>
            </a:prstGeom>
            <a:solidFill>
              <a:srgbClr val="99CCFF"/>
            </a:solidFill>
            <a:ln w="12700" algn="ctr">
              <a:solidFill>
                <a:srgbClr val="000000"/>
              </a:solidFill>
              <a:round/>
              <a:headEnd/>
              <a:tailEnd/>
            </a:ln>
            <a:effectLst/>
            <a:extLs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TW" altLang="en-US" sz="2400" b="0" i="0" u="none" strike="noStrike" kern="0" cap="none" spc="0" normalizeH="0" baseline="0" noProof="0" dirty="0">
                  <a:ln>
                    <a:noFill/>
                  </a:ln>
                  <a:solidFill>
                    <a:srgbClr val="000000"/>
                  </a:solidFill>
                  <a:effectLst/>
                  <a:uLnTx/>
                  <a:uFillTx/>
                  <a:latin typeface="微軟正黑體"/>
                  <a:ea typeface="微軟正黑體"/>
                </a:rPr>
                <a:t>脆弱性</a:t>
              </a:r>
              <a:endParaRPr kumimoji="0" lang="en-US" altLang="zh-TW" sz="2400" b="0" i="0" u="none" strike="noStrike" kern="0" cap="none" spc="0" normalizeH="0" baseline="0" noProof="0" dirty="0">
                <a:ln>
                  <a:noFill/>
                </a:ln>
                <a:solidFill>
                  <a:srgbClr val="000000"/>
                </a:solidFill>
                <a:effectLst/>
                <a:uLnTx/>
                <a:uFillTx/>
                <a:latin typeface="微軟正黑體"/>
                <a:ea typeface="微軟正黑體"/>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1000" b="0" i="0" u="none" strike="noStrike" kern="0" cap="none" spc="0" normalizeH="0" baseline="0" noProof="0" dirty="0">
                  <a:ln>
                    <a:noFill/>
                  </a:ln>
                  <a:effectLst/>
                  <a:uLnTx/>
                  <a:uFillTx/>
                  <a:latin typeface="微軟正黑體"/>
                  <a:ea typeface="微軟正黑體"/>
                </a:rPr>
                <a:t>Vulnerability</a:t>
              </a:r>
              <a:endParaRPr kumimoji="0" lang="zh-TW" altLang="en-US" sz="1000" b="0" i="0" u="none" strike="noStrike" kern="0" cap="none" spc="0" normalizeH="0" baseline="0" noProof="0" dirty="0">
                <a:ln>
                  <a:noFill/>
                </a:ln>
                <a:effectLst/>
                <a:uLnTx/>
                <a:uFillTx/>
                <a:latin typeface="微軟正黑體"/>
                <a:ea typeface="微軟正黑體"/>
              </a:endParaRPr>
            </a:p>
          </p:txBody>
        </p:sp>
        <p:cxnSp>
          <p:nvCxnSpPr>
            <p:cNvPr id="10" name="AutoShape 6">
              <a:extLst>
                <a:ext uri="{FF2B5EF4-FFF2-40B4-BE49-F238E27FC236}">
                  <a16:creationId xmlns:a16="http://schemas.microsoft.com/office/drawing/2014/main" id="{59C71898-3117-0907-ACB9-CAA7F39DBA53}"/>
                </a:ext>
              </a:extLst>
            </p:cNvPr>
            <p:cNvCxnSpPr>
              <a:cxnSpLocks noChangeShapeType="1"/>
              <a:stCxn id="8" idx="6"/>
              <a:endCxn id="9" idx="2"/>
            </p:cNvCxnSpPr>
            <p:nvPr/>
          </p:nvCxnSpPr>
          <p:spPr bwMode="auto">
            <a:xfrm>
              <a:off x="1655" y="2024"/>
              <a:ext cx="499" cy="0"/>
            </a:xfrm>
            <a:prstGeom prst="straightConnector1">
              <a:avLst/>
            </a:prstGeom>
            <a:noFill/>
            <a:ln w="3810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cxnSp>
        <p:sp>
          <p:nvSpPr>
            <p:cNvPr id="11" name="Oval 7">
              <a:extLst>
                <a:ext uri="{FF2B5EF4-FFF2-40B4-BE49-F238E27FC236}">
                  <a16:creationId xmlns:a16="http://schemas.microsoft.com/office/drawing/2014/main" id="{2AEB995E-F6F5-D291-12A9-2073B01558B8}"/>
                </a:ext>
              </a:extLst>
            </p:cNvPr>
            <p:cNvSpPr>
              <a:spLocks noChangeArrowheads="1"/>
            </p:cNvSpPr>
            <p:nvPr/>
          </p:nvSpPr>
          <p:spPr bwMode="auto">
            <a:xfrm>
              <a:off x="3242" y="1751"/>
              <a:ext cx="590" cy="545"/>
            </a:xfrm>
            <a:prstGeom prst="ellipse">
              <a:avLst/>
            </a:prstGeom>
            <a:solidFill>
              <a:srgbClr val="FFFFFF"/>
            </a:solidFill>
            <a:ln w="38100" algn="ctr">
              <a:solidFill>
                <a:srgbClr val="0000FF"/>
              </a:solidFill>
              <a:prstDash val="sysDot"/>
              <a:round/>
              <a:headEnd/>
              <a:tailEnd/>
            </a:ln>
            <a:effectLst/>
            <a:extLst>
              <a:ext uri="{AF507438-7753-43E0-B8FC-AC1667EBCBE1}">
                <a14:hiddenEffects xmlns:a14="http://schemas.microsoft.com/office/drawing/2010/main">
                  <a:effectLst>
                    <a:outerShdw dist="17961" dir="13500000" algn="ctr" rotWithShape="0">
                      <a:srgbClr val="000099">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TW" altLang="en-US" sz="2400" b="0" i="0" u="none" strike="noStrike" kern="0" cap="none" spc="0" normalizeH="0" baseline="0" noProof="0" dirty="0">
                  <a:ln>
                    <a:noFill/>
                  </a:ln>
                  <a:solidFill>
                    <a:srgbClr val="000000"/>
                  </a:solidFill>
                  <a:effectLst/>
                  <a:uLnTx/>
                  <a:uFillTx/>
                  <a:latin typeface="微軟正黑體"/>
                  <a:ea typeface="微軟正黑體"/>
                </a:rPr>
                <a:t>衝擊</a:t>
              </a:r>
              <a:endParaRPr kumimoji="0" lang="en-US" altLang="zh-TW" sz="2400" b="0" i="0" u="none" strike="noStrike" kern="0" cap="none" spc="0" normalizeH="0" baseline="0" noProof="0" dirty="0">
                <a:ln>
                  <a:noFill/>
                </a:ln>
                <a:solidFill>
                  <a:srgbClr val="000000"/>
                </a:solidFill>
                <a:effectLst/>
                <a:uLnTx/>
                <a:uFillTx/>
                <a:latin typeface="微軟正黑體"/>
                <a:ea typeface="微軟正黑體"/>
              </a:endParaRP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1000" b="0" i="0" u="none" strike="noStrike" kern="0" cap="none" spc="0" normalizeH="0" baseline="0" noProof="0" dirty="0">
                  <a:ln>
                    <a:noFill/>
                  </a:ln>
                  <a:solidFill>
                    <a:srgbClr val="000000"/>
                  </a:solidFill>
                  <a:effectLst/>
                  <a:uLnTx/>
                  <a:uFillTx/>
                  <a:latin typeface="微軟正黑體"/>
                  <a:ea typeface="微軟正黑體"/>
                </a:rPr>
                <a:t>(Impact)/</a:t>
              </a:r>
            </a:p>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1000" b="0" i="0" u="none" strike="noStrike" kern="0" cap="none" spc="0" normalizeH="0" baseline="0" noProof="0" dirty="0">
                  <a:ln>
                    <a:noFill/>
                  </a:ln>
                  <a:solidFill>
                    <a:srgbClr val="000000"/>
                  </a:solidFill>
                  <a:effectLst/>
                  <a:uLnTx/>
                  <a:uFillTx/>
                  <a:latin typeface="微軟正黑體"/>
                  <a:ea typeface="微軟正黑體"/>
                </a:rPr>
                <a:t>(consequence)</a:t>
              </a:r>
            </a:p>
          </p:txBody>
        </p:sp>
        <p:cxnSp>
          <p:nvCxnSpPr>
            <p:cNvPr id="12" name="AutoShape 8">
              <a:extLst>
                <a:ext uri="{FF2B5EF4-FFF2-40B4-BE49-F238E27FC236}">
                  <a16:creationId xmlns:a16="http://schemas.microsoft.com/office/drawing/2014/main" id="{4BDDADE7-F481-790C-B731-03E91D9F8740}"/>
                </a:ext>
              </a:extLst>
            </p:cNvPr>
            <p:cNvCxnSpPr>
              <a:cxnSpLocks noChangeShapeType="1"/>
              <a:stCxn id="9" idx="6"/>
              <a:endCxn id="11" idx="2"/>
            </p:cNvCxnSpPr>
            <p:nvPr/>
          </p:nvCxnSpPr>
          <p:spPr bwMode="auto">
            <a:xfrm>
              <a:off x="2744" y="2024"/>
              <a:ext cx="486" cy="0"/>
            </a:xfrm>
            <a:prstGeom prst="straightConnector1">
              <a:avLst/>
            </a:prstGeom>
            <a:noFill/>
            <a:ln w="38100">
              <a:solidFill>
                <a:srgbClr val="000000"/>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cxnSp>
        <p:sp>
          <p:nvSpPr>
            <p:cNvPr id="13" name="Text Box 9">
              <a:extLst>
                <a:ext uri="{FF2B5EF4-FFF2-40B4-BE49-F238E27FC236}">
                  <a16:creationId xmlns:a16="http://schemas.microsoft.com/office/drawing/2014/main" id="{01796A35-4BFB-DA40-8056-8F2438808BD1}"/>
                </a:ext>
              </a:extLst>
            </p:cNvPr>
            <p:cNvSpPr txBox="1">
              <a:spLocks noChangeArrowheads="1"/>
            </p:cNvSpPr>
            <p:nvPr/>
          </p:nvSpPr>
          <p:spPr bwMode="auto">
            <a:xfrm>
              <a:off x="1656" y="1797"/>
              <a:ext cx="407" cy="233"/>
            </a:xfrm>
            <a:prstGeom prst="rect">
              <a:avLst/>
            </a:prstGeom>
            <a:noFill/>
            <a:ln>
              <a:noFill/>
            </a:ln>
            <a:effectLst>
              <a:prstShdw prst="shdw18" dist="17961" dir="13500000">
                <a:srgbClr val="9999FF">
                  <a:gamma/>
                  <a:shade val="60000"/>
                  <a:invGamma/>
                  <a:alpha val="50000"/>
                </a:srgbClr>
              </a:prstShdw>
            </a:effectLst>
            <a:extLst>
              <a:ext uri="{909E8E84-426E-40DD-AFC4-6F175D3DCCD1}">
                <a14:hiddenFill xmlns:a14="http://schemas.microsoft.com/office/drawing/2010/main">
                  <a:gradFill rotWithShape="1">
                    <a:gsLst>
                      <a:gs pos="0">
                        <a:srgbClr val="9999FF"/>
                      </a:gs>
                      <a:gs pos="50000">
                        <a:schemeClr val="bg1"/>
                      </a:gs>
                      <a:gs pos="100000">
                        <a:srgbClr val="9999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800" b="0" i="0" u="none" strike="noStrike" kern="0" cap="none" spc="0" normalizeH="0" baseline="0" noProof="0" dirty="0">
                  <a:ln>
                    <a:noFill/>
                  </a:ln>
                  <a:solidFill>
                    <a:srgbClr val="000000"/>
                  </a:solidFill>
                  <a:effectLst/>
                  <a:uLnTx/>
                  <a:uFillTx/>
                  <a:latin typeface="微軟正黑體"/>
                  <a:ea typeface="微軟正黑體"/>
                </a:rPr>
                <a:t>利用</a:t>
              </a:r>
            </a:p>
          </p:txBody>
        </p:sp>
        <p:sp>
          <p:nvSpPr>
            <p:cNvPr id="14" name="Text Box 10">
              <a:extLst>
                <a:ext uri="{FF2B5EF4-FFF2-40B4-BE49-F238E27FC236}">
                  <a16:creationId xmlns:a16="http://schemas.microsoft.com/office/drawing/2014/main" id="{A8BED536-DD7F-5035-CE94-8FBDECF7D4C8}"/>
                </a:ext>
              </a:extLst>
            </p:cNvPr>
            <p:cNvSpPr txBox="1">
              <a:spLocks noChangeArrowheads="1"/>
            </p:cNvSpPr>
            <p:nvPr/>
          </p:nvSpPr>
          <p:spPr bwMode="auto">
            <a:xfrm>
              <a:off x="2793" y="1797"/>
              <a:ext cx="404" cy="231"/>
            </a:xfrm>
            <a:prstGeom prst="rect">
              <a:avLst/>
            </a:prstGeom>
            <a:noFill/>
            <a:ln>
              <a:noFill/>
            </a:ln>
            <a:effectLst>
              <a:prstShdw prst="shdw18" dist="17961" dir="13500000">
                <a:srgbClr val="9999FF">
                  <a:gamma/>
                  <a:shade val="60000"/>
                  <a:invGamma/>
                  <a:alpha val="50000"/>
                </a:srgbClr>
              </a:prstShdw>
            </a:effectLst>
            <a:extLst>
              <a:ext uri="{909E8E84-426E-40DD-AFC4-6F175D3DCCD1}">
                <a14:hiddenFill xmlns:a14="http://schemas.microsoft.com/office/drawing/2010/main">
                  <a:gradFill rotWithShape="1">
                    <a:gsLst>
                      <a:gs pos="0">
                        <a:srgbClr val="9999FF"/>
                      </a:gs>
                      <a:gs pos="50000">
                        <a:schemeClr val="bg1"/>
                      </a:gs>
                      <a:gs pos="100000">
                        <a:srgbClr val="9999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1800" b="0" i="0" u="none" strike="noStrike" kern="0" cap="none" spc="0" normalizeH="0" baseline="0" noProof="0">
                  <a:ln>
                    <a:noFill/>
                  </a:ln>
                  <a:solidFill>
                    <a:srgbClr val="000000"/>
                  </a:solidFill>
                  <a:effectLst/>
                  <a:uLnTx/>
                  <a:uFillTx/>
                  <a:latin typeface="微軟正黑體"/>
                  <a:ea typeface="微軟正黑體"/>
                </a:rPr>
                <a:t>產生</a:t>
              </a:r>
            </a:p>
          </p:txBody>
        </p:sp>
        <p:sp>
          <p:nvSpPr>
            <p:cNvPr id="15" name="Oval 11">
              <a:extLst>
                <a:ext uri="{FF2B5EF4-FFF2-40B4-BE49-F238E27FC236}">
                  <a16:creationId xmlns:a16="http://schemas.microsoft.com/office/drawing/2014/main" id="{2A3154B5-1E03-1C42-6076-AB6634D87D40}"/>
                </a:ext>
              </a:extLst>
            </p:cNvPr>
            <p:cNvSpPr>
              <a:spLocks noChangeArrowheads="1"/>
            </p:cNvSpPr>
            <p:nvPr/>
          </p:nvSpPr>
          <p:spPr bwMode="auto">
            <a:xfrm>
              <a:off x="959" y="1549"/>
              <a:ext cx="1905" cy="952"/>
            </a:xfrm>
            <a:prstGeom prst="ellipse">
              <a:avLst/>
            </a:prstGeom>
            <a:noFill/>
            <a:ln w="38100" algn="ctr">
              <a:solidFill>
                <a:srgbClr val="009999"/>
              </a:solidFill>
              <a:prstDash val="sysDot"/>
              <a:round/>
              <a:headEnd/>
              <a:tailEn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17961" dir="13500000" algn="ctr" rotWithShape="0">
                      <a:srgbClr val="000099">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endParaRPr kumimoji="0" lang="zh-TW" altLang="en-US" sz="3600" b="0" i="0" u="none" strike="noStrike" kern="0" cap="none" spc="0" normalizeH="0" baseline="0" noProof="0">
                <a:ln>
                  <a:noFill/>
                </a:ln>
                <a:solidFill>
                  <a:srgbClr val="000000"/>
                </a:solidFill>
                <a:effectLst/>
                <a:uLnTx/>
                <a:uFillTx/>
                <a:latin typeface="微軟正黑體"/>
                <a:ea typeface="微軟正黑體"/>
              </a:endParaRPr>
            </a:p>
          </p:txBody>
        </p:sp>
        <p:cxnSp>
          <p:nvCxnSpPr>
            <p:cNvPr id="16" name="AutoShape 14">
              <a:extLst>
                <a:ext uri="{FF2B5EF4-FFF2-40B4-BE49-F238E27FC236}">
                  <a16:creationId xmlns:a16="http://schemas.microsoft.com/office/drawing/2014/main" id="{7FB3F8CB-2717-86A6-8F5F-A81028F507C9}"/>
                </a:ext>
              </a:extLst>
            </p:cNvPr>
            <p:cNvCxnSpPr>
              <a:cxnSpLocks noChangeShapeType="1"/>
              <a:stCxn id="11" idx="6"/>
              <a:endCxn id="20" idx="1"/>
            </p:cNvCxnSpPr>
            <p:nvPr/>
          </p:nvCxnSpPr>
          <p:spPr bwMode="auto">
            <a:xfrm>
              <a:off x="3844" y="2024"/>
              <a:ext cx="305" cy="114"/>
            </a:xfrm>
            <a:prstGeom prst="curvedConnector3">
              <a:avLst>
                <a:gd name="adj1" fmla="val 47870"/>
              </a:avLst>
            </a:prstGeom>
            <a:noFill/>
            <a:ln w="38100">
              <a:solidFill>
                <a:srgbClr val="0000FF"/>
              </a:solidFill>
              <a:prstDash val="sysDot"/>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17961" dir="13500000" algn="ctr" rotWithShape="0">
                      <a:srgbClr val="000099">
                        <a:alpha val="50000"/>
                      </a:srgbClr>
                    </a:outerShdw>
                  </a:effectLst>
                </a14:hiddenEffects>
              </a:ext>
            </a:extLst>
          </p:spPr>
        </p:cxnSp>
        <p:sp>
          <p:nvSpPr>
            <p:cNvPr id="17" name="Text Box 16">
              <a:extLst>
                <a:ext uri="{FF2B5EF4-FFF2-40B4-BE49-F238E27FC236}">
                  <a16:creationId xmlns:a16="http://schemas.microsoft.com/office/drawing/2014/main" id="{699CFE1F-2D29-FF29-A545-EB05D2A4541B}"/>
                </a:ext>
              </a:extLst>
            </p:cNvPr>
            <p:cNvSpPr txBox="1">
              <a:spLocks noChangeArrowheads="1"/>
            </p:cNvSpPr>
            <p:nvPr/>
          </p:nvSpPr>
          <p:spPr bwMode="auto">
            <a:xfrm>
              <a:off x="3914" y="1797"/>
              <a:ext cx="167" cy="271"/>
            </a:xfrm>
            <a:prstGeom prst="rect">
              <a:avLst/>
            </a:prstGeom>
            <a:noFill/>
            <a:ln>
              <a:noFill/>
            </a:ln>
            <a:effectLst>
              <a:prstShdw prst="shdw17" dist="17961" dir="13500000">
                <a:srgbClr val="5C5C99">
                  <a:alpha val="50000"/>
                </a:srgbClr>
              </a:prst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lIns="0" tIns="0" rIns="0" bIns="0">
              <a:spAutoFit/>
            </a:bodyP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2800" b="0" i="0" u="none" strike="noStrike" kern="0" cap="none" spc="0" normalizeH="0" baseline="0" noProof="0">
                  <a:ln>
                    <a:noFill/>
                  </a:ln>
                  <a:solidFill>
                    <a:srgbClr val="009999"/>
                  </a:solidFill>
                  <a:effectLst/>
                  <a:uLnTx/>
                  <a:uFillTx/>
                  <a:latin typeface="微軟正黑體"/>
                  <a:ea typeface="微軟正黑體"/>
                </a:rPr>
                <a:t>+</a:t>
              </a:r>
            </a:p>
          </p:txBody>
        </p:sp>
        <p:sp>
          <p:nvSpPr>
            <p:cNvPr id="18" name="Text Box 17">
              <a:extLst>
                <a:ext uri="{FF2B5EF4-FFF2-40B4-BE49-F238E27FC236}">
                  <a16:creationId xmlns:a16="http://schemas.microsoft.com/office/drawing/2014/main" id="{D9483E4F-70A0-D87A-E058-FC7D98384E58}"/>
                </a:ext>
              </a:extLst>
            </p:cNvPr>
            <p:cNvSpPr txBox="1">
              <a:spLocks noChangeArrowheads="1"/>
            </p:cNvSpPr>
            <p:nvPr/>
          </p:nvSpPr>
          <p:spPr bwMode="auto">
            <a:xfrm>
              <a:off x="3676" y="2254"/>
              <a:ext cx="167" cy="271"/>
            </a:xfrm>
            <a:prstGeom prst="rect">
              <a:avLst/>
            </a:prstGeom>
            <a:noFill/>
            <a:ln>
              <a:noFill/>
            </a:ln>
            <a:effectLst>
              <a:prstShdw prst="shdw17" dist="17961" dir="13500000">
                <a:srgbClr val="5C5C99">
                  <a:alpha val="50000"/>
                </a:srgbClr>
              </a:prstShdw>
            </a:effectLst>
            <a:extLst>
              <a:ext uri="{909E8E84-426E-40DD-AFC4-6F175D3DCCD1}">
                <a14:hiddenFill xmlns:a14="http://schemas.microsoft.com/office/drawing/2010/main">
                  <a:solidFill>
                    <a:srgbClr val="9999FF"/>
                  </a:soli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lIns="0" tIns="0" rIns="0" bIns="0">
              <a:spAutoFit/>
            </a:bodyP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en-US" altLang="zh-TW" sz="2800" b="0" i="0" u="none" strike="noStrike" kern="0" cap="none" spc="0" normalizeH="0" baseline="0" noProof="0" dirty="0">
                  <a:ln>
                    <a:noFill/>
                  </a:ln>
                  <a:solidFill>
                    <a:srgbClr val="009999"/>
                  </a:solidFill>
                  <a:effectLst/>
                  <a:uLnTx/>
                  <a:uFillTx/>
                  <a:latin typeface="微軟正黑體"/>
                  <a:ea typeface="微軟正黑體"/>
                </a:rPr>
                <a:t>+</a:t>
              </a:r>
            </a:p>
          </p:txBody>
        </p:sp>
        <p:sp>
          <p:nvSpPr>
            <p:cNvPr id="19" name="Text Box 20">
              <a:extLst>
                <a:ext uri="{FF2B5EF4-FFF2-40B4-BE49-F238E27FC236}">
                  <a16:creationId xmlns:a16="http://schemas.microsoft.com/office/drawing/2014/main" id="{571D0DB6-133E-9C04-005D-A79454D64891}"/>
                </a:ext>
              </a:extLst>
            </p:cNvPr>
            <p:cNvSpPr txBox="1">
              <a:spLocks noChangeArrowheads="1"/>
            </p:cNvSpPr>
            <p:nvPr/>
          </p:nvSpPr>
          <p:spPr bwMode="auto">
            <a:xfrm>
              <a:off x="3141" y="1473"/>
              <a:ext cx="1053" cy="291"/>
            </a:xfrm>
            <a:prstGeom prst="rect">
              <a:avLst/>
            </a:prstGeom>
            <a:noFill/>
            <a:ln>
              <a:noFill/>
            </a:ln>
            <a:effectLst>
              <a:prstShdw prst="shdw18" dist="17961" dir="13500000">
                <a:srgbClr val="9999FF">
                  <a:gamma/>
                  <a:shade val="60000"/>
                  <a:invGamma/>
                  <a:alpha val="50000"/>
                </a:srgbClr>
              </a:prstShdw>
            </a:effectLst>
            <a:extLst>
              <a:ext uri="{909E8E84-426E-40DD-AFC4-6F175D3DCCD1}">
                <a14:hiddenFill xmlns:a14="http://schemas.microsoft.com/office/drawing/2010/main">
                  <a:gradFill rotWithShape="1">
                    <a:gsLst>
                      <a:gs pos="0">
                        <a:srgbClr val="9999FF"/>
                      </a:gs>
                      <a:gs pos="50000">
                        <a:schemeClr val="bg1"/>
                      </a:gs>
                      <a:gs pos="100000">
                        <a:srgbClr val="9999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TW" altLang="en-US" sz="2400" b="0" i="0" u="none" strike="noStrike" kern="0" cap="none" spc="0" normalizeH="0" baseline="0" noProof="0" dirty="0">
                  <a:ln>
                    <a:noFill/>
                  </a:ln>
                  <a:solidFill>
                    <a:srgbClr val="000000"/>
                  </a:solidFill>
                  <a:effectLst/>
                  <a:uLnTx/>
                  <a:uFillTx/>
                  <a:latin typeface="微軟正黑體"/>
                  <a:ea typeface="微軟正黑體"/>
                </a:rPr>
                <a:t>資產</a:t>
              </a:r>
              <a:r>
                <a:rPr kumimoji="0" lang="en-US" altLang="zh-TW" sz="2400" b="0" i="0" u="none" strike="noStrike" kern="0" cap="none" spc="0" normalizeH="0" baseline="0" noProof="0" dirty="0">
                  <a:ln>
                    <a:noFill/>
                  </a:ln>
                  <a:solidFill>
                    <a:srgbClr val="000000"/>
                  </a:solidFill>
                  <a:effectLst/>
                  <a:uLnTx/>
                  <a:uFillTx/>
                  <a:latin typeface="微軟正黑體"/>
                  <a:ea typeface="微軟正黑體"/>
                </a:rPr>
                <a:t>(</a:t>
              </a:r>
              <a:r>
                <a:rPr lang="en-US" altLang="zh-TW" sz="2400" dirty="0">
                  <a:solidFill>
                    <a:srgbClr val="FF0000"/>
                  </a:solidFill>
                </a:rPr>
                <a:t>Asset</a:t>
              </a:r>
              <a:r>
                <a:rPr kumimoji="0" lang="en-US" altLang="zh-TW" sz="2400" b="0" i="0" u="none" strike="noStrike" kern="0" cap="none" spc="0" normalizeH="0" baseline="0" noProof="0" dirty="0">
                  <a:ln>
                    <a:noFill/>
                  </a:ln>
                  <a:solidFill>
                    <a:srgbClr val="000000"/>
                  </a:solidFill>
                  <a:effectLst/>
                  <a:uLnTx/>
                  <a:uFillTx/>
                  <a:latin typeface="微軟正黑體"/>
                  <a:ea typeface="微軟正黑體"/>
                </a:rPr>
                <a:t>)</a:t>
              </a:r>
              <a:endParaRPr kumimoji="0" lang="zh-TW" altLang="en-US" sz="2400" b="0" i="0" u="none" strike="noStrike" kern="0" cap="none" spc="0" normalizeH="0" baseline="0" noProof="0" dirty="0">
                <a:ln>
                  <a:noFill/>
                </a:ln>
                <a:solidFill>
                  <a:srgbClr val="000000"/>
                </a:solidFill>
                <a:effectLst/>
                <a:uLnTx/>
                <a:uFillTx/>
                <a:latin typeface="微軟正黑體"/>
                <a:ea typeface="微軟正黑體"/>
              </a:endParaRPr>
            </a:p>
          </p:txBody>
        </p:sp>
        <p:sp>
          <p:nvSpPr>
            <p:cNvPr id="20" name="AutoShape 21">
              <a:extLst>
                <a:ext uri="{FF2B5EF4-FFF2-40B4-BE49-F238E27FC236}">
                  <a16:creationId xmlns:a16="http://schemas.microsoft.com/office/drawing/2014/main" id="{B4E5978D-24A8-C0F0-D8FD-145B0527A15E}"/>
                </a:ext>
              </a:extLst>
            </p:cNvPr>
            <p:cNvSpPr>
              <a:spLocks noChangeArrowheads="1"/>
            </p:cNvSpPr>
            <p:nvPr/>
          </p:nvSpPr>
          <p:spPr bwMode="auto">
            <a:xfrm>
              <a:off x="4149" y="1570"/>
              <a:ext cx="863" cy="953"/>
            </a:xfrm>
            <a:prstGeom prst="irregularSeal2">
              <a:avLst/>
            </a:prstGeom>
            <a:solidFill>
              <a:srgbClr val="FF0000"/>
            </a:solidFill>
            <a:ln w="12700" algn="ctr">
              <a:solidFill>
                <a:srgbClr val="000000"/>
              </a:solidFill>
              <a:miter lim="800000"/>
              <a:headEnd/>
              <a:tailEnd/>
            </a:ln>
            <a:effectLst/>
            <a:extLst>
              <a:ext uri="{AF507438-7753-43E0-B8FC-AC1667EBCBE1}">
                <a14:hiddenEffects xmlns:a14="http://schemas.microsoft.com/office/drawing/2010/main">
                  <a:effectLst>
                    <a:outerShdw dist="17961" dir="13500000" algn="ctr" rotWithShape="0">
                      <a:srgbClr val="000000">
                        <a:alpha val="50000"/>
                      </a:srgbClr>
                    </a:outerShdw>
                  </a:effectLst>
                </a14:hiddenEffects>
              </a:ext>
            </a:extLst>
          </p:spPr>
          <p:txBody>
            <a:bodyPr wrap="none" anchor="ctr"/>
            <a:lstStyle>
              <a:lvl1pPr>
                <a:spcBef>
                  <a:spcPct val="20000"/>
                </a:spcBef>
                <a:buSzPct val="65000"/>
                <a:buBlip>
                  <a:blip r:embed="rId3"/>
                </a:buBlip>
                <a:defRPr kumimoji="1" sz="2800">
                  <a:solidFill>
                    <a:schemeClr val="tx1"/>
                  </a:solidFill>
                  <a:latin typeface="Times New Roman" panose="02020603050405020304" pitchFamily="18" charset="0"/>
                  <a:ea typeface="標楷體" panose="03000509000000000000" pitchFamily="65" charset="-120"/>
                </a:defRPr>
              </a:lvl1pPr>
              <a:lvl2pPr marL="742950" indent="-285750">
                <a:spcBef>
                  <a:spcPct val="20000"/>
                </a:spcBef>
                <a:buClr>
                  <a:srgbClr val="660066"/>
                </a:buClr>
                <a:buSzPct val="65000"/>
                <a:buFont typeface="華康儷中黑" pitchFamily="49" charset="-120"/>
                <a:buChar char="—"/>
                <a:defRPr kumimoji="1" sz="2800">
                  <a:solidFill>
                    <a:schemeClr val="tx1"/>
                  </a:solidFill>
                  <a:latin typeface="Times New Roman" panose="02020603050405020304" pitchFamily="18" charset="0"/>
                  <a:ea typeface="標楷體" panose="03000509000000000000" pitchFamily="65" charset="-120"/>
                </a:defRPr>
              </a:lvl2pPr>
              <a:lvl3pPr marL="1143000" indent="-228600">
                <a:spcBef>
                  <a:spcPct val="20000"/>
                </a:spcBef>
                <a:buSzPct val="65000"/>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SzPct val="65000"/>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SzPct val="65000"/>
                <a:buChar char="»"/>
                <a:defRPr kumimoji="1" sz="2000">
                  <a:solidFill>
                    <a:schemeClr val="tx1"/>
                  </a:solidFill>
                  <a:latin typeface="Arial" panose="020B0604020202020204" pitchFamily="34" charset="0"/>
                  <a:ea typeface="新細明體" panose="02020500000000000000" pitchFamily="18" charset="-120"/>
                </a:defRPr>
              </a:lvl9pPr>
            </a:lstStyle>
            <a:p>
              <a:pPr marL="0" marR="0" lvl="0" indent="0" algn="ctr" defTabSz="914400" eaLnBrk="1" fontAlgn="auto" latinLnBrk="0" hangingPunct="1">
                <a:lnSpc>
                  <a:spcPct val="100000"/>
                </a:lnSpc>
                <a:spcBef>
                  <a:spcPct val="0"/>
                </a:spcBef>
                <a:spcAft>
                  <a:spcPts val="0"/>
                </a:spcAft>
                <a:buClrTx/>
                <a:buSzTx/>
                <a:buFontTx/>
                <a:buNone/>
                <a:tabLst/>
                <a:defRPr/>
              </a:pPr>
              <a:r>
                <a:rPr kumimoji="0" lang="zh-TW" altLang="en-US" sz="2400" b="0" i="0" u="none" strike="noStrike" kern="0" cap="none" spc="0" normalizeH="0" baseline="0" noProof="0" dirty="0">
                  <a:ln>
                    <a:noFill/>
                  </a:ln>
                  <a:solidFill>
                    <a:srgbClr val="FFFFFF"/>
                  </a:solidFill>
                  <a:effectLst/>
                  <a:uLnTx/>
                  <a:uFillTx/>
                  <a:latin typeface="微軟正黑體"/>
                  <a:ea typeface="微軟正黑體"/>
                </a:rPr>
                <a:t>風險</a:t>
              </a:r>
            </a:p>
          </p:txBody>
        </p:sp>
        <p:sp>
          <p:nvSpPr>
            <p:cNvPr id="21" name="Freeform 23">
              <a:extLst>
                <a:ext uri="{FF2B5EF4-FFF2-40B4-BE49-F238E27FC236}">
                  <a16:creationId xmlns:a16="http://schemas.microsoft.com/office/drawing/2014/main" id="{539C5872-83A3-98B7-CF37-612E4901FFAF}"/>
                </a:ext>
              </a:extLst>
            </p:cNvPr>
            <p:cNvSpPr>
              <a:spLocks/>
            </p:cNvSpPr>
            <p:nvPr/>
          </p:nvSpPr>
          <p:spPr bwMode="auto">
            <a:xfrm>
              <a:off x="2744" y="2251"/>
              <a:ext cx="1451" cy="242"/>
            </a:xfrm>
            <a:custGeom>
              <a:avLst/>
              <a:gdLst>
                <a:gd name="T0" fmla="*/ 0 w 1451"/>
                <a:gd name="T1" fmla="*/ 0 h 242"/>
                <a:gd name="T2" fmla="*/ 771 w 1451"/>
                <a:gd name="T3" fmla="*/ 227 h 242"/>
                <a:gd name="T4" fmla="*/ 1451 w 1451"/>
                <a:gd name="T5" fmla="*/ 90 h 242"/>
                <a:gd name="T6" fmla="*/ 0 60000 65536"/>
                <a:gd name="T7" fmla="*/ 0 60000 65536"/>
                <a:gd name="T8" fmla="*/ 0 60000 65536"/>
              </a:gdLst>
              <a:ahLst/>
              <a:cxnLst>
                <a:cxn ang="T6">
                  <a:pos x="T0" y="T1"/>
                </a:cxn>
                <a:cxn ang="T7">
                  <a:pos x="T2" y="T3"/>
                </a:cxn>
                <a:cxn ang="T8">
                  <a:pos x="T4" y="T5"/>
                </a:cxn>
              </a:cxnLst>
              <a:rect l="0" t="0" r="r" b="b"/>
              <a:pathLst>
                <a:path w="1451" h="242">
                  <a:moveTo>
                    <a:pt x="0" y="0"/>
                  </a:moveTo>
                  <a:cubicBezTo>
                    <a:pt x="264" y="106"/>
                    <a:pt x="529" y="212"/>
                    <a:pt x="771" y="227"/>
                  </a:cubicBezTo>
                  <a:cubicBezTo>
                    <a:pt x="1013" y="242"/>
                    <a:pt x="1232" y="166"/>
                    <a:pt x="1451" y="90"/>
                  </a:cubicBezTo>
                </a:path>
              </a:pathLst>
            </a:custGeom>
            <a:noFill/>
            <a:ln w="38100" cap="flat" cmpd="sng">
              <a:solidFill>
                <a:srgbClr val="0000FF"/>
              </a:solidFill>
              <a:prstDash val="sysDot"/>
              <a:round/>
              <a:headEnd type="none" w="med" len="med"/>
              <a:tailEnd type="triangle" w="lg" len="med"/>
            </a:ln>
            <a:effectLst/>
            <a:extLst>
              <a:ext uri="{909E8E84-426E-40DD-AFC4-6F175D3DCCD1}">
                <a14:hiddenFill xmlns:a14="http://schemas.microsoft.com/office/drawing/2010/main">
                  <a:solidFill>
                    <a:srgbClr val="9999FF"/>
                  </a:solidFill>
                </a14:hiddenFill>
              </a:ext>
              <a:ext uri="{AF507438-7753-43E0-B8FC-AC1667EBCBE1}">
                <a14:hiddenEffects xmlns:a14="http://schemas.microsoft.com/office/drawing/2010/main">
                  <a:effectLst>
                    <a:outerShdw dist="17961" dir="13500000" algn="ctr" rotWithShape="0">
                      <a:srgbClr val="000099">
                        <a:alpha val="50000"/>
                      </a:srgbClr>
                    </a:outerShdw>
                  </a:effectLst>
                </a14:hiddenEffects>
              </a:ext>
            </a:extLst>
          </p:spPr>
          <p:txBody>
            <a:bodyPr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zh-TW" altLang="en-US" sz="1800" b="0" i="0" u="none" strike="noStrike" kern="0" cap="none" spc="0" normalizeH="0" baseline="0" noProof="0">
                <a:ln>
                  <a:noFill/>
                </a:ln>
                <a:solidFill>
                  <a:srgbClr val="000000"/>
                </a:solidFill>
                <a:effectLst/>
                <a:uLnTx/>
                <a:uFillTx/>
                <a:latin typeface="微軟正黑體"/>
                <a:ea typeface="微軟正黑體"/>
              </a:endParaRPr>
            </a:p>
          </p:txBody>
        </p:sp>
      </p:grpSp>
      <p:sp>
        <p:nvSpPr>
          <p:cNvPr id="22" name="Text Box 12">
            <a:extLst>
              <a:ext uri="{FF2B5EF4-FFF2-40B4-BE49-F238E27FC236}">
                <a16:creationId xmlns:a16="http://schemas.microsoft.com/office/drawing/2014/main" id="{C85DC7D8-CC1E-7ED4-75A5-DD67A0AF1FAF}"/>
              </a:ext>
            </a:extLst>
          </p:cNvPr>
          <p:cNvSpPr txBox="1">
            <a:spLocks noChangeArrowheads="1"/>
          </p:cNvSpPr>
          <p:nvPr/>
        </p:nvSpPr>
        <p:spPr bwMode="auto">
          <a:xfrm>
            <a:off x="2052464" y="4771023"/>
            <a:ext cx="1024639" cy="553998"/>
          </a:xfrm>
          <a:prstGeom prst="rect">
            <a:avLst/>
          </a:prstGeom>
          <a:noFill/>
          <a:ln>
            <a:noFill/>
          </a:ln>
          <a:effectLst>
            <a:prstShdw prst="shdw18" dist="17961" dir="13500000">
              <a:srgbClr val="9999FF">
                <a:gamma/>
                <a:shade val="60000"/>
                <a:invGamma/>
                <a:alpha val="50000"/>
              </a:srgbClr>
            </a:prstShdw>
          </a:effectLst>
          <a:extLst>
            <a:ext uri="{909E8E84-426E-40DD-AFC4-6F175D3DCCD1}">
              <a14:hiddenFill xmlns:a14="http://schemas.microsoft.com/office/drawing/2010/main">
                <a:gradFill rotWithShape="1">
                  <a:gsLst>
                    <a:gs pos="0">
                      <a:srgbClr val="9999FF"/>
                    </a:gs>
                    <a:gs pos="50000">
                      <a:schemeClr val="bg1"/>
                    </a:gs>
                    <a:gs pos="100000">
                      <a:srgbClr val="9999FF"/>
                    </a:gs>
                  </a:gsLst>
                  <a:lin ang="0" scaled="1"/>
                </a:gradFill>
              </a14:hiddenFill>
            </a:ext>
            <a:ext uri="{91240B29-F687-4F45-9708-019B960494DF}">
              <a14:hiddenLine xmlns:a14="http://schemas.microsoft.com/office/drawing/2010/main" w="9525" algn="ctr">
                <a:solidFill>
                  <a:schemeClr val="tx1"/>
                </a:solidFill>
                <a:miter lim="800000"/>
                <a:headEnd/>
                <a:tailEnd/>
              </a14:hiddenLine>
            </a:ext>
          </a:extLst>
        </p:spPr>
        <p:txBody>
          <a:bodyPr wrap="none">
            <a:spAutoFit/>
          </a:bodyPr>
          <a:lstStyle/>
          <a:p>
            <a:pPr algn="ctr">
              <a:defRPr/>
            </a:pPr>
            <a:r>
              <a:rPr lang="en-US" altLang="zh-TW" dirty="0">
                <a:solidFill>
                  <a:srgbClr val="009999"/>
                </a:solidFill>
                <a:latin typeface="微軟正黑體"/>
                <a:ea typeface="微軟正黑體"/>
              </a:rPr>
              <a:t>(</a:t>
            </a:r>
            <a:r>
              <a:rPr lang="zh-TW" altLang="en-US" dirty="0">
                <a:solidFill>
                  <a:srgbClr val="009999"/>
                </a:solidFill>
                <a:latin typeface="微軟正黑體"/>
                <a:ea typeface="微軟正黑體"/>
              </a:rPr>
              <a:t>可能性</a:t>
            </a:r>
            <a:r>
              <a:rPr lang="en-US" altLang="zh-TW" dirty="0">
                <a:solidFill>
                  <a:srgbClr val="009999"/>
                </a:solidFill>
                <a:latin typeface="微軟正黑體"/>
                <a:ea typeface="微軟正黑體"/>
              </a:rPr>
              <a:t>)</a:t>
            </a:r>
          </a:p>
          <a:p>
            <a:pPr algn="ctr">
              <a:defRPr/>
            </a:pPr>
            <a:r>
              <a:rPr lang="en-US" altLang="zh-TW" sz="1200" dirty="0">
                <a:solidFill>
                  <a:srgbClr val="009999"/>
                </a:solidFill>
                <a:latin typeface="微軟正黑體"/>
                <a:ea typeface="微軟正黑體"/>
              </a:rPr>
              <a:t>Likelihood)</a:t>
            </a:r>
          </a:p>
        </p:txBody>
      </p:sp>
    </p:spTree>
    <p:extLst>
      <p:ext uri="{BB962C8B-B14F-4D97-AF65-F5344CB8AC3E}">
        <p14:creationId xmlns:p14="http://schemas.microsoft.com/office/powerpoint/2010/main" val="125289664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5864" name="Group 88"/>
          <p:cNvGraphicFramePr>
            <a:graphicFrameLocks noGrp="1"/>
          </p:cNvGraphicFramePr>
          <p:nvPr>
            <p:ph sz="quarter" idx="10"/>
            <p:extLst/>
          </p:nvPr>
        </p:nvGraphicFramePr>
        <p:xfrm>
          <a:off x="539750" y="1079500"/>
          <a:ext cx="8070848" cy="5268532"/>
        </p:xfrm>
        <a:graphic>
          <a:graphicData uri="http://schemas.openxmlformats.org/drawingml/2006/table">
            <a:tbl>
              <a:tblPr/>
              <a:tblGrid>
                <a:gridCol w="2017712">
                  <a:extLst>
                    <a:ext uri="{9D8B030D-6E8A-4147-A177-3AD203B41FA5}">
                      <a16:colId xmlns:a16="http://schemas.microsoft.com/office/drawing/2014/main" val="20000"/>
                    </a:ext>
                  </a:extLst>
                </a:gridCol>
                <a:gridCol w="2017712">
                  <a:extLst>
                    <a:ext uri="{9D8B030D-6E8A-4147-A177-3AD203B41FA5}">
                      <a16:colId xmlns:a16="http://schemas.microsoft.com/office/drawing/2014/main" val="20001"/>
                    </a:ext>
                  </a:extLst>
                </a:gridCol>
                <a:gridCol w="2017712">
                  <a:extLst>
                    <a:ext uri="{9D8B030D-6E8A-4147-A177-3AD203B41FA5}">
                      <a16:colId xmlns:a16="http://schemas.microsoft.com/office/drawing/2014/main" val="20002"/>
                    </a:ext>
                  </a:extLst>
                </a:gridCol>
                <a:gridCol w="2017712">
                  <a:extLst>
                    <a:ext uri="{9D8B030D-6E8A-4147-A177-3AD203B41FA5}">
                      <a16:colId xmlns:a16="http://schemas.microsoft.com/office/drawing/2014/main" val="20003"/>
                    </a:ext>
                  </a:extLst>
                </a:gridCol>
              </a:tblGrid>
              <a:tr h="457200">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資產</a:t>
                      </a:r>
                    </a:p>
                  </a:txBody>
                  <a:tcPr marL="88046" marR="8804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1" i="0" u="none" strike="noStrike" cap="none" normalizeH="0" baseline="0">
                          <a:ln>
                            <a:noFill/>
                          </a:ln>
                          <a:solidFill>
                            <a:schemeClr val="tx1"/>
                          </a:solidFill>
                          <a:effectLst/>
                          <a:latin typeface="微軟正黑體" panose="020B0604030504040204" pitchFamily="34" charset="-120"/>
                          <a:ea typeface="微軟正黑體" panose="020B0604030504040204" pitchFamily="34" charset="-120"/>
                        </a:rPr>
                        <a:t>威脅</a:t>
                      </a:r>
                    </a:p>
                  </a:txBody>
                  <a:tcPr marL="88046" marR="8804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脆弱性</a:t>
                      </a:r>
                    </a:p>
                  </a:txBody>
                  <a:tcPr marL="88046" marR="8804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1"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攻擊手法</a:t>
                      </a:r>
                    </a:p>
                  </a:txBody>
                  <a:tcPr marL="88046" marR="88046"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762000">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商業機密</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商業間諜</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未妥善保護</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潛入工作場所</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912813">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筆記型電腦</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順手牽羊者</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輕巧</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趁其不備</a:t>
                      </a:r>
                      <a:endParaRPr kumimoji="0" lang="en-US" altLang="zh-TW"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endParaRPr>
                    </a:p>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快速行動</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915988">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關鍵應用系統</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不愉快的員工</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員工不忠誠</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盜賣程式碼</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914400">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生產廠房</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洪水</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rPr>
                        <a:t>位於地勢低窪</a:t>
                      </a:r>
                      <a:endParaRPr kumimoji="0" lang="en-US" altLang="zh-TW"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endParaRPr>
                    </a:p>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rPr>
                        <a:t>地區</a:t>
                      </a:r>
                      <a:endPar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endParaRP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淹沒廠房</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903288">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a:ln>
                            <a:noFill/>
                          </a:ln>
                          <a:solidFill>
                            <a:srgbClr val="000000"/>
                          </a:solidFill>
                          <a:effectLst/>
                          <a:latin typeface="微軟正黑體" panose="020B0604030504040204" pitchFamily="34" charset="-120"/>
                          <a:ea typeface="微軟正黑體" panose="020B0604030504040204" pitchFamily="34" charset="-120"/>
                        </a:rPr>
                        <a:t>電腦系統</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電腦病毒</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缺乏警覺性的</a:t>
                      </a:r>
                      <a:endParaRPr kumimoji="0" lang="en-US" altLang="zh-TW"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endParaRPr>
                    </a:p>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rPr>
                        <a:t>員工</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defTabSz="800100">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defTabSz="80010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defTabSz="8001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defTabSz="8001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defTabSz="8001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defTabSz="8001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rPr>
                        <a:t>透過</a:t>
                      </a:r>
                      <a:r>
                        <a:rPr kumimoji="0" lang="en-US" altLang="ja-JP"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rPr>
                        <a:t>e-mail</a:t>
                      </a:r>
                    </a:p>
                    <a:p>
                      <a:pPr marL="0" marR="0" lvl="0" indent="0" algn="ctr" defTabSz="800100" rtl="0" eaLnBrk="1" fontAlgn="base" latinLnBrk="0" hangingPunct="1">
                        <a:lnSpc>
                          <a:spcPct val="120000"/>
                        </a:lnSpc>
                        <a:spcBef>
                          <a:spcPts val="200"/>
                        </a:spcBef>
                        <a:spcAft>
                          <a:spcPts val="200"/>
                        </a:spcAft>
                        <a:buClrTx/>
                        <a:buSzTx/>
                        <a:buFontTx/>
                        <a:buNone/>
                        <a:tabLst/>
                      </a:pPr>
                      <a:r>
                        <a:rPr kumimoji="0" lang="zh-TW" altLang="en-US" sz="2400" b="0" i="0" u="none" strike="noStrike" cap="none" normalizeH="0" baseline="0" dirty="0">
                          <a:ln>
                            <a:noFill/>
                          </a:ln>
                          <a:solidFill>
                            <a:srgbClr val="000000"/>
                          </a:solidFill>
                          <a:effectLst/>
                          <a:latin typeface="微軟正黑體" panose="020B0604030504040204" pitchFamily="34" charset="-120"/>
                          <a:ea typeface="微軟正黑體" panose="020B0604030504040204" pitchFamily="34" charset="-120"/>
                          <a:sym typeface="Monotype Sorts" charset="2"/>
                        </a:rPr>
                        <a:t>傳播</a:t>
                      </a:r>
                    </a:p>
                  </a:txBody>
                  <a:tcPr marL="88046" marR="88046"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50178" name="Rectangle 2"/>
          <p:cNvSpPr>
            <a:spLocks noGrp="1" noChangeArrowheads="1"/>
          </p:cNvSpPr>
          <p:nvPr>
            <p:ph type="title"/>
          </p:nvPr>
        </p:nvSpPr>
        <p:spPr>
          <a:xfrm>
            <a:off x="818623" y="131120"/>
            <a:ext cx="7785825" cy="777600"/>
          </a:xfrm>
        </p:spPr>
        <p:txBody>
          <a:bodyPr/>
          <a:lstStyle/>
          <a:p>
            <a:r>
              <a:rPr lang="zh-TW" altLang="en-US" dirty="0"/>
              <a:t>威脅、脆弱性及攻擊手法</a:t>
            </a:r>
            <a:r>
              <a:rPr lang="en-US" altLang="zh-TW" dirty="0"/>
              <a:t>-</a:t>
            </a:r>
            <a:r>
              <a:rPr lang="zh-TW" altLang="en-US" dirty="0"/>
              <a:t>範例</a:t>
            </a:r>
          </a:p>
        </p:txBody>
      </p:sp>
    </p:spTree>
    <p:extLst>
      <p:ext uri="{BB962C8B-B14F-4D97-AF65-F5344CB8AC3E}">
        <p14:creationId xmlns:p14="http://schemas.microsoft.com/office/powerpoint/2010/main" val="3537116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Rectangle 8"/>
          <p:cNvSpPr>
            <a:spLocks noGrp="1" noChangeArrowheads="1"/>
          </p:cNvSpPr>
          <p:nvPr>
            <p:ph sz="quarter" idx="10"/>
          </p:nvPr>
        </p:nvSpPr>
        <p:spPr>
          <a:xfrm>
            <a:off x="395536" y="1052736"/>
            <a:ext cx="8568952" cy="5230800"/>
          </a:xfrm>
        </p:spPr>
        <p:txBody>
          <a:bodyPr/>
          <a:lstStyle/>
          <a:p>
            <a:r>
              <a:rPr lang="zh-TW" altLang="en-US" sz="2600" dirty="0">
                <a:cs typeface="微軟正黑體" panose="020B0604030504040204" pitchFamily="34" charset="-120"/>
              </a:rPr>
              <a:t>威脅指可能利用或引發脆弱性的潛在方法</a:t>
            </a:r>
          </a:p>
          <a:p>
            <a:r>
              <a:rPr lang="zh-TW" altLang="en-US" sz="2600" dirty="0">
                <a:cs typeface="微軟正黑體" panose="020B0604030504040204" pitchFamily="34" charset="-120"/>
              </a:rPr>
              <a:t>任一情況或事件，可能以破壞、洩漏、不當篡改資料及拒絕服務的形式，而危害資訊及資通系統資產均稱之</a:t>
            </a:r>
          </a:p>
          <a:p>
            <a:r>
              <a:rPr lang="zh-TW" altLang="en-US" sz="2600" dirty="0">
                <a:cs typeface="微軟正黑體" panose="020B0604030504040204" pitchFamily="34" charset="-120"/>
              </a:rPr>
              <a:t>威脅對資產本身而言是外來的</a:t>
            </a:r>
          </a:p>
          <a:p>
            <a:pPr lvl="1"/>
            <a:r>
              <a:rPr lang="en-US" altLang="zh-TW" sz="2200" dirty="0">
                <a:cs typeface="微軟正黑體" panose="020B0604030504040204" pitchFamily="34" charset="-120"/>
              </a:rPr>
              <a:t>007</a:t>
            </a:r>
            <a:r>
              <a:rPr lang="zh-TW" altLang="en-US" sz="2200" dirty="0">
                <a:cs typeface="微軟正黑體" panose="020B0604030504040204" pitchFamily="34" charset="-120"/>
              </a:rPr>
              <a:t>情報員是人為威脅</a:t>
            </a:r>
          </a:p>
          <a:p>
            <a:pPr lvl="1"/>
            <a:r>
              <a:rPr lang="zh-TW" altLang="en-US" sz="2200" dirty="0">
                <a:cs typeface="微軟正黑體" panose="020B0604030504040204" pitchFamily="34" charset="-120"/>
              </a:rPr>
              <a:t>洪水是天然威脅</a:t>
            </a:r>
          </a:p>
          <a:p>
            <a:pPr lvl="1"/>
            <a:r>
              <a:rPr lang="zh-TW" altLang="en-US" sz="2200" dirty="0">
                <a:cs typeface="微軟正黑體" panose="020B0604030504040204" pitchFamily="34" charset="-120"/>
              </a:rPr>
              <a:t>順手牽羊者是人為威脅</a:t>
            </a:r>
          </a:p>
          <a:p>
            <a:pPr lvl="1"/>
            <a:r>
              <a:rPr lang="zh-TW" altLang="en-US" sz="2200" dirty="0">
                <a:cs typeface="微軟正黑體" panose="020B0604030504040204" pitchFamily="34" charset="-120"/>
              </a:rPr>
              <a:t>未預警停電是環境威脅</a:t>
            </a:r>
          </a:p>
          <a:p>
            <a:pPr lvl="1"/>
            <a:r>
              <a:rPr lang="zh-TW" altLang="en-US" sz="2200" dirty="0">
                <a:cs typeface="微軟正黑體" panose="020B0604030504040204" pitchFamily="34" charset="-120"/>
              </a:rPr>
              <a:t>不愉快的員工是人為威脅</a:t>
            </a:r>
          </a:p>
          <a:p>
            <a:pPr lvl="1"/>
            <a:r>
              <a:rPr lang="zh-TW" altLang="en-US" sz="2200" dirty="0">
                <a:cs typeface="微軟正黑體" panose="020B0604030504040204" pitchFamily="34" charset="-120"/>
              </a:rPr>
              <a:t>病毒是系統威脅</a:t>
            </a:r>
          </a:p>
        </p:txBody>
      </p:sp>
      <p:sp>
        <p:nvSpPr>
          <p:cNvPr id="44034" name="Rectangle 7"/>
          <p:cNvSpPr>
            <a:spLocks noGrp="1" noChangeArrowheads="1"/>
          </p:cNvSpPr>
          <p:nvPr>
            <p:ph type="title"/>
          </p:nvPr>
        </p:nvSpPr>
        <p:spPr>
          <a:xfrm>
            <a:off x="818623" y="131120"/>
            <a:ext cx="7785825" cy="777600"/>
          </a:xfrm>
        </p:spPr>
        <p:txBody>
          <a:bodyPr/>
          <a:lstStyle/>
          <a:p>
            <a:r>
              <a:rPr lang="zh-TW" altLang="en-US" dirty="0" smtClean="0"/>
              <a:t>威脅</a:t>
            </a:r>
            <a:r>
              <a:rPr lang="en-US" altLang="zh-TW" dirty="0" smtClean="0"/>
              <a:t>(Threat)</a:t>
            </a:r>
            <a:endParaRPr lang="zh-TW" altLang="en-US" dirty="0"/>
          </a:p>
        </p:txBody>
      </p:sp>
      <p:sp>
        <p:nvSpPr>
          <p:cNvPr id="2" name="矩形 1"/>
          <p:cNvSpPr/>
          <p:nvPr/>
        </p:nvSpPr>
        <p:spPr bwMode="auto">
          <a:xfrm>
            <a:off x="4700447" y="4221088"/>
            <a:ext cx="3456384" cy="1440160"/>
          </a:xfrm>
          <a:prstGeom prst="rect">
            <a:avLst/>
          </a:prstGeom>
          <a:solidFill>
            <a:schemeClr val="accent1"/>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r>
              <a:rPr kumimoji="1" lang="zh-TW" altLang="en-US" sz="2800" b="0" u="none" strike="noStrike" cap="none" normalizeH="0" baseline="0" dirty="0" smtClean="0">
                <a:ln>
                  <a:noFill/>
                </a:ln>
                <a:solidFill>
                  <a:schemeClr val="tx1"/>
                </a:solidFill>
                <a:effectLst/>
                <a:latin typeface="Arial" charset="0"/>
                <a:ea typeface="標楷體" pitchFamily="65" charset="-120"/>
              </a:rPr>
              <a:t>可採用相對嚴謹的</a:t>
            </a:r>
            <a:endParaRPr kumimoji="1" lang="en-US" altLang="zh-TW" sz="2800" b="0" u="none" strike="noStrike" cap="none" normalizeH="0" baseline="0" dirty="0" smtClean="0">
              <a:ln>
                <a:noFill/>
              </a:ln>
              <a:solidFill>
                <a:schemeClr val="tx1"/>
              </a:solidFill>
              <a:effectLst/>
              <a:latin typeface="Arial" charset="0"/>
              <a:ea typeface="標楷體" pitchFamily="65" charset="-120"/>
            </a:endParaRPr>
          </a:p>
          <a:p>
            <a:pPr fontAlgn="base">
              <a:spcBef>
                <a:spcPct val="0"/>
              </a:spcBef>
              <a:spcAft>
                <a:spcPct val="0"/>
              </a:spcAft>
            </a:pPr>
            <a:r>
              <a:rPr kumimoji="1" lang="zh-TW" altLang="en-US" sz="2800" dirty="0">
                <a:latin typeface="Arial" charset="0"/>
                <a:ea typeface="標楷體" pitchFamily="65" charset="-120"/>
              </a:rPr>
              <a:t>威脅建模</a:t>
            </a:r>
            <a:r>
              <a:rPr kumimoji="1" lang="en-US" altLang="zh-TW" sz="2800" dirty="0">
                <a:latin typeface="Arial" charset="0"/>
                <a:ea typeface="標楷體" pitchFamily="65" charset="-120"/>
              </a:rPr>
              <a:t>(Threat Modeling</a:t>
            </a:r>
            <a:r>
              <a:rPr kumimoji="1" lang="en-US" altLang="zh-TW" sz="2800" dirty="0" smtClean="0">
                <a:latin typeface="Arial" charset="0"/>
                <a:ea typeface="標楷體" pitchFamily="65" charset="-120"/>
              </a:rPr>
              <a:t>)</a:t>
            </a:r>
            <a:r>
              <a:rPr kumimoji="1" lang="zh-TW" altLang="en-US" sz="2800" dirty="0" smtClean="0">
                <a:latin typeface="Arial" charset="0"/>
                <a:ea typeface="標楷體" pitchFamily="65" charset="-120"/>
              </a:rPr>
              <a:t>方式掌握</a:t>
            </a:r>
            <a:endParaRPr kumimoji="1" lang="zh-TW" altLang="en-US" sz="2800" b="0" u="none" strike="noStrike" cap="none" normalizeH="0" baseline="0" dirty="0" smtClean="0">
              <a:ln>
                <a:noFill/>
              </a:ln>
              <a:solidFill>
                <a:schemeClr val="tx1"/>
              </a:solidFill>
              <a:effectLst/>
              <a:latin typeface="Arial" charset="0"/>
              <a:ea typeface="標楷體" pitchFamily="65" charset="-120"/>
            </a:endParaRPr>
          </a:p>
        </p:txBody>
      </p:sp>
    </p:spTree>
    <p:extLst>
      <p:ext uri="{BB962C8B-B14F-4D97-AF65-F5344CB8AC3E}">
        <p14:creationId xmlns:p14="http://schemas.microsoft.com/office/powerpoint/2010/main" val="353966438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458584" y="1106264"/>
            <a:ext cx="8231262" cy="3258840"/>
          </a:xfrm>
        </p:spPr>
        <p:txBody>
          <a:bodyPr/>
          <a:lstStyle/>
          <a:p>
            <a:r>
              <a:rPr lang="zh-TW" altLang="en-US" sz="2000" dirty="0"/>
              <a:t>威脅建模是一種從攻擊者角度出發，預先找出系統可能被攻擊的方式，並設計防護措施以降低風險的過程</a:t>
            </a:r>
            <a:r>
              <a:rPr lang="zh-TW" altLang="en-US" sz="2000" dirty="0" smtClean="0"/>
              <a:t>。</a:t>
            </a:r>
            <a:endParaRPr lang="en-US" altLang="zh-TW" sz="2000" dirty="0" smtClean="0"/>
          </a:p>
          <a:p>
            <a:r>
              <a:rPr lang="zh-TW" altLang="en-US" sz="2000" dirty="0" smtClean="0"/>
              <a:t>簡單</a:t>
            </a:r>
            <a:r>
              <a:rPr lang="zh-TW" altLang="en-US" sz="2000" dirty="0"/>
              <a:t>來說，就是回答以下四個問題</a:t>
            </a:r>
            <a:r>
              <a:rPr lang="zh-TW" altLang="en-US" sz="2000" dirty="0" smtClean="0"/>
              <a:t>：</a:t>
            </a:r>
            <a:endParaRPr lang="en-US" altLang="zh-TW" sz="2000" dirty="0" smtClean="0"/>
          </a:p>
          <a:p>
            <a:pPr lvl="1"/>
            <a:r>
              <a:rPr lang="zh-TW" altLang="en-US" sz="1600" dirty="0" smtClean="0"/>
              <a:t>我</a:t>
            </a:r>
            <a:r>
              <a:rPr lang="zh-TW" altLang="en-US" sz="1600" dirty="0"/>
              <a:t>在保護什麼？（</a:t>
            </a:r>
            <a:r>
              <a:rPr lang="en-US" altLang="zh-TW" sz="1600" dirty="0"/>
              <a:t>What are we protecting?</a:t>
            </a:r>
            <a:r>
              <a:rPr lang="zh-TW" altLang="en-US" sz="1600" dirty="0" smtClean="0"/>
              <a:t>）</a:t>
            </a:r>
            <a:endParaRPr lang="en-US" altLang="zh-TW" sz="1600" dirty="0" smtClean="0"/>
          </a:p>
          <a:p>
            <a:pPr lvl="1"/>
            <a:r>
              <a:rPr lang="zh-TW" altLang="en-US" sz="1600" dirty="0" smtClean="0"/>
              <a:t>誰</a:t>
            </a:r>
            <a:r>
              <a:rPr lang="zh-TW" altLang="en-US" sz="1600" dirty="0"/>
              <a:t>可能攻擊？（</a:t>
            </a:r>
            <a:r>
              <a:rPr lang="en-US" altLang="zh-TW" sz="1600" dirty="0"/>
              <a:t>Who are the attackers?</a:t>
            </a:r>
            <a:r>
              <a:rPr lang="zh-TW" altLang="en-US" sz="1600" dirty="0" smtClean="0"/>
              <a:t>）</a:t>
            </a:r>
            <a:endParaRPr lang="en-US" altLang="zh-TW" sz="1600" dirty="0" smtClean="0"/>
          </a:p>
          <a:p>
            <a:pPr lvl="1"/>
            <a:r>
              <a:rPr lang="zh-TW" altLang="en-US" sz="1600" dirty="0" smtClean="0"/>
              <a:t>攻擊</a:t>
            </a:r>
            <a:r>
              <a:rPr lang="zh-TW" altLang="en-US" sz="1600" dirty="0"/>
              <a:t>方式是什麼？（</a:t>
            </a:r>
            <a:r>
              <a:rPr lang="en-US" altLang="zh-TW" sz="1600" dirty="0"/>
              <a:t>How might they attack?</a:t>
            </a:r>
            <a:r>
              <a:rPr lang="zh-TW" altLang="en-US" sz="1600" dirty="0" smtClean="0"/>
              <a:t>）</a:t>
            </a:r>
            <a:endParaRPr lang="en-US" altLang="zh-TW" sz="1600" dirty="0" smtClean="0"/>
          </a:p>
          <a:p>
            <a:pPr lvl="1"/>
            <a:r>
              <a:rPr lang="zh-TW" altLang="en-US" sz="1600" dirty="0" smtClean="0"/>
              <a:t>我們</a:t>
            </a:r>
            <a:r>
              <a:rPr lang="zh-TW" altLang="en-US" sz="1600" dirty="0"/>
              <a:t>的防護措施足夠嗎？（</a:t>
            </a:r>
            <a:r>
              <a:rPr lang="en-US" altLang="zh-TW" sz="1600" dirty="0"/>
              <a:t>Do we have mitigations?</a:t>
            </a:r>
            <a:r>
              <a:rPr lang="zh-TW" altLang="en-US" sz="1600" dirty="0" smtClean="0"/>
              <a:t>）</a:t>
            </a:r>
            <a:endParaRPr lang="en-US" altLang="zh-TW" sz="1600" dirty="0" smtClean="0"/>
          </a:p>
          <a:p>
            <a:r>
              <a:rPr lang="zh-TW" altLang="en-US" sz="2000" dirty="0"/>
              <a:t>威脅建模的主要</a:t>
            </a:r>
            <a:r>
              <a:rPr lang="zh-TW" altLang="en-US" sz="2000" dirty="0" smtClean="0"/>
              <a:t>目標包括</a:t>
            </a:r>
            <a:r>
              <a:rPr lang="en-US" altLang="zh-TW" sz="2000" dirty="0" smtClean="0"/>
              <a:t>:</a:t>
            </a:r>
            <a:endParaRPr lang="zh-TW" altLang="en-US" sz="2000" dirty="0"/>
          </a:p>
        </p:txBody>
      </p:sp>
      <p:sp>
        <p:nvSpPr>
          <p:cNvPr id="3" name="標題 2"/>
          <p:cNvSpPr>
            <a:spLocks noGrp="1"/>
          </p:cNvSpPr>
          <p:nvPr>
            <p:ph type="title"/>
          </p:nvPr>
        </p:nvSpPr>
        <p:spPr/>
        <p:txBody>
          <a:bodyPr/>
          <a:lstStyle/>
          <a:p>
            <a:r>
              <a:rPr lang="zh-TW" altLang="en-US" dirty="0"/>
              <a:t>威脅</a:t>
            </a:r>
            <a:r>
              <a:rPr lang="zh-TW" altLang="en-US" dirty="0" smtClean="0"/>
              <a:t>建模</a:t>
            </a:r>
            <a:r>
              <a:rPr lang="en-US" altLang="zh-TW" dirty="0" smtClean="0"/>
              <a:t>(Threat Modeling)(1/2)</a:t>
            </a:r>
            <a:endParaRPr lang="zh-TW" altLang="en-US" dirty="0"/>
          </a:p>
        </p:txBody>
      </p:sp>
      <p:graphicFrame>
        <p:nvGraphicFramePr>
          <p:cNvPr id="4" name="表格 3"/>
          <p:cNvGraphicFramePr>
            <a:graphicFrameLocks noGrp="1"/>
          </p:cNvGraphicFramePr>
          <p:nvPr>
            <p:extLst/>
          </p:nvPr>
        </p:nvGraphicFramePr>
        <p:xfrm>
          <a:off x="469887" y="4149080"/>
          <a:ext cx="8231186" cy="2611044"/>
        </p:xfrm>
        <a:graphic>
          <a:graphicData uri="http://schemas.openxmlformats.org/drawingml/2006/table">
            <a:tbl>
              <a:tblPr/>
              <a:tblGrid>
                <a:gridCol w="2088232">
                  <a:extLst>
                    <a:ext uri="{9D8B030D-6E8A-4147-A177-3AD203B41FA5}">
                      <a16:colId xmlns:a16="http://schemas.microsoft.com/office/drawing/2014/main" val="1046331840"/>
                    </a:ext>
                  </a:extLst>
                </a:gridCol>
                <a:gridCol w="6142954">
                  <a:extLst>
                    <a:ext uri="{9D8B030D-6E8A-4147-A177-3AD203B41FA5}">
                      <a16:colId xmlns:a16="http://schemas.microsoft.com/office/drawing/2014/main" val="2850768314"/>
                    </a:ext>
                  </a:extLst>
                </a:gridCol>
              </a:tblGrid>
              <a:tr h="320755">
                <a:tc>
                  <a:txBody>
                    <a:bodyPr/>
                    <a:lstStyle/>
                    <a:p>
                      <a:r>
                        <a:rPr lang="zh-TW" altLang="en-US" sz="1800" dirty="0"/>
                        <a:t>目標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說明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1128449"/>
                  </a:ext>
                </a:extLst>
              </a:tr>
              <a:tr h="561321">
                <a:tc>
                  <a:txBody>
                    <a:bodyPr/>
                    <a:lstStyle/>
                    <a:p>
                      <a:r>
                        <a:rPr lang="zh-TW" altLang="en-US" sz="1800" b="1"/>
                        <a:t>識別潛在威脅</a:t>
                      </a:r>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提前辨識系統或應用程式中可能的攻擊向量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76797632"/>
                  </a:ext>
                </a:extLst>
              </a:tr>
              <a:tr h="561321">
                <a:tc>
                  <a:txBody>
                    <a:bodyPr/>
                    <a:lstStyle/>
                    <a:p>
                      <a:r>
                        <a:rPr lang="zh-TW" altLang="en-US" sz="1800" b="1"/>
                        <a:t>理解風險影響</a:t>
                      </a:r>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評估威脅成功時對資產、資料或服務的影響</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317206"/>
                  </a:ext>
                </a:extLst>
              </a:tr>
              <a:tr h="561321">
                <a:tc>
                  <a:txBody>
                    <a:bodyPr/>
                    <a:lstStyle/>
                    <a:p>
                      <a:r>
                        <a:rPr lang="zh-TW" altLang="en-US" sz="1800" b="1"/>
                        <a:t>優先化防禦</a:t>
                      </a:r>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根據風險高低，安排控制措施與修補順序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86754154"/>
                  </a:ext>
                </a:extLst>
              </a:tr>
              <a:tr h="561321">
                <a:tc>
                  <a:txBody>
                    <a:bodyPr/>
                    <a:lstStyle/>
                    <a:p>
                      <a:r>
                        <a:rPr lang="zh-TW" altLang="en-US" sz="1800" b="1"/>
                        <a:t>強化設計安全性</a:t>
                      </a:r>
                      <a:endParaRPr lang="zh-TW" altLang="en-US" sz="180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在系統開發早期導入安全</a:t>
                      </a:r>
                      <a:r>
                        <a:rPr lang="zh-TW" altLang="en-US" sz="1800" dirty="0" smtClean="0"/>
                        <a:t>思維</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32942946"/>
                  </a:ext>
                </a:extLst>
              </a:tr>
            </a:tbl>
          </a:graphicData>
        </a:graphic>
      </p:graphicFrame>
    </p:spTree>
    <p:extLst>
      <p:ext uri="{BB962C8B-B14F-4D97-AF65-F5344CB8AC3E}">
        <p14:creationId xmlns:p14="http://schemas.microsoft.com/office/powerpoint/2010/main" val="3560229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459904" y="3140968"/>
          <a:ext cx="8231187" cy="2560320"/>
        </p:xfrm>
        <a:graphic>
          <a:graphicData uri="http://schemas.openxmlformats.org/drawingml/2006/table">
            <a:tbl>
              <a:tblPr/>
              <a:tblGrid>
                <a:gridCol w="3190627">
                  <a:extLst>
                    <a:ext uri="{9D8B030D-6E8A-4147-A177-3AD203B41FA5}">
                      <a16:colId xmlns:a16="http://schemas.microsoft.com/office/drawing/2014/main" val="36157949"/>
                    </a:ext>
                  </a:extLst>
                </a:gridCol>
                <a:gridCol w="1440160">
                  <a:extLst>
                    <a:ext uri="{9D8B030D-6E8A-4147-A177-3AD203B41FA5}">
                      <a16:colId xmlns:a16="http://schemas.microsoft.com/office/drawing/2014/main" val="4016734432"/>
                    </a:ext>
                  </a:extLst>
                </a:gridCol>
                <a:gridCol w="3600400">
                  <a:extLst>
                    <a:ext uri="{9D8B030D-6E8A-4147-A177-3AD203B41FA5}">
                      <a16:colId xmlns:a16="http://schemas.microsoft.com/office/drawing/2014/main" val="3963647621"/>
                    </a:ext>
                  </a:extLst>
                </a:gridCol>
              </a:tblGrid>
              <a:tr h="0">
                <a:tc>
                  <a:txBody>
                    <a:bodyPr/>
                    <a:lstStyle/>
                    <a:p>
                      <a:r>
                        <a:rPr lang="zh-TW" altLang="en-US" dirty="0"/>
                        <a:t>威脅類型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說明</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範例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00502680"/>
                  </a:ext>
                </a:extLst>
              </a:tr>
              <a:tr h="0">
                <a:tc>
                  <a:txBody>
                    <a:bodyPr/>
                    <a:lstStyle/>
                    <a:p>
                      <a:r>
                        <a:rPr lang="en-US" b="1"/>
                        <a:t>S – Spoofing</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冒充身份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偽造登入憑證、假冒伺服器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520188"/>
                  </a:ext>
                </a:extLst>
              </a:tr>
              <a:tr h="0">
                <a:tc>
                  <a:txBody>
                    <a:bodyPr/>
                    <a:lstStyle/>
                    <a:p>
                      <a:r>
                        <a:rPr lang="en-US" b="1"/>
                        <a:t>T – Tampering</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竄改資料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修改設定檔、</a:t>
                      </a:r>
                      <a:r>
                        <a:rPr lang="en-US" dirty="0"/>
                        <a:t>SQL Injection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46491015"/>
                  </a:ext>
                </a:extLst>
              </a:tr>
              <a:tr h="0">
                <a:tc>
                  <a:txBody>
                    <a:bodyPr/>
                    <a:lstStyle/>
                    <a:p>
                      <a:r>
                        <a:rPr lang="en-US" b="1"/>
                        <a:t>R – Repudiation</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否認行為</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使用者否認曾執行特定操作</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113296606"/>
                  </a:ext>
                </a:extLst>
              </a:tr>
              <a:tr h="0">
                <a:tc>
                  <a:txBody>
                    <a:bodyPr/>
                    <a:lstStyle/>
                    <a:p>
                      <a:r>
                        <a:rPr lang="en-US" b="1"/>
                        <a:t>I – Information Disclosure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資訊洩漏</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資料庫外洩、錯誤訊息過多</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22999941"/>
                  </a:ext>
                </a:extLst>
              </a:tr>
              <a:tr h="0">
                <a:tc>
                  <a:txBody>
                    <a:bodyPr/>
                    <a:lstStyle/>
                    <a:p>
                      <a:r>
                        <a:rPr lang="en-US" b="1"/>
                        <a:t>D – Denial of Service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拒絕服務</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流量攻擊、資源耗盡</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94822575"/>
                  </a:ext>
                </a:extLst>
              </a:tr>
              <a:tr h="0">
                <a:tc>
                  <a:txBody>
                    <a:bodyPr/>
                    <a:lstStyle/>
                    <a:p>
                      <a:r>
                        <a:rPr lang="en-US" b="1"/>
                        <a:t>E – Elevation of Privilege</a:t>
                      </a:r>
                      <a:endParaRPr lang="en-US"/>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a:t>提權攻擊</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低權限用戶獲得管理權限</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4960769"/>
                  </a:ext>
                </a:extLst>
              </a:tr>
            </a:tbl>
          </a:graphicData>
        </a:graphic>
      </p:graphicFrame>
      <p:sp>
        <p:nvSpPr>
          <p:cNvPr id="3" name="標題 2"/>
          <p:cNvSpPr>
            <a:spLocks noGrp="1"/>
          </p:cNvSpPr>
          <p:nvPr>
            <p:ph type="title"/>
          </p:nvPr>
        </p:nvSpPr>
        <p:spPr/>
        <p:txBody>
          <a:bodyPr/>
          <a:lstStyle/>
          <a:p>
            <a:r>
              <a:rPr lang="zh-TW" altLang="en-US" dirty="0"/>
              <a:t>威脅建模</a:t>
            </a:r>
            <a:r>
              <a:rPr lang="en-US" altLang="zh-TW" dirty="0"/>
              <a:t>(Threat Modeling</a:t>
            </a:r>
            <a:r>
              <a:rPr lang="en-US" altLang="zh-TW" dirty="0" smtClean="0"/>
              <a:t>)(2/2)</a:t>
            </a:r>
            <a:endParaRPr lang="zh-TW" altLang="en-US" dirty="0"/>
          </a:p>
        </p:txBody>
      </p:sp>
      <p:sp>
        <p:nvSpPr>
          <p:cNvPr id="5" name="矩形 4"/>
          <p:cNvSpPr/>
          <p:nvPr/>
        </p:nvSpPr>
        <p:spPr>
          <a:xfrm>
            <a:off x="467544" y="1124744"/>
            <a:ext cx="7439857" cy="707886"/>
          </a:xfrm>
          <a:prstGeom prst="rect">
            <a:avLst/>
          </a:prstGeom>
        </p:spPr>
        <p:txBody>
          <a:bodyPr wrap="none">
            <a:spAutoFit/>
          </a:bodyPr>
          <a:lstStyle/>
          <a:p>
            <a:r>
              <a:rPr lang="zh-TW" altLang="en-US" sz="2000" dirty="0" smtClean="0"/>
              <a:t>不同領域有許多威脅</a:t>
            </a:r>
            <a:r>
              <a:rPr lang="zh-TW" altLang="en-US" sz="2000" dirty="0"/>
              <a:t>建模</a:t>
            </a:r>
            <a:r>
              <a:rPr lang="zh-TW" altLang="en-US" sz="2000" dirty="0" smtClean="0"/>
              <a:t>方法論</a:t>
            </a:r>
            <a:r>
              <a:rPr lang="zh-TW" altLang="en-US" sz="2000" dirty="0" smtClean="0">
                <a:latin typeface="PMingLiU" panose="02020500000000000000" pitchFamily="18" charset="-120"/>
                <a:ea typeface="PMingLiU" panose="02020500000000000000" pitchFamily="18" charset="-120"/>
              </a:rPr>
              <a:t>，底下以微軟提出的</a:t>
            </a:r>
            <a:r>
              <a:rPr lang="en-US" altLang="zh-TW" sz="2000" dirty="0" smtClean="0">
                <a:latin typeface="PMingLiU" panose="02020500000000000000" pitchFamily="18" charset="-120"/>
                <a:ea typeface="PMingLiU" panose="02020500000000000000" pitchFamily="18" charset="-120"/>
              </a:rPr>
              <a:t>STRIDE</a:t>
            </a:r>
            <a:r>
              <a:rPr lang="zh-TW" altLang="en-US" sz="2000" dirty="0" smtClean="0">
                <a:latin typeface="PMingLiU" panose="02020500000000000000" pitchFamily="18" charset="-120"/>
                <a:ea typeface="PMingLiU" panose="02020500000000000000" pitchFamily="18" charset="-120"/>
              </a:rPr>
              <a:t>模型</a:t>
            </a:r>
            <a:endParaRPr lang="en-US" altLang="zh-TW" sz="2000" dirty="0" smtClean="0">
              <a:latin typeface="PMingLiU" panose="02020500000000000000" pitchFamily="18" charset="-120"/>
              <a:ea typeface="PMingLiU" panose="02020500000000000000" pitchFamily="18" charset="-120"/>
            </a:endParaRPr>
          </a:p>
          <a:p>
            <a:r>
              <a:rPr lang="zh-TW" altLang="en-US" sz="2000" dirty="0" smtClean="0">
                <a:latin typeface="PMingLiU" panose="02020500000000000000" pitchFamily="18" charset="-120"/>
                <a:ea typeface="PMingLiU" panose="02020500000000000000" pitchFamily="18" charset="-120"/>
              </a:rPr>
              <a:t>加以介紹</a:t>
            </a:r>
            <a:endParaRPr lang="zh-TW" altLang="en-US" sz="2000" dirty="0"/>
          </a:p>
        </p:txBody>
      </p:sp>
      <p:sp>
        <p:nvSpPr>
          <p:cNvPr id="6" name="矩形 5"/>
          <p:cNvSpPr/>
          <p:nvPr/>
        </p:nvSpPr>
        <p:spPr>
          <a:xfrm>
            <a:off x="539552" y="2035086"/>
            <a:ext cx="7776864" cy="646331"/>
          </a:xfrm>
          <a:prstGeom prst="rect">
            <a:avLst/>
          </a:prstGeom>
        </p:spPr>
        <p:txBody>
          <a:bodyPr wrap="square">
            <a:spAutoFit/>
          </a:bodyPr>
          <a:lstStyle/>
          <a:p>
            <a:pPr marL="342900" indent="-342900">
              <a:buFont typeface="Wingdings" panose="05000000000000000000" pitchFamily="2" charset="2"/>
              <a:buChar char="ü"/>
            </a:pPr>
            <a:r>
              <a:rPr lang="en-US" altLang="zh-TW" dirty="0">
                <a:latin typeface="PMingLiU" panose="02020500000000000000" pitchFamily="18" charset="-120"/>
                <a:ea typeface="PMingLiU" panose="02020500000000000000" pitchFamily="18" charset="-120"/>
              </a:rPr>
              <a:t>STRIDE</a:t>
            </a:r>
            <a:r>
              <a:rPr lang="zh-TW" altLang="en-US" dirty="0" smtClean="0">
                <a:latin typeface="PMingLiU" panose="02020500000000000000" pitchFamily="18" charset="-120"/>
                <a:ea typeface="PMingLiU" panose="02020500000000000000" pitchFamily="18" charset="-120"/>
              </a:rPr>
              <a:t>模型</a:t>
            </a:r>
            <a:r>
              <a:rPr lang="zh-TW" altLang="en-US" dirty="0" smtClean="0"/>
              <a:t>以底下六</a:t>
            </a:r>
            <a:r>
              <a:rPr lang="zh-TW" altLang="en-US" dirty="0"/>
              <a:t>類</a:t>
            </a:r>
            <a:r>
              <a:rPr lang="zh-TW" altLang="en-US" dirty="0" smtClean="0"/>
              <a:t>威脅為</a:t>
            </a:r>
            <a:r>
              <a:rPr lang="zh-TW" altLang="en-US" dirty="0"/>
              <a:t>基礎，分析資料</a:t>
            </a:r>
            <a:r>
              <a:rPr lang="zh-TW" altLang="en-US" dirty="0" smtClean="0"/>
              <a:t>流的</a:t>
            </a:r>
            <a:r>
              <a:rPr lang="zh-TW" altLang="en-US" dirty="0"/>
              <a:t>節點與邊界威脅</a:t>
            </a:r>
            <a:r>
              <a:rPr lang="zh-TW" altLang="en-US" dirty="0" smtClean="0"/>
              <a:t>。</a:t>
            </a:r>
            <a:endParaRPr lang="en-US" altLang="zh-TW" dirty="0" smtClean="0"/>
          </a:p>
          <a:p>
            <a:pPr marL="342900" indent="-342900">
              <a:buFont typeface="Wingdings" panose="05000000000000000000" pitchFamily="2" charset="2"/>
              <a:buChar char="ü"/>
            </a:pPr>
            <a:r>
              <a:rPr lang="en-US" altLang="zh-TW" dirty="0">
                <a:latin typeface="PMingLiU" panose="02020500000000000000" pitchFamily="18" charset="-120"/>
                <a:ea typeface="PMingLiU" panose="02020500000000000000" pitchFamily="18" charset="-120"/>
              </a:rPr>
              <a:t>STRIDE</a:t>
            </a:r>
            <a:r>
              <a:rPr lang="zh-TW" altLang="en-US" dirty="0">
                <a:latin typeface="PMingLiU" panose="02020500000000000000" pitchFamily="18" charset="-120"/>
                <a:ea typeface="PMingLiU" panose="02020500000000000000" pitchFamily="18" charset="-120"/>
              </a:rPr>
              <a:t>模型</a:t>
            </a:r>
            <a:r>
              <a:rPr lang="zh-TW" altLang="en-US" dirty="0" smtClean="0"/>
              <a:t>適合</a:t>
            </a:r>
            <a:r>
              <a:rPr lang="zh-TW" altLang="en-US" dirty="0"/>
              <a:t>軟體開發與架構設計初期導入</a:t>
            </a:r>
            <a:r>
              <a:rPr lang="zh-TW" altLang="en-US" dirty="0" smtClean="0"/>
              <a:t>，也是企業</a:t>
            </a:r>
            <a:r>
              <a:rPr lang="zh-TW" altLang="en-US" dirty="0"/>
              <a:t>常用入門法。</a:t>
            </a:r>
          </a:p>
        </p:txBody>
      </p:sp>
    </p:spTree>
    <p:extLst>
      <p:ext uri="{BB962C8B-B14F-4D97-AF65-F5344CB8AC3E}">
        <p14:creationId xmlns:p14="http://schemas.microsoft.com/office/powerpoint/2010/main" val="29217672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3" name="Rectangle 8"/>
          <p:cNvSpPr>
            <a:spLocks noGrp="1" noChangeArrowheads="1"/>
          </p:cNvSpPr>
          <p:nvPr>
            <p:ph sz="quarter" idx="10"/>
          </p:nvPr>
        </p:nvSpPr>
        <p:spPr/>
        <p:txBody>
          <a:bodyPr/>
          <a:lstStyle/>
          <a:p>
            <a:r>
              <a:rPr lang="zh-TW" altLang="en-US" sz="2600" dirty="0">
                <a:cs typeface="微軟正黑體" panose="020B0604030504040204" pitchFamily="34" charset="-120"/>
              </a:rPr>
              <a:t>脆弱性指資產因設計不當、人為操作管理失誤或強度不足，可用於作為攻擊行動</a:t>
            </a:r>
            <a:r>
              <a:rPr lang="en-US" altLang="zh-TW" sz="2600" dirty="0">
                <a:cs typeface="微軟正黑體" panose="020B0604030504040204" pitchFamily="34" charset="-120"/>
              </a:rPr>
              <a:t>(</a:t>
            </a:r>
            <a:r>
              <a:rPr lang="zh-TW" altLang="en-US" sz="2600" dirty="0">
                <a:cs typeface="微軟正黑體" panose="020B0604030504040204" pitchFamily="34" charset="-120"/>
              </a:rPr>
              <a:t>威脅</a:t>
            </a:r>
            <a:r>
              <a:rPr lang="en-US" altLang="zh-TW" sz="2600" dirty="0">
                <a:cs typeface="微軟正黑體" panose="020B0604030504040204" pitchFamily="34" charset="-120"/>
              </a:rPr>
              <a:t>)</a:t>
            </a:r>
            <a:r>
              <a:rPr lang="zh-TW" altLang="en-US" sz="2600" dirty="0">
                <a:cs typeface="微軟正黑體" panose="020B0604030504040204" pitchFamily="34" charset="-120"/>
              </a:rPr>
              <a:t>利用的突破口之處</a:t>
            </a:r>
          </a:p>
          <a:p>
            <a:r>
              <a:rPr lang="zh-TW" altLang="en-US" sz="2600" dirty="0">
                <a:cs typeface="微軟正黑體" panose="020B0604030504040204" pitchFamily="34" charset="-120"/>
              </a:rPr>
              <a:t>脆弱性存在於實體環境、資通系統及其他組成元件</a:t>
            </a:r>
            <a:r>
              <a:rPr lang="en-US" altLang="zh-TW" sz="2600" dirty="0">
                <a:cs typeface="微軟正黑體" panose="020B0604030504040204" pitchFamily="34" charset="-120"/>
              </a:rPr>
              <a:t>(</a:t>
            </a:r>
            <a:r>
              <a:rPr lang="zh-TW" altLang="en-US" sz="2600" dirty="0">
                <a:cs typeface="微軟正黑體" panose="020B0604030504040204" pitchFamily="34" charset="-120"/>
              </a:rPr>
              <a:t>例如：系統安全程序、硬體設計及內部控制</a:t>
            </a:r>
            <a:r>
              <a:rPr lang="en-US" altLang="zh-TW" sz="2600" dirty="0">
                <a:cs typeface="微軟正黑體" panose="020B0604030504040204" pitchFamily="34" charset="-120"/>
              </a:rPr>
              <a:t>)</a:t>
            </a:r>
            <a:r>
              <a:rPr lang="zh-TW" altLang="en-US" sz="2600" dirty="0">
                <a:cs typeface="微軟正黑體" panose="020B0604030504040204" pitchFamily="34" charset="-120"/>
              </a:rPr>
              <a:t>本身</a:t>
            </a:r>
          </a:p>
          <a:p>
            <a:r>
              <a:rPr lang="zh-TW" altLang="en-US" sz="2600" dirty="0">
                <a:cs typeface="微軟正黑體" panose="020B0604030504040204" pitchFamily="34" charset="-120"/>
              </a:rPr>
              <a:t>範例</a:t>
            </a:r>
          </a:p>
          <a:p>
            <a:pPr lvl="1"/>
            <a:r>
              <a:rPr lang="zh-TW" altLang="en-US" sz="2200" dirty="0"/>
              <a:t>價值連城的資訊</a:t>
            </a:r>
          </a:p>
          <a:p>
            <a:pPr lvl="1"/>
            <a:r>
              <a:rPr lang="zh-TW" altLang="en-US" sz="2200" dirty="0"/>
              <a:t>地勢低窪的產品製造廠房</a:t>
            </a:r>
          </a:p>
          <a:p>
            <a:pPr lvl="1"/>
            <a:r>
              <a:rPr lang="zh-TW" altLang="en-US" sz="2200" dirty="0"/>
              <a:t>輕巧筆記型電腦</a:t>
            </a:r>
          </a:p>
          <a:p>
            <a:pPr lvl="1"/>
            <a:r>
              <a:rPr lang="zh-TW" altLang="en-US" sz="2200" dirty="0"/>
              <a:t>重要的主機設備</a:t>
            </a:r>
          </a:p>
          <a:p>
            <a:pPr lvl="1"/>
            <a:r>
              <a:rPr lang="zh-TW" altLang="en-US" sz="2200" dirty="0"/>
              <a:t>關鍵應用系統</a:t>
            </a:r>
          </a:p>
          <a:p>
            <a:pPr lvl="1"/>
            <a:r>
              <a:rPr lang="zh-TW" altLang="en-US" sz="2200" dirty="0"/>
              <a:t>警覺性不高的員工或已上線作業系統</a:t>
            </a:r>
          </a:p>
        </p:txBody>
      </p:sp>
      <p:sp>
        <p:nvSpPr>
          <p:cNvPr id="46082" name="Rectangle 7"/>
          <p:cNvSpPr>
            <a:spLocks noGrp="1" noChangeArrowheads="1"/>
          </p:cNvSpPr>
          <p:nvPr>
            <p:ph type="title"/>
          </p:nvPr>
        </p:nvSpPr>
        <p:spPr>
          <a:xfrm>
            <a:off x="818623" y="131120"/>
            <a:ext cx="7785825" cy="777600"/>
          </a:xfrm>
        </p:spPr>
        <p:txBody>
          <a:bodyPr/>
          <a:lstStyle/>
          <a:p>
            <a:r>
              <a:rPr lang="zh-TW" altLang="en-US"/>
              <a:t>脆弱性</a:t>
            </a:r>
          </a:p>
        </p:txBody>
      </p:sp>
    </p:spTree>
    <p:extLst>
      <p:ext uri="{BB962C8B-B14F-4D97-AF65-F5344CB8AC3E}">
        <p14:creationId xmlns:p14="http://schemas.microsoft.com/office/powerpoint/2010/main" val="11627128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8"/>
          <p:cNvSpPr>
            <a:spLocks noGrp="1" noChangeArrowheads="1"/>
          </p:cNvSpPr>
          <p:nvPr>
            <p:ph sz="quarter" idx="10"/>
          </p:nvPr>
        </p:nvSpPr>
        <p:spPr/>
        <p:txBody>
          <a:bodyPr/>
          <a:lstStyle/>
          <a:p>
            <a:r>
              <a:rPr lang="zh-TW" altLang="en-US" sz="2600" dirty="0">
                <a:cs typeface="微軟正黑體" panose="020B0604030504040204" pitchFamily="34" charset="-120"/>
              </a:rPr>
              <a:t>使威脅可以利用資訊及資通系統資產脆弱性造成破壞其機密性、完整性及可用性之方法、工具、途徑、媒介及時序等總合稱之</a:t>
            </a:r>
          </a:p>
          <a:p>
            <a:r>
              <a:rPr lang="zh-TW" altLang="en-US" sz="2600" dirty="0">
                <a:cs typeface="微軟正黑體" panose="020B0604030504040204" pitchFamily="34" charset="-120"/>
              </a:rPr>
              <a:t>範例</a:t>
            </a:r>
          </a:p>
          <a:p>
            <a:pPr lvl="1"/>
            <a:r>
              <a:rPr lang="zh-TW" altLang="en-US" dirty="0"/>
              <a:t>潛入工作場所</a:t>
            </a:r>
          </a:p>
          <a:p>
            <a:pPr lvl="1"/>
            <a:r>
              <a:rPr lang="zh-TW" altLang="en-US" dirty="0"/>
              <a:t>淹沒廠房</a:t>
            </a:r>
          </a:p>
          <a:p>
            <a:pPr lvl="1"/>
            <a:r>
              <a:rPr lang="zh-TW" altLang="en-US" dirty="0"/>
              <a:t>趁其不備快速行動</a:t>
            </a:r>
          </a:p>
          <a:p>
            <a:pPr lvl="1"/>
            <a:r>
              <a:rPr lang="zh-TW" altLang="en-US" dirty="0"/>
              <a:t>停止供電</a:t>
            </a:r>
          </a:p>
          <a:p>
            <a:pPr lvl="1"/>
            <a:r>
              <a:rPr lang="zh-TW" altLang="en-US" dirty="0"/>
              <a:t>埋惡意程式碼</a:t>
            </a:r>
          </a:p>
          <a:p>
            <a:pPr lvl="1"/>
            <a:r>
              <a:rPr lang="zh-TW" altLang="en-US" dirty="0">
                <a:sym typeface="Monotype Sorts" charset="2"/>
              </a:rPr>
              <a:t>透過</a:t>
            </a:r>
            <a:r>
              <a:rPr lang="en-US" altLang="ja-JP" dirty="0">
                <a:sym typeface="Monotype Sorts" charset="2"/>
              </a:rPr>
              <a:t>e-mail</a:t>
            </a:r>
            <a:endParaRPr lang="en-US" altLang="zh-TW" dirty="0">
              <a:sym typeface="Monotype Sorts" charset="2"/>
            </a:endParaRPr>
          </a:p>
        </p:txBody>
      </p:sp>
      <p:sp>
        <p:nvSpPr>
          <p:cNvPr id="48130" name="Rectangle 7"/>
          <p:cNvSpPr>
            <a:spLocks noGrp="1" noChangeArrowheads="1"/>
          </p:cNvSpPr>
          <p:nvPr>
            <p:ph type="title"/>
          </p:nvPr>
        </p:nvSpPr>
        <p:spPr>
          <a:xfrm>
            <a:off x="818623" y="131120"/>
            <a:ext cx="7785825" cy="777600"/>
          </a:xfrm>
        </p:spPr>
        <p:txBody>
          <a:bodyPr/>
          <a:lstStyle/>
          <a:p>
            <a:r>
              <a:rPr lang="zh-TW" altLang="en-US" dirty="0"/>
              <a:t>攻擊手法</a:t>
            </a:r>
          </a:p>
        </p:txBody>
      </p:sp>
      <p:sp>
        <p:nvSpPr>
          <p:cNvPr id="2" name="矩形 1"/>
          <p:cNvSpPr/>
          <p:nvPr/>
        </p:nvSpPr>
        <p:spPr>
          <a:xfrm>
            <a:off x="4128603" y="5157192"/>
            <a:ext cx="4493538" cy="830997"/>
          </a:xfrm>
          <a:prstGeom prst="rect">
            <a:avLst/>
          </a:prstGeom>
          <a:solidFill>
            <a:schemeClr val="accent5"/>
          </a:solidFill>
        </p:spPr>
        <p:txBody>
          <a:bodyPr wrap="none">
            <a:spAutoFit/>
          </a:bodyPr>
          <a:lstStyle/>
          <a:p>
            <a:r>
              <a:rPr lang="zh-TW" altLang="en-US" sz="2400" dirty="0" smtClean="0"/>
              <a:t>關於攻擊手法的經典框架可參閱</a:t>
            </a:r>
            <a:endParaRPr lang="en-US" altLang="zh-TW" sz="2400" dirty="0" smtClean="0"/>
          </a:p>
          <a:p>
            <a:r>
              <a:rPr lang="en-US" altLang="zh-TW" sz="2400" dirty="0" smtClean="0"/>
              <a:t>MITRE</a:t>
            </a:r>
            <a:r>
              <a:rPr lang="zh-TW" altLang="en-US" sz="2400" dirty="0" smtClean="0"/>
              <a:t> </a:t>
            </a:r>
            <a:r>
              <a:rPr lang="en-US" altLang="zh-TW" sz="2400" dirty="0" smtClean="0"/>
              <a:t>ATT&amp;CK</a:t>
            </a:r>
            <a:endParaRPr lang="zh-TW" altLang="en-US" sz="2400" dirty="0"/>
          </a:p>
        </p:txBody>
      </p:sp>
    </p:spTree>
    <p:extLst>
      <p:ext uri="{BB962C8B-B14F-4D97-AF65-F5344CB8AC3E}">
        <p14:creationId xmlns:p14="http://schemas.microsoft.com/office/powerpoint/2010/main" val="150917084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323528" y="1124744"/>
            <a:ext cx="8231262" cy="2448272"/>
          </a:xfrm>
        </p:spPr>
        <p:txBody>
          <a:bodyPr/>
          <a:lstStyle/>
          <a:p>
            <a:r>
              <a:rPr lang="en-US" altLang="zh-TW" sz="2000" dirty="0"/>
              <a:t>MITRE ATT&amp;CK ®</a:t>
            </a:r>
            <a:r>
              <a:rPr lang="zh-TW" altLang="en-US" sz="2000" dirty="0"/>
              <a:t>是一個</a:t>
            </a:r>
            <a:r>
              <a:rPr lang="zh-TW" altLang="en-US" sz="2000" dirty="0" smtClean="0"/>
              <a:t>全球著名的</a:t>
            </a:r>
            <a:r>
              <a:rPr lang="zh-TW" altLang="en-US" sz="2000" dirty="0"/>
              <a:t>攻擊者戰術和技術知識庫。</a:t>
            </a:r>
          </a:p>
          <a:p>
            <a:r>
              <a:rPr lang="en-US" altLang="zh-TW" sz="2000" dirty="0"/>
              <a:t>ATT&amp;CK </a:t>
            </a:r>
            <a:r>
              <a:rPr lang="zh-TW" altLang="en-US" sz="2000" dirty="0" smtClean="0"/>
              <a:t>常被用作各公私營</a:t>
            </a:r>
            <a:r>
              <a:rPr lang="zh-TW" altLang="en-US" sz="2000" dirty="0"/>
              <a:t>部門、政府以及網路安全產品和服務社群開發特定威脅模型和方法的基礎。</a:t>
            </a:r>
          </a:p>
          <a:p>
            <a:r>
              <a:rPr lang="en-US" altLang="zh-TW" sz="2000" dirty="0" smtClean="0"/>
              <a:t>ATT&amp;CK </a:t>
            </a:r>
            <a:r>
              <a:rPr lang="zh-TW" altLang="en-US" sz="2000" dirty="0"/>
              <a:t>是開放的，可供任何個人或組織免費使用</a:t>
            </a:r>
            <a:r>
              <a:rPr lang="zh-TW" altLang="en-US" sz="2000" dirty="0" smtClean="0"/>
              <a:t>。</a:t>
            </a:r>
            <a:endParaRPr lang="en-US" altLang="zh-TW" sz="2000" dirty="0" smtClean="0"/>
          </a:p>
          <a:p>
            <a:r>
              <a:rPr lang="en-US" altLang="zh-TW" sz="2000" dirty="0" smtClean="0"/>
              <a:t>MITRE ATT&amp;CK ®</a:t>
            </a:r>
            <a:r>
              <a:rPr lang="zh-TW" altLang="en-US" sz="2000" dirty="0" smtClean="0"/>
              <a:t>以</a:t>
            </a:r>
            <a:r>
              <a:rPr lang="en-US" altLang="zh-TW" sz="2000" dirty="0" smtClean="0"/>
              <a:t>Tactics, </a:t>
            </a:r>
            <a:r>
              <a:rPr lang="en-US" altLang="zh-TW" sz="2000" dirty="0"/>
              <a:t>Techniques, and Procedures (TTP</a:t>
            </a:r>
            <a:r>
              <a:rPr lang="en-US" altLang="zh-TW" sz="2000" dirty="0" smtClean="0"/>
              <a:t>)</a:t>
            </a:r>
            <a:r>
              <a:rPr lang="zh-TW" altLang="en-US" sz="2000" dirty="0"/>
              <a:t>來描述威脅行動者的攻擊模式或</a:t>
            </a:r>
            <a:r>
              <a:rPr lang="zh-TW" altLang="en-US" sz="2000" dirty="0" smtClean="0"/>
              <a:t>特徵</a:t>
            </a:r>
            <a:endParaRPr lang="zh-TW" altLang="en-US" sz="2000" dirty="0"/>
          </a:p>
        </p:txBody>
      </p:sp>
      <p:sp>
        <p:nvSpPr>
          <p:cNvPr id="3" name="標題 2"/>
          <p:cNvSpPr>
            <a:spLocks noGrp="1"/>
          </p:cNvSpPr>
          <p:nvPr>
            <p:ph type="title"/>
          </p:nvPr>
        </p:nvSpPr>
        <p:spPr/>
        <p:txBody>
          <a:bodyPr/>
          <a:lstStyle/>
          <a:p>
            <a:r>
              <a:rPr lang="en-US" altLang="zh-TW" dirty="0"/>
              <a:t>MITRE ATT&amp;CK</a:t>
            </a:r>
            <a:r>
              <a:rPr lang="zh-TW" altLang="en-US" dirty="0" smtClean="0"/>
              <a:t>框架</a:t>
            </a:r>
            <a:r>
              <a:rPr lang="en-US" altLang="zh-TW" dirty="0" smtClean="0"/>
              <a:t>(1/6)</a:t>
            </a:r>
            <a:endParaRPr lang="zh-TW" altLang="en-US" dirty="0"/>
          </a:p>
        </p:txBody>
      </p:sp>
      <p:graphicFrame>
        <p:nvGraphicFramePr>
          <p:cNvPr id="4" name="表格 3"/>
          <p:cNvGraphicFramePr>
            <a:graphicFrameLocks noGrp="1"/>
          </p:cNvGraphicFramePr>
          <p:nvPr>
            <p:extLst/>
          </p:nvPr>
        </p:nvGraphicFramePr>
        <p:xfrm>
          <a:off x="539552" y="3717032"/>
          <a:ext cx="7497792" cy="1651000"/>
        </p:xfrm>
        <a:graphic>
          <a:graphicData uri="http://schemas.openxmlformats.org/drawingml/2006/table">
            <a:tbl>
              <a:tblPr firstRow="1" bandRow="1"/>
              <a:tblGrid>
                <a:gridCol w="1872208">
                  <a:extLst>
                    <a:ext uri="{9D8B030D-6E8A-4147-A177-3AD203B41FA5}">
                      <a16:colId xmlns:a16="http://schemas.microsoft.com/office/drawing/2014/main" val="3772797214"/>
                    </a:ext>
                  </a:extLst>
                </a:gridCol>
                <a:gridCol w="5625584">
                  <a:extLst>
                    <a:ext uri="{9D8B030D-6E8A-4147-A177-3AD203B41FA5}">
                      <a16:colId xmlns:a16="http://schemas.microsoft.com/office/drawing/2014/main" val="890177208"/>
                    </a:ext>
                  </a:extLst>
                </a:gridCol>
              </a:tblGrid>
              <a:tr h="370840">
                <a:tc>
                  <a:txBody>
                    <a:bodyPr/>
                    <a:lstStyle>
                      <a:lvl1pPr marL="0" algn="l" defTabSz="914395" rtl="0" eaLnBrk="1" latinLnBrk="0" hangingPunct="1">
                        <a:defRPr sz="1800" b="1" kern="1200">
                          <a:solidFill>
                            <a:schemeClr val="lt1"/>
                          </a:solidFill>
                          <a:latin typeface="Calibri" panose="020F0502020204030204"/>
                        </a:defRPr>
                      </a:lvl1pPr>
                      <a:lvl2pPr marL="457197" algn="l" defTabSz="914395" rtl="0" eaLnBrk="1" latinLnBrk="0" hangingPunct="1">
                        <a:defRPr sz="1800" b="1" kern="1200">
                          <a:solidFill>
                            <a:schemeClr val="lt1"/>
                          </a:solidFill>
                          <a:latin typeface="Calibri" panose="020F0502020204030204"/>
                        </a:defRPr>
                      </a:lvl2pPr>
                      <a:lvl3pPr marL="914395" algn="l" defTabSz="914395" rtl="0" eaLnBrk="1" latinLnBrk="0" hangingPunct="1">
                        <a:defRPr sz="1800" b="1" kern="1200">
                          <a:solidFill>
                            <a:schemeClr val="lt1"/>
                          </a:solidFill>
                          <a:latin typeface="Calibri" panose="020F0502020204030204"/>
                        </a:defRPr>
                      </a:lvl3pPr>
                      <a:lvl4pPr marL="1371592" algn="l" defTabSz="914395" rtl="0" eaLnBrk="1" latinLnBrk="0" hangingPunct="1">
                        <a:defRPr sz="1800" b="1" kern="1200">
                          <a:solidFill>
                            <a:schemeClr val="lt1"/>
                          </a:solidFill>
                          <a:latin typeface="Calibri" panose="020F0502020204030204"/>
                        </a:defRPr>
                      </a:lvl4pPr>
                      <a:lvl5pPr marL="1828789" algn="l" defTabSz="914395" rtl="0" eaLnBrk="1" latinLnBrk="0" hangingPunct="1">
                        <a:defRPr sz="1800" b="1" kern="1200">
                          <a:solidFill>
                            <a:schemeClr val="lt1"/>
                          </a:solidFill>
                          <a:latin typeface="Calibri" panose="020F0502020204030204"/>
                        </a:defRPr>
                      </a:lvl5pPr>
                      <a:lvl6pPr marL="2285987" algn="l" defTabSz="914395" rtl="0" eaLnBrk="1" latinLnBrk="0" hangingPunct="1">
                        <a:defRPr sz="1800" b="1" kern="1200">
                          <a:solidFill>
                            <a:schemeClr val="lt1"/>
                          </a:solidFill>
                          <a:latin typeface="Calibri" panose="020F0502020204030204"/>
                        </a:defRPr>
                      </a:lvl6pPr>
                      <a:lvl7pPr marL="2743184" algn="l" defTabSz="914395" rtl="0" eaLnBrk="1" latinLnBrk="0" hangingPunct="1">
                        <a:defRPr sz="1800" b="1" kern="1200">
                          <a:solidFill>
                            <a:schemeClr val="lt1"/>
                          </a:solidFill>
                          <a:latin typeface="Calibri" panose="020F0502020204030204"/>
                        </a:defRPr>
                      </a:lvl7pPr>
                      <a:lvl8pPr marL="3200381" algn="l" defTabSz="914395" rtl="0" eaLnBrk="1" latinLnBrk="0" hangingPunct="1">
                        <a:defRPr sz="1800" b="1" kern="1200">
                          <a:solidFill>
                            <a:schemeClr val="lt1"/>
                          </a:solidFill>
                          <a:latin typeface="Calibri" panose="020F0502020204030204"/>
                        </a:defRPr>
                      </a:lvl8pPr>
                      <a:lvl9pPr marL="3657579" algn="l" defTabSz="914395" rtl="0" eaLnBrk="1" latinLnBrk="0" hangingPunct="1">
                        <a:defRPr sz="1800" b="1" kern="1200">
                          <a:solidFill>
                            <a:schemeClr val="lt1"/>
                          </a:solidFill>
                          <a:latin typeface="Calibri" panose="020F0502020204030204"/>
                        </a:defRPr>
                      </a:lvl9pPr>
                    </a:lstStyle>
                    <a:p>
                      <a:r>
                        <a:rPr lang="zh-TW" altLang="en-US" b="1" dirty="0" smtClean="0">
                          <a:solidFill>
                            <a:schemeClr val="tx1"/>
                          </a:solidFill>
                          <a:effectLst>
                            <a:outerShdw blurRad="38100" dist="38100" dir="2700000" algn="tl">
                              <a:srgbClr val="000000">
                                <a:alpha val="43137"/>
                              </a:srgbClr>
                            </a:outerShdw>
                          </a:effectLst>
                        </a:rPr>
                        <a:t>戰術</a:t>
                      </a:r>
                      <a:r>
                        <a:rPr lang="en-US" altLang="zh-TW" b="1" dirty="0" smtClean="0">
                          <a:solidFill>
                            <a:schemeClr val="tx1"/>
                          </a:solidFill>
                          <a:effectLst>
                            <a:outerShdw blurRad="38100" dist="38100" dir="2700000" algn="tl">
                              <a:srgbClr val="000000">
                                <a:alpha val="43137"/>
                              </a:srgbClr>
                            </a:outerShdw>
                          </a:effectLst>
                        </a:rPr>
                        <a:t>(tactic)</a:t>
                      </a:r>
                      <a:endParaRPr lang="zh-TW" altLang="en-US" b="1" dirty="0">
                        <a:solidFill>
                          <a:schemeClr val="tx1"/>
                        </a:solidFill>
                        <a:effectLst>
                          <a:outerShdw blurRad="38100" dist="38100" dir="2700000" algn="tl">
                            <a:srgbClr val="000000">
                              <a:alpha val="43137"/>
                            </a:srgbClr>
                          </a:outerShdw>
                        </a:effectLst>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395" rtl="0" eaLnBrk="1" latinLnBrk="0" hangingPunct="1">
                        <a:defRPr sz="1800" b="1" kern="1200">
                          <a:solidFill>
                            <a:schemeClr val="lt1"/>
                          </a:solidFill>
                          <a:latin typeface="Calibri" panose="020F0502020204030204"/>
                        </a:defRPr>
                      </a:lvl1pPr>
                      <a:lvl2pPr marL="457197" algn="l" defTabSz="914395" rtl="0" eaLnBrk="1" latinLnBrk="0" hangingPunct="1">
                        <a:defRPr sz="1800" b="1" kern="1200">
                          <a:solidFill>
                            <a:schemeClr val="lt1"/>
                          </a:solidFill>
                          <a:latin typeface="Calibri" panose="020F0502020204030204"/>
                        </a:defRPr>
                      </a:lvl2pPr>
                      <a:lvl3pPr marL="914395" algn="l" defTabSz="914395" rtl="0" eaLnBrk="1" latinLnBrk="0" hangingPunct="1">
                        <a:defRPr sz="1800" b="1" kern="1200">
                          <a:solidFill>
                            <a:schemeClr val="lt1"/>
                          </a:solidFill>
                          <a:latin typeface="Calibri" panose="020F0502020204030204"/>
                        </a:defRPr>
                      </a:lvl3pPr>
                      <a:lvl4pPr marL="1371592" algn="l" defTabSz="914395" rtl="0" eaLnBrk="1" latinLnBrk="0" hangingPunct="1">
                        <a:defRPr sz="1800" b="1" kern="1200">
                          <a:solidFill>
                            <a:schemeClr val="lt1"/>
                          </a:solidFill>
                          <a:latin typeface="Calibri" panose="020F0502020204030204"/>
                        </a:defRPr>
                      </a:lvl4pPr>
                      <a:lvl5pPr marL="1828789" algn="l" defTabSz="914395" rtl="0" eaLnBrk="1" latinLnBrk="0" hangingPunct="1">
                        <a:defRPr sz="1800" b="1" kern="1200">
                          <a:solidFill>
                            <a:schemeClr val="lt1"/>
                          </a:solidFill>
                          <a:latin typeface="Calibri" panose="020F0502020204030204"/>
                        </a:defRPr>
                      </a:lvl5pPr>
                      <a:lvl6pPr marL="2285987" algn="l" defTabSz="914395" rtl="0" eaLnBrk="1" latinLnBrk="0" hangingPunct="1">
                        <a:defRPr sz="1800" b="1" kern="1200">
                          <a:solidFill>
                            <a:schemeClr val="lt1"/>
                          </a:solidFill>
                          <a:latin typeface="Calibri" panose="020F0502020204030204"/>
                        </a:defRPr>
                      </a:lvl6pPr>
                      <a:lvl7pPr marL="2743184" algn="l" defTabSz="914395" rtl="0" eaLnBrk="1" latinLnBrk="0" hangingPunct="1">
                        <a:defRPr sz="1800" b="1" kern="1200">
                          <a:solidFill>
                            <a:schemeClr val="lt1"/>
                          </a:solidFill>
                          <a:latin typeface="Calibri" panose="020F0502020204030204"/>
                        </a:defRPr>
                      </a:lvl7pPr>
                      <a:lvl8pPr marL="3200381" algn="l" defTabSz="914395" rtl="0" eaLnBrk="1" latinLnBrk="0" hangingPunct="1">
                        <a:defRPr sz="1800" b="1" kern="1200">
                          <a:solidFill>
                            <a:schemeClr val="lt1"/>
                          </a:solidFill>
                          <a:latin typeface="Calibri" panose="020F0502020204030204"/>
                        </a:defRPr>
                      </a:lvl8pPr>
                      <a:lvl9pPr marL="3657579" algn="l" defTabSz="914395" rtl="0" eaLnBrk="1" latinLnBrk="0" hangingPunct="1">
                        <a:defRPr sz="1800" b="1" kern="1200">
                          <a:solidFill>
                            <a:schemeClr val="lt1"/>
                          </a:solidFill>
                          <a:latin typeface="Calibri" panose="020F0502020204030204"/>
                        </a:defRPr>
                      </a:lvl9pPr>
                    </a:lstStyle>
                    <a:p>
                      <a:r>
                        <a:rPr lang="zh-TW" altLang="en-US" b="1" dirty="0" smtClean="0">
                          <a:solidFill>
                            <a:schemeClr val="tx1"/>
                          </a:solidFill>
                          <a:effectLst>
                            <a:outerShdw blurRad="38100" dist="38100" dir="2700000" algn="tl">
                              <a:srgbClr val="000000">
                                <a:alpha val="43137"/>
                              </a:srgbClr>
                            </a:outerShdw>
                          </a:effectLst>
                        </a:rPr>
                        <a:t>以宏觀層次描述描述網路攻擊</a:t>
                      </a:r>
                      <a:endParaRPr lang="en-US" altLang="zh-TW" b="1" dirty="0" smtClean="0">
                        <a:solidFill>
                          <a:schemeClr val="tx1"/>
                        </a:solidFill>
                        <a:effectLst>
                          <a:outerShdw blurRad="38100" dist="38100" dir="2700000" algn="tl">
                            <a:srgbClr val="000000">
                              <a:alpha val="43137"/>
                            </a:srgbClr>
                          </a:outerShdw>
                        </a:effectLst>
                      </a:endParaRPr>
                    </a:p>
                    <a:p>
                      <a:pPr marL="0" marR="0" indent="0" algn="l" defTabSz="914395" rtl="0" eaLnBrk="1" fontAlgn="auto" latinLnBrk="0" hangingPunct="1">
                        <a:lnSpc>
                          <a:spcPct val="100000"/>
                        </a:lnSpc>
                        <a:spcBef>
                          <a:spcPts val="0"/>
                        </a:spcBef>
                        <a:spcAft>
                          <a:spcPts val="0"/>
                        </a:spcAft>
                        <a:buClrTx/>
                        <a:buSzTx/>
                        <a:buFontTx/>
                        <a:buNone/>
                        <a:tabLst/>
                        <a:defRPr/>
                      </a:pPr>
                      <a:r>
                        <a:rPr lang="en-US" altLang="zh-TW" b="1" dirty="0" smtClean="0">
                          <a:solidFill>
                            <a:schemeClr val="tx1"/>
                          </a:solidFill>
                          <a:effectLst>
                            <a:outerShdw blurRad="38100" dist="38100" dir="2700000" algn="tl">
                              <a:srgbClr val="000000">
                                <a:alpha val="43137"/>
                              </a:srgbClr>
                            </a:outerShdw>
                          </a:effectLst>
                        </a:rPr>
                        <a:t>ATT&amp;CK v18</a:t>
                      </a:r>
                      <a:r>
                        <a:rPr lang="zh-TW" altLang="en-US" b="1" dirty="0" smtClean="0">
                          <a:solidFill>
                            <a:schemeClr val="tx1"/>
                          </a:solidFill>
                          <a:effectLst>
                            <a:outerShdw blurRad="38100" dist="38100" dir="2700000" algn="tl">
                              <a:srgbClr val="000000">
                                <a:alpha val="43137"/>
                              </a:srgbClr>
                            </a:outerShdw>
                          </a:effectLst>
                        </a:rPr>
                        <a:t>版列出</a:t>
                      </a:r>
                      <a:r>
                        <a:rPr lang="en-US" altLang="zh-TW" b="1" dirty="0" smtClean="0">
                          <a:solidFill>
                            <a:schemeClr val="tx1"/>
                          </a:solidFill>
                          <a:effectLst>
                            <a:outerShdw blurRad="38100" dist="38100" dir="2700000" algn="tl">
                              <a:srgbClr val="000000">
                                <a:alpha val="43137"/>
                              </a:srgbClr>
                            </a:outerShdw>
                          </a:effectLst>
                        </a:rPr>
                        <a:t>14</a:t>
                      </a:r>
                      <a:r>
                        <a:rPr lang="zh-TW" altLang="en-US" b="1" dirty="0" smtClean="0">
                          <a:solidFill>
                            <a:schemeClr val="tx1"/>
                          </a:solidFill>
                          <a:effectLst>
                            <a:outerShdw blurRad="38100" dist="38100" dir="2700000" algn="tl">
                              <a:srgbClr val="000000">
                                <a:alpha val="43137"/>
                              </a:srgbClr>
                            </a:outerShdw>
                          </a:effectLst>
                        </a:rPr>
                        <a:t>大類的戰術</a:t>
                      </a:r>
                      <a:r>
                        <a:rPr lang="en-US" altLang="zh-TW" b="1" dirty="0" smtClean="0">
                          <a:solidFill>
                            <a:schemeClr val="tx1"/>
                          </a:solidFill>
                          <a:effectLst>
                            <a:outerShdw blurRad="38100" dist="38100" dir="2700000" algn="tl">
                              <a:srgbClr val="000000">
                                <a:alpha val="43137"/>
                              </a:srgbClr>
                            </a:outerShdw>
                          </a:effectLst>
                        </a:rPr>
                        <a:t>(tactic)</a:t>
                      </a:r>
                      <a:r>
                        <a:rPr lang="zh-TW" altLang="en-US" b="1" dirty="0">
                          <a:solidFill>
                            <a:schemeClr val="tx1"/>
                          </a:solidFill>
                          <a:effectLst>
                            <a:outerShdw blurRad="38100" dist="38100" dir="2700000" algn="tl">
                              <a:srgbClr val="000000">
                                <a:alpha val="43137"/>
                              </a:srgbClr>
                            </a:outerShdw>
                          </a:effectLst>
                        </a:rPr>
                        <a:t>類型</a:t>
                      </a:r>
                      <a:endParaRPr lang="zh-TW" altLang="en-US" b="1" dirty="0" smtClean="0">
                        <a:solidFill>
                          <a:schemeClr val="tx1"/>
                        </a:solidFill>
                        <a:effectLst>
                          <a:outerShdw blurRad="38100" dist="38100" dir="2700000" algn="tl">
                            <a:srgbClr val="000000">
                              <a:alpha val="43137"/>
                            </a:srgbClr>
                          </a:outerShdw>
                        </a:effectLst>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458690400"/>
                  </a:ext>
                </a:extLst>
              </a:tr>
              <a:tr h="370840">
                <a:tc>
                  <a:txBody>
                    <a:bodyPr/>
                    <a:lstStyle>
                      <a:lvl1pPr marL="0" algn="l" defTabSz="914395" rtl="0" eaLnBrk="1" latinLnBrk="0" hangingPunct="1">
                        <a:defRPr sz="1800" kern="1200">
                          <a:solidFill>
                            <a:schemeClr val="dk1"/>
                          </a:solidFill>
                          <a:latin typeface="Calibri" panose="020F0502020204030204"/>
                        </a:defRPr>
                      </a:lvl1pPr>
                      <a:lvl2pPr marL="457197" algn="l" defTabSz="914395" rtl="0" eaLnBrk="1" latinLnBrk="0" hangingPunct="1">
                        <a:defRPr sz="1800" kern="1200">
                          <a:solidFill>
                            <a:schemeClr val="dk1"/>
                          </a:solidFill>
                          <a:latin typeface="Calibri" panose="020F0502020204030204"/>
                        </a:defRPr>
                      </a:lvl2pPr>
                      <a:lvl3pPr marL="914395" algn="l" defTabSz="914395" rtl="0" eaLnBrk="1" latinLnBrk="0" hangingPunct="1">
                        <a:defRPr sz="1800" kern="1200">
                          <a:solidFill>
                            <a:schemeClr val="dk1"/>
                          </a:solidFill>
                          <a:latin typeface="Calibri" panose="020F0502020204030204"/>
                        </a:defRPr>
                      </a:lvl3pPr>
                      <a:lvl4pPr marL="1371592" algn="l" defTabSz="914395" rtl="0" eaLnBrk="1" latinLnBrk="0" hangingPunct="1">
                        <a:defRPr sz="1800" kern="1200">
                          <a:solidFill>
                            <a:schemeClr val="dk1"/>
                          </a:solidFill>
                          <a:latin typeface="Calibri" panose="020F0502020204030204"/>
                        </a:defRPr>
                      </a:lvl4pPr>
                      <a:lvl5pPr marL="1828789" algn="l" defTabSz="914395" rtl="0" eaLnBrk="1" latinLnBrk="0" hangingPunct="1">
                        <a:defRPr sz="1800" kern="1200">
                          <a:solidFill>
                            <a:schemeClr val="dk1"/>
                          </a:solidFill>
                          <a:latin typeface="Calibri" panose="020F0502020204030204"/>
                        </a:defRPr>
                      </a:lvl5pPr>
                      <a:lvl6pPr marL="2285987" algn="l" defTabSz="914395" rtl="0" eaLnBrk="1" latinLnBrk="0" hangingPunct="1">
                        <a:defRPr sz="1800" kern="1200">
                          <a:solidFill>
                            <a:schemeClr val="dk1"/>
                          </a:solidFill>
                          <a:latin typeface="Calibri" panose="020F0502020204030204"/>
                        </a:defRPr>
                      </a:lvl6pPr>
                      <a:lvl7pPr marL="2743184" algn="l" defTabSz="914395" rtl="0" eaLnBrk="1" latinLnBrk="0" hangingPunct="1">
                        <a:defRPr sz="1800" kern="1200">
                          <a:solidFill>
                            <a:schemeClr val="dk1"/>
                          </a:solidFill>
                          <a:latin typeface="Calibri" panose="020F0502020204030204"/>
                        </a:defRPr>
                      </a:lvl7pPr>
                      <a:lvl8pPr marL="3200381" algn="l" defTabSz="914395" rtl="0" eaLnBrk="1" latinLnBrk="0" hangingPunct="1">
                        <a:defRPr sz="1800" kern="1200">
                          <a:solidFill>
                            <a:schemeClr val="dk1"/>
                          </a:solidFill>
                          <a:latin typeface="Calibri" panose="020F0502020204030204"/>
                        </a:defRPr>
                      </a:lvl8pPr>
                      <a:lvl9pPr marL="3657579" algn="l" defTabSz="914395" rtl="0" eaLnBrk="1" latinLnBrk="0" hangingPunct="1">
                        <a:defRPr sz="1800" kern="1200">
                          <a:solidFill>
                            <a:schemeClr val="dk1"/>
                          </a:solidFill>
                          <a:latin typeface="Calibri" panose="020F0502020204030204"/>
                        </a:defRPr>
                      </a:lvl9pPr>
                    </a:lstStyle>
                    <a:p>
                      <a:r>
                        <a:rPr lang="zh-TW" altLang="en-US" b="1" dirty="0" smtClean="0">
                          <a:solidFill>
                            <a:schemeClr val="tx1"/>
                          </a:solidFill>
                          <a:effectLst>
                            <a:outerShdw blurRad="38100" dist="38100" dir="2700000" algn="tl">
                              <a:srgbClr val="000000">
                                <a:alpha val="43137"/>
                              </a:srgbClr>
                            </a:outerShdw>
                          </a:effectLst>
                        </a:rPr>
                        <a:t>戰技</a:t>
                      </a:r>
                      <a:r>
                        <a:rPr lang="en-US" altLang="zh-TW" b="1" dirty="0" smtClean="0">
                          <a:solidFill>
                            <a:schemeClr val="tx1"/>
                          </a:solidFill>
                          <a:effectLst>
                            <a:outerShdw blurRad="38100" dist="38100" dir="2700000" algn="tl">
                              <a:srgbClr val="000000">
                                <a:alpha val="43137"/>
                              </a:srgbClr>
                            </a:outerShdw>
                          </a:effectLst>
                        </a:rPr>
                        <a:t>(technique)</a:t>
                      </a:r>
                      <a:endParaRPr lang="zh-TW" altLang="en-US" b="1" dirty="0">
                        <a:solidFill>
                          <a:schemeClr val="tx1"/>
                        </a:solidFill>
                        <a:effectLst>
                          <a:outerShdw blurRad="38100" dist="38100" dir="2700000" algn="tl">
                            <a:srgbClr val="000000">
                              <a:alpha val="43137"/>
                            </a:srgbClr>
                          </a:outerShdw>
                        </a:effectLst>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395" rtl="0" eaLnBrk="1" latinLnBrk="0" hangingPunct="1">
                        <a:defRPr sz="1800" kern="1200">
                          <a:solidFill>
                            <a:schemeClr val="dk1"/>
                          </a:solidFill>
                          <a:latin typeface="Calibri" panose="020F0502020204030204"/>
                        </a:defRPr>
                      </a:lvl1pPr>
                      <a:lvl2pPr marL="457197" algn="l" defTabSz="914395" rtl="0" eaLnBrk="1" latinLnBrk="0" hangingPunct="1">
                        <a:defRPr sz="1800" kern="1200">
                          <a:solidFill>
                            <a:schemeClr val="dk1"/>
                          </a:solidFill>
                          <a:latin typeface="Calibri" panose="020F0502020204030204"/>
                        </a:defRPr>
                      </a:lvl2pPr>
                      <a:lvl3pPr marL="914395" algn="l" defTabSz="914395" rtl="0" eaLnBrk="1" latinLnBrk="0" hangingPunct="1">
                        <a:defRPr sz="1800" kern="1200">
                          <a:solidFill>
                            <a:schemeClr val="dk1"/>
                          </a:solidFill>
                          <a:latin typeface="Calibri" panose="020F0502020204030204"/>
                        </a:defRPr>
                      </a:lvl3pPr>
                      <a:lvl4pPr marL="1371592" algn="l" defTabSz="914395" rtl="0" eaLnBrk="1" latinLnBrk="0" hangingPunct="1">
                        <a:defRPr sz="1800" kern="1200">
                          <a:solidFill>
                            <a:schemeClr val="dk1"/>
                          </a:solidFill>
                          <a:latin typeface="Calibri" panose="020F0502020204030204"/>
                        </a:defRPr>
                      </a:lvl4pPr>
                      <a:lvl5pPr marL="1828789" algn="l" defTabSz="914395" rtl="0" eaLnBrk="1" latinLnBrk="0" hangingPunct="1">
                        <a:defRPr sz="1800" kern="1200">
                          <a:solidFill>
                            <a:schemeClr val="dk1"/>
                          </a:solidFill>
                          <a:latin typeface="Calibri" panose="020F0502020204030204"/>
                        </a:defRPr>
                      </a:lvl5pPr>
                      <a:lvl6pPr marL="2285987" algn="l" defTabSz="914395" rtl="0" eaLnBrk="1" latinLnBrk="0" hangingPunct="1">
                        <a:defRPr sz="1800" kern="1200">
                          <a:solidFill>
                            <a:schemeClr val="dk1"/>
                          </a:solidFill>
                          <a:latin typeface="Calibri" panose="020F0502020204030204"/>
                        </a:defRPr>
                      </a:lvl6pPr>
                      <a:lvl7pPr marL="2743184" algn="l" defTabSz="914395" rtl="0" eaLnBrk="1" latinLnBrk="0" hangingPunct="1">
                        <a:defRPr sz="1800" kern="1200">
                          <a:solidFill>
                            <a:schemeClr val="dk1"/>
                          </a:solidFill>
                          <a:latin typeface="Calibri" panose="020F0502020204030204"/>
                        </a:defRPr>
                      </a:lvl7pPr>
                      <a:lvl8pPr marL="3200381" algn="l" defTabSz="914395" rtl="0" eaLnBrk="1" latinLnBrk="0" hangingPunct="1">
                        <a:defRPr sz="1800" kern="1200">
                          <a:solidFill>
                            <a:schemeClr val="dk1"/>
                          </a:solidFill>
                          <a:latin typeface="Calibri" panose="020F0502020204030204"/>
                        </a:defRPr>
                      </a:lvl8pPr>
                      <a:lvl9pPr marL="3657579" algn="l" defTabSz="914395"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solidFill>
                            <a:schemeClr val="tx1"/>
                          </a:solidFill>
                          <a:effectLst>
                            <a:outerShdw blurRad="38100" dist="38100" dir="2700000" algn="tl">
                              <a:srgbClr val="000000">
                                <a:alpha val="43137"/>
                              </a:srgbClr>
                            </a:outerShdw>
                          </a:effectLst>
                        </a:rPr>
                        <a:t>比戰術的細節更多，提供完整的脈絡</a:t>
                      </a:r>
                      <a:endParaRPr lang="en-US" altLang="zh-TW" b="1" dirty="0" smtClean="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solidFill>
                            <a:schemeClr val="tx1"/>
                          </a:solidFill>
                          <a:effectLst>
                            <a:outerShdw blurRad="38100" dist="38100" dir="2700000" algn="tl">
                              <a:srgbClr val="000000">
                                <a:alpha val="43137"/>
                              </a:srgbClr>
                            </a:outerShdw>
                          </a:effectLst>
                        </a:rPr>
                        <a:t>不同戰術有不同的戰技</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1368135483"/>
                  </a:ext>
                </a:extLst>
              </a:tr>
              <a:tr h="370840">
                <a:tc>
                  <a:txBody>
                    <a:bodyPr/>
                    <a:lstStyle>
                      <a:lvl1pPr marL="0" algn="l" defTabSz="914395" rtl="0" eaLnBrk="1" latinLnBrk="0" hangingPunct="1">
                        <a:defRPr sz="1800" kern="1200">
                          <a:solidFill>
                            <a:schemeClr val="dk1"/>
                          </a:solidFill>
                          <a:latin typeface="Calibri" panose="020F0502020204030204"/>
                        </a:defRPr>
                      </a:lvl1pPr>
                      <a:lvl2pPr marL="457197" algn="l" defTabSz="914395" rtl="0" eaLnBrk="1" latinLnBrk="0" hangingPunct="1">
                        <a:defRPr sz="1800" kern="1200">
                          <a:solidFill>
                            <a:schemeClr val="dk1"/>
                          </a:solidFill>
                          <a:latin typeface="Calibri" panose="020F0502020204030204"/>
                        </a:defRPr>
                      </a:lvl2pPr>
                      <a:lvl3pPr marL="914395" algn="l" defTabSz="914395" rtl="0" eaLnBrk="1" latinLnBrk="0" hangingPunct="1">
                        <a:defRPr sz="1800" kern="1200">
                          <a:solidFill>
                            <a:schemeClr val="dk1"/>
                          </a:solidFill>
                          <a:latin typeface="Calibri" panose="020F0502020204030204"/>
                        </a:defRPr>
                      </a:lvl3pPr>
                      <a:lvl4pPr marL="1371592" algn="l" defTabSz="914395" rtl="0" eaLnBrk="1" latinLnBrk="0" hangingPunct="1">
                        <a:defRPr sz="1800" kern="1200">
                          <a:solidFill>
                            <a:schemeClr val="dk1"/>
                          </a:solidFill>
                          <a:latin typeface="Calibri" panose="020F0502020204030204"/>
                        </a:defRPr>
                      </a:lvl4pPr>
                      <a:lvl5pPr marL="1828789" algn="l" defTabSz="914395" rtl="0" eaLnBrk="1" latinLnBrk="0" hangingPunct="1">
                        <a:defRPr sz="1800" kern="1200">
                          <a:solidFill>
                            <a:schemeClr val="dk1"/>
                          </a:solidFill>
                          <a:latin typeface="Calibri" panose="020F0502020204030204"/>
                        </a:defRPr>
                      </a:lvl5pPr>
                      <a:lvl6pPr marL="2285987" algn="l" defTabSz="914395" rtl="0" eaLnBrk="1" latinLnBrk="0" hangingPunct="1">
                        <a:defRPr sz="1800" kern="1200">
                          <a:solidFill>
                            <a:schemeClr val="dk1"/>
                          </a:solidFill>
                          <a:latin typeface="Calibri" panose="020F0502020204030204"/>
                        </a:defRPr>
                      </a:lvl6pPr>
                      <a:lvl7pPr marL="2743184" algn="l" defTabSz="914395" rtl="0" eaLnBrk="1" latinLnBrk="0" hangingPunct="1">
                        <a:defRPr sz="1800" kern="1200">
                          <a:solidFill>
                            <a:schemeClr val="dk1"/>
                          </a:solidFill>
                          <a:latin typeface="Calibri" panose="020F0502020204030204"/>
                        </a:defRPr>
                      </a:lvl7pPr>
                      <a:lvl8pPr marL="3200381" algn="l" defTabSz="914395" rtl="0" eaLnBrk="1" latinLnBrk="0" hangingPunct="1">
                        <a:defRPr sz="1800" kern="1200">
                          <a:solidFill>
                            <a:schemeClr val="dk1"/>
                          </a:solidFill>
                          <a:latin typeface="Calibri" panose="020F0502020204030204"/>
                        </a:defRPr>
                      </a:lvl8pPr>
                      <a:lvl9pPr marL="3657579" algn="l" defTabSz="914395" rtl="0" eaLnBrk="1" latinLnBrk="0" hangingPunct="1">
                        <a:defRPr sz="1800" kern="1200">
                          <a:solidFill>
                            <a:schemeClr val="dk1"/>
                          </a:solidFill>
                          <a:latin typeface="Calibri" panose="020F0502020204030204"/>
                        </a:defRPr>
                      </a:lvl9pPr>
                    </a:lstStyle>
                    <a:p>
                      <a:r>
                        <a:rPr lang="zh-TW" altLang="en-US" b="1" dirty="0" smtClean="0">
                          <a:solidFill>
                            <a:schemeClr val="tx1"/>
                          </a:solidFill>
                          <a:effectLst>
                            <a:outerShdw blurRad="38100" dist="38100" dir="2700000" algn="tl">
                              <a:srgbClr val="000000">
                                <a:alpha val="43137"/>
                              </a:srgbClr>
                            </a:outerShdw>
                          </a:effectLst>
                        </a:rPr>
                        <a:t>程序</a:t>
                      </a:r>
                      <a:r>
                        <a:rPr lang="en-US" altLang="zh-TW" b="1" dirty="0" smtClean="0">
                          <a:solidFill>
                            <a:schemeClr val="tx1"/>
                          </a:solidFill>
                          <a:effectLst>
                            <a:outerShdw blurRad="38100" dist="38100" dir="2700000" algn="tl">
                              <a:srgbClr val="000000">
                                <a:alpha val="43137"/>
                              </a:srgbClr>
                            </a:outerShdw>
                          </a:effectLst>
                        </a:rPr>
                        <a:t>(procedure)</a:t>
                      </a:r>
                      <a:endParaRPr lang="zh-TW" altLang="en-US" b="1" dirty="0">
                        <a:solidFill>
                          <a:schemeClr val="tx1"/>
                        </a:solidFill>
                        <a:effectLst>
                          <a:outerShdw blurRad="38100" dist="38100" dir="2700000" algn="tl">
                            <a:srgbClr val="000000">
                              <a:alpha val="43137"/>
                            </a:srgbClr>
                          </a:outerShdw>
                        </a:effectLst>
                      </a:endParaRP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tc>
                  <a:txBody>
                    <a:bodyPr/>
                    <a:lstStyle>
                      <a:lvl1pPr marL="0" algn="l" defTabSz="914395" rtl="0" eaLnBrk="1" latinLnBrk="0" hangingPunct="1">
                        <a:defRPr sz="1800" kern="1200">
                          <a:solidFill>
                            <a:schemeClr val="dk1"/>
                          </a:solidFill>
                          <a:latin typeface="Calibri" panose="020F0502020204030204"/>
                        </a:defRPr>
                      </a:lvl1pPr>
                      <a:lvl2pPr marL="457197" algn="l" defTabSz="914395" rtl="0" eaLnBrk="1" latinLnBrk="0" hangingPunct="1">
                        <a:defRPr sz="1800" kern="1200">
                          <a:solidFill>
                            <a:schemeClr val="dk1"/>
                          </a:solidFill>
                          <a:latin typeface="Calibri" panose="020F0502020204030204"/>
                        </a:defRPr>
                      </a:lvl2pPr>
                      <a:lvl3pPr marL="914395" algn="l" defTabSz="914395" rtl="0" eaLnBrk="1" latinLnBrk="0" hangingPunct="1">
                        <a:defRPr sz="1800" kern="1200">
                          <a:solidFill>
                            <a:schemeClr val="dk1"/>
                          </a:solidFill>
                          <a:latin typeface="Calibri" panose="020F0502020204030204"/>
                        </a:defRPr>
                      </a:lvl3pPr>
                      <a:lvl4pPr marL="1371592" algn="l" defTabSz="914395" rtl="0" eaLnBrk="1" latinLnBrk="0" hangingPunct="1">
                        <a:defRPr sz="1800" kern="1200">
                          <a:solidFill>
                            <a:schemeClr val="dk1"/>
                          </a:solidFill>
                          <a:latin typeface="Calibri" panose="020F0502020204030204"/>
                        </a:defRPr>
                      </a:lvl4pPr>
                      <a:lvl5pPr marL="1828789" algn="l" defTabSz="914395" rtl="0" eaLnBrk="1" latinLnBrk="0" hangingPunct="1">
                        <a:defRPr sz="1800" kern="1200">
                          <a:solidFill>
                            <a:schemeClr val="dk1"/>
                          </a:solidFill>
                          <a:latin typeface="Calibri" panose="020F0502020204030204"/>
                        </a:defRPr>
                      </a:lvl5pPr>
                      <a:lvl6pPr marL="2285987" algn="l" defTabSz="914395" rtl="0" eaLnBrk="1" latinLnBrk="0" hangingPunct="1">
                        <a:defRPr sz="1800" kern="1200">
                          <a:solidFill>
                            <a:schemeClr val="dk1"/>
                          </a:solidFill>
                          <a:latin typeface="Calibri" panose="020F0502020204030204"/>
                        </a:defRPr>
                      </a:lvl6pPr>
                      <a:lvl7pPr marL="2743184" algn="l" defTabSz="914395" rtl="0" eaLnBrk="1" latinLnBrk="0" hangingPunct="1">
                        <a:defRPr sz="1800" kern="1200">
                          <a:solidFill>
                            <a:schemeClr val="dk1"/>
                          </a:solidFill>
                          <a:latin typeface="Calibri" panose="020F0502020204030204"/>
                        </a:defRPr>
                      </a:lvl7pPr>
                      <a:lvl8pPr marL="3200381" algn="l" defTabSz="914395" rtl="0" eaLnBrk="1" latinLnBrk="0" hangingPunct="1">
                        <a:defRPr sz="1800" kern="1200">
                          <a:solidFill>
                            <a:schemeClr val="dk1"/>
                          </a:solidFill>
                          <a:latin typeface="Calibri" panose="020F0502020204030204"/>
                        </a:defRPr>
                      </a:lvl8pPr>
                      <a:lvl9pPr marL="3657579" algn="l" defTabSz="914395" rtl="0" eaLnBrk="1" latinLnBrk="0" hangingPunct="1">
                        <a:defRPr sz="1800" kern="1200">
                          <a:solidFill>
                            <a:schemeClr val="dk1"/>
                          </a:solidFill>
                          <a:latin typeface="Calibri" panose="020F050202020403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b="1" dirty="0" smtClean="0">
                          <a:solidFill>
                            <a:schemeClr val="tx1"/>
                          </a:solidFill>
                          <a:effectLst>
                            <a:outerShdw blurRad="38100" dist="38100" dir="2700000" algn="tl">
                              <a:srgbClr val="000000">
                                <a:alpha val="43137"/>
                              </a:srgbClr>
                            </a:outerShdw>
                          </a:effectLst>
                        </a:rPr>
                        <a:t>說明完整的攻擊過程，較技巧所提供的資訊更詳細</a:t>
                      </a:r>
                    </a:p>
                  </a:txBody>
                  <a:tcP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ysClr val="window" lastClr="FFFFFF"/>
                    </a:solidFill>
                  </a:tcPr>
                </a:tc>
                <a:extLst>
                  <a:ext uri="{0D108BD9-81ED-4DB2-BD59-A6C34878D82A}">
                    <a16:rowId xmlns:a16="http://schemas.microsoft.com/office/drawing/2014/main" val="3912575292"/>
                  </a:ext>
                </a:extLst>
              </a:tr>
            </a:tbl>
          </a:graphicData>
        </a:graphic>
      </p:graphicFrame>
      <p:sp>
        <p:nvSpPr>
          <p:cNvPr id="5" name="矩形 4"/>
          <p:cNvSpPr/>
          <p:nvPr/>
        </p:nvSpPr>
        <p:spPr>
          <a:xfrm>
            <a:off x="971600" y="5733256"/>
            <a:ext cx="4477764" cy="369332"/>
          </a:xfrm>
          <a:prstGeom prst="rect">
            <a:avLst/>
          </a:prstGeom>
        </p:spPr>
        <p:txBody>
          <a:bodyPr wrap="non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23205738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MITRE</a:t>
            </a:r>
            <a:r>
              <a:rPr lang="zh-TW" altLang="en-US" dirty="0"/>
              <a:t> </a:t>
            </a:r>
            <a:r>
              <a:rPr lang="en-US" altLang="zh-TW" dirty="0"/>
              <a:t>ATT&amp;CK</a:t>
            </a:r>
            <a:r>
              <a:rPr lang="zh-TW" altLang="en-US" dirty="0" smtClean="0"/>
              <a:t>框架</a:t>
            </a:r>
            <a:r>
              <a:rPr lang="en-US" altLang="zh-TW" dirty="0" smtClean="0"/>
              <a:t>(2/6</a:t>
            </a:r>
            <a:r>
              <a:rPr lang="en-US" altLang="zh-TW" dirty="0"/>
              <a:t>)</a:t>
            </a:r>
            <a:endParaRPr lang="zh-TW" altLang="en-US" dirty="0"/>
          </a:p>
        </p:txBody>
      </p:sp>
      <p:graphicFrame>
        <p:nvGraphicFramePr>
          <p:cNvPr id="5" name="表格 4"/>
          <p:cNvGraphicFramePr>
            <a:graphicFrameLocks noGrp="1"/>
          </p:cNvGraphicFramePr>
          <p:nvPr>
            <p:extLst/>
          </p:nvPr>
        </p:nvGraphicFramePr>
        <p:xfrm>
          <a:off x="251520" y="1700808"/>
          <a:ext cx="8712968" cy="4272592"/>
        </p:xfrm>
        <a:graphic>
          <a:graphicData uri="http://schemas.openxmlformats.org/drawingml/2006/table">
            <a:tbl>
              <a:tblPr/>
              <a:tblGrid>
                <a:gridCol w="360040">
                  <a:extLst>
                    <a:ext uri="{9D8B030D-6E8A-4147-A177-3AD203B41FA5}">
                      <a16:colId xmlns:a16="http://schemas.microsoft.com/office/drawing/2014/main" val="2118769187"/>
                    </a:ext>
                  </a:extLst>
                </a:gridCol>
                <a:gridCol w="2304256">
                  <a:extLst>
                    <a:ext uri="{9D8B030D-6E8A-4147-A177-3AD203B41FA5}">
                      <a16:colId xmlns:a16="http://schemas.microsoft.com/office/drawing/2014/main" val="1904019370"/>
                    </a:ext>
                  </a:extLst>
                </a:gridCol>
                <a:gridCol w="3096344">
                  <a:extLst>
                    <a:ext uri="{9D8B030D-6E8A-4147-A177-3AD203B41FA5}">
                      <a16:colId xmlns:a16="http://schemas.microsoft.com/office/drawing/2014/main" val="3350823063"/>
                    </a:ext>
                  </a:extLst>
                </a:gridCol>
                <a:gridCol w="2952328">
                  <a:extLst>
                    <a:ext uri="{9D8B030D-6E8A-4147-A177-3AD203B41FA5}">
                      <a16:colId xmlns:a16="http://schemas.microsoft.com/office/drawing/2014/main" val="3849821156"/>
                    </a:ext>
                  </a:extLst>
                </a:gridCol>
              </a:tblGrid>
              <a:tr h="191402">
                <a:tc>
                  <a:txBody>
                    <a:bodyPr/>
                    <a:lstStyle/>
                    <a:p>
                      <a:pPr algn="r"/>
                      <a:endParaRPr lang="zh-TW" altLang="en-US" sz="18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戰術（中 </a:t>
                      </a:r>
                      <a:r>
                        <a:rPr lang="en-US" altLang="zh-TW" sz="1800" dirty="0"/>
                        <a:t>/ </a:t>
                      </a:r>
                      <a:r>
                        <a:rPr lang="en-US" sz="1800" dirty="0"/>
                        <a:t>EN）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簡短說明</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常見範例</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6863398"/>
                  </a:ext>
                </a:extLst>
              </a:tr>
              <a:tr h="355461">
                <a:tc>
                  <a:txBody>
                    <a:bodyPr/>
                    <a:lstStyle/>
                    <a:p>
                      <a:pPr algn="r"/>
                      <a:r>
                        <a:rPr lang="en-US" altLang="zh-TW" sz="1800"/>
                        <a:t>1</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前期偵查 </a:t>
                      </a:r>
                      <a:r>
                        <a:rPr lang="en-US" altLang="zh-TW" sz="1800" dirty="0"/>
                        <a:t>/ </a:t>
                      </a:r>
                      <a:r>
                        <a:rPr lang="en-US" sz="1800" dirty="0"/>
                        <a:t>Reconnaissance</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攻擊前的公開或被動情資蒐集，以了解目標。</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公司網站、社群媒體</a:t>
                      </a:r>
                      <a:r>
                        <a:rPr lang="zh-TW" altLang="en-US" sz="1800" dirty="0" smtClean="0"/>
                        <a:t>、</a:t>
                      </a:r>
                      <a:endParaRPr lang="zh-TW" altLang="en-US" sz="18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49405575"/>
                  </a:ext>
                </a:extLst>
              </a:tr>
              <a:tr h="355461">
                <a:tc>
                  <a:txBody>
                    <a:bodyPr/>
                    <a:lstStyle/>
                    <a:p>
                      <a:pPr algn="r"/>
                      <a:r>
                        <a:rPr lang="en-US" altLang="zh-TW" sz="1800"/>
                        <a:t>2</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資源開發 </a:t>
                      </a:r>
                      <a:r>
                        <a:rPr lang="en-US" altLang="zh-TW" sz="1800"/>
                        <a:t>/ </a:t>
                      </a:r>
                      <a:r>
                        <a:rPr lang="en-US" sz="1800"/>
                        <a:t>Resource Development</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攻擊者準備或建立攻擊所需資源與基礎設施。</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註冊域名、購買</a:t>
                      </a:r>
                      <a:r>
                        <a:rPr lang="en-US" altLang="zh-TW" sz="1800" dirty="0" smtClean="0"/>
                        <a:t>C2</a:t>
                      </a:r>
                      <a:endParaRPr lang="zh-TW" altLang="en-US" sz="18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75015092"/>
                  </a:ext>
                </a:extLst>
              </a:tr>
              <a:tr h="437491">
                <a:tc>
                  <a:txBody>
                    <a:bodyPr/>
                    <a:lstStyle/>
                    <a:p>
                      <a:pPr algn="r"/>
                      <a:r>
                        <a:rPr lang="en-US" altLang="zh-TW" sz="1800"/>
                        <a:t>3</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初始存取 </a:t>
                      </a:r>
                      <a:r>
                        <a:rPr lang="en-US" altLang="zh-TW" sz="1800" dirty="0"/>
                        <a:t>/ </a:t>
                      </a:r>
                      <a:r>
                        <a:rPr lang="en-US" sz="1800" dirty="0"/>
                        <a:t>Initial Access</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取得進入目標環境或系統的首次存取點。</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釣魚（</a:t>
                      </a:r>
                      <a:r>
                        <a:rPr lang="en-US" altLang="zh-TW" sz="1800"/>
                        <a:t>Phishing</a:t>
                      </a:r>
                      <a:r>
                        <a:rPr lang="zh-TW" altLang="en-US" sz="1800"/>
                        <a:t>）、公開服務漏洞利用、有效帳號</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1333422"/>
                  </a:ext>
                </a:extLst>
              </a:tr>
              <a:tr h="355461">
                <a:tc>
                  <a:txBody>
                    <a:bodyPr/>
                    <a:lstStyle/>
                    <a:p>
                      <a:pPr algn="r"/>
                      <a:r>
                        <a:rPr lang="en-US" altLang="zh-TW" sz="1800"/>
                        <a:t>4</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執行 </a:t>
                      </a:r>
                      <a:r>
                        <a:rPr lang="en-US" altLang="zh-TW" sz="1800" dirty="0"/>
                        <a:t>/ </a:t>
                      </a:r>
                      <a:r>
                        <a:rPr lang="en-US" sz="1800" dirty="0"/>
                        <a:t>Execution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在受害主機上執行惡意程式碼或指令以取得控制。</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TW" sz="1800"/>
                        <a:t>PowerShell</a:t>
                      </a:r>
                      <a:r>
                        <a:rPr lang="zh-TW" altLang="en-US" sz="1800"/>
                        <a:t>、腳本執行、下載並執行檔案</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98002920"/>
                  </a:ext>
                </a:extLst>
              </a:tr>
              <a:tr h="355461">
                <a:tc>
                  <a:txBody>
                    <a:bodyPr/>
                    <a:lstStyle/>
                    <a:p>
                      <a:pPr algn="r"/>
                      <a:r>
                        <a:rPr lang="en-US" altLang="zh-TW" sz="1800"/>
                        <a:t>5</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持續性 </a:t>
                      </a:r>
                      <a:r>
                        <a:rPr lang="en-US" altLang="zh-TW" sz="1800" dirty="0"/>
                        <a:t>/ </a:t>
                      </a:r>
                      <a:r>
                        <a:rPr lang="en-US" sz="1800" dirty="0"/>
                        <a:t>Persistence</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建立或維持長期存取機制，重啟後仍能再存取。</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啟動項、排程任務、服務安裝</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20675144"/>
                  </a:ext>
                </a:extLst>
              </a:tr>
              <a:tr h="273432">
                <a:tc>
                  <a:txBody>
                    <a:bodyPr/>
                    <a:lstStyle/>
                    <a:p>
                      <a:pPr algn="r"/>
                      <a:r>
                        <a:rPr lang="en-US" altLang="zh-TW" sz="1800"/>
                        <a:t>6</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a:t>權限提升 </a:t>
                      </a:r>
                      <a:r>
                        <a:rPr lang="en-US" altLang="zh-TW" sz="1800" dirty="0"/>
                        <a:t>/ </a:t>
                      </a:r>
                      <a:r>
                        <a:rPr lang="en-US" sz="1800" dirty="0"/>
                        <a:t>Privilege Escalation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取得更高權限以擴大控制範圍與能力。</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利用漏洞提權、憑證濫用</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4170788"/>
                  </a:ext>
                </a:extLst>
              </a:tr>
              <a:tr h="355461">
                <a:tc>
                  <a:txBody>
                    <a:bodyPr/>
                    <a:lstStyle/>
                    <a:p>
                      <a:pPr algn="r"/>
                      <a:r>
                        <a:rPr lang="en-US" altLang="zh-TW" sz="1600"/>
                        <a:t>7</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防禦迴避 </a:t>
                      </a:r>
                      <a:r>
                        <a:rPr lang="en-US" altLang="zh-TW" sz="1600"/>
                        <a:t>/ </a:t>
                      </a:r>
                      <a:r>
                        <a:rPr lang="en-US" sz="1600"/>
                        <a:t>Defense Evasion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規避偵測或清除痕跡以延長滲透時間。</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混淆、加殼、刪除日誌、停用安全工具</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1315552"/>
                  </a:ext>
                </a:extLst>
              </a:tr>
            </a:tbl>
          </a:graphicData>
        </a:graphic>
      </p:graphicFrame>
      <p:sp>
        <p:nvSpPr>
          <p:cNvPr id="2" name="矩形 1"/>
          <p:cNvSpPr/>
          <p:nvPr/>
        </p:nvSpPr>
        <p:spPr>
          <a:xfrm>
            <a:off x="251520" y="1088050"/>
            <a:ext cx="6048672" cy="461665"/>
          </a:xfrm>
          <a:prstGeom prst="rect">
            <a:avLst/>
          </a:prstGeom>
        </p:spPr>
        <p:txBody>
          <a:bodyPr wrap="square">
            <a:spAutoFit/>
          </a:bodyPr>
          <a:lstStyle/>
          <a:p>
            <a:r>
              <a:rPr lang="en-US" altLang="zh-TW" sz="2400" dirty="0"/>
              <a:t>ATT&amp;CK v18</a:t>
            </a:r>
            <a:r>
              <a:rPr lang="zh-TW" altLang="en-US" sz="2400" dirty="0" smtClean="0"/>
              <a:t>版</a:t>
            </a:r>
            <a:r>
              <a:rPr lang="en-US" altLang="zh-TW" sz="2400" dirty="0" smtClean="0"/>
              <a:t>14</a:t>
            </a:r>
            <a:r>
              <a:rPr lang="zh-TW" altLang="en-US" sz="2400" dirty="0"/>
              <a:t>大類的戰術</a:t>
            </a:r>
            <a:r>
              <a:rPr lang="en-US" altLang="zh-TW" sz="2400" dirty="0"/>
              <a:t>(tactic)</a:t>
            </a:r>
            <a:r>
              <a:rPr lang="zh-TW" altLang="en-US" sz="2400" dirty="0"/>
              <a:t>類型</a:t>
            </a:r>
          </a:p>
        </p:txBody>
      </p:sp>
      <p:sp>
        <p:nvSpPr>
          <p:cNvPr id="6" name="矩形 5"/>
          <p:cNvSpPr/>
          <p:nvPr/>
        </p:nvSpPr>
        <p:spPr>
          <a:xfrm>
            <a:off x="7164288" y="598148"/>
            <a:ext cx="1800200" cy="923330"/>
          </a:xfrm>
          <a:prstGeom prst="rect">
            <a:avLst/>
          </a:prstGeom>
          <a:solidFill>
            <a:schemeClr val="accent5"/>
          </a:solidFill>
        </p:spPr>
        <p:txBody>
          <a:bodyPr wrap="squar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425929109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標題 2"/>
          <p:cNvSpPr>
            <a:spLocks noGrp="1"/>
          </p:cNvSpPr>
          <p:nvPr>
            <p:ph type="title"/>
          </p:nvPr>
        </p:nvSpPr>
        <p:spPr/>
        <p:txBody>
          <a:bodyPr/>
          <a:lstStyle/>
          <a:p>
            <a:r>
              <a:rPr lang="en-US" altLang="zh-TW" dirty="0"/>
              <a:t>MITRE</a:t>
            </a:r>
            <a:r>
              <a:rPr lang="zh-TW" altLang="en-US" dirty="0"/>
              <a:t> </a:t>
            </a:r>
            <a:r>
              <a:rPr lang="en-US" altLang="zh-TW" dirty="0"/>
              <a:t>ATT&amp;CK</a:t>
            </a:r>
            <a:r>
              <a:rPr lang="zh-TW" altLang="en-US" dirty="0" smtClean="0"/>
              <a:t>框架</a:t>
            </a:r>
            <a:r>
              <a:rPr lang="en-US" altLang="zh-TW" dirty="0" smtClean="0"/>
              <a:t>(3/6</a:t>
            </a:r>
            <a:r>
              <a:rPr lang="en-US" altLang="zh-TW" dirty="0"/>
              <a:t>)</a:t>
            </a:r>
            <a:endParaRPr lang="zh-TW" altLang="en-US" dirty="0"/>
          </a:p>
        </p:txBody>
      </p:sp>
      <p:graphicFrame>
        <p:nvGraphicFramePr>
          <p:cNvPr id="5" name="表格 4"/>
          <p:cNvGraphicFramePr>
            <a:graphicFrameLocks noGrp="1"/>
          </p:cNvGraphicFramePr>
          <p:nvPr>
            <p:extLst/>
          </p:nvPr>
        </p:nvGraphicFramePr>
        <p:xfrm>
          <a:off x="179512" y="1916832"/>
          <a:ext cx="8712968" cy="4120192"/>
        </p:xfrm>
        <a:graphic>
          <a:graphicData uri="http://schemas.openxmlformats.org/drawingml/2006/table">
            <a:tbl>
              <a:tblPr/>
              <a:tblGrid>
                <a:gridCol w="360040">
                  <a:extLst>
                    <a:ext uri="{9D8B030D-6E8A-4147-A177-3AD203B41FA5}">
                      <a16:colId xmlns:a16="http://schemas.microsoft.com/office/drawing/2014/main" val="2118769187"/>
                    </a:ext>
                  </a:extLst>
                </a:gridCol>
                <a:gridCol w="2088232">
                  <a:extLst>
                    <a:ext uri="{9D8B030D-6E8A-4147-A177-3AD203B41FA5}">
                      <a16:colId xmlns:a16="http://schemas.microsoft.com/office/drawing/2014/main" val="1904019370"/>
                    </a:ext>
                  </a:extLst>
                </a:gridCol>
                <a:gridCol w="3096344">
                  <a:extLst>
                    <a:ext uri="{9D8B030D-6E8A-4147-A177-3AD203B41FA5}">
                      <a16:colId xmlns:a16="http://schemas.microsoft.com/office/drawing/2014/main" val="3350823063"/>
                    </a:ext>
                  </a:extLst>
                </a:gridCol>
                <a:gridCol w="3168352">
                  <a:extLst>
                    <a:ext uri="{9D8B030D-6E8A-4147-A177-3AD203B41FA5}">
                      <a16:colId xmlns:a16="http://schemas.microsoft.com/office/drawing/2014/main" val="3849821156"/>
                    </a:ext>
                  </a:extLst>
                </a:gridCol>
              </a:tblGrid>
              <a:tr h="191402">
                <a:tc>
                  <a:txBody>
                    <a:bodyPr/>
                    <a:lstStyle/>
                    <a:p>
                      <a:pPr algn="r"/>
                      <a:endParaRPr lang="zh-TW" altLang="en-US" sz="16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戰術（中 </a:t>
                      </a:r>
                      <a:r>
                        <a:rPr lang="en-US" altLang="zh-TW" sz="1600" dirty="0"/>
                        <a:t>/ </a:t>
                      </a:r>
                      <a:r>
                        <a:rPr lang="en-US" sz="1600" dirty="0"/>
                        <a:t>EN）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簡短說明</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常見範例</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6863398"/>
                  </a:ext>
                </a:extLst>
              </a:tr>
              <a:tr h="273432">
                <a:tc>
                  <a:txBody>
                    <a:bodyPr/>
                    <a:lstStyle/>
                    <a:p>
                      <a:pPr algn="r"/>
                      <a:r>
                        <a:rPr lang="en-US" altLang="zh-TW" sz="1600" dirty="0"/>
                        <a:t>8</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憑證存取 </a:t>
                      </a:r>
                      <a:r>
                        <a:rPr lang="en-US" altLang="zh-TW" sz="1600"/>
                        <a:t>/ </a:t>
                      </a:r>
                      <a:r>
                        <a:rPr lang="en-US" sz="1600"/>
                        <a:t>Credential Access</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竊取或取得帳號、密碼、令牌等憑證。</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密碼抓取、側</a:t>
                      </a:r>
                      <a:r>
                        <a:rPr lang="zh-TW" altLang="en-US" sz="1600" dirty="0" smtClean="0"/>
                        <a:t>錄</a:t>
                      </a:r>
                      <a:endParaRPr lang="zh-TW" altLang="en-US" sz="16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25703084"/>
                  </a:ext>
                </a:extLst>
              </a:tr>
              <a:tr h="355461">
                <a:tc>
                  <a:txBody>
                    <a:bodyPr/>
                    <a:lstStyle/>
                    <a:p>
                      <a:pPr algn="r"/>
                      <a:r>
                        <a:rPr lang="en-US" altLang="zh-TW" sz="1600"/>
                        <a:t>9</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偵察 </a:t>
                      </a:r>
                      <a:r>
                        <a:rPr lang="en-US" altLang="zh-TW" sz="1600"/>
                        <a:t>/ </a:t>
                      </a:r>
                      <a:r>
                        <a:rPr lang="en-US" sz="1600"/>
                        <a:t>Discovery</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侵入後在內部環境偵測資產、網路與使用者資訊。</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網路掃描、列出系統</a:t>
                      </a:r>
                      <a:r>
                        <a:rPr lang="en-US" altLang="zh-TW" sz="1600" dirty="0"/>
                        <a:t>/</a:t>
                      </a:r>
                      <a:r>
                        <a:rPr lang="zh-TW" altLang="en-US" sz="1600" dirty="0"/>
                        <a:t>服務、帳號枚舉</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5253742"/>
                  </a:ext>
                </a:extLst>
              </a:tr>
              <a:tr h="355461">
                <a:tc>
                  <a:txBody>
                    <a:bodyPr/>
                    <a:lstStyle/>
                    <a:p>
                      <a:pPr algn="r"/>
                      <a:r>
                        <a:rPr lang="en-US" altLang="zh-TW" sz="1600"/>
                        <a:t>10</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橫向移動 </a:t>
                      </a:r>
                      <a:r>
                        <a:rPr lang="en-US" altLang="zh-TW" sz="1600"/>
                        <a:t>/ </a:t>
                      </a:r>
                      <a:r>
                        <a:rPr lang="en-US" sz="1600"/>
                        <a:t>Lateral Movement</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從一台主機擴散到其他主機或系統以擴大存取。</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遠端服務（</a:t>
                      </a:r>
                      <a:r>
                        <a:rPr lang="en-US" altLang="zh-TW" sz="1600" dirty="0"/>
                        <a:t>RDP/SMB</a:t>
                      </a:r>
                      <a:r>
                        <a:rPr lang="zh-TW" altLang="en-US" sz="1600" dirty="0"/>
                        <a:t>）、遠端憑證使用</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8126088"/>
                  </a:ext>
                </a:extLst>
              </a:tr>
              <a:tr h="355461">
                <a:tc>
                  <a:txBody>
                    <a:bodyPr/>
                    <a:lstStyle/>
                    <a:p>
                      <a:pPr algn="r"/>
                      <a:r>
                        <a:rPr lang="en-US" altLang="zh-TW" sz="1600"/>
                        <a:t>11</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資料收集 </a:t>
                      </a:r>
                      <a:r>
                        <a:rPr lang="en-US" altLang="zh-TW" sz="1600"/>
                        <a:t>/ </a:t>
                      </a:r>
                      <a:r>
                        <a:rPr lang="en-US" sz="1600"/>
                        <a:t>Collection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收集敏感或有利用價值的資料以利外洩或攻擊目的。</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檔案搜尋、截圖、鍵盤記錄</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44255718"/>
                  </a:ext>
                </a:extLst>
              </a:tr>
              <a:tr h="355461">
                <a:tc>
                  <a:txBody>
                    <a:bodyPr/>
                    <a:lstStyle/>
                    <a:p>
                      <a:pPr algn="r"/>
                      <a:r>
                        <a:rPr lang="en-US" altLang="zh-TW" sz="1600"/>
                        <a:t>12</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資料外洩 </a:t>
                      </a:r>
                      <a:r>
                        <a:rPr lang="en-US" altLang="zh-TW" sz="1600"/>
                        <a:t>/ </a:t>
                      </a:r>
                      <a:r>
                        <a:rPr lang="en-US" sz="1600"/>
                        <a:t>Exfiltration</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將已收集的資料傳出到攻擊者控制的外部位置。</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TW" sz="1600" dirty="0"/>
                        <a:t>HTTP </a:t>
                      </a:r>
                      <a:r>
                        <a:rPr lang="zh-TW" altLang="en-US" sz="1600" dirty="0"/>
                        <a:t>上傳、</a:t>
                      </a:r>
                      <a:r>
                        <a:rPr lang="en-US" altLang="zh-TW" sz="1600" dirty="0"/>
                        <a:t>DNS </a:t>
                      </a:r>
                      <a:r>
                        <a:rPr lang="zh-TW" altLang="en-US" sz="1600" dirty="0"/>
                        <a:t>隧道、雲端儲存上傳</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58131767"/>
                  </a:ext>
                </a:extLst>
              </a:tr>
              <a:tr h="355461">
                <a:tc>
                  <a:txBody>
                    <a:bodyPr/>
                    <a:lstStyle/>
                    <a:p>
                      <a:pPr algn="r"/>
                      <a:r>
                        <a:rPr lang="en-US" altLang="zh-TW" sz="1600"/>
                        <a:t>13</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指揮與控制 </a:t>
                      </a:r>
                      <a:r>
                        <a:rPr lang="en-US" altLang="zh-TW" sz="1600"/>
                        <a:t>/ </a:t>
                      </a:r>
                      <a:r>
                        <a:rPr lang="en-US" sz="1600"/>
                        <a:t>Command and Control (C2)</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與受控主機維持通訊以下達命令與接收回傳。</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TW" sz="1600" dirty="0"/>
                        <a:t>HTTP/HTTPS C2</a:t>
                      </a:r>
                      <a:r>
                        <a:rPr lang="zh-TW" altLang="en-US" sz="1600" dirty="0"/>
                        <a:t>、</a:t>
                      </a:r>
                      <a:r>
                        <a:rPr lang="en-US" altLang="zh-TW" sz="1600" dirty="0"/>
                        <a:t>DNS </a:t>
                      </a:r>
                      <a:r>
                        <a:rPr lang="en-US" altLang="zh-TW" sz="1600" dirty="0" smtClean="0"/>
                        <a:t>C2</a:t>
                      </a:r>
                      <a:endParaRPr lang="zh-TW" altLang="en-US" sz="16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829858"/>
                  </a:ext>
                </a:extLst>
              </a:tr>
              <a:tr h="355461">
                <a:tc>
                  <a:txBody>
                    <a:bodyPr/>
                    <a:lstStyle/>
                    <a:p>
                      <a:pPr algn="r"/>
                      <a:r>
                        <a:rPr lang="en-US" altLang="zh-TW" sz="1600"/>
                        <a:t>14</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破壞</a:t>
                      </a:r>
                      <a:r>
                        <a:rPr lang="en-US" altLang="zh-TW" sz="1600" dirty="0"/>
                        <a:t>/</a:t>
                      </a:r>
                      <a:r>
                        <a:rPr lang="zh-TW" altLang="en-US" sz="1600" dirty="0"/>
                        <a:t>影響 </a:t>
                      </a:r>
                      <a:r>
                        <a:rPr lang="en-US" altLang="zh-TW" sz="1600" dirty="0"/>
                        <a:t>/ </a:t>
                      </a:r>
                      <a:r>
                        <a:rPr lang="en-US" sz="1600" dirty="0"/>
                        <a:t>Impact</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對系統</a:t>
                      </a:r>
                      <a:r>
                        <a:rPr lang="en-US" altLang="zh-TW" sz="1600"/>
                        <a:t>/</a:t>
                      </a:r>
                      <a:r>
                        <a:rPr lang="zh-TW" altLang="en-US" sz="1600"/>
                        <a:t>資料可用性或完整性造成直接破壞或影響。</a:t>
                      </a:r>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勒索加密、資料刪除</a:t>
                      </a:r>
                      <a:r>
                        <a:rPr lang="zh-TW" altLang="en-US" sz="1600" dirty="0" smtClean="0"/>
                        <a:t>、</a:t>
                      </a:r>
                      <a:r>
                        <a:rPr lang="en-US" altLang="zh-TW" sz="1600" dirty="0" err="1" smtClean="0"/>
                        <a:t>DoS</a:t>
                      </a:r>
                      <a:endParaRPr lang="zh-TW" altLang="en-US" sz="1600" dirty="0"/>
                    </a:p>
                  </a:txBody>
                  <a:tcPr marL="27343" marR="27343" marT="13672" marB="13672"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681315552"/>
                  </a:ext>
                </a:extLst>
              </a:tr>
            </a:tbl>
          </a:graphicData>
        </a:graphic>
      </p:graphicFrame>
      <p:sp>
        <p:nvSpPr>
          <p:cNvPr id="7" name="矩形 6"/>
          <p:cNvSpPr/>
          <p:nvPr/>
        </p:nvSpPr>
        <p:spPr>
          <a:xfrm>
            <a:off x="196213" y="1149421"/>
            <a:ext cx="6048672" cy="461665"/>
          </a:xfrm>
          <a:prstGeom prst="rect">
            <a:avLst/>
          </a:prstGeom>
        </p:spPr>
        <p:txBody>
          <a:bodyPr wrap="square">
            <a:spAutoFit/>
          </a:bodyPr>
          <a:lstStyle/>
          <a:p>
            <a:r>
              <a:rPr lang="en-US" altLang="zh-TW" sz="2400" dirty="0"/>
              <a:t>ATT&amp;CK v18</a:t>
            </a:r>
            <a:r>
              <a:rPr lang="zh-TW" altLang="en-US" sz="2400" dirty="0" smtClean="0"/>
              <a:t>版</a:t>
            </a:r>
            <a:r>
              <a:rPr lang="en-US" altLang="zh-TW" sz="2400" dirty="0" smtClean="0"/>
              <a:t>14</a:t>
            </a:r>
            <a:r>
              <a:rPr lang="zh-TW" altLang="en-US" sz="2400" dirty="0"/>
              <a:t>大類的戰術</a:t>
            </a:r>
            <a:r>
              <a:rPr lang="en-US" altLang="zh-TW" sz="2400" dirty="0"/>
              <a:t>(tactic)</a:t>
            </a:r>
            <a:r>
              <a:rPr lang="zh-TW" altLang="en-US" sz="2400" dirty="0"/>
              <a:t>類型</a:t>
            </a:r>
          </a:p>
        </p:txBody>
      </p:sp>
      <p:sp>
        <p:nvSpPr>
          <p:cNvPr id="8" name="矩形 7"/>
          <p:cNvSpPr/>
          <p:nvPr/>
        </p:nvSpPr>
        <p:spPr>
          <a:xfrm>
            <a:off x="7092280" y="687756"/>
            <a:ext cx="1800200" cy="923330"/>
          </a:xfrm>
          <a:prstGeom prst="rect">
            <a:avLst/>
          </a:prstGeom>
          <a:solidFill>
            <a:schemeClr val="accent5"/>
          </a:solidFill>
        </p:spPr>
        <p:txBody>
          <a:bodyPr wrap="squar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16838495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458584" y="1106264"/>
            <a:ext cx="8231262" cy="882576"/>
          </a:xfrm>
        </p:spPr>
        <p:txBody>
          <a:bodyPr/>
          <a:lstStyle/>
          <a:p>
            <a:r>
              <a:rPr lang="en-US" altLang="zh-TW" sz="2000" dirty="0"/>
              <a:t>MITRE </a:t>
            </a:r>
            <a:r>
              <a:rPr lang="en-US" altLang="zh-TW" sz="2000" dirty="0" smtClean="0"/>
              <a:t>ATT&amp;CK</a:t>
            </a:r>
            <a:r>
              <a:rPr lang="zh-TW" altLang="en-US" sz="2000" dirty="0" smtClean="0"/>
              <a:t>的各種戰術有不同的</a:t>
            </a:r>
            <a:r>
              <a:rPr lang="en-US" altLang="zh-TW" sz="2000" dirty="0" smtClean="0"/>
              <a:t>Techniques</a:t>
            </a:r>
          </a:p>
          <a:p>
            <a:r>
              <a:rPr lang="zh-TW" altLang="en-US" sz="2000" dirty="0"/>
              <a:t>底下</a:t>
            </a:r>
            <a:r>
              <a:rPr lang="zh-TW" altLang="en-US" sz="2000" dirty="0" smtClean="0"/>
              <a:t>以</a:t>
            </a:r>
            <a:r>
              <a:rPr lang="en-US" altLang="zh-TW" sz="2000" dirty="0"/>
              <a:t>Impact</a:t>
            </a:r>
            <a:r>
              <a:rPr lang="zh-TW" altLang="en-US" sz="2000" dirty="0"/>
              <a:t>（</a:t>
            </a:r>
            <a:r>
              <a:rPr lang="en-US" altLang="zh-TW" sz="2000" dirty="0"/>
              <a:t>TA0040</a:t>
            </a:r>
            <a:r>
              <a:rPr lang="zh-TW" altLang="en-US" sz="2000" dirty="0"/>
              <a:t>）」</a:t>
            </a:r>
            <a:r>
              <a:rPr lang="zh-TW" altLang="en-US" sz="2000" dirty="0" smtClean="0"/>
              <a:t>戰術中的</a:t>
            </a:r>
            <a:r>
              <a:rPr lang="en-US" altLang="zh-TW" sz="2000" dirty="0"/>
              <a:t>15 </a:t>
            </a:r>
            <a:r>
              <a:rPr lang="zh-TW" altLang="en-US" sz="2000" dirty="0" smtClean="0"/>
              <a:t>項</a:t>
            </a:r>
            <a:r>
              <a:rPr lang="en-US" altLang="zh-TW" sz="2000" dirty="0"/>
              <a:t>Techniques </a:t>
            </a:r>
            <a:r>
              <a:rPr lang="zh-TW" altLang="en-US" sz="2000" dirty="0" smtClean="0"/>
              <a:t>加以介紹</a:t>
            </a:r>
            <a:endParaRPr lang="en-US" altLang="zh-TW" sz="2000" dirty="0" smtClean="0"/>
          </a:p>
        </p:txBody>
      </p:sp>
      <p:sp>
        <p:nvSpPr>
          <p:cNvPr id="3" name="標題 2"/>
          <p:cNvSpPr>
            <a:spLocks noGrp="1"/>
          </p:cNvSpPr>
          <p:nvPr>
            <p:ph type="title"/>
          </p:nvPr>
        </p:nvSpPr>
        <p:spPr/>
        <p:txBody>
          <a:bodyPr/>
          <a:lstStyle/>
          <a:p>
            <a:r>
              <a:rPr lang="en-US" altLang="zh-TW" dirty="0"/>
              <a:t>MITRE</a:t>
            </a:r>
            <a:r>
              <a:rPr lang="zh-TW" altLang="en-US" dirty="0"/>
              <a:t> </a:t>
            </a:r>
            <a:r>
              <a:rPr lang="en-US" altLang="zh-TW" dirty="0"/>
              <a:t>ATT&amp;CK</a:t>
            </a:r>
            <a:r>
              <a:rPr lang="zh-TW" altLang="en-US" dirty="0" smtClean="0"/>
              <a:t>框架</a:t>
            </a:r>
            <a:r>
              <a:rPr lang="en-US" altLang="zh-TW" dirty="0" smtClean="0"/>
              <a:t>(4/6)</a:t>
            </a:r>
            <a:endParaRPr lang="zh-TW" altLang="en-US" dirty="0"/>
          </a:p>
        </p:txBody>
      </p:sp>
      <p:graphicFrame>
        <p:nvGraphicFramePr>
          <p:cNvPr id="4" name="表格 3"/>
          <p:cNvGraphicFramePr>
            <a:graphicFrameLocks noGrp="1"/>
          </p:cNvGraphicFramePr>
          <p:nvPr>
            <p:extLst/>
          </p:nvPr>
        </p:nvGraphicFramePr>
        <p:xfrm>
          <a:off x="332437" y="2060848"/>
          <a:ext cx="8483555" cy="4440444"/>
        </p:xfrm>
        <a:graphic>
          <a:graphicData uri="http://schemas.openxmlformats.org/drawingml/2006/table">
            <a:tbl>
              <a:tblPr/>
              <a:tblGrid>
                <a:gridCol w="346650">
                  <a:extLst>
                    <a:ext uri="{9D8B030D-6E8A-4147-A177-3AD203B41FA5}">
                      <a16:colId xmlns:a16="http://schemas.microsoft.com/office/drawing/2014/main" val="999316573"/>
                    </a:ext>
                  </a:extLst>
                </a:gridCol>
                <a:gridCol w="1440160">
                  <a:extLst>
                    <a:ext uri="{9D8B030D-6E8A-4147-A177-3AD203B41FA5}">
                      <a16:colId xmlns:a16="http://schemas.microsoft.com/office/drawing/2014/main" val="2702800598"/>
                    </a:ext>
                  </a:extLst>
                </a:gridCol>
                <a:gridCol w="2304256">
                  <a:extLst>
                    <a:ext uri="{9D8B030D-6E8A-4147-A177-3AD203B41FA5}">
                      <a16:colId xmlns:a16="http://schemas.microsoft.com/office/drawing/2014/main" val="193421977"/>
                    </a:ext>
                  </a:extLst>
                </a:gridCol>
                <a:gridCol w="2088232">
                  <a:extLst>
                    <a:ext uri="{9D8B030D-6E8A-4147-A177-3AD203B41FA5}">
                      <a16:colId xmlns:a16="http://schemas.microsoft.com/office/drawing/2014/main" val="3778671215"/>
                    </a:ext>
                  </a:extLst>
                </a:gridCol>
                <a:gridCol w="2304257">
                  <a:extLst>
                    <a:ext uri="{9D8B030D-6E8A-4147-A177-3AD203B41FA5}">
                      <a16:colId xmlns:a16="http://schemas.microsoft.com/office/drawing/2014/main" val="2954541929"/>
                    </a:ext>
                  </a:extLst>
                </a:gridCol>
              </a:tblGrid>
              <a:tr h="95440">
                <a:tc>
                  <a:txBody>
                    <a:bodyPr/>
                    <a:lstStyle/>
                    <a:p>
                      <a:pPr algn="l"/>
                      <a:r>
                        <a:rPr lang="en-US" altLang="zh-TW" sz="1800" dirty="0"/>
                        <a:t>#</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dirty="0" smtClean="0"/>
                        <a:t>技術</a:t>
                      </a:r>
                      <a:endParaRPr lang="en-US" sz="18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簡短說明</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常見範例 </a:t>
                      </a:r>
                      <a:r>
                        <a:rPr lang="en-US" altLang="zh-TW" sz="1800"/>
                        <a:t>/ </a:t>
                      </a:r>
                      <a:r>
                        <a:rPr lang="zh-TW" altLang="en-US" sz="1800"/>
                        <a:t>攻擊手法</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800"/>
                        <a:t>簡短緩解或偵測建議</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1063703"/>
                  </a:ext>
                </a:extLst>
              </a:tr>
              <a:tr h="340858">
                <a:tc>
                  <a:txBody>
                    <a:bodyPr/>
                    <a:lstStyle/>
                    <a:p>
                      <a:pPr algn="l"/>
                      <a:r>
                        <a:rPr lang="en-US" altLang="zh-TW" sz="1600" dirty="0"/>
                        <a:t>1</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帳號存取</a:t>
                      </a:r>
                      <a:r>
                        <a:rPr lang="zh-TW" altLang="en-US" sz="1600" b="1" dirty="0" smtClean="0"/>
                        <a:t>移除</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攻擊者刪除或鎖定合法帳號以阻斷正當使用者存取，或更改權限以移除存取能力。</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刪除帳號、變更密碼、撤銷 </a:t>
                      </a:r>
                      <a:r>
                        <a:rPr lang="en-US" altLang="zh-TW" sz="1600" dirty="0"/>
                        <a:t>SaaS </a:t>
                      </a:r>
                      <a:r>
                        <a:rPr lang="zh-TW" altLang="en-US" sz="1600" dirty="0"/>
                        <a:t>權限。</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實作多重管理審批、保留帳號變更日誌並監控異常刪除</a:t>
                      </a:r>
                      <a:r>
                        <a:rPr lang="en-US" altLang="zh-TW" sz="1600" dirty="0"/>
                        <a:t>/</a:t>
                      </a:r>
                      <a:r>
                        <a:rPr lang="zh-TW" altLang="en-US" sz="1600" dirty="0"/>
                        <a:t>變更行為</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59205629"/>
                  </a:ext>
                </a:extLst>
              </a:tr>
              <a:tr h="299955">
                <a:tc>
                  <a:txBody>
                    <a:bodyPr/>
                    <a:lstStyle/>
                    <a:p>
                      <a:pPr algn="l"/>
                      <a:r>
                        <a:rPr lang="en-US" altLang="zh-TW" sz="1600" dirty="0"/>
                        <a:t>2</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資料</a:t>
                      </a:r>
                      <a:r>
                        <a:rPr lang="zh-TW" altLang="en-US" sz="1600" b="1" dirty="0" smtClean="0"/>
                        <a:t>銷毀</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覆寫或刪除資料使其難以復原，影響可用性與完整性。</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執行覆寫工具、刪除大量檔案、破壞備份。</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定期離線備份、備份驗證、偵測大量刪除</a:t>
                      </a:r>
                      <a:r>
                        <a:rPr lang="en-US" altLang="zh-TW" sz="1600" dirty="0"/>
                        <a:t>/</a:t>
                      </a:r>
                      <a:r>
                        <a:rPr lang="zh-TW" altLang="en-US" sz="1600" dirty="0"/>
                        <a:t>覆寫行為</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30988850"/>
                  </a:ext>
                </a:extLst>
              </a:tr>
              <a:tr h="340858">
                <a:tc>
                  <a:txBody>
                    <a:bodyPr/>
                    <a:lstStyle/>
                    <a:p>
                      <a:pPr algn="l"/>
                      <a:r>
                        <a:rPr lang="en-US" altLang="zh-TW" sz="1600"/>
                        <a:t>3</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資料加密以破壞可用性 </a:t>
                      </a:r>
                      <a:r>
                        <a:rPr lang="en-US" altLang="zh-TW" sz="1600" b="1" dirty="0"/>
                        <a:t>/ </a:t>
                      </a:r>
                      <a:r>
                        <a:rPr lang="en-US" sz="1400" b="1" dirty="0"/>
                        <a:t>Data Encrypted for Impact</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以加密方式使資料不可用（典型為勒索軟體行為）。</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勒索軟體加密、封鎖金鑰以換取贖金。</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完整備份與離線備援、端點行為偵測、阻擋常見勒索行為指標</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52379739"/>
                  </a:ext>
                </a:extLst>
              </a:tr>
              <a:tr h="299955">
                <a:tc>
                  <a:txBody>
                    <a:bodyPr/>
                    <a:lstStyle/>
                    <a:p>
                      <a:pPr algn="l"/>
                      <a:r>
                        <a:rPr lang="en-US" altLang="zh-TW" sz="1600"/>
                        <a:t>4</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資料操弄 </a:t>
                      </a:r>
                      <a:r>
                        <a:rPr lang="en-US" altLang="zh-TW" sz="1600" b="1" dirty="0"/>
                        <a:t>/ </a:t>
                      </a:r>
                      <a:r>
                        <a:rPr lang="en-US" sz="1600" b="1" dirty="0"/>
                        <a:t>Data Manipulation</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插入、刪除或修改資料以干擾業務或隱匿攻擊行為（影響資料完整性）。</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修改交易紀錄、竄改報表、變造資料庫內容。</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實作完整性檢查、版本化</a:t>
                      </a:r>
                      <a:r>
                        <a:rPr lang="en-US" altLang="zh-TW" sz="1600" dirty="0"/>
                        <a:t>/</a:t>
                      </a:r>
                      <a:r>
                        <a:rPr lang="zh-TW" altLang="en-US" sz="1600" dirty="0"/>
                        <a:t>審計日誌、資料完整性</a:t>
                      </a:r>
                      <a:r>
                        <a:rPr lang="zh-TW" altLang="en-US" sz="1600" dirty="0" smtClean="0"/>
                        <a:t>監控</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58085735"/>
                  </a:ext>
                </a:extLst>
              </a:tr>
              <a:tr h="299955">
                <a:tc>
                  <a:txBody>
                    <a:bodyPr/>
                    <a:lstStyle/>
                    <a:p>
                      <a:pPr algn="l"/>
                      <a:r>
                        <a:rPr lang="en-US" altLang="zh-TW" sz="1600" dirty="0"/>
                        <a:t>5</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smtClean="0"/>
                        <a:t>網頁置換</a:t>
                      </a:r>
                      <a:r>
                        <a:rPr lang="en-US" altLang="zh-TW" sz="1600" b="1" dirty="0" smtClean="0"/>
                        <a:t>/ </a:t>
                      </a:r>
                      <a:r>
                        <a:rPr lang="en-US" sz="1600" b="1" dirty="0"/>
                        <a:t>Defacement</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修改系統或網站顯示內容以散播訊息或羞辱組織（內部</a:t>
                      </a:r>
                      <a:r>
                        <a:rPr lang="en-US" altLang="zh-TW" sz="1600"/>
                        <a:t>/</a:t>
                      </a:r>
                      <a:r>
                        <a:rPr lang="zh-TW" altLang="en-US" sz="1600"/>
                        <a:t>外部皆可）。</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網站首頁遭改寫、桌面背景被替換、登入頁面遭塗版。</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網站檔案完整性檢查、網頁資源來源管制、監控外部內容變更</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01904385"/>
                  </a:ext>
                </a:extLst>
              </a:tr>
            </a:tbl>
          </a:graphicData>
        </a:graphic>
      </p:graphicFrame>
      <p:sp>
        <p:nvSpPr>
          <p:cNvPr id="5" name="矩形 4"/>
          <p:cNvSpPr/>
          <p:nvPr/>
        </p:nvSpPr>
        <p:spPr>
          <a:xfrm>
            <a:off x="7164288" y="562248"/>
            <a:ext cx="1800200" cy="923330"/>
          </a:xfrm>
          <a:prstGeom prst="rect">
            <a:avLst/>
          </a:prstGeom>
          <a:solidFill>
            <a:schemeClr val="accent5"/>
          </a:solidFill>
        </p:spPr>
        <p:txBody>
          <a:bodyPr wrap="squar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26202052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458584" y="1106264"/>
            <a:ext cx="8231262" cy="882576"/>
          </a:xfrm>
        </p:spPr>
        <p:txBody>
          <a:bodyPr/>
          <a:lstStyle/>
          <a:p>
            <a:r>
              <a:rPr lang="en-US" altLang="zh-TW" sz="2000" dirty="0"/>
              <a:t>MITRE </a:t>
            </a:r>
            <a:r>
              <a:rPr lang="en-US" altLang="zh-TW" sz="2000" dirty="0" smtClean="0"/>
              <a:t>ATT&amp;CK</a:t>
            </a:r>
            <a:r>
              <a:rPr lang="zh-TW" altLang="en-US" sz="2000" dirty="0" smtClean="0"/>
              <a:t>的各種戰術有不同的</a:t>
            </a:r>
            <a:r>
              <a:rPr lang="en-US" altLang="zh-TW" sz="2000" dirty="0" smtClean="0"/>
              <a:t>Techniques</a:t>
            </a:r>
          </a:p>
          <a:p>
            <a:r>
              <a:rPr lang="zh-TW" altLang="en-US" sz="2000" dirty="0"/>
              <a:t>底下</a:t>
            </a:r>
            <a:r>
              <a:rPr lang="zh-TW" altLang="en-US" sz="2000" dirty="0" smtClean="0"/>
              <a:t>以</a:t>
            </a:r>
            <a:r>
              <a:rPr lang="en-US" altLang="zh-TW" sz="2000" dirty="0"/>
              <a:t>Impact</a:t>
            </a:r>
            <a:r>
              <a:rPr lang="zh-TW" altLang="en-US" sz="2000" dirty="0"/>
              <a:t>（</a:t>
            </a:r>
            <a:r>
              <a:rPr lang="en-US" altLang="zh-TW" sz="2000" dirty="0"/>
              <a:t>TA0040</a:t>
            </a:r>
            <a:r>
              <a:rPr lang="zh-TW" altLang="en-US" sz="2000" dirty="0"/>
              <a:t>）」</a:t>
            </a:r>
            <a:r>
              <a:rPr lang="zh-TW" altLang="en-US" sz="2000" dirty="0" smtClean="0"/>
              <a:t>戰術中的</a:t>
            </a:r>
            <a:r>
              <a:rPr lang="en-US" altLang="zh-TW" sz="2000" dirty="0"/>
              <a:t>15 </a:t>
            </a:r>
            <a:r>
              <a:rPr lang="zh-TW" altLang="en-US" sz="2000" dirty="0" smtClean="0"/>
              <a:t>項</a:t>
            </a:r>
            <a:r>
              <a:rPr lang="en-US" altLang="zh-TW" sz="2000" dirty="0"/>
              <a:t>Techniques </a:t>
            </a:r>
            <a:r>
              <a:rPr lang="zh-TW" altLang="en-US" sz="2000" dirty="0" smtClean="0"/>
              <a:t>加以介紹</a:t>
            </a:r>
            <a:endParaRPr lang="en-US" altLang="zh-TW" sz="2000" dirty="0" smtClean="0"/>
          </a:p>
        </p:txBody>
      </p:sp>
      <p:sp>
        <p:nvSpPr>
          <p:cNvPr id="3" name="標題 2"/>
          <p:cNvSpPr>
            <a:spLocks noGrp="1"/>
          </p:cNvSpPr>
          <p:nvPr>
            <p:ph type="title"/>
          </p:nvPr>
        </p:nvSpPr>
        <p:spPr/>
        <p:txBody>
          <a:bodyPr/>
          <a:lstStyle/>
          <a:p>
            <a:r>
              <a:rPr lang="en-US" altLang="zh-TW" dirty="0"/>
              <a:t>MITRE</a:t>
            </a:r>
            <a:r>
              <a:rPr lang="zh-TW" altLang="en-US" dirty="0"/>
              <a:t> </a:t>
            </a:r>
            <a:r>
              <a:rPr lang="en-US" altLang="zh-TW" dirty="0"/>
              <a:t>ATT&amp;CK</a:t>
            </a:r>
            <a:r>
              <a:rPr lang="zh-TW" altLang="en-US" dirty="0" smtClean="0"/>
              <a:t>框架</a:t>
            </a:r>
            <a:r>
              <a:rPr lang="en-US" altLang="zh-TW" dirty="0" smtClean="0"/>
              <a:t>(5/6</a:t>
            </a:r>
            <a:r>
              <a:rPr lang="en-US" altLang="zh-TW" dirty="0"/>
              <a:t>)</a:t>
            </a:r>
            <a:endParaRPr lang="zh-TW" altLang="en-US" dirty="0"/>
          </a:p>
        </p:txBody>
      </p:sp>
      <p:graphicFrame>
        <p:nvGraphicFramePr>
          <p:cNvPr id="4" name="表格 3"/>
          <p:cNvGraphicFramePr>
            <a:graphicFrameLocks noGrp="1"/>
          </p:cNvGraphicFramePr>
          <p:nvPr>
            <p:extLst/>
          </p:nvPr>
        </p:nvGraphicFramePr>
        <p:xfrm>
          <a:off x="264910" y="2060848"/>
          <a:ext cx="8699577" cy="4470924"/>
        </p:xfrm>
        <a:graphic>
          <a:graphicData uri="http://schemas.openxmlformats.org/drawingml/2006/table">
            <a:tbl>
              <a:tblPr/>
              <a:tblGrid>
                <a:gridCol w="418658">
                  <a:extLst>
                    <a:ext uri="{9D8B030D-6E8A-4147-A177-3AD203B41FA5}">
                      <a16:colId xmlns:a16="http://schemas.microsoft.com/office/drawing/2014/main" val="999316573"/>
                    </a:ext>
                  </a:extLst>
                </a:gridCol>
                <a:gridCol w="1296144">
                  <a:extLst>
                    <a:ext uri="{9D8B030D-6E8A-4147-A177-3AD203B41FA5}">
                      <a16:colId xmlns:a16="http://schemas.microsoft.com/office/drawing/2014/main" val="2702800598"/>
                    </a:ext>
                  </a:extLst>
                </a:gridCol>
                <a:gridCol w="2480437">
                  <a:extLst>
                    <a:ext uri="{9D8B030D-6E8A-4147-A177-3AD203B41FA5}">
                      <a16:colId xmlns:a16="http://schemas.microsoft.com/office/drawing/2014/main" val="193421977"/>
                    </a:ext>
                  </a:extLst>
                </a:gridCol>
                <a:gridCol w="1696027">
                  <a:extLst>
                    <a:ext uri="{9D8B030D-6E8A-4147-A177-3AD203B41FA5}">
                      <a16:colId xmlns:a16="http://schemas.microsoft.com/office/drawing/2014/main" val="3778671215"/>
                    </a:ext>
                  </a:extLst>
                </a:gridCol>
                <a:gridCol w="2808311">
                  <a:extLst>
                    <a:ext uri="{9D8B030D-6E8A-4147-A177-3AD203B41FA5}">
                      <a16:colId xmlns:a16="http://schemas.microsoft.com/office/drawing/2014/main" val="2954541929"/>
                    </a:ext>
                  </a:extLst>
                </a:gridCol>
              </a:tblGrid>
              <a:tr h="95440">
                <a:tc>
                  <a:txBody>
                    <a:bodyPr/>
                    <a:lstStyle/>
                    <a:p>
                      <a:pPr algn="l"/>
                      <a:r>
                        <a:rPr lang="en-US" altLang="zh-TW" sz="1600" dirty="0"/>
                        <a:t>#</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smtClean="0"/>
                        <a:t>技術</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簡短說明</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常見範例 </a:t>
                      </a:r>
                      <a:r>
                        <a:rPr lang="en-US" altLang="zh-TW" sz="1600"/>
                        <a:t>/ </a:t>
                      </a:r>
                      <a:r>
                        <a:rPr lang="zh-TW" altLang="en-US" sz="1600"/>
                        <a:t>攻擊手法</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簡短緩解或偵測建議</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1063703"/>
                  </a:ext>
                </a:extLst>
              </a:tr>
              <a:tr h="340858">
                <a:tc>
                  <a:txBody>
                    <a:bodyPr/>
                    <a:lstStyle/>
                    <a:p>
                      <a:pPr algn="l"/>
                      <a:r>
                        <a:rPr lang="en-US" altLang="zh-TW" sz="1600" dirty="0"/>
                        <a:t>6</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磁碟抹除 </a:t>
                      </a:r>
                      <a:r>
                        <a:rPr lang="en-US" altLang="zh-TW" sz="1600" b="1" dirty="0"/>
                        <a:t>/ </a:t>
                      </a:r>
                      <a:r>
                        <a:rPr lang="en-US" sz="1600" b="1" dirty="0"/>
                        <a:t>Disk Wipe</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直接抹除或破壞磁碟內容（含結構或內容），導致系統無法啟動或資料不可用。</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抹除磁區、破壞 </a:t>
                      </a:r>
                      <a:r>
                        <a:rPr lang="en-US" altLang="zh-TW" sz="1600" dirty="0"/>
                        <a:t>MBR</a:t>
                      </a:r>
                      <a:r>
                        <a:rPr lang="zh-TW" altLang="en-US" sz="1600" dirty="0"/>
                        <a:t>／分割表、擦除磁碟內容。</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隔離權限限制、備援</a:t>
                      </a:r>
                      <a:r>
                        <a:rPr lang="en-US" altLang="zh-TW" sz="1600" dirty="0"/>
                        <a:t>/</a:t>
                      </a:r>
                      <a:r>
                        <a:rPr lang="zh-TW" altLang="en-US" sz="1600" dirty="0"/>
                        <a:t>映像還原、監控低階磁碟寫入與異常 </a:t>
                      </a:r>
                      <a:r>
                        <a:rPr lang="en-US" altLang="zh-TW" sz="1600" dirty="0"/>
                        <a:t>I/O</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36767423"/>
                  </a:ext>
                </a:extLst>
              </a:tr>
              <a:tr h="299955">
                <a:tc>
                  <a:txBody>
                    <a:bodyPr/>
                    <a:lstStyle/>
                    <a:p>
                      <a:pPr algn="l"/>
                      <a:r>
                        <a:rPr lang="en-US" altLang="zh-TW" sz="1600"/>
                        <a:t>7</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b="1" dirty="0"/>
                        <a:t>Email </a:t>
                      </a:r>
                      <a:r>
                        <a:rPr lang="en-US" sz="1600" b="1" dirty="0" smtClean="0"/>
                        <a:t>Bombing</a:t>
                      </a:r>
                      <a:endParaRPr lang="zh-TW" alt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大量郵件淹沒目標信箱或系統以干擾營運或掩蓋其他攻擊活動。</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大量垃圾郵件、重複發信致信箱癱瘓。</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郵件速率限制、垃圾郵件過濾、監控大量異常流量</a:t>
                      </a:r>
                      <a:r>
                        <a:rPr lang="zh-TW" altLang="en-US" sz="1600" dirty="0" smtClean="0"/>
                        <a:t>。</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99704546"/>
                  </a:ext>
                </a:extLst>
              </a:tr>
              <a:tr h="340858">
                <a:tc>
                  <a:txBody>
                    <a:bodyPr/>
                    <a:lstStyle/>
                    <a:p>
                      <a:pPr algn="l"/>
                      <a:r>
                        <a:rPr lang="en-US" altLang="zh-TW" sz="1600" dirty="0"/>
                        <a:t>8</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a:t>端點拒絕服務 </a:t>
                      </a:r>
                      <a:r>
                        <a:rPr lang="en-US" altLang="zh-TW" sz="1600" b="1"/>
                        <a:t>/ </a:t>
                      </a:r>
                      <a:r>
                        <a:rPr lang="en-US" sz="1600" b="1"/>
                        <a:t>Endpoint Denial of Service</a:t>
                      </a:r>
                      <a:endParaRPr lang="en-US" sz="160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對特定主機或應用造成資源耗盡或崩潰，導致服務不可用。</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觸發應用崩潰、耗盡 </a:t>
                      </a:r>
                      <a:r>
                        <a:rPr lang="en-US" altLang="zh-TW" sz="1600" dirty="0"/>
                        <a:t>CPU</a:t>
                      </a:r>
                      <a:r>
                        <a:rPr lang="zh-TW" altLang="en-US" sz="1600" dirty="0"/>
                        <a:t>／記憶體、製造持續崩潰狀態。</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行為異常監控、速率限制、主機硬化與自動重啟與回復機制</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55012411"/>
                  </a:ext>
                </a:extLst>
              </a:tr>
              <a:tr h="259052">
                <a:tc>
                  <a:txBody>
                    <a:bodyPr/>
                    <a:lstStyle/>
                    <a:p>
                      <a:pPr algn="l"/>
                      <a:r>
                        <a:rPr lang="en-US" altLang="zh-TW" sz="1600"/>
                        <a:t>9</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金融竊盜 </a:t>
                      </a:r>
                      <a:r>
                        <a:rPr lang="en-US" altLang="zh-TW" sz="1600" b="1" dirty="0"/>
                        <a:t>/ </a:t>
                      </a:r>
                      <a:r>
                        <a:rPr lang="en-US" sz="1600" b="1" dirty="0"/>
                        <a:t>Financial Theft</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直接竊取資金或經濟利益（含詐欺、勒索、交易竄改等）。</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勒索、</a:t>
                      </a:r>
                      <a:r>
                        <a:rPr lang="en-US" altLang="zh-TW" sz="1600"/>
                        <a:t>BEC</a:t>
                      </a:r>
                      <a:r>
                        <a:rPr lang="zh-TW" altLang="en-US" sz="1600"/>
                        <a:t>（商務郵件入侵）詐騙、交易竄改。</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交易監控、流程分離、資金移轉多階段驗證</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53333085"/>
                  </a:ext>
                </a:extLst>
              </a:tr>
              <a:tr h="259052">
                <a:tc>
                  <a:txBody>
                    <a:bodyPr/>
                    <a:lstStyle/>
                    <a:p>
                      <a:pPr algn="l"/>
                      <a:r>
                        <a:rPr lang="en-US" altLang="zh-TW" sz="1600" dirty="0"/>
                        <a:t>10</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韌體破壞 </a:t>
                      </a:r>
                      <a:r>
                        <a:rPr lang="en-US" altLang="zh-TW" sz="1600" b="1" dirty="0"/>
                        <a:t>/ </a:t>
                      </a:r>
                      <a:r>
                        <a:rPr lang="en-US" sz="1600" b="1" dirty="0"/>
                        <a:t>Firmware Corruption</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覆寫或破壞設備韌體（</a:t>
                      </a:r>
                      <a:r>
                        <a:rPr lang="en-US" altLang="zh-TW" sz="1600" dirty="0"/>
                        <a:t>BIOS</a:t>
                      </a:r>
                      <a:r>
                        <a:rPr lang="zh-TW" altLang="en-US" sz="1600" dirty="0"/>
                        <a:t>、固件）使設備無法啟動或可信性喪失。</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altLang="zh-TW" sz="1600"/>
                        <a:t>BIOS </a:t>
                      </a:r>
                      <a:r>
                        <a:rPr lang="zh-TW" altLang="en-US" sz="1600"/>
                        <a:t>被改寫、硬體韌體遭破壞導致無法開機。</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韌體簽章驗證、硬體供應鏈檢核、韌體更新審批流程</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18051119"/>
                  </a:ext>
                </a:extLst>
              </a:tr>
            </a:tbl>
          </a:graphicData>
        </a:graphic>
      </p:graphicFrame>
      <p:sp>
        <p:nvSpPr>
          <p:cNvPr id="5" name="矩形 4"/>
          <p:cNvSpPr/>
          <p:nvPr/>
        </p:nvSpPr>
        <p:spPr>
          <a:xfrm>
            <a:off x="7092280" y="554991"/>
            <a:ext cx="1800200" cy="923330"/>
          </a:xfrm>
          <a:prstGeom prst="rect">
            <a:avLst/>
          </a:prstGeom>
          <a:solidFill>
            <a:schemeClr val="accent5"/>
          </a:solidFill>
        </p:spPr>
        <p:txBody>
          <a:bodyPr wrap="squar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393149836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a:xfrm>
            <a:off x="458584" y="1106264"/>
            <a:ext cx="8231262" cy="882576"/>
          </a:xfrm>
        </p:spPr>
        <p:txBody>
          <a:bodyPr/>
          <a:lstStyle/>
          <a:p>
            <a:r>
              <a:rPr lang="en-US" altLang="zh-TW" sz="2000" dirty="0"/>
              <a:t>MITRE </a:t>
            </a:r>
            <a:r>
              <a:rPr lang="en-US" altLang="zh-TW" sz="2000" dirty="0" smtClean="0"/>
              <a:t>ATT&amp;CK</a:t>
            </a:r>
            <a:r>
              <a:rPr lang="zh-TW" altLang="en-US" sz="2000" dirty="0" smtClean="0"/>
              <a:t>的各種戰術有不同的</a:t>
            </a:r>
            <a:r>
              <a:rPr lang="en-US" altLang="zh-TW" sz="2000" dirty="0" smtClean="0"/>
              <a:t>Techniques</a:t>
            </a:r>
          </a:p>
          <a:p>
            <a:r>
              <a:rPr lang="zh-TW" altLang="en-US" sz="2000" dirty="0"/>
              <a:t>底下</a:t>
            </a:r>
            <a:r>
              <a:rPr lang="zh-TW" altLang="en-US" sz="2000" dirty="0" smtClean="0"/>
              <a:t>以</a:t>
            </a:r>
            <a:r>
              <a:rPr lang="en-US" altLang="zh-TW" sz="2000" dirty="0"/>
              <a:t>Impact</a:t>
            </a:r>
            <a:r>
              <a:rPr lang="zh-TW" altLang="en-US" sz="2000" dirty="0"/>
              <a:t>（</a:t>
            </a:r>
            <a:r>
              <a:rPr lang="en-US" altLang="zh-TW" sz="2000" dirty="0"/>
              <a:t>TA0040</a:t>
            </a:r>
            <a:r>
              <a:rPr lang="zh-TW" altLang="en-US" sz="2000" dirty="0"/>
              <a:t>）」</a:t>
            </a:r>
            <a:r>
              <a:rPr lang="zh-TW" altLang="en-US" sz="2000" dirty="0" smtClean="0"/>
              <a:t>戰術中的</a:t>
            </a:r>
            <a:r>
              <a:rPr lang="en-US" altLang="zh-TW" sz="2000" dirty="0"/>
              <a:t>15 </a:t>
            </a:r>
            <a:r>
              <a:rPr lang="zh-TW" altLang="en-US" sz="2000" dirty="0" smtClean="0"/>
              <a:t>項</a:t>
            </a:r>
            <a:r>
              <a:rPr lang="en-US" altLang="zh-TW" sz="2000" dirty="0"/>
              <a:t>Techniques </a:t>
            </a:r>
            <a:r>
              <a:rPr lang="zh-TW" altLang="en-US" sz="2000" dirty="0" smtClean="0"/>
              <a:t>加以介紹</a:t>
            </a:r>
            <a:endParaRPr lang="en-US" altLang="zh-TW" sz="2000" dirty="0" smtClean="0"/>
          </a:p>
        </p:txBody>
      </p:sp>
      <p:sp>
        <p:nvSpPr>
          <p:cNvPr id="3" name="標題 2"/>
          <p:cNvSpPr>
            <a:spLocks noGrp="1"/>
          </p:cNvSpPr>
          <p:nvPr>
            <p:ph type="title"/>
          </p:nvPr>
        </p:nvSpPr>
        <p:spPr/>
        <p:txBody>
          <a:bodyPr/>
          <a:lstStyle/>
          <a:p>
            <a:r>
              <a:rPr lang="en-US" altLang="zh-TW" dirty="0"/>
              <a:t>MITRE</a:t>
            </a:r>
            <a:r>
              <a:rPr lang="zh-TW" altLang="en-US" dirty="0"/>
              <a:t> </a:t>
            </a:r>
            <a:r>
              <a:rPr lang="en-US" altLang="zh-TW" dirty="0"/>
              <a:t>ATT&amp;CK</a:t>
            </a:r>
            <a:r>
              <a:rPr lang="zh-TW" altLang="en-US" dirty="0" smtClean="0"/>
              <a:t>框架</a:t>
            </a:r>
            <a:r>
              <a:rPr lang="en-US" altLang="zh-TW" dirty="0" smtClean="0"/>
              <a:t>(6/6</a:t>
            </a:r>
            <a:r>
              <a:rPr lang="en-US" altLang="zh-TW" dirty="0"/>
              <a:t>)</a:t>
            </a:r>
            <a:endParaRPr lang="zh-TW" altLang="en-US" dirty="0"/>
          </a:p>
        </p:txBody>
      </p:sp>
      <p:graphicFrame>
        <p:nvGraphicFramePr>
          <p:cNvPr id="4" name="表格 3"/>
          <p:cNvGraphicFramePr>
            <a:graphicFrameLocks noGrp="1"/>
          </p:cNvGraphicFramePr>
          <p:nvPr>
            <p:extLst/>
          </p:nvPr>
        </p:nvGraphicFramePr>
        <p:xfrm>
          <a:off x="251520" y="2178946"/>
          <a:ext cx="8699577" cy="4470924"/>
        </p:xfrm>
        <a:graphic>
          <a:graphicData uri="http://schemas.openxmlformats.org/drawingml/2006/table">
            <a:tbl>
              <a:tblPr/>
              <a:tblGrid>
                <a:gridCol w="503160">
                  <a:extLst>
                    <a:ext uri="{9D8B030D-6E8A-4147-A177-3AD203B41FA5}">
                      <a16:colId xmlns:a16="http://schemas.microsoft.com/office/drawing/2014/main" val="999316573"/>
                    </a:ext>
                  </a:extLst>
                </a:gridCol>
                <a:gridCol w="1402990">
                  <a:extLst>
                    <a:ext uri="{9D8B030D-6E8A-4147-A177-3AD203B41FA5}">
                      <a16:colId xmlns:a16="http://schemas.microsoft.com/office/drawing/2014/main" val="2702800598"/>
                    </a:ext>
                  </a:extLst>
                </a:gridCol>
                <a:gridCol w="2289089">
                  <a:extLst>
                    <a:ext uri="{9D8B030D-6E8A-4147-A177-3AD203B41FA5}">
                      <a16:colId xmlns:a16="http://schemas.microsoft.com/office/drawing/2014/main" val="193421977"/>
                    </a:ext>
                  </a:extLst>
                </a:gridCol>
                <a:gridCol w="1840043">
                  <a:extLst>
                    <a:ext uri="{9D8B030D-6E8A-4147-A177-3AD203B41FA5}">
                      <a16:colId xmlns:a16="http://schemas.microsoft.com/office/drawing/2014/main" val="3778671215"/>
                    </a:ext>
                  </a:extLst>
                </a:gridCol>
                <a:gridCol w="2664295">
                  <a:extLst>
                    <a:ext uri="{9D8B030D-6E8A-4147-A177-3AD203B41FA5}">
                      <a16:colId xmlns:a16="http://schemas.microsoft.com/office/drawing/2014/main" val="2954541929"/>
                    </a:ext>
                  </a:extLst>
                </a:gridCol>
              </a:tblGrid>
              <a:tr h="95440">
                <a:tc>
                  <a:txBody>
                    <a:bodyPr/>
                    <a:lstStyle/>
                    <a:p>
                      <a:pPr algn="l"/>
                      <a:r>
                        <a:rPr lang="en-US" altLang="zh-TW" sz="1600" dirty="0"/>
                        <a:t>#</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smtClean="0"/>
                        <a:t>技術</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簡短說明</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常見範例 </a:t>
                      </a:r>
                      <a:r>
                        <a:rPr lang="en-US" altLang="zh-TW" sz="1600"/>
                        <a:t>/ </a:t>
                      </a:r>
                      <a:r>
                        <a:rPr lang="zh-TW" altLang="en-US" sz="1600"/>
                        <a:t>攻擊手法</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簡短緩解或偵測建議</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61063703"/>
                  </a:ext>
                </a:extLst>
              </a:tr>
              <a:tr h="381761">
                <a:tc>
                  <a:txBody>
                    <a:bodyPr/>
                    <a:lstStyle/>
                    <a:p>
                      <a:pPr algn="l"/>
                      <a:r>
                        <a:rPr lang="en-US" altLang="zh-TW" sz="1600" dirty="0"/>
                        <a:t>11</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阻礙系統復原 </a:t>
                      </a:r>
                      <a:r>
                        <a:rPr lang="en-US" altLang="zh-TW" sz="1600" b="1" dirty="0"/>
                        <a:t>/ </a:t>
                      </a:r>
                      <a:r>
                        <a:rPr lang="en-US" sz="1400" b="1" dirty="0"/>
                        <a:t>Inhibit System Recovery</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刪除或停用可用來回復系統的功能或備份，增加破壞影響範圍。</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刪除備份、停用快照、移除還原點。</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備份隔離與不可變（</a:t>
                      </a:r>
                      <a:r>
                        <a:rPr lang="en-US" altLang="zh-TW" sz="1600" dirty="0"/>
                        <a:t>immutable</a:t>
                      </a:r>
                      <a:r>
                        <a:rPr lang="zh-TW" altLang="en-US" sz="1600" dirty="0"/>
                        <a:t>）備份、備份完整性驗證、備份異常</a:t>
                      </a:r>
                      <a:r>
                        <a:rPr lang="zh-TW" altLang="en-US" sz="1600"/>
                        <a:t>通知</a:t>
                      </a:r>
                      <a:r>
                        <a:rPr lang="zh-TW" altLang="en-US" sz="160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65954722"/>
                  </a:ext>
                </a:extLst>
              </a:tr>
              <a:tr h="381761">
                <a:tc>
                  <a:txBody>
                    <a:bodyPr/>
                    <a:lstStyle/>
                    <a:p>
                      <a:pPr algn="l"/>
                      <a:r>
                        <a:rPr lang="en-US" altLang="zh-TW" sz="1600" dirty="0"/>
                        <a:t>12</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網路拒絕服務 </a:t>
                      </a:r>
                      <a:r>
                        <a:rPr lang="en-US" altLang="zh-TW" sz="1600" b="1" dirty="0"/>
                        <a:t>/ </a:t>
                      </a:r>
                      <a:r>
                        <a:rPr lang="en-US" sz="1400" b="1" dirty="0"/>
                        <a:t>Network Denial of Service</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以網路洪泛或放大反射等方式耗盡頻寬或中介資源，造成網路資源不可用。</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err="1"/>
                        <a:t>DDoS</a:t>
                      </a:r>
                      <a:r>
                        <a:rPr lang="en-US" sz="1600" dirty="0"/>
                        <a:t> </a:t>
                      </a:r>
                      <a:r>
                        <a:rPr lang="zh-TW" altLang="en-US" sz="1600" dirty="0"/>
                        <a:t>洪流、反射放大攻擊（</a:t>
                      </a:r>
                      <a:r>
                        <a:rPr lang="en-US" sz="1600" dirty="0"/>
                        <a:t>NTP、DNS </a:t>
                      </a:r>
                      <a:r>
                        <a:rPr lang="zh-TW" altLang="en-US" sz="1600" dirty="0"/>
                        <a:t>放大）。</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US" sz="1600" dirty="0" err="1"/>
                        <a:t>DDoS</a:t>
                      </a:r>
                      <a:r>
                        <a:rPr lang="en-US" sz="1600" dirty="0"/>
                        <a:t> </a:t>
                      </a:r>
                      <a:r>
                        <a:rPr lang="zh-TW" altLang="en-US" sz="1600" dirty="0"/>
                        <a:t>防護（</a:t>
                      </a:r>
                      <a:r>
                        <a:rPr lang="en-US" sz="1600" dirty="0"/>
                        <a:t>WAF / CDN / </a:t>
                      </a:r>
                      <a:r>
                        <a:rPr lang="zh-TW" altLang="en-US" sz="1600" dirty="0"/>
                        <a:t>流量黑洞管理）、流量異常偵測、</a:t>
                      </a:r>
                      <a:r>
                        <a:rPr lang="en-US" sz="1600" dirty="0"/>
                        <a:t>ISP </a:t>
                      </a:r>
                      <a:r>
                        <a:rPr lang="zh-TW" altLang="en-US" sz="1600" dirty="0"/>
                        <a:t>合作</a:t>
                      </a:r>
                      <a:r>
                        <a:rPr lang="zh-TW" altLang="en-US" sz="1600" dirty="0" smtClean="0"/>
                        <a:t>。</a:t>
                      </a:r>
                      <a:endParaRPr lang="en-US"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79026248"/>
                  </a:ext>
                </a:extLst>
              </a:tr>
              <a:tr h="340858">
                <a:tc>
                  <a:txBody>
                    <a:bodyPr/>
                    <a:lstStyle/>
                    <a:p>
                      <a:pPr algn="l"/>
                      <a:r>
                        <a:rPr lang="en-US" altLang="zh-TW" sz="1600" dirty="0"/>
                        <a:t>13</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資源劫持 </a:t>
                      </a:r>
                      <a:r>
                        <a:rPr lang="en-US" altLang="zh-TW" sz="1600" b="1" dirty="0"/>
                        <a:t>/ </a:t>
                      </a:r>
                      <a:r>
                        <a:rPr lang="en-US" sz="1400" b="1" dirty="0"/>
                        <a:t>Resource Hijacking</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佔用受害系統的計算或頻寬資源供攻擊者用途（如加密貨幣挖礦）。</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計算資源挖礦、頻寬滥用、</a:t>
                      </a:r>
                      <a:r>
                        <a:rPr lang="en-US" altLang="zh-TW" sz="1600" dirty="0"/>
                        <a:t>SMS Pumping</a:t>
                      </a:r>
                      <a:r>
                        <a:rPr lang="zh-TW" altLang="en-US" sz="1600" dirty="0"/>
                        <a:t>、雲端服務被濫用。</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監控 </a:t>
                      </a:r>
                      <a:r>
                        <a:rPr lang="en-US" altLang="zh-TW" sz="1600" dirty="0"/>
                        <a:t>CPU / </a:t>
                      </a:r>
                      <a:r>
                        <a:rPr lang="zh-TW" altLang="en-US" sz="1600" dirty="0"/>
                        <a:t>網路突增、限制網路出口、雲端帳號行為異常偵測</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91969613"/>
                  </a:ext>
                </a:extLst>
              </a:tr>
              <a:tr h="299955">
                <a:tc>
                  <a:txBody>
                    <a:bodyPr/>
                    <a:lstStyle/>
                    <a:p>
                      <a:pPr algn="l"/>
                      <a:r>
                        <a:rPr lang="en-US" altLang="zh-TW" sz="1600" dirty="0"/>
                        <a:t>14</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停止服務 </a:t>
                      </a:r>
                      <a:r>
                        <a:rPr lang="en-US" altLang="zh-TW" sz="1600" b="1" dirty="0"/>
                        <a:t>/ </a:t>
                      </a:r>
                      <a:r>
                        <a:rPr lang="en-US" sz="1400" b="1" dirty="0"/>
                        <a:t>Service Stop</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停止或停用系統服務以使功能不可用（可為其他破壞行為的前置）。</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停止資料庫服務、關閉安全記錄服務。</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監控服務停啟行為、嚴格權限與變更稽核、服務自癒策略</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23375832"/>
                  </a:ext>
                </a:extLst>
              </a:tr>
              <a:tr h="340858">
                <a:tc>
                  <a:txBody>
                    <a:bodyPr/>
                    <a:lstStyle/>
                    <a:p>
                      <a:pPr algn="l"/>
                      <a:r>
                        <a:rPr lang="en-US" altLang="zh-TW" sz="1600" dirty="0"/>
                        <a:t>15</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b="1" dirty="0"/>
                        <a:t>系統關機</a:t>
                      </a:r>
                      <a:r>
                        <a:rPr lang="en-US" altLang="zh-TW" sz="1600" b="1" dirty="0"/>
                        <a:t>/</a:t>
                      </a:r>
                      <a:r>
                        <a:rPr lang="zh-TW" altLang="en-US" sz="1600" b="1" dirty="0"/>
                        <a:t>重新啟動 </a:t>
                      </a:r>
                      <a:r>
                        <a:rPr lang="en-US" altLang="zh-TW" sz="1600" b="1" dirty="0"/>
                        <a:t>/ </a:t>
                      </a:r>
                      <a:r>
                        <a:rPr lang="en-US" sz="1400" b="1" dirty="0"/>
                        <a:t>System Shutdown/Reboot</a:t>
                      </a:r>
                      <a:endParaRPr lang="en-US" sz="14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使系統關機或重啟以中斷作業或完成破壞性更動（有時搭配其他刪除</a:t>
                      </a:r>
                      <a:r>
                        <a:rPr lang="en-US" altLang="zh-TW" sz="1600"/>
                        <a:t>/</a:t>
                      </a:r>
                      <a:r>
                        <a:rPr lang="zh-TW" altLang="en-US" sz="1600"/>
                        <a:t>抹除行為）。</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a:t>遠端發出關機命令、重啟以觸發生命周期刪除。</a:t>
                      </a:r>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zh-TW" altLang="en-US" sz="1600" dirty="0"/>
                        <a:t>偵測非預期的關機</a:t>
                      </a:r>
                      <a:r>
                        <a:rPr lang="en-US" altLang="zh-TW" sz="1600" dirty="0"/>
                        <a:t>/</a:t>
                      </a:r>
                      <a:r>
                        <a:rPr lang="zh-TW" altLang="en-US" sz="1600" dirty="0"/>
                        <a:t>重啟命令、變更控制與稽核</a:t>
                      </a:r>
                      <a:r>
                        <a:rPr lang="zh-TW" altLang="en-US" sz="1600" dirty="0" smtClean="0"/>
                        <a:t>。</a:t>
                      </a:r>
                      <a:endParaRPr lang="en-US" altLang="zh-TW" sz="1600" dirty="0"/>
                    </a:p>
                  </a:txBody>
                  <a:tcPr marL="13634" marR="13634" marT="6817" marB="6817"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95927461"/>
                  </a:ext>
                </a:extLst>
              </a:tr>
            </a:tbl>
          </a:graphicData>
        </a:graphic>
      </p:graphicFrame>
      <p:sp>
        <p:nvSpPr>
          <p:cNvPr id="5" name="矩形 4"/>
          <p:cNvSpPr/>
          <p:nvPr/>
        </p:nvSpPr>
        <p:spPr>
          <a:xfrm>
            <a:off x="7194170" y="549546"/>
            <a:ext cx="1800200" cy="923330"/>
          </a:xfrm>
          <a:prstGeom prst="rect">
            <a:avLst/>
          </a:prstGeom>
          <a:solidFill>
            <a:schemeClr val="accent5"/>
          </a:solidFill>
        </p:spPr>
        <p:txBody>
          <a:bodyPr wrap="square">
            <a:spAutoFit/>
          </a:bodyPr>
          <a:lstStyle/>
          <a:p>
            <a:r>
              <a:rPr lang="zh-TW" altLang="en-US" dirty="0"/>
              <a:t>更多說明請</a:t>
            </a:r>
            <a:r>
              <a:rPr lang="zh-TW" altLang="en-US" dirty="0" smtClean="0"/>
              <a:t>參閱 </a:t>
            </a:r>
            <a:r>
              <a:rPr lang="en-US" altLang="zh-TW" dirty="0" smtClean="0"/>
              <a:t>https</a:t>
            </a:r>
            <a:r>
              <a:rPr lang="en-US" altLang="zh-TW" dirty="0"/>
              <a:t>://attack.mitre.org/</a:t>
            </a:r>
            <a:endParaRPr lang="zh-TW" altLang="en-US" dirty="0"/>
          </a:p>
        </p:txBody>
      </p:sp>
    </p:spTree>
    <p:extLst>
      <p:ext uri="{BB962C8B-B14F-4D97-AF65-F5344CB8AC3E}">
        <p14:creationId xmlns:p14="http://schemas.microsoft.com/office/powerpoint/2010/main" val="212127252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a:xfrm>
            <a:off x="246533" y="68003"/>
            <a:ext cx="7886700" cy="881797"/>
          </a:xfrm>
        </p:spPr>
        <p:txBody>
          <a:bodyPr/>
          <a:lstStyle/>
          <a:p>
            <a:r>
              <a:rPr lang="zh-TW" altLang="en-US" dirty="0" smtClean="0"/>
              <a:t>風險管理標準</a:t>
            </a:r>
            <a:r>
              <a:rPr lang="en-US" altLang="zh-TW" dirty="0" smtClean="0"/>
              <a:t>(1/2)</a:t>
            </a:r>
            <a:endParaRPr lang="zh-TW" altLang="en-US" dirty="0"/>
          </a:p>
        </p:txBody>
      </p:sp>
      <p:sp>
        <p:nvSpPr>
          <p:cNvPr id="3" name="矩形 2"/>
          <p:cNvSpPr/>
          <p:nvPr/>
        </p:nvSpPr>
        <p:spPr>
          <a:xfrm>
            <a:off x="246533" y="936991"/>
            <a:ext cx="5019323" cy="523220"/>
          </a:xfrm>
          <a:prstGeom prst="rect">
            <a:avLst/>
          </a:prstGeom>
        </p:spPr>
        <p:txBody>
          <a:bodyPr wrap="none">
            <a:spAutoFit/>
          </a:bodyPr>
          <a:lstStyle/>
          <a:p>
            <a:r>
              <a:rPr lang="zh-TW" altLang="en-US" sz="2800" dirty="0"/>
              <a:t>風險</a:t>
            </a:r>
            <a:r>
              <a:rPr lang="zh-TW" altLang="en-US" sz="2800" dirty="0" smtClean="0"/>
              <a:t>管理有許多標準與框架</a:t>
            </a:r>
            <a:r>
              <a:rPr lang="en-US" altLang="zh-TW" sz="2800" dirty="0" smtClean="0"/>
              <a:t>,</a:t>
            </a:r>
            <a:r>
              <a:rPr lang="zh-TW" altLang="en-US" sz="2800" dirty="0" smtClean="0"/>
              <a:t>如</a:t>
            </a:r>
            <a:r>
              <a:rPr lang="en-US" altLang="zh-TW" sz="2800" dirty="0" smtClean="0"/>
              <a:t>:</a:t>
            </a:r>
            <a:endParaRPr lang="zh-TW" altLang="en-US" sz="2800" dirty="0"/>
          </a:p>
        </p:txBody>
      </p:sp>
      <p:sp>
        <p:nvSpPr>
          <p:cNvPr id="4" name="矩形 3"/>
          <p:cNvSpPr/>
          <p:nvPr/>
        </p:nvSpPr>
        <p:spPr>
          <a:xfrm>
            <a:off x="246533" y="6035462"/>
            <a:ext cx="8537878" cy="461665"/>
          </a:xfrm>
          <a:prstGeom prst="rect">
            <a:avLst/>
          </a:prstGeom>
          <a:ln w="19050">
            <a:solidFill>
              <a:schemeClr val="tx1"/>
            </a:solidFill>
          </a:ln>
        </p:spPr>
        <p:txBody>
          <a:bodyPr wrap="square">
            <a:spAutoFit/>
          </a:bodyPr>
          <a:lstStyle/>
          <a:p>
            <a:r>
              <a:rPr lang="zh-TW" altLang="en-US" sz="2400" dirty="0"/>
              <a:t>行政院及所屬各機關風險管理及危機處理作業原則</a:t>
            </a:r>
          </a:p>
        </p:txBody>
      </p:sp>
      <p:sp>
        <p:nvSpPr>
          <p:cNvPr id="5" name="矩形 4"/>
          <p:cNvSpPr/>
          <p:nvPr/>
        </p:nvSpPr>
        <p:spPr>
          <a:xfrm>
            <a:off x="246533" y="1460211"/>
            <a:ext cx="8537878" cy="738664"/>
          </a:xfrm>
          <a:prstGeom prst="rect">
            <a:avLst/>
          </a:prstGeom>
          <a:ln w="12700">
            <a:solidFill>
              <a:schemeClr val="tx1"/>
            </a:solidFill>
          </a:ln>
        </p:spPr>
        <p:txBody>
          <a:bodyPr wrap="square">
            <a:spAutoFit/>
          </a:bodyPr>
          <a:lstStyle/>
          <a:p>
            <a:r>
              <a:rPr lang="en-US" altLang="zh-TW" sz="2400" dirty="0"/>
              <a:t>ISO </a:t>
            </a:r>
            <a:r>
              <a:rPr lang="en-US" altLang="zh-TW" sz="2400" dirty="0" smtClean="0"/>
              <a:t>31000:2018</a:t>
            </a:r>
            <a:r>
              <a:rPr lang="zh-TW" altLang="en-US" sz="2400" dirty="0" smtClean="0"/>
              <a:t>  </a:t>
            </a:r>
            <a:r>
              <a:rPr lang="en-US" altLang="zh-TW" sz="2400" dirty="0" smtClean="0"/>
              <a:t>Risk </a:t>
            </a:r>
            <a:r>
              <a:rPr lang="en-US" altLang="zh-TW" sz="2400" dirty="0"/>
              <a:t>management — </a:t>
            </a:r>
            <a:r>
              <a:rPr lang="en-US" altLang="zh-TW" sz="2400" dirty="0" smtClean="0"/>
              <a:t>Guidelines</a:t>
            </a:r>
          </a:p>
          <a:p>
            <a:pPr marL="342900" indent="-342900">
              <a:buFont typeface="Wingdings" panose="05000000000000000000" pitchFamily="2" charset="2"/>
              <a:buChar char="ü"/>
            </a:pPr>
            <a:r>
              <a:rPr lang="zh-TW" altLang="en-US" dirty="0" smtClean="0"/>
              <a:t>國際著名的風險管理</a:t>
            </a:r>
            <a:r>
              <a:rPr lang="zh-TW" altLang="en-US" b="1" dirty="0" smtClean="0">
                <a:effectLst>
                  <a:outerShdw blurRad="38100" dist="38100" dir="2700000" algn="tl">
                    <a:srgbClr val="000000">
                      <a:alpha val="43137"/>
                    </a:srgbClr>
                  </a:outerShdw>
                </a:effectLst>
              </a:rPr>
              <a:t>通用性</a:t>
            </a:r>
            <a:r>
              <a:rPr lang="zh-TW" altLang="en-US" dirty="0" smtClean="0"/>
              <a:t>框架。</a:t>
            </a:r>
            <a:r>
              <a:rPr lang="en-US" altLang="zh-TW" dirty="0"/>
              <a:t> </a:t>
            </a:r>
            <a:r>
              <a:rPr lang="zh-TW" altLang="en-US" dirty="0" smtClean="0"/>
              <a:t>我國對應之規範</a:t>
            </a:r>
            <a:r>
              <a:rPr lang="en-US" altLang="zh-TW" dirty="0"/>
              <a:t>:</a:t>
            </a:r>
            <a:r>
              <a:rPr lang="en-US" altLang="zh-TW" dirty="0" smtClean="0"/>
              <a:t>CNS</a:t>
            </a:r>
            <a:r>
              <a:rPr lang="zh-TW" altLang="en-US" dirty="0" smtClean="0"/>
              <a:t> </a:t>
            </a:r>
            <a:r>
              <a:rPr lang="en-US" altLang="zh-TW" dirty="0" smtClean="0"/>
              <a:t>31000</a:t>
            </a:r>
            <a:endParaRPr lang="zh-TW" altLang="en-US" dirty="0"/>
          </a:p>
        </p:txBody>
      </p:sp>
      <p:sp>
        <p:nvSpPr>
          <p:cNvPr id="6" name="矩形 5"/>
          <p:cNvSpPr/>
          <p:nvPr/>
        </p:nvSpPr>
        <p:spPr>
          <a:xfrm>
            <a:off x="246533" y="5373216"/>
            <a:ext cx="8537878" cy="523220"/>
          </a:xfrm>
          <a:prstGeom prst="rect">
            <a:avLst/>
          </a:prstGeom>
          <a:ln w="19050">
            <a:solidFill>
              <a:schemeClr val="tx1"/>
            </a:solidFill>
          </a:ln>
        </p:spPr>
        <p:txBody>
          <a:bodyPr wrap="square">
            <a:spAutoFit/>
          </a:bodyPr>
          <a:lstStyle/>
          <a:p>
            <a:r>
              <a:rPr lang="en-US" altLang="zh-TW" sz="2800" dirty="0"/>
              <a:t>NIST </a:t>
            </a:r>
            <a:r>
              <a:rPr lang="zh-TW" altLang="en-US" sz="2800" dirty="0"/>
              <a:t>風險管理框架</a:t>
            </a:r>
            <a:r>
              <a:rPr lang="en-US" altLang="zh-TW" sz="2800" dirty="0" smtClean="0"/>
              <a:t>(RMF) </a:t>
            </a:r>
            <a:endParaRPr lang="en-US" altLang="zh-TW" sz="2800" dirty="0"/>
          </a:p>
        </p:txBody>
      </p:sp>
      <p:sp>
        <p:nvSpPr>
          <p:cNvPr id="8" name="矩形 7"/>
          <p:cNvSpPr/>
          <p:nvPr/>
        </p:nvSpPr>
        <p:spPr>
          <a:xfrm>
            <a:off x="246533" y="2333309"/>
            <a:ext cx="8537878" cy="738664"/>
          </a:xfrm>
          <a:prstGeom prst="rect">
            <a:avLst/>
          </a:prstGeom>
          <a:ln w="12700">
            <a:solidFill>
              <a:schemeClr val="tx1"/>
            </a:solidFill>
          </a:ln>
        </p:spPr>
        <p:txBody>
          <a:bodyPr wrap="square">
            <a:spAutoFit/>
          </a:bodyPr>
          <a:lstStyle/>
          <a:p>
            <a:r>
              <a:rPr lang="en-US" altLang="zh-TW" sz="2400" dirty="0" smtClean="0"/>
              <a:t>ISO/IEC 31010:2019  </a:t>
            </a:r>
            <a:r>
              <a:rPr lang="zh-TW" altLang="en-US" sz="2400" dirty="0" smtClean="0"/>
              <a:t>風險</a:t>
            </a:r>
            <a:r>
              <a:rPr lang="zh-TW" altLang="en-US" sz="2400" dirty="0"/>
              <a:t>管理－風險</a:t>
            </a:r>
            <a:r>
              <a:rPr lang="zh-TW" altLang="en-US" sz="2400" dirty="0" smtClean="0"/>
              <a:t>評鑑技術</a:t>
            </a:r>
            <a:endParaRPr lang="en-US" altLang="zh-TW" sz="2400" dirty="0" smtClean="0"/>
          </a:p>
          <a:p>
            <a:pPr marL="342900" indent="-342900">
              <a:buFont typeface="Wingdings" panose="05000000000000000000" pitchFamily="2" charset="2"/>
              <a:buChar char="ü"/>
            </a:pPr>
            <a:r>
              <a:rPr lang="zh-TW" altLang="en-US" dirty="0"/>
              <a:t>提供許多風險評鑑</a:t>
            </a:r>
            <a:r>
              <a:rPr lang="zh-TW" altLang="en-US" dirty="0" smtClean="0"/>
              <a:t>技術來支援</a:t>
            </a:r>
            <a:r>
              <a:rPr lang="en-US" altLang="zh-TW" dirty="0"/>
              <a:t>ISO </a:t>
            </a:r>
            <a:r>
              <a:rPr lang="en-US" altLang="zh-TW" dirty="0" smtClean="0"/>
              <a:t>31000, </a:t>
            </a:r>
            <a:r>
              <a:rPr lang="zh-TW" altLang="en-US" dirty="0" smtClean="0"/>
              <a:t>我國</a:t>
            </a:r>
            <a:r>
              <a:rPr lang="zh-TW" altLang="en-US" dirty="0"/>
              <a:t>對應之規範</a:t>
            </a:r>
            <a:r>
              <a:rPr lang="en-US" altLang="zh-TW" dirty="0"/>
              <a:t>:CNS</a:t>
            </a:r>
            <a:r>
              <a:rPr lang="zh-TW" altLang="en-US" dirty="0"/>
              <a:t> </a:t>
            </a:r>
            <a:r>
              <a:rPr lang="en-US" altLang="zh-TW" dirty="0" smtClean="0"/>
              <a:t>31010</a:t>
            </a:r>
            <a:r>
              <a:rPr lang="zh-TW" altLang="en-US" dirty="0" smtClean="0"/>
              <a:t> </a:t>
            </a:r>
            <a:endParaRPr lang="zh-TW" altLang="en-US" dirty="0"/>
          </a:p>
        </p:txBody>
      </p:sp>
      <p:sp>
        <p:nvSpPr>
          <p:cNvPr id="9" name="矩形 8"/>
          <p:cNvSpPr/>
          <p:nvPr/>
        </p:nvSpPr>
        <p:spPr>
          <a:xfrm>
            <a:off x="189023" y="3299265"/>
            <a:ext cx="8595388" cy="1846659"/>
          </a:xfrm>
          <a:prstGeom prst="rect">
            <a:avLst/>
          </a:prstGeom>
          <a:ln w="19050">
            <a:solidFill>
              <a:schemeClr val="tx1"/>
            </a:solidFill>
          </a:ln>
        </p:spPr>
        <p:txBody>
          <a:bodyPr wrap="square">
            <a:spAutoFit/>
          </a:bodyPr>
          <a:lstStyle/>
          <a:p>
            <a:r>
              <a:rPr lang="en-US" altLang="zh-TW" sz="2400" dirty="0"/>
              <a:t>CNS </a:t>
            </a:r>
            <a:r>
              <a:rPr lang="en-US" altLang="zh-TW" sz="2400" dirty="0" smtClean="0"/>
              <a:t>27001:2023</a:t>
            </a:r>
            <a:r>
              <a:rPr lang="zh-TW" altLang="en-US" sz="2400" dirty="0" smtClean="0"/>
              <a:t>與 </a:t>
            </a:r>
            <a:r>
              <a:rPr lang="en-US" altLang="zh-TW" sz="2400" dirty="0" smtClean="0"/>
              <a:t>CNS</a:t>
            </a:r>
            <a:r>
              <a:rPr lang="zh-TW" altLang="en-US" sz="2400" dirty="0" smtClean="0"/>
              <a:t> </a:t>
            </a:r>
            <a:r>
              <a:rPr lang="en-US" altLang="zh-TW" sz="2400" dirty="0" smtClean="0"/>
              <a:t>27005:2024</a:t>
            </a:r>
          </a:p>
          <a:p>
            <a:pPr marL="285750" indent="-285750">
              <a:buFont typeface="Wingdings" panose="05000000000000000000" pitchFamily="2" charset="2"/>
              <a:buChar char="ü"/>
            </a:pPr>
            <a:r>
              <a:rPr lang="en-US" altLang="zh-TW" dirty="0">
                <a:cs typeface="微軟正黑體" panose="020B0604030504040204" pitchFamily="34" charset="-120"/>
              </a:rPr>
              <a:t>CNS </a:t>
            </a:r>
            <a:r>
              <a:rPr lang="en-US" altLang="zh-TW" dirty="0" smtClean="0">
                <a:cs typeface="微軟正黑體" panose="020B0604030504040204" pitchFamily="34" charset="-120"/>
              </a:rPr>
              <a:t>27001  </a:t>
            </a:r>
            <a:r>
              <a:rPr lang="zh-TW" altLang="en-US" dirty="0" smtClean="0"/>
              <a:t>資訊安全</a:t>
            </a:r>
            <a:r>
              <a:rPr lang="zh-TW" altLang="en-US" dirty="0"/>
              <a:t>管理系統─要求</a:t>
            </a:r>
            <a:r>
              <a:rPr lang="zh-TW" altLang="en-US" dirty="0" smtClean="0"/>
              <a:t>事項</a:t>
            </a:r>
            <a:endParaRPr lang="en-US" altLang="zh-TW" dirty="0" smtClean="0"/>
          </a:p>
          <a:p>
            <a:r>
              <a:rPr kumimoji="1" lang="zh-TW" altLang="en-US" dirty="0" smtClean="0">
                <a:latin typeface="微軟正黑體" panose="020B0604030504040204" pitchFamily="34" charset="-120"/>
                <a:ea typeface="微軟正黑體" panose="020B0604030504040204" pitchFamily="34" charset="-120"/>
              </a:rPr>
              <a:t>      資訊安全</a:t>
            </a:r>
            <a:r>
              <a:rPr kumimoji="1" lang="zh-TW" altLang="en-US" dirty="0">
                <a:latin typeface="微軟正黑體" panose="020B0604030504040204" pitchFamily="34" charset="-120"/>
                <a:ea typeface="微軟正黑體" panose="020B0604030504040204" pitchFamily="34" charset="-120"/>
              </a:rPr>
              <a:t>管理為其主要的精神</a:t>
            </a:r>
            <a:r>
              <a:rPr kumimoji="1" lang="zh-TW" altLang="en-US" dirty="0" smtClean="0">
                <a:latin typeface="微軟正黑體" panose="020B0604030504040204" pitchFamily="34" charset="-120"/>
                <a:ea typeface="微軟正黑體" panose="020B0604030504040204" pitchFamily="34" charset="-120"/>
              </a:rPr>
              <a:t>，政府單位</a:t>
            </a:r>
            <a:r>
              <a:rPr kumimoji="1" lang="zh-TW" altLang="en-US" dirty="0">
                <a:latin typeface="微軟正黑體" panose="020B0604030504040204" pitchFamily="34" charset="-120"/>
                <a:ea typeface="微軟正黑體" panose="020B0604030504040204" pitchFamily="34" charset="-120"/>
              </a:rPr>
              <a:t>，已經導入此資訊安全相關</a:t>
            </a:r>
            <a:r>
              <a:rPr kumimoji="1" lang="zh-TW" altLang="en-US" dirty="0" smtClean="0">
                <a:latin typeface="微軟正黑體" panose="020B0604030504040204" pitchFamily="34" charset="-120"/>
                <a:ea typeface="微軟正黑體" panose="020B0604030504040204" pitchFamily="34" charset="-120"/>
              </a:rPr>
              <a:t>標準</a:t>
            </a:r>
            <a:endParaRPr lang="zh-TW" altLang="en-US" dirty="0"/>
          </a:p>
          <a:p>
            <a:pPr marL="285750" indent="-285750">
              <a:buFont typeface="Wingdings" panose="05000000000000000000" pitchFamily="2" charset="2"/>
              <a:buChar char="ü"/>
            </a:pPr>
            <a:r>
              <a:rPr lang="en-US" altLang="zh-TW" dirty="0">
                <a:cs typeface="微軟正黑體" panose="020B0604030504040204" pitchFamily="34" charset="-120"/>
              </a:rPr>
              <a:t>CNS </a:t>
            </a:r>
            <a:r>
              <a:rPr lang="en-US" altLang="zh-TW" dirty="0" smtClean="0">
                <a:cs typeface="微軟正黑體" panose="020B0604030504040204" pitchFamily="34" charset="-120"/>
              </a:rPr>
              <a:t>27005   </a:t>
            </a:r>
            <a:r>
              <a:rPr lang="zh-TW" altLang="en-US" dirty="0" smtClean="0"/>
              <a:t>資訊安全</a:t>
            </a:r>
            <a:r>
              <a:rPr lang="zh-TW" altLang="en-US" dirty="0"/>
              <a:t>風險</a:t>
            </a:r>
            <a:r>
              <a:rPr lang="zh-TW" altLang="en-US" dirty="0" smtClean="0"/>
              <a:t>管理</a:t>
            </a:r>
            <a:endParaRPr lang="en-US" altLang="zh-TW" dirty="0" smtClean="0"/>
          </a:p>
          <a:p>
            <a:r>
              <a:rPr lang="zh-TW" altLang="en-US" dirty="0" smtClean="0"/>
              <a:t>    支援</a:t>
            </a:r>
            <a:r>
              <a:rPr lang="en-US" altLang="zh-TW" dirty="0"/>
              <a:t>CNS </a:t>
            </a:r>
            <a:r>
              <a:rPr lang="en-US" altLang="zh-TW" dirty="0" smtClean="0"/>
              <a:t>27001</a:t>
            </a:r>
            <a:r>
              <a:rPr lang="zh-TW" altLang="en-US" dirty="0" smtClean="0"/>
              <a:t>國家標準</a:t>
            </a:r>
            <a:r>
              <a:rPr lang="zh-TW" altLang="en-US" dirty="0"/>
              <a:t>所規定之一般觀念，包含資訊安全風險管理過程及其</a:t>
            </a:r>
            <a:r>
              <a:rPr lang="zh-TW" altLang="en-US" dirty="0" smtClean="0"/>
              <a:t>活    </a:t>
            </a:r>
            <a:endParaRPr lang="en-US" altLang="zh-TW" dirty="0" smtClean="0"/>
          </a:p>
          <a:p>
            <a:r>
              <a:rPr lang="en-US" altLang="zh-TW" dirty="0"/>
              <a:t> </a:t>
            </a:r>
            <a:r>
              <a:rPr lang="en-US" altLang="zh-TW" dirty="0" smtClean="0"/>
              <a:t>    </a:t>
            </a:r>
            <a:r>
              <a:rPr lang="zh-TW" altLang="en-US" dirty="0" smtClean="0"/>
              <a:t>動</a:t>
            </a:r>
            <a:r>
              <a:rPr lang="zh-TW" altLang="en-US" dirty="0"/>
              <a:t>相關</a:t>
            </a:r>
            <a:r>
              <a:rPr lang="zh-TW" altLang="en-US" dirty="0" smtClean="0"/>
              <a:t>內容</a:t>
            </a:r>
            <a:endParaRPr lang="zh-TW" altLang="en-US" dirty="0"/>
          </a:p>
        </p:txBody>
      </p:sp>
    </p:spTree>
    <p:extLst>
      <p:ext uri="{BB962C8B-B14F-4D97-AF65-F5344CB8AC3E}">
        <p14:creationId xmlns:p14="http://schemas.microsoft.com/office/powerpoint/2010/main" val="18429213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txBox="1">
            <a:spLocks/>
          </p:cNvSpPr>
          <p:nvPr/>
        </p:nvSpPr>
        <p:spPr bwMode="auto">
          <a:xfrm>
            <a:off x="827584" y="3051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zh-TW" altLang="en-US" kern="0" dirty="0" smtClean="0"/>
              <a:t>風險管理標準</a:t>
            </a:r>
            <a:r>
              <a:rPr lang="en-US" altLang="zh-TW" kern="0" dirty="0" smtClean="0"/>
              <a:t>(2/2)</a:t>
            </a:r>
            <a:endParaRPr lang="zh-TW" altLang="en-US" kern="0" dirty="0"/>
          </a:p>
        </p:txBody>
      </p:sp>
      <p:sp>
        <p:nvSpPr>
          <p:cNvPr id="5" name="矩形 4"/>
          <p:cNvSpPr/>
          <p:nvPr/>
        </p:nvSpPr>
        <p:spPr>
          <a:xfrm>
            <a:off x="2593195" y="1212101"/>
            <a:ext cx="2608406" cy="1200329"/>
          </a:xfrm>
          <a:prstGeom prst="rect">
            <a:avLst/>
          </a:prstGeom>
          <a:ln w="28575">
            <a:solidFill>
              <a:schemeClr val="tx1"/>
            </a:solidFill>
          </a:ln>
        </p:spPr>
        <p:txBody>
          <a:bodyPr wrap="none">
            <a:spAutoFit/>
          </a:bodyPr>
          <a:lstStyle/>
          <a:p>
            <a:r>
              <a:rPr lang="en-US" altLang="zh-TW" sz="3600" dirty="0"/>
              <a:t>ISO </a:t>
            </a:r>
            <a:r>
              <a:rPr lang="en-US" altLang="zh-TW" sz="3600" dirty="0" smtClean="0"/>
              <a:t>31000</a:t>
            </a:r>
          </a:p>
          <a:p>
            <a:r>
              <a:rPr lang="zh-TW" altLang="en-US" sz="3600" b="1" dirty="0">
                <a:solidFill>
                  <a:srgbClr val="FF0000"/>
                </a:solidFill>
                <a:effectLst>
                  <a:outerShdw blurRad="38100" dist="38100" dir="2700000" algn="tl">
                    <a:srgbClr val="000000">
                      <a:alpha val="43137"/>
                    </a:srgbClr>
                  </a:outerShdw>
                </a:effectLst>
              </a:rPr>
              <a:t>通用性</a:t>
            </a:r>
            <a:r>
              <a:rPr lang="zh-TW" altLang="en-US" sz="3600" dirty="0"/>
              <a:t>框架</a:t>
            </a:r>
            <a:r>
              <a:rPr lang="en-US" altLang="zh-TW" sz="3600" dirty="0" smtClean="0"/>
              <a:t> </a:t>
            </a:r>
            <a:endParaRPr lang="zh-TW" altLang="en-US" sz="3600" dirty="0"/>
          </a:p>
        </p:txBody>
      </p:sp>
      <p:sp>
        <p:nvSpPr>
          <p:cNvPr id="6" name="矩形 5"/>
          <p:cNvSpPr/>
          <p:nvPr/>
        </p:nvSpPr>
        <p:spPr>
          <a:xfrm>
            <a:off x="5927065" y="2097245"/>
            <a:ext cx="2646878" cy="1015663"/>
          </a:xfrm>
          <a:prstGeom prst="rect">
            <a:avLst/>
          </a:prstGeom>
          <a:ln w="28575">
            <a:solidFill>
              <a:schemeClr val="tx1"/>
            </a:solidFill>
          </a:ln>
        </p:spPr>
        <p:txBody>
          <a:bodyPr wrap="none">
            <a:spAutoFit/>
          </a:bodyPr>
          <a:lstStyle/>
          <a:p>
            <a:r>
              <a:rPr lang="en-US" altLang="zh-TW" sz="3600" dirty="0" smtClean="0"/>
              <a:t>ISO 27001</a:t>
            </a:r>
          </a:p>
          <a:p>
            <a:r>
              <a:rPr lang="zh-TW" altLang="en-US" sz="2400" dirty="0"/>
              <a:t>資訊安全管理系統</a:t>
            </a:r>
          </a:p>
        </p:txBody>
      </p:sp>
      <p:sp>
        <p:nvSpPr>
          <p:cNvPr id="7" name="矩形 6"/>
          <p:cNvSpPr/>
          <p:nvPr/>
        </p:nvSpPr>
        <p:spPr>
          <a:xfrm>
            <a:off x="127589" y="1935376"/>
            <a:ext cx="2339102" cy="954107"/>
          </a:xfrm>
          <a:prstGeom prst="rect">
            <a:avLst/>
          </a:prstGeom>
          <a:ln w="28575">
            <a:solidFill>
              <a:schemeClr val="tx1"/>
            </a:solidFill>
          </a:ln>
        </p:spPr>
        <p:txBody>
          <a:bodyPr wrap="none">
            <a:spAutoFit/>
          </a:bodyPr>
          <a:lstStyle/>
          <a:p>
            <a:r>
              <a:rPr lang="en-US" altLang="zh-TW" sz="2800" dirty="0"/>
              <a:t>ISO </a:t>
            </a:r>
            <a:r>
              <a:rPr lang="en-US" altLang="zh-TW" sz="2800" dirty="0" smtClean="0"/>
              <a:t>31010</a:t>
            </a:r>
          </a:p>
          <a:p>
            <a:r>
              <a:rPr lang="zh-TW" altLang="en-US" sz="2800" dirty="0"/>
              <a:t>風險</a:t>
            </a:r>
            <a:r>
              <a:rPr lang="zh-TW" altLang="en-US" sz="2800" dirty="0" smtClean="0"/>
              <a:t>評鑑技術</a:t>
            </a:r>
            <a:endParaRPr lang="en-US" altLang="zh-TW" sz="2800" dirty="0"/>
          </a:p>
        </p:txBody>
      </p:sp>
      <p:sp>
        <p:nvSpPr>
          <p:cNvPr id="8" name="矩形 7"/>
          <p:cNvSpPr/>
          <p:nvPr/>
        </p:nvSpPr>
        <p:spPr>
          <a:xfrm>
            <a:off x="5954449" y="4400152"/>
            <a:ext cx="2646878" cy="1015663"/>
          </a:xfrm>
          <a:prstGeom prst="rect">
            <a:avLst/>
          </a:prstGeom>
          <a:ln w="28575">
            <a:solidFill>
              <a:schemeClr val="tx1"/>
            </a:solidFill>
          </a:ln>
        </p:spPr>
        <p:txBody>
          <a:bodyPr wrap="none">
            <a:spAutoFit/>
          </a:bodyPr>
          <a:lstStyle/>
          <a:p>
            <a:r>
              <a:rPr lang="en-US" altLang="zh-TW" sz="3600" dirty="0" smtClean="0"/>
              <a:t>ISO 27005</a:t>
            </a:r>
          </a:p>
          <a:p>
            <a:r>
              <a:rPr lang="zh-TW" altLang="en-US" sz="2400" b="1" dirty="0">
                <a:solidFill>
                  <a:srgbClr val="FF0000"/>
                </a:solidFill>
                <a:effectLst>
                  <a:outerShdw blurRad="38100" dist="38100" dir="2700000" algn="tl">
                    <a:srgbClr val="000000">
                      <a:alpha val="43137"/>
                    </a:srgbClr>
                  </a:outerShdw>
                </a:effectLst>
              </a:rPr>
              <a:t>資訊安全</a:t>
            </a:r>
            <a:r>
              <a:rPr lang="zh-TW" altLang="en-US" sz="2400" dirty="0"/>
              <a:t>風險管理</a:t>
            </a:r>
          </a:p>
        </p:txBody>
      </p:sp>
      <p:cxnSp>
        <p:nvCxnSpPr>
          <p:cNvPr id="10" name="直線單箭頭接點 9"/>
          <p:cNvCxnSpPr>
            <a:stCxn id="5" idx="2"/>
            <a:endCxn id="8" idx="0"/>
          </p:cNvCxnSpPr>
          <p:nvPr/>
        </p:nvCxnSpPr>
        <p:spPr bwMode="auto">
          <a:xfrm>
            <a:off x="3897398" y="2412430"/>
            <a:ext cx="3380490" cy="1987722"/>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1" name="直線單箭頭接點 10"/>
          <p:cNvCxnSpPr>
            <a:stCxn id="5" idx="2"/>
          </p:cNvCxnSpPr>
          <p:nvPr/>
        </p:nvCxnSpPr>
        <p:spPr bwMode="auto">
          <a:xfrm>
            <a:off x="3897398" y="2412430"/>
            <a:ext cx="331644" cy="1987723"/>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cxnSp>
        <p:nvCxnSpPr>
          <p:cNvPr id="14" name="直線單箭頭接點 13"/>
          <p:cNvCxnSpPr>
            <a:stCxn id="5" idx="2"/>
            <a:endCxn id="17" idx="0"/>
          </p:cNvCxnSpPr>
          <p:nvPr/>
        </p:nvCxnSpPr>
        <p:spPr bwMode="auto">
          <a:xfrm flipH="1">
            <a:off x="1370351" y="2412430"/>
            <a:ext cx="2527047" cy="1928057"/>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7" name="矩形 16"/>
          <p:cNvSpPr/>
          <p:nvPr/>
        </p:nvSpPr>
        <p:spPr>
          <a:xfrm>
            <a:off x="352786" y="4340487"/>
            <a:ext cx="2035130" cy="1569660"/>
          </a:xfrm>
          <a:prstGeom prst="rect">
            <a:avLst/>
          </a:prstGeom>
          <a:ln w="12700">
            <a:solidFill>
              <a:schemeClr val="tx1"/>
            </a:solidFill>
          </a:ln>
        </p:spPr>
        <p:txBody>
          <a:bodyPr wrap="square">
            <a:spAutoFit/>
          </a:bodyPr>
          <a:lstStyle/>
          <a:p>
            <a:r>
              <a:rPr lang="zh-TW" altLang="en-US" sz="2400" dirty="0"/>
              <a:t>行政院及所屬各機關風險管理及危機處理作業原則</a:t>
            </a:r>
          </a:p>
        </p:txBody>
      </p:sp>
      <p:cxnSp>
        <p:nvCxnSpPr>
          <p:cNvPr id="20" name="直線單箭頭接點 19"/>
          <p:cNvCxnSpPr>
            <a:stCxn id="6" idx="2"/>
            <a:endCxn id="8" idx="0"/>
          </p:cNvCxnSpPr>
          <p:nvPr/>
        </p:nvCxnSpPr>
        <p:spPr bwMode="auto">
          <a:xfrm>
            <a:off x="7250504" y="3112908"/>
            <a:ext cx="27384" cy="1287244"/>
          </a:xfrm>
          <a:prstGeom prst="straightConnector1">
            <a:avLst/>
          </a:prstGeom>
          <a:solidFill>
            <a:schemeClr val="accent1"/>
          </a:solidFill>
          <a:ln w="9525" cap="flat" cmpd="sng" algn="ctr">
            <a:solidFill>
              <a:schemeClr val="tx1"/>
            </a:solidFill>
            <a:prstDash val="solid"/>
            <a:round/>
            <a:headEnd type="none" w="med" len="med"/>
            <a:tailEnd type="triangle"/>
          </a:ln>
          <a:effectLst/>
        </p:spPr>
      </p:cxnSp>
      <p:sp>
        <p:nvSpPr>
          <p:cNvPr id="36" name="矩形 35"/>
          <p:cNvSpPr/>
          <p:nvPr/>
        </p:nvSpPr>
        <p:spPr>
          <a:xfrm>
            <a:off x="2913563" y="4400153"/>
            <a:ext cx="2646878" cy="1015663"/>
          </a:xfrm>
          <a:prstGeom prst="rect">
            <a:avLst/>
          </a:prstGeom>
          <a:ln w="28575">
            <a:solidFill>
              <a:schemeClr val="tx1"/>
            </a:solidFill>
          </a:ln>
        </p:spPr>
        <p:txBody>
          <a:bodyPr wrap="none">
            <a:spAutoFit/>
          </a:bodyPr>
          <a:lstStyle/>
          <a:p>
            <a:r>
              <a:rPr lang="en-US" altLang="zh-TW" sz="3600" dirty="0" smtClean="0"/>
              <a:t>ISO 23894</a:t>
            </a:r>
          </a:p>
          <a:p>
            <a:r>
              <a:rPr lang="zh-TW" altLang="en-US" sz="2400" b="1" dirty="0">
                <a:solidFill>
                  <a:srgbClr val="FF0000"/>
                </a:solidFill>
                <a:effectLst>
                  <a:outerShdw blurRad="38100" dist="38100" dir="2700000" algn="tl">
                    <a:srgbClr val="000000">
                      <a:alpha val="43137"/>
                    </a:srgbClr>
                  </a:outerShdw>
                </a:effectLst>
              </a:rPr>
              <a:t>人工智慧</a:t>
            </a:r>
            <a:r>
              <a:rPr lang="zh-TW" altLang="en-US" sz="2400" dirty="0" smtClean="0"/>
              <a:t>風險</a:t>
            </a:r>
            <a:r>
              <a:rPr lang="zh-TW" altLang="en-US" sz="2400" dirty="0"/>
              <a:t>管理</a:t>
            </a:r>
          </a:p>
        </p:txBody>
      </p:sp>
      <p:sp>
        <p:nvSpPr>
          <p:cNvPr id="40" name="矩形 39"/>
          <p:cNvSpPr/>
          <p:nvPr/>
        </p:nvSpPr>
        <p:spPr>
          <a:xfrm>
            <a:off x="2819687" y="3460488"/>
            <a:ext cx="1421904" cy="646331"/>
          </a:xfrm>
          <a:prstGeom prst="rect">
            <a:avLst/>
          </a:prstGeom>
        </p:spPr>
        <p:txBody>
          <a:bodyPr wrap="square">
            <a:spAutoFit/>
          </a:bodyPr>
          <a:lstStyle/>
          <a:p>
            <a:r>
              <a:rPr lang="zh-TW" altLang="en-US" dirty="0" smtClean="0"/>
              <a:t>延伸到</a:t>
            </a:r>
            <a:r>
              <a:rPr lang="zh-TW" altLang="en-US" dirty="0"/>
              <a:t>人工智慧領域</a:t>
            </a:r>
          </a:p>
        </p:txBody>
      </p:sp>
      <p:sp>
        <p:nvSpPr>
          <p:cNvPr id="41" name="矩形 40"/>
          <p:cNvSpPr/>
          <p:nvPr/>
        </p:nvSpPr>
        <p:spPr>
          <a:xfrm>
            <a:off x="4914963" y="3476822"/>
            <a:ext cx="1421904" cy="646331"/>
          </a:xfrm>
          <a:prstGeom prst="rect">
            <a:avLst/>
          </a:prstGeom>
        </p:spPr>
        <p:txBody>
          <a:bodyPr wrap="square">
            <a:spAutoFit/>
          </a:bodyPr>
          <a:lstStyle/>
          <a:p>
            <a:r>
              <a:rPr lang="zh-TW" altLang="en-US" dirty="0"/>
              <a:t>延伸到資訊安全領域</a:t>
            </a:r>
          </a:p>
        </p:txBody>
      </p:sp>
      <p:sp>
        <p:nvSpPr>
          <p:cNvPr id="2" name="矩形 1"/>
          <p:cNvSpPr/>
          <p:nvPr/>
        </p:nvSpPr>
        <p:spPr>
          <a:xfrm>
            <a:off x="1121664" y="3199872"/>
            <a:ext cx="1255472" cy="923330"/>
          </a:xfrm>
          <a:prstGeom prst="rect">
            <a:avLst/>
          </a:prstGeom>
        </p:spPr>
        <p:txBody>
          <a:bodyPr wrap="none">
            <a:spAutoFit/>
          </a:bodyPr>
          <a:lstStyle/>
          <a:p>
            <a:r>
              <a:rPr lang="zh-TW" altLang="en-US" dirty="0"/>
              <a:t>延伸</a:t>
            </a:r>
            <a:r>
              <a:rPr lang="zh-TW" altLang="en-US" dirty="0" smtClean="0"/>
              <a:t>到</a:t>
            </a:r>
            <a:endParaRPr lang="en-US" altLang="zh-TW" dirty="0" smtClean="0"/>
          </a:p>
          <a:p>
            <a:r>
              <a:rPr lang="zh-TW" altLang="en-US" dirty="0" smtClean="0"/>
              <a:t>政府機關</a:t>
            </a:r>
            <a:endParaRPr lang="en-US" altLang="zh-TW" dirty="0" smtClean="0"/>
          </a:p>
          <a:p>
            <a:r>
              <a:rPr lang="en-US" altLang="zh-TW" dirty="0" smtClean="0"/>
              <a:t>(</a:t>
            </a:r>
            <a:r>
              <a:rPr lang="zh-TW" altLang="en-US" dirty="0" smtClean="0"/>
              <a:t>法規要求</a:t>
            </a:r>
            <a:r>
              <a:rPr lang="en-US" altLang="zh-TW" dirty="0" smtClean="0"/>
              <a:t>)</a:t>
            </a:r>
            <a:endParaRPr lang="zh-TW" altLang="en-US" dirty="0"/>
          </a:p>
        </p:txBody>
      </p:sp>
      <p:sp>
        <p:nvSpPr>
          <p:cNvPr id="3" name="矩形 2"/>
          <p:cNvSpPr/>
          <p:nvPr/>
        </p:nvSpPr>
        <p:spPr>
          <a:xfrm>
            <a:off x="7380643" y="3151429"/>
            <a:ext cx="713984" cy="369332"/>
          </a:xfrm>
          <a:prstGeom prst="rect">
            <a:avLst/>
          </a:prstGeom>
        </p:spPr>
        <p:txBody>
          <a:bodyPr wrap="square">
            <a:spAutoFit/>
          </a:bodyPr>
          <a:lstStyle/>
          <a:p>
            <a:r>
              <a:rPr lang="zh-TW" altLang="en-US" dirty="0" smtClean="0"/>
              <a:t>要求</a:t>
            </a:r>
            <a:endParaRPr lang="en-US" altLang="zh-TW" dirty="0"/>
          </a:p>
        </p:txBody>
      </p:sp>
    </p:spTree>
    <p:extLst>
      <p:ext uri="{BB962C8B-B14F-4D97-AF65-F5344CB8AC3E}">
        <p14:creationId xmlns:p14="http://schemas.microsoft.com/office/powerpoint/2010/main" val="8074542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8" name="Rectangle 3"/>
          <p:cNvSpPr>
            <a:spLocks noChangeArrowheads="1"/>
          </p:cNvSpPr>
          <p:nvPr/>
        </p:nvSpPr>
        <p:spPr bwMode="auto">
          <a:xfrm>
            <a:off x="623979" y="3073143"/>
            <a:ext cx="1873250" cy="379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nSpc>
                <a:spcPct val="120000"/>
              </a:lnSpc>
              <a:spcBef>
                <a:spcPts val="200"/>
              </a:spcBef>
              <a:spcAft>
                <a:spcPts val="200"/>
              </a:spcAft>
            </a:pPr>
            <a:endParaRPr lang="en-US" altLang="ja-JP" sz="1600">
              <a:solidFill>
                <a:srgbClr val="000000"/>
              </a:solidFill>
              <a:latin typeface="微軟正黑體" panose="020B0604030504040204" pitchFamily="34" charset="-120"/>
              <a:ea typeface="微軟正黑體" panose="020B0604030504040204" pitchFamily="34" charset="-120"/>
            </a:endParaRPr>
          </a:p>
        </p:txBody>
      </p:sp>
      <p:sp>
        <p:nvSpPr>
          <p:cNvPr id="56" name="Flowchart: Process 42"/>
          <p:cNvSpPr>
            <a:spLocks/>
          </p:cNvSpPr>
          <p:nvPr/>
        </p:nvSpPr>
        <p:spPr bwMode="auto">
          <a:xfrm rot="21295168">
            <a:off x="417104" y="2858431"/>
            <a:ext cx="2201863" cy="3390731"/>
          </a:xfrm>
          <a:custGeom>
            <a:avLst/>
            <a:gdLst>
              <a:gd name="T0" fmla="*/ 0 w 10000"/>
              <a:gd name="T1" fmla="*/ 0 h 10000"/>
              <a:gd name="T2" fmla="*/ 2147483647 w 10000"/>
              <a:gd name="T3" fmla="*/ 0 h 10000"/>
              <a:gd name="T4" fmla="*/ 2147483647 w 10000"/>
              <a:gd name="T5" fmla="*/ 2147483647 h 10000"/>
              <a:gd name="T6" fmla="*/ 0 w 10000"/>
              <a:gd name="T7" fmla="*/ 2147483647 h 10000"/>
              <a:gd name="T8" fmla="*/ 0 w 10000"/>
              <a:gd name="T9" fmla="*/ 0 h 1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0000" h="10000">
                <a:moveTo>
                  <a:pt x="0" y="0"/>
                </a:moveTo>
                <a:cubicBezTo>
                  <a:pt x="3333" y="0"/>
                  <a:pt x="5314" y="761"/>
                  <a:pt x="10000" y="0"/>
                </a:cubicBezTo>
                <a:cubicBezTo>
                  <a:pt x="9762" y="4982"/>
                  <a:pt x="9801" y="6033"/>
                  <a:pt x="10000" y="10000"/>
                </a:cubicBezTo>
                <a:cubicBezTo>
                  <a:pt x="5672" y="9112"/>
                  <a:pt x="3333" y="10000"/>
                  <a:pt x="0" y="10000"/>
                </a:cubicBezTo>
                <a:cubicBezTo>
                  <a:pt x="239" y="5525"/>
                  <a:pt x="0" y="3333"/>
                  <a:pt x="0" y="0"/>
                </a:cubicBezTo>
                <a:close/>
              </a:path>
            </a:pathLst>
          </a:custGeom>
          <a:gradFill rotWithShape="1">
            <a:gsLst>
              <a:gs pos="0">
                <a:srgbClr val="FFE115"/>
              </a:gs>
              <a:gs pos="58000">
                <a:srgbClr val="FFE321"/>
              </a:gs>
              <a:gs pos="100000">
                <a:srgbClr val="EEB000"/>
              </a:gs>
            </a:gsLst>
            <a:lin ang="18900000" scaled="1"/>
          </a:gradFill>
          <a:ln>
            <a:noFill/>
          </a:ln>
          <a:effectLst>
            <a:outerShdw blurRad="76200" dist="38100" dir="8100000" algn="tr" rotWithShape="0">
              <a:srgbClr val="000000">
                <a:alpha val="39998"/>
              </a:srgbClr>
            </a:outerShdw>
          </a:effectLst>
          <a:extLst>
            <a:ext uri="{91240B29-F687-4F45-9708-019B960494DF}">
              <a14:hiddenLine xmlns:a14="http://schemas.microsoft.com/office/drawing/2010/main" w="25400" cap="flat" cmpd="sng">
                <a:solidFill>
                  <a:srgbClr val="000000"/>
                </a:solidFill>
                <a:prstDash val="solid"/>
                <a:round/>
                <a:headEnd/>
                <a:tailEnd/>
              </a14:hiddenLine>
            </a:ext>
          </a:extLst>
        </p:spPr>
        <p:txBody>
          <a:bodyPr anchor="ctr"/>
          <a:lstStyle/>
          <a:p>
            <a:pPr>
              <a:defRPr/>
            </a:pPr>
            <a:endParaRPr lang="zh-TW" altLang="en-US"/>
          </a:p>
        </p:txBody>
      </p:sp>
      <p:grpSp>
        <p:nvGrpSpPr>
          <p:cNvPr id="57" name="Group 56"/>
          <p:cNvGrpSpPr/>
          <p:nvPr/>
        </p:nvGrpSpPr>
        <p:grpSpPr bwMode="auto">
          <a:xfrm rot="21295168">
            <a:off x="1214231" y="2799725"/>
            <a:ext cx="342882" cy="327220"/>
            <a:chOff x="4917710" y="2286000"/>
            <a:chExt cx="2558338" cy="2438406"/>
          </a:xfrm>
          <a:effectLst>
            <a:outerShdw blurRad="50800" dist="38100" dir="8100000" algn="tr" rotWithShape="0">
              <a:prstClr val="black">
                <a:alpha val="40000"/>
              </a:prstClr>
            </a:outerShdw>
          </a:effectLst>
        </p:grpSpPr>
        <p:sp>
          <p:nvSpPr>
            <p:cNvPr id="59" name="Oval 58"/>
            <p:cNvSpPr/>
            <p:nvPr/>
          </p:nvSpPr>
          <p:spPr>
            <a:xfrm>
              <a:off x="4917710" y="2429075"/>
              <a:ext cx="2295312" cy="2295331"/>
            </a:xfrm>
            <a:prstGeom prst="ellipse">
              <a:avLst/>
            </a:prstGeom>
            <a:gradFill rotWithShape="1">
              <a:gsLst>
                <a:gs pos="0">
                  <a:srgbClr val="DA0000"/>
                </a:gs>
                <a:gs pos="80000">
                  <a:srgbClr val="D60000"/>
                </a:gs>
                <a:gs pos="100000">
                  <a:srgbClr val="AC0000"/>
                </a:gs>
              </a:gsLst>
              <a:lin ang="16200000" scaled="0"/>
            </a:gradFill>
            <a:ln w="9525" cap="flat" cmpd="sng" algn="ctr">
              <a:noFill/>
              <a:prstDash val="solid"/>
            </a:ln>
            <a:effectLst/>
            <a:scene3d>
              <a:camera prst="orthographicFront">
                <a:rot lat="0" lon="0" rev="0"/>
              </a:camera>
              <a:lightRig rig="contrasting" dir="t">
                <a:rot lat="0" lon="0" rev="1500000"/>
              </a:lightRig>
            </a:scene3d>
            <a:sp3d prstMaterial="metal">
              <a:bevelT w="88900" h="88900"/>
            </a:sp3d>
          </p:spPr>
          <p:txBody>
            <a:bodyPr anchor="ctr"/>
            <a:lstStyle/>
            <a:p>
              <a:pPr algn="ctr" eaLnBrk="1" fontAlgn="auto" hangingPunct="1">
                <a:spcBef>
                  <a:spcPts val="0"/>
                </a:spcBef>
                <a:spcAft>
                  <a:spcPts val="0"/>
                </a:spcAft>
                <a:defRPr/>
              </a:pPr>
              <a:endParaRPr kumimoji="0" lang="en-US" kern="0">
                <a:solidFill>
                  <a:prstClr val="white"/>
                </a:solidFill>
                <a:latin typeface="Calibri"/>
                <a:ea typeface="+mn-ea"/>
              </a:endParaRPr>
            </a:p>
          </p:txBody>
        </p:sp>
        <p:sp>
          <p:nvSpPr>
            <p:cNvPr id="60" name="Oval 59"/>
            <p:cNvSpPr/>
            <p:nvPr/>
          </p:nvSpPr>
          <p:spPr>
            <a:xfrm>
              <a:off x="5945828" y="2286000"/>
              <a:ext cx="1530220" cy="1530222"/>
            </a:xfrm>
            <a:prstGeom prst="ellipse">
              <a:avLst/>
            </a:prstGeom>
            <a:gradFill rotWithShape="1">
              <a:gsLst>
                <a:gs pos="0">
                  <a:srgbClr val="DA0000"/>
                </a:gs>
                <a:gs pos="80000">
                  <a:srgbClr val="D60000"/>
                </a:gs>
                <a:gs pos="100000">
                  <a:srgbClr val="AC0000"/>
                </a:gs>
              </a:gsLst>
              <a:lin ang="16200000" scaled="0"/>
            </a:gradFill>
            <a:ln w="9525" cap="flat" cmpd="sng" algn="ctr">
              <a:noFill/>
              <a:prstDash val="solid"/>
            </a:ln>
            <a:effectLst/>
            <a:scene3d>
              <a:camera prst="orthographicFront">
                <a:rot lat="0" lon="0" rev="0"/>
              </a:camera>
              <a:lightRig rig="contrasting" dir="t">
                <a:rot lat="0" lon="0" rev="1500000"/>
              </a:lightRig>
            </a:scene3d>
            <a:sp3d prstMaterial="metal">
              <a:bevelT w="88900" h="88900"/>
            </a:sp3d>
          </p:spPr>
          <p:txBody>
            <a:bodyPr anchor="ctr"/>
            <a:lstStyle/>
            <a:p>
              <a:pPr algn="ctr" eaLnBrk="1" fontAlgn="auto" hangingPunct="1">
                <a:spcBef>
                  <a:spcPts val="0"/>
                </a:spcBef>
                <a:spcAft>
                  <a:spcPts val="0"/>
                </a:spcAft>
                <a:defRPr/>
              </a:pPr>
              <a:endParaRPr kumimoji="0" lang="en-US" kern="0">
                <a:solidFill>
                  <a:prstClr val="white"/>
                </a:solidFill>
                <a:latin typeface="Calibri"/>
                <a:ea typeface="+mn-ea"/>
              </a:endParaRPr>
            </a:p>
          </p:txBody>
        </p:sp>
        <p:sp>
          <p:nvSpPr>
            <p:cNvPr id="61" name="Oval 10"/>
            <p:cNvSpPr/>
            <p:nvPr/>
          </p:nvSpPr>
          <p:spPr>
            <a:xfrm>
              <a:off x="6054828" y="2667000"/>
              <a:ext cx="1107972" cy="1023687"/>
            </a:xfrm>
            <a:custGeom>
              <a:avLst/>
              <a:gdLst>
                <a:gd name="connsiteX0" fmla="*/ 189017 w 1045863"/>
                <a:gd name="connsiteY0" fmla="*/ 0 h 1103312"/>
                <a:gd name="connsiteX1" fmla="*/ 97056 w 1045863"/>
                <a:gd name="connsiteY1" fmla="*/ 259496 h 1103312"/>
                <a:gd name="connsiteX2" fmla="*/ 828576 w 1045863"/>
                <a:gd name="connsiteY2" fmla="*/ 991016 h 1103312"/>
                <a:gd name="connsiteX3" fmla="*/ 1045863 w 1045863"/>
                <a:gd name="connsiteY3" fmla="*/ 954468 h 1103312"/>
                <a:gd name="connsiteX4" fmla="*/ 640080 w 1045863"/>
                <a:gd name="connsiteY4" fmla="*/ 1103312 h 1103312"/>
                <a:gd name="connsiteX5" fmla="*/ 0 w 1045863"/>
                <a:gd name="connsiteY5" fmla="*/ 463232 h 1103312"/>
                <a:gd name="connsiteX6" fmla="*/ 189017 w 1045863"/>
                <a:gd name="connsiteY6" fmla="*/ 0 h 1103312"/>
                <a:gd name="connsiteX0" fmla="*/ 189017 w 1045863"/>
                <a:gd name="connsiteY0" fmla="*/ 0 h 1103312"/>
                <a:gd name="connsiteX1" fmla="*/ 482067 w 1045863"/>
                <a:gd name="connsiteY1" fmla="*/ 800917 h 1103312"/>
                <a:gd name="connsiteX2" fmla="*/ 828576 w 1045863"/>
                <a:gd name="connsiteY2" fmla="*/ 991016 h 1103312"/>
                <a:gd name="connsiteX3" fmla="*/ 1045863 w 1045863"/>
                <a:gd name="connsiteY3" fmla="*/ 954468 h 1103312"/>
                <a:gd name="connsiteX4" fmla="*/ 640080 w 1045863"/>
                <a:gd name="connsiteY4" fmla="*/ 1103312 h 1103312"/>
                <a:gd name="connsiteX5" fmla="*/ 0 w 1045863"/>
                <a:gd name="connsiteY5" fmla="*/ 463232 h 1103312"/>
                <a:gd name="connsiteX6" fmla="*/ 189017 w 1045863"/>
                <a:gd name="connsiteY6" fmla="*/ 0 h 1103312"/>
                <a:gd name="connsiteX0" fmla="*/ 189017 w 1045863"/>
                <a:gd name="connsiteY0" fmla="*/ 0 h 1103312"/>
                <a:gd name="connsiteX1" fmla="*/ 482067 w 1045863"/>
                <a:gd name="connsiteY1" fmla="*/ 800917 h 1103312"/>
                <a:gd name="connsiteX2" fmla="*/ 1045863 w 1045863"/>
                <a:gd name="connsiteY2" fmla="*/ 954468 h 1103312"/>
                <a:gd name="connsiteX3" fmla="*/ 640080 w 1045863"/>
                <a:gd name="connsiteY3" fmla="*/ 1103312 h 1103312"/>
                <a:gd name="connsiteX4" fmla="*/ 0 w 1045863"/>
                <a:gd name="connsiteY4" fmla="*/ 463232 h 1103312"/>
                <a:gd name="connsiteX5" fmla="*/ 189017 w 1045863"/>
                <a:gd name="connsiteY5" fmla="*/ 0 h 1103312"/>
                <a:gd name="connsiteX0" fmla="*/ 189017 w 1178210"/>
                <a:gd name="connsiteY0" fmla="*/ 0 h 1103312"/>
                <a:gd name="connsiteX1" fmla="*/ 482067 w 1178210"/>
                <a:gd name="connsiteY1" fmla="*/ 800917 h 1103312"/>
                <a:gd name="connsiteX2" fmla="*/ 1178210 w 1178210"/>
                <a:gd name="connsiteY2" fmla="*/ 810089 h 1103312"/>
                <a:gd name="connsiteX3" fmla="*/ 640080 w 1178210"/>
                <a:gd name="connsiteY3" fmla="*/ 1103312 h 1103312"/>
                <a:gd name="connsiteX4" fmla="*/ 0 w 1178210"/>
                <a:gd name="connsiteY4" fmla="*/ 463232 h 1103312"/>
                <a:gd name="connsiteX5" fmla="*/ 189017 w 1178210"/>
                <a:gd name="connsiteY5" fmla="*/ 0 h 1103312"/>
                <a:gd name="connsiteX0" fmla="*/ 189017 w 1178210"/>
                <a:gd name="connsiteY0" fmla="*/ 0 h 1103312"/>
                <a:gd name="connsiteX1" fmla="*/ 494099 w 1178210"/>
                <a:gd name="connsiteY1" fmla="*/ 596381 h 1103312"/>
                <a:gd name="connsiteX2" fmla="*/ 1178210 w 1178210"/>
                <a:gd name="connsiteY2" fmla="*/ 810089 h 1103312"/>
                <a:gd name="connsiteX3" fmla="*/ 640080 w 1178210"/>
                <a:gd name="connsiteY3" fmla="*/ 1103312 h 1103312"/>
                <a:gd name="connsiteX4" fmla="*/ 0 w 1178210"/>
                <a:gd name="connsiteY4" fmla="*/ 463232 h 1103312"/>
                <a:gd name="connsiteX5" fmla="*/ 189017 w 1178210"/>
                <a:gd name="connsiteY5" fmla="*/ 0 h 1103312"/>
                <a:gd name="connsiteX0" fmla="*/ 2404 w 991597"/>
                <a:gd name="connsiteY0" fmla="*/ 8836 h 1112148"/>
                <a:gd name="connsiteX1" fmla="*/ 307486 w 991597"/>
                <a:gd name="connsiteY1" fmla="*/ 605217 h 1112148"/>
                <a:gd name="connsiteX2" fmla="*/ 991597 w 991597"/>
                <a:gd name="connsiteY2" fmla="*/ 818925 h 1112148"/>
                <a:gd name="connsiteX3" fmla="*/ 453467 w 991597"/>
                <a:gd name="connsiteY3" fmla="*/ 1112148 h 1112148"/>
                <a:gd name="connsiteX4" fmla="*/ 2404 w 991597"/>
                <a:gd name="connsiteY4" fmla="*/ 8836 h 1112148"/>
                <a:gd name="connsiteX0" fmla="*/ 2404 w 991597"/>
                <a:gd name="connsiteY0" fmla="*/ 8836 h 887846"/>
                <a:gd name="connsiteX1" fmla="*/ 307486 w 991597"/>
                <a:gd name="connsiteY1" fmla="*/ 605217 h 887846"/>
                <a:gd name="connsiteX2" fmla="*/ 991597 w 991597"/>
                <a:gd name="connsiteY2" fmla="*/ 818925 h 887846"/>
                <a:gd name="connsiteX3" fmla="*/ 104551 w 991597"/>
                <a:gd name="connsiteY3" fmla="*/ 883548 h 887846"/>
                <a:gd name="connsiteX4" fmla="*/ 2404 w 991597"/>
                <a:gd name="connsiteY4" fmla="*/ 8836 h 887846"/>
                <a:gd name="connsiteX0" fmla="*/ 118779 w 1107972"/>
                <a:gd name="connsiteY0" fmla="*/ 8836 h 1021343"/>
                <a:gd name="connsiteX1" fmla="*/ 423861 w 1107972"/>
                <a:gd name="connsiteY1" fmla="*/ 605217 h 1021343"/>
                <a:gd name="connsiteX2" fmla="*/ 1107972 w 1107972"/>
                <a:gd name="connsiteY2" fmla="*/ 818925 h 1021343"/>
                <a:gd name="connsiteX3" fmla="*/ 220926 w 1107972"/>
                <a:gd name="connsiteY3" fmla="*/ 883548 h 1021343"/>
                <a:gd name="connsiteX4" fmla="*/ 118779 w 1107972"/>
                <a:gd name="connsiteY4" fmla="*/ 8836 h 1021343"/>
                <a:gd name="connsiteX0" fmla="*/ 118779 w 1107972"/>
                <a:gd name="connsiteY0" fmla="*/ 11180 h 1023687"/>
                <a:gd name="connsiteX1" fmla="*/ 423861 w 1107972"/>
                <a:gd name="connsiteY1" fmla="*/ 607561 h 1023687"/>
                <a:gd name="connsiteX2" fmla="*/ 1107972 w 1107972"/>
                <a:gd name="connsiteY2" fmla="*/ 821269 h 1023687"/>
                <a:gd name="connsiteX3" fmla="*/ 220926 w 1107972"/>
                <a:gd name="connsiteY3" fmla="*/ 885892 h 1023687"/>
                <a:gd name="connsiteX4" fmla="*/ 118779 w 1107972"/>
                <a:gd name="connsiteY4" fmla="*/ 11180 h 10236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7972" h="1023687">
                  <a:moveTo>
                    <a:pt x="118779" y="11180"/>
                  </a:moveTo>
                  <a:cubicBezTo>
                    <a:pt x="94449" y="-73308"/>
                    <a:pt x="114617" y="340199"/>
                    <a:pt x="423861" y="607561"/>
                  </a:cubicBezTo>
                  <a:cubicBezTo>
                    <a:pt x="733105" y="874923"/>
                    <a:pt x="1081637" y="770870"/>
                    <a:pt x="1107972" y="821269"/>
                  </a:cubicBezTo>
                  <a:cubicBezTo>
                    <a:pt x="999127" y="915094"/>
                    <a:pt x="664577" y="1186681"/>
                    <a:pt x="220926" y="885892"/>
                  </a:cubicBezTo>
                  <a:cubicBezTo>
                    <a:pt x="-222725" y="585103"/>
                    <a:pt x="143109" y="95668"/>
                    <a:pt x="118779" y="11180"/>
                  </a:cubicBezTo>
                  <a:close/>
                </a:path>
              </a:pathLst>
            </a:custGeom>
            <a:solidFill>
              <a:sysClr val="window" lastClr="FFFFFF"/>
            </a:solidFill>
            <a:ln w="25400" cap="flat" cmpd="sng" algn="ctr">
              <a:noFill/>
              <a:prstDash val="solid"/>
            </a:ln>
            <a:effectLst/>
          </p:spPr>
          <p:txBody>
            <a:bodyPr anchor="ctr"/>
            <a:lstStyle/>
            <a:p>
              <a:pPr algn="ctr" eaLnBrk="1" fontAlgn="auto" hangingPunct="1">
                <a:spcBef>
                  <a:spcPts val="0"/>
                </a:spcBef>
                <a:spcAft>
                  <a:spcPts val="0"/>
                </a:spcAft>
                <a:defRPr/>
              </a:pPr>
              <a:endParaRPr kumimoji="0" lang="en-US" kern="0">
                <a:solidFill>
                  <a:prstClr val="white"/>
                </a:solidFill>
                <a:latin typeface="Calibri"/>
                <a:ea typeface="+mn-ea"/>
              </a:endParaRPr>
            </a:p>
          </p:txBody>
        </p:sp>
      </p:grpSp>
      <p:sp>
        <p:nvSpPr>
          <p:cNvPr id="54281" name="TextBox 57"/>
          <p:cNvSpPr txBox="1">
            <a:spLocks noChangeArrowheads="1"/>
          </p:cNvSpPr>
          <p:nvPr/>
        </p:nvSpPr>
        <p:spPr bwMode="auto">
          <a:xfrm rot="-304832">
            <a:off x="581442" y="3339777"/>
            <a:ext cx="1957387" cy="2659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nSpc>
                <a:spcPct val="120000"/>
              </a:lnSpc>
              <a:spcBef>
                <a:spcPts val="200"/>
              </a:spcBef>
              <a:spcAft>
                <a:spcPts val="200"/>
              </a:spcAft>
            </a:pPr>
            <a:r>
              <a:rPr lang="zh-TW" altLang="en-US" i="0" dirty="0">
                <a:solidFill>
                  <a:srgbClr val="000000"/>
                </a:solidFill>
                <a:latin typeface="微軟正黑體" panose="020B0604030504040204" pitchFamily="34" charset="-120"/>
                <a:ea typeface="微軟正黑體" panose="020B0604030504040204" pitchFamily="34" charset="-120"/>
              </a:rPr>
              <a:t>組織所有的活動均涵蓋在風險管理的範圍內，須對風險進行識別與分析，並評估風險處理方法的影響，滿足組織風險條件，以達成組織目標</a:t>
            </a:r>
          </a:p>
        </p:txBody>
      </p:sp>
      <p:pic>
        <p:nvPicPr>
          <p:cNvPr id="54282" name="Picture 4"/>
          <p:cNvPicPr>
            <a:picLocks noChangeAspect="1"/>
          </p:cNvPicPr>
          <p:nvPr/>
        </p:nvPicPr>
        <p:blipFill rotWithShape="1">
          <a:blip r:embed="rId3"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p:blipFill>
        <p:spPr bwMode="auto">
          <a:xfrm rot="1651306">
            <a:off x="2023221" y="4959820"/>
            <a:ext cx="1119352" cy="851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圖片 2">
            <a:extLst>
              <a:ext uri="{FF2B5EF4-FFF2-40B4-BE49-F238E27FC236}">
                <a16:creationId xmlns:a16="http://schemas.microsoft.com/office/drawing/2014/main" id="{87AAA611-7F1C-4427-818A-A5259990FF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75365" y="2446061"/>
            <a:ext cx="5620626" cy="4215470"/>
          </a:xfrm>
          <a:prstGeom prst="rect">
            <a:avLst/>
          </a:prstGeom>
        </p:spPr>
      </p:pic>
      <p:sp>
        <p:nvSpPr>
          <p:cNvPr id="54275" name="Content Placeholder 2"/>
          <p:cNvSpPr>
            <a:spLocks noGrp="1"/>
          </p:cNvSpPr>
          <p:nvPr>
            <p:ph sz="quarter" idx="4294967295"/>
          </p:nvPr>
        </p:nvSpPr>
        <p:spPr>
          <a:xfrm>
            <a:off x="243438" y="1007610"/>
            <a:ext cx="8679106" cy="1660944"/>
          </a:xfrm>
        </p:spPr>
        <p:txBody>
          <a:bodyPr/>
          <a:lstStyle/>
          <a:p>
            <a:r>
              <a:rPr lang="en-US" altLang="zh-TW" sz="2000" dirty="0"/>
              <a:t>ISO 31000 </a:t>
            </a:r>
            <a:r>
              <a:rPr lang="zh-TW" altLang="en-US" sz="2000" dirty="0"/>
              <a:t>是一項國際標準，它為風險管理提供了</a:t>
            </a:r>
            <a:r>
              <a:rPr lang="zh-TW" altLang="en-US" sz="2000" dirty="0" smtClean="0"/>
              <a:t>原則</a:t>
            </a:r>
            <a:r>
              <a:rPr lang="zh-TW" altLang="en-US" sz="2000" dirty="0" smtClean="0">
                <a:latin typeface="PMingLiU" panose="02020500000000000000" pitchFamily="18" charset="-120"/>
                <a:ea typeface="PMingLiU" panose="02020500000000000000" pitchFamily="18" charset="-120"/>
              </a:rPr>
              <a:t>、</a:t>
            </a:r>
            <a:r>
              <a:rPr lang="zh-TW" altLang="en-US" sz="2000" dirty="0">
                <a:latin typeface="PMingLiU" panose="02020500000000000000" pitchFamily="18" charset="-120"/>
                <a:ea typeface="PMingLiU" panose="02020500000000000000" pitchFamily="18" charset="-120"/>
              </a:rPr>
              <a:t>框架</a:t>
            </a:r>
            <a:r>
              <a:rPr lang="zh-TW" altLang="en-US" sz="2000" dirty="0" smtClean="0"/>
              <a:t>和過程</a:t>
            </a:r>
            <a:r>
              <a:rPr lang="en-US" altLang="zh-TW" sz="2000" dirty="0" smtClean="0"/>
              <a:t>(Process)</a:t>
            </a:r>
            <a:r>
              <a:rPr lang="zh-TW" altLang="en-US" sz="2000" dirty="0" smtClean="0"/>
              <a:t>。它</a:t>
            </a:r>
            <a:r>
              <a:rPr lang="zh-TW" altLang="en-US" sz="2000" dirty="0"/>
              <a:t>概述了一種全面的方法，用於識別、分析、評估、處理、監控和溝通組織內的風險。這是一個通用性框架。</a:t>
            </a:r>
          </a:p>
          <a:p>
            <a:r>
              <a:rPr lang="zh-TW" altLang="en-US" sz="2000" dirty="0"/>
              <a:t>我國對應之規範維</a:t>
            </a:r>
            <a:r>
              <a:rPr lang="en-US" altLang="zh-TW" sz="2000" dirty="0"/>
              <a:t>CNS 31000</a:t>
            </a:r>
          </a:p>
        </p:txBody>
      </p:sp>
      <p:sp>
        <p:nvSpPr>
          <p:cNvPr id="13" name="Rectangle 7"/>
          <p:cNvSpPr txBox="1">
            <a:spLocks noChangeArrowheads="1"/>
          </p:cNvSpPr>
          <p:nvPr/>
        </p:nvSpPr>
        <p:spPr bwMode="auto">
          <a:xfrm>
            <a:off x="655952" y="105971"/>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251428530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3" name="Content Placeholder 2"/>
          <p:cNvSpPr>
            <a:spLocks noGrp="1"/>
          </p:cNvSpPr>
          <p:nvPr>
            <p:ph sz="quarter" idx="10"/>
          </p:nvPr>
        </p:nvSpPr>
        <p:spPr>
          <a:xfrm>
            <a:off x="251520" y="862496"/>
            <a:ext cx="8352928" cy="5230800"/>
          </a:xfrm>
        </p:spPr>
        <p:txBody>
          <a:bodyPr/>
          <a:lstStyle/>
          <a:p>
            <a:r>
              <a:rPr lang="zh-TW" altLang="en-US" sz="2400" dirty="0"/>
              <a:t>風險管理</a:t>
            </a:r>
            <a:r>
              <a:rPr lang="zh-TW" altLang="en-US" sz="2400" dirty="0" smtClean="0"/>
              <a:t>原則</a:t>
            </a:r>
            <a:r>
              <a:rPr lang="en-US" altLang="zh-TW" sz="2400" dirty="0" smtClean="0"/>
              <a:t>:</a:t>
            </a:r>
          </a:p>
          <a:p>
            <a:pPr lvl="1"/>
            <a:r>
              <a:rPr lang="zh-TW" altLang="zh-TW" sz="1800" dirty="0" smtClean="0"/>
              <a:t>風險管理是</a:t>
            </a:r>
            <a:r>
              <a:rPr lang="zh-TW" altLang="en-US" sz="1800" dirty="0"/>
              <a:t>一個管理過程，包括對風險的定義、測量、評估和發展因應風險的策略。 </a:t>
            </a:r>
            <a:endParaRPr lang="en-US" altLang="zh-TW" sz="1800" dirty="0" smtClean="0"/>
          </a:p>
          <a:p>
            <a:pPr lvl="1"/>
            <a:r>
              <a:rPr lang="zh-TW" altLang="en-US" sz="1800" dirty="0" smtClean="0"/>
              <a:t>目的</a:t>
            </a:r>
            <a:r>
              <a:rPr lang="zh-TW" altLang="en-US" sz="1800" dirty="0"/>
              <a:t>是將可避免的風險、成本及損失極小化。</a:t>
            </a:r>
            <a:r>
              <a:rPr lang="zh-TW" altLang="zh-TW" sz="1800" dirty="0"/>
              <a:t>規範的原則為風險管理提供有效果且有效率的指導，傳達其價值並解釋其意圖與</a:t>
            </a:r>
            <a:r>
              <a:rPr lang="zh-TW" altLang="zh-TW" sz="1800" dirty="0" smtClean="0"/>
              <a:t>目的</a:t>
            </a:r>
            <a:endParaRPr lang="en-US" altLang="zh-TW" sz="1800" dirty="0"/>
          </a:p>
          <a:p>
            <a:r>
              <a:rPr lang="zh-TW" altLang="zh-TW" sz="2200" dirty="0" smtClean="0"/>
              <a:t>風險</a:t>
            </a:r>
            <a:r>
              <a:rPr lang="zh-TW" altLang="zh-TW" sz="2200" dirty="0"/>
              <a:t>管理原則</a:t>
            </a:r>
            <a:r>
              <a:rPr lang="zh-TW" altLang="en-US" sz="2200" dirty="0"/>
              <a:t>如下：</a:t>
            </a:r>
            <a:endParaRPr lang="en-US" altLang="zh-TW" sz="2200" dirty="0">
              <a:cs typeface="微軟正黑體" panose="020B0604030504040204" pitchFamily="34" charset="-120"/>
            </a:endParaRPr>
          </a:p>
          <a:p>
            <a:pPr lvl="1">
              <a:lnSpc>
                <a:spcPct val="110000"/>
              </a:lnSpc>
            </a:pPr>
            <a:r>
              <a:rPr lang="zh-TW" altLang="zh-TW" sz="2000" dirty="0"/>
              <a:t>原則</a:t>
            </a:r>
            <a:r>
              <a:rPr lang="en-US" altLang="zh-TW" sz="2000" dirty="0"/>
              <a:t>1</a:t>
            </a:r>
            <a:r>
              <a:rPr lang="zh-TW" altLang="zh-TW" sz="2000" dirty="0"/>
              <a:t>：框架與過程應該客製化且互相對應</a:t>
            </a:r>
          </a:p>
          <a:p>
            <a:pPr lvl="1">
              <a:lnSpc>
                <a:spcPct val="110000"/>
              </a:lnSpc>
            </a:pPr>
            <a:r>
              <a:rPr lang="zh-TW" altLang="zh-TW" sz="2000" dirty="0"/>
              <a:t>原則</a:t>
            </a:r>
            <a:r>
              <a:rPr lang="en-US" altLang="zh-TW" sz="2000" dirty="0"/>
              <a:t>2</a:t>
            </a:r>
            <a:r>
              <a:rPr lang="zh-TW" altLang="zh-TW" sz="2000" dirty="0"/>
              <a:t>：利害關係人必須適當與及時的參與</a:t>
            </a:r>
          </a:p>
          <a:p>
            <a:pPr lvl="1">
              <a:lnSpc>
                <a:spcPct val="110000"/>
              </a:lnSpc>
            </a:pPr>
            <a:r>
              <a:rPr lang="zh-TW" altLang="zh-TW" sz="2000" dirty="0"/>
              <a:t>原則</a:t>
            </a:r>
            <a:r>
              <a:rPr lang="en-US" altLang="zh-TW" sz="2000" dirty="0"/>
              <a:t>3</a:t>
            </a:r>
            <a:r>
              <a:rPr lang="zh-TW" altLang="zh-TW" sz="2000" dirty="0"/>
              <a:t>：採用結構與全面的方法</a:t>
            </a:r>
          </a:p>
          <a:p>
            <a:pPr lvl="1">
              <a:lnSpc>
                <a:spcPct val="110000"/>
              </a:lnSpc>
            </a:pPr>
            <a:r>
              <a:rPr lang="zh-TW" altLang="zh-TW" sz="2000" dirty="0"/>
              <a:t>原則</a:t>
            </a:r>
            <a:r>
              <a:rPr lang="en-US" altLang="zh-TW" sz="2000" dirty="0"/>
              <a:t>4</a:t>
            </a:r>
            <a:r>
              <a:rPr lang="zh-TW" altLang="zh-TW" sz="2000" dirty="0"/>
              <a:t>：風險管理是組織所有活動的一部分</a:t>
            </a:r>
          </a:p>
          <a:p>
            <a:pPr lvl="1">
              <a:lnSpc>
                <a:spcPct val="110000"/>
              </a:lnSpc>
            </a:pPr>
            <a:r>
              <a:rPr lang="zh-TW" altLang="zh-TW" sz="2000" dirty="0"/>
              <a:t>原則</a:t>
            </a:r>
            <a:r>
              <a:rPr lang="en-US" altLang="zh-TW" sz="2000" dirty="0"/>
              <a:t>5</a:t>
            </a:r>
            <a:r>
              <a:rPr lang="zh-TW" altLang="zh-TW" sz="2000" dirty="0"/>
              <a:t>：風險管理應依預測、發現、告知及反應而執行變更</a:t>
            </a:r>
          </a:p>
          <a:p>
            <a:pPr lvl="1">
              <a:lnSpc>
                <a:spcPct val="110000"/>
              </a:lnSpc>
            </a:pPr>
            <a:r>
              <a:rPr lang="zh-TW" altLang="zh-TW" sz="2000" dirty="0"/>
              <a:t>原則</a:t>
            </a:r>
            <a:r>
              <a:rPr lang="en-US" altLang="zh-TW" sz="2000" dirty="0"/>
              <a:t>6</a:t>
            </a:r>
            <a:r>
              <a:rPr lang="zh-TW" altLang="zh-TW" sz="2000" dirty="0"/>
              <a:t>：風險管理應考慮可用資訊的限制</a:t>
            </a:r>
          </a:p>
          <a:p>
            <a:pPr lvl="1">
              <a:lnSpc>
                <a:spcPct val="110000"/>
              </a:lnSpc>
            </a:pPr>
            <a:r>
              <a:rPr lang="zh-TW" altLang="zh-TW" sz="2000" dirty="0"/>
              <a:t>原則</a:t>
            </a:r>
            <a:r>
              <a:rPr lang="en-US" altLang="zh-TW" sz="2000" dirty="0"/>
              <a:t>7</a:t>
            </a:r>
            <a:r>
              <a:rPr lang="zh-TW" altLang="zh-TW" sz="2000" dirty="0"/>
              <a:t>：風險管理的各個面向都會受到人文因素影響</a:t>
            </a:r>
          </a:p>
          <a:p>
            <a:pPr lvl="1">
              <a:lnSpc>
                <a:spcPct val="110000"/>
              </a:lnSpc>
            </a:pPr>
            <a:r>
              <a:rPr lang="zh-TW" altLang="zh-TW" sz="2000" dirty="0"/>
              <a:t>原則</a:t>
            </a:r>
            <a:r>
              <a:rPr lang="en-US" altLang="zh-TW" sz="2000" dirty="0"/>
              <a:t>8</a:t>
            </a:r>
            <a:r>
              <a:rPr lang="zh-TW" altLang="zh-TW" sz="2000" dirty="0"/>
              <a:t>：風險管理透過學習與經驗不斷</a:t>
            </a:r>
            <a:r>
              <a:rPr lang="zh-TW" altLang="zh-TW" sz="2000" dirty="0" smtClean="0"/>
              <a:t>改進</a:t>
            </a:r>
            <a:endParaRPr lang="zh-TW" altLang="zh-TW" sz="2000" dirty="0"/>
          </a:p>
        </p:txBody>
      </p:sp>
      <p:sp>
        <p:nvSpPr>
          <p:cNvPr id="2" name="矩形 1"/>
          <p:cNvSpPr/>
          <p:nvPr/>
        </p:nvSpPr>
        <p:spPr>
          <a:xfrm>
            <a:off x="5783510" y="3068960"/>
            <a:ext cx="3360490" cy="1446550"/>
          </a:xfrm>
          <a:prstGeom prst="rect">
            <a:avLst/>
          </a:prstGeom>
          <a:ln w="12700">
            <a:solidFill>
              <a:schemeClr val="tx1"/>
            </a:solidFill>
          </a:ln>
        </p:spPr>
        <p:txBody>
          <a:bodyPr wrap="square">
            <a:spAutoFit/>
          </a:bodyPr>
          <a:lstStyle/>
          <a:p>
            <a:pPr marL="288000" lvl="1" indent="-288000" defTabSz="0">
              <a:buFont typeface="Times New Roman" pitchFamily="18" charset="0"/>
              <a:buChar char="●"/>
              <a:tabLst>
                <a:tab pos="0" algn="l"/>
              </a:tabLst>
            </a:pPr>
            <a:r>
              <a:rPr lang="zh-TW" altLang="zh-TW" sz="2200" dirty="0">
                <a:solidFill>
                  <a:srgbClr val="333399"/>
                </a:solidFill>
                <a:latin typeface="微軟正黑體" panose="020B0604030504040204" pitchFamily="34" charset="-120"/>
                <a:ea typeface="微軟正黑體" panose="020B0604030504040204" pitchFamily="34" charset="-120"/>
              </a:rPr>
              <a:t>前</a:t>
            </a:r>
            <a:r>
              <a:rPr lang="en-US" altLang="zh-TW" sz="2200" dirty="0">
                <a:solidFill>
                  <a:srgbClr val="333399"/>
                </a:solidFill>
                <a:latin typeface="微軟正黑體" panose="020B0604030504040204" pitchFamily="34" charset="-120"/>
                <a:ea typeface="微軟正黑體" panose="020B0604030504040204" pitchFamily="34" charset="-120"/>
              </a:rPr>
              <a:t>5</a:t>
            </a:r>
            <a:r>
              <a:rPr lang="zh-TW" altLang="zh-TW" sz="2200" dirty="0">
                <a:solidFill>
                  <a:srgbClr val="333399"/>
                </a:solidFill>
                <a:latin typeface="微軟正黑體" panose="020B0604030504040204" pitchFamily="34" charset="-120"/>
                <a:ea typeface="微軟正黑體" panose="020B0604030504040204" pitchFamily="34" charset="-120"/>
              </a:rPr>
              <a:t>項原則為設計風險管理措施提供指導</a:t>
            </a:r>
            <a:r>
              <a:rPr lang="zh-TW" altLang="zh-TW" sz="2200" dirty="0" smtClean="0">
                <a:solidFill>
                  <a:srgbClr val="333399"/>
                </a:solidFill>
                <a:latin typeface="微軟正黑體" panose="020B0604030504040204" pitchFamily="34" charset="-120"/>
                <a:ea typeface="微軟正黑體" panose="020B0604030504040204" pitchFamily="34" charset="-120"/>
              </a:rPr>
              <a:t>，</a:t>
            </a:r>
            <a:endParaRPr lang="en-US" altLang="zh-TW" sz="2200" dirty="0" smtClean="0">
              <a:solidFill>
                <a:srgbClr val="333399"/>
              </a:solidFill>
              <a:latin typeface="微軟正黑體" panose="020B0604030504040204" pitchFamily="34" charset="-120"/>
              <a:ea typeface="微軟正黑體" panose="020B0604030504040204" pitchFamily="34" charset="-120"/>
            </a:endParaRPr>
          </a:p>
          <a:p>
            <a:pPr marL="288000" lvl="1" indent="-288000" defTabSz="0">
              <a:buFont typeface="Times New Roman" pitchFamily="18" charset="0"/>
              <a:buChar char="●"/>
              <a:tabLst>
                <a:tab pos="0" algn="l"/>
              </a:tabLst>
            </a:pPr>
            <a:r>
              <a:rPr lang="zh-TW" altLang="zh-TW" sz="2200" dirty="0" smtClean="0">
                <a:solidFill>
                  <a:srgbClr val="333399"/>
                </a:solidFill>
                <a:latin typeface="微軟正黑體" panose="020B0604030504040204" pitchFamily="34" charset="-120"/>
                <a:ea typeface="微軟正黑體" panose="020B0604030504040204" pitchFamily="34" charset="-120"/>
              </a:rPr>
              <a:t>原則</a:t>
            </a:r>
            <a:r>
              <a:rPr lang="en-US" altLang="zh-TW" sz="2200" dirty="0">
                <a:solidFill>
                  <a:srgbClr val="333399"/>
                </a:solidFill>
                <a:latin typeface="微軟正黑體" panose="020B0604030504040204" pitchFamily="34" charset="-120"/>
                <a:ea typeface="微軟正黑體" panose="020B0604030504040204" pitchFamily="34" charset="-120"/>
              </a:rPr>
              <a:t>6</a:t>
            </a:r>
            <a:r>
              <a:rPr lang="zh-TW" altLang="zh-TW" sz="2200" dirty="0">
                <a:solidFill>
                  <a:srgbClr val="333399"/>
                </a:solidFill>
                <a:latin typeface="微軟正黑體" panose="020B0604030504040204" pitchFamily="34" charset="-120"/>
                <a:ea typeface="微軟正黑體" panose="020B0604030504040204" pitchFamily="34" charset="-120"/>
              </a:rPr>
              <a:t>、</a:t>
            </a:r>
            <a:r>
              <a:rPr lang="en-US" altLang="zh-TW" sz="2200" dirty="0">
                <a:solidFill>
                  <a:srgbClr val="333399"/>
                </a:solidFill>
                <a:latin typeface="微軟正黑體" panose="020B0604030504040204" pitchFamily="34" charset="-120"/>
                <a:ea typeface="微軟正黑體" panose="020B0604030504040204" pitchFamily="34" charset="-120"/>
              </a:rPr>
              <a:t>7</a:t>
            </a:r>
            <a:r>
              <a:rPr lang="zh-TW" altLang="zh-TW" sz="2200" dirty="0">
                <a:solidFill>
                  <a:srgbClr val="333399"/>
                </a:solidFill>
                <a:latin typeface="微軟正黑體" panose="020B0604030504040204" pitchFamily="34" charset="-120"/>
                <a:ea typeface="微軟正黑體" panose="020B0604030504040204" pitchFamily="34" charset="-120"/>
              </a:rPr>
              <a:t>及</a:t>
            </a:r>
            <a:r>
              <a:rPr lang="en-US" altLang="zh-TW" sz="2200" dirty="0">
                <a:solidFill>
                  <a:srgbClr val="333399"/>
                </a:solidFill>
                <a:latin typeface="微軟正黑體" panose="020B0604030504040204" pitchFamily="34" charset="-120"/>
                <a:ea typeface="微軟正黑體" panose="020B0604030504040204" pitchFamily="34" charset="-120"/>
              </a:rPr>
              <a:t>8</a:t>
            </a:r>
            <a:r>
              <a:rPr lang="zh-TW" altLang="zh-TW" sz="2200" dirty="0">
                <a:solidFill>
                  <a:srgbClr val="333399"/>
                </a:solidFill>
                <a:latin typeface="微軟正黑體" panose="020B0604030504040204" pitchFamily="34" charset="-120"/>
                <a:ea typeface="微軟正黑體" panose="020B0604030504040204" pitchFamily="34" charset="-120"/>
              </a:rPr>
              <a:t>則是與風險管理運作有關措施</a:t>
            </a:r>
            <a:endParaRPr lang="en-US" altLang="zh-TW" sz="2200" dirty="0">
              <a:solidFill>
                <a:srgbClr val="333399"/>
              </a:solidFill>
              <a:latin typeface="微軟正黑體" panose="020B0604030504040204" pitchFamily="34" charset="-120"/>
              <a:ea typeface="微軟正黑體" panose="020B0604030504040204" pitchFamily="34" charset="-120"/>
            </a:endParaRPr>
          </a:p>
        </p:txBody>
      </p:sp>
      <p:sp>
        <p:nvSpPr>
          <p:cNvPr id="5" name="Rectangle 7"/>
          <p:cNvSpPr txBox="1">
            <a:spLocks noChangeArrowheads="1"/>
          </p:cNvSpPr>
          <p:nvPr/>
        </p:nvSpPr>
        <p:spPr bwMode="auto">
          <a:xfrm>
            <a:off x="539552" y="2729"/>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2908601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p:cNvSpPr>
          <p:nvPr>
            <p:ph sz="quarter" idx="10"/>
          </p:nvPr>
        </p:nvSpPr>
        <p:spPr>
          <a:xfrm>
            <a:off x="395536" y="908720"/>
            <a:ext cx="8352928" cy="2016224"/>
          </a:xfrm>
        </p:spPr>
        <p:txBody>
          <a:bodyPr/>
          <a:lstStyle/>
          <a:p>
            <a:pPr>
              <a:buFont typeface="Times New Roman" charset="0"/>
              <a:buChar char="●"/>
              <a:defRPr/>
            </a:pPr>
            <a:r>
              <a:rPr lang="zh-TW" altLang="zh-TW" dirty="0"/>
              <a:t>風險管理框架的目的是協助將風險管理納入所有活動與功能，風險管理的有效性取決於整合到治理與組織的所有其他活動中，如組織在進行決策時，即應將風險管理納入考量</a:t>
            </a:r>
            <a:endParaRPr lang="en-US" dirty="0">
              <a:latin typeface="微軟正黑體" charset="0"/>
              <a:ea typeface="微軟正黑體" charset="0"/>
            </a:endParaRPr>
          </a:p>
        </p:txBody>
      </p:sp>
      <p:pic>
        <p:nvPicPr>
          <p:cNvPr id="4" name="圖片 3">
            <a:extLst>
              <a:ext uri="{FF2B5EF4-FFF2-40B4-BE49-F238E27FC236}">
                <a16:creationId xmlns:a16="http://schemas.microsoft.com/office/drawing/2014/main" id="{7EA2DF58-D220-4433-8C29-1C2760E478AD}"/>
              </a:ext>
            </a:extLst>
          </p:cNvPr>
          <p:cNvPicPr>
            <a:picLocks noChangeAspect="1"/>
          </p:cNvPicPr>
          <p:nvPr/>
        </p:nvPicPr>
        <p:blipFill rotWithShape="1">
          <a:blip r:embed="rId3">
            <a:extLst>
              <a:ext uri="{28A0092B-C50C-407E-A947-70E740481C1C}">
                <a14:useLocalDpi xmlns:a14="http://schemas.microsoft.com/office/drawing/2010/main" val="0"/>
              </a:ext>
            </a:extLst>
          </a:blip>
          <a:srcRect l="11429" r="10334"/>
          <a:stretch/>
        </p:blipFill>
        <p:spPr>
          <a:xfrm>
            <a:off x="413395" y="3068960"/>
            <a:ext cx="3816424" cy="3600400"/>
          </a:xfrm>
          <a:prstGeom prst="rect">
            <a:avLst/>
          </a:prstGeom>
        </p:spPr>
      </p:pic>
      <p:sp>
        <p:nvSpPr>
          <p:cNvPr id="5" name="矩形 4">
            <a:extLst>
              <a:ext uri="{FF2B5EF4-FFF2-40B4-BE49-F238E27FC236}">
                <a16:creationId xmlns:a16="http://schemas.microsoft.com/office/drawing/2014/main" id="{A20A26CD-3937-4A5F-BA70-2D7B31B59A24}"/>
              </a:ext>
            </a:extLst>
          </p:cNvPr>
          <p:cNvSpPr/>
          <p:nvPr/>
        </p:nvSpPr>
        <p:spPr bwMode="auto">
          <a:xfrm>
            <a:off x="4703861" y="4564525"/>
            <a:ext cx="4039617" cy="165618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lvl="0" indent="-285750">
              <a:buFont typeface="Wingdings" panose="05000000000000000000" pitchFamily="2" charset="2"/>
              <a:buChar char="l"/>
            </a:pPr>
            <a:r>
              <a:rPr lang="zh-TW" altLang="zh-TW" sz="2000" i="0" dirty="0"/>
              <a:t>將風險管理與組織的策略、目標及文化相結合</a:t>
            </a:r>
          </a:p>
          <a:p>
            <a:pPr marL="285750" lvl="0" indent="-285750">
              <a:buFont typeface="Wingdings" panose="05000000000000000000" pitchFamily="2" charset="2"/>
              <a:buChar char="l"/>
            </a:pPr>
            <a:r>
              <a:rPr lang="zh-TW" altLang="zh-TW" sz="2000" i="0" dirty="0"/>
              <a:t>建立風險管理的方法、計畫或行動方案的聲明或政策</a:t>
            </a:r>
          </a:p>
          <a:p>
            <a:pPr marL="285750" indent="-285750">
              <a:buFont typeface="Wingdings" panose="05000000000000000000" pitchFamily="2" charset="2"/>
              <a:buChar char="l"/>
            </a:pPr>
            <a:r>
              <a:rPr lang="zh-TW" altLang="zh-TW" sz="2000" i="0" dirty="0"/>
              <a:t>為管理風險提供必要的資源</a:t>
            </a:r>
            <a:endParaRPr kumimoji="1" lang="zh-TW" altLang="en-US" sz="2000" b="0" i="0" u="none" strike="noStrike" cap="none" normalizeH="0" baseline="0" dirty="0">
              <a:ln>
                <a:noFill/>
              </a:ln>
              <a:solidFill>
                <a:schemeClr val="tx1"/>
              </a:solidFill>
              <a:effectLst/>
              <a:latin typeface="Arial" charset="0"/>
              <a:ea typeface="標楷體" pitchFamily="65" charset="-120"/>
            </a:endParaRPr>
          </a:p>
        </p:txBody>
      </p:sp>
      <p:cxnSp>
        <p:nvCxnSpPr>
          <p:cNvPr id="7" name="直線單箭頭接點 6">
            <a:extLst>
              <a:ext uri="{FF2B5EF4-FFF2-40B4-BE49-F238E27FC236}">
                <a16:creationId xmlns:a16="http://schemas.microsoft.com/office/drawing/2014/main" id="{C50455DB-987E-4D36-8589-A99D6F4BBD34}"/>
              </a:ext>
            </a:extLst>
          </p:cNvPr>
          <p:cNvCxnSpPr>
            <a:cxnSpLocks/>
            <a:endCxn id="5" idx="1"/>
          </p:cNvCxnSpPr>
          <p:nvPr/>
        </p:nvCxnSpPr>
        <p:spPr bwMode="auto">
          <a:xfrm>
            <a:off x="2843808" y="4816553"/>
            <a:ext cx="1860053" cy="576064"/>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25" name="矩形 24">
            <a:extLst>
              <a:ext uri="{FF2B5EF4-FFF2-40B4-BE49-F238E27FC236}">
                <a16:creationId xmlns:a16="http://schemas.microsoft.com/office/drawing/2014/main" id="{4CDC562E-84B5-41CB-A3E5-6FABDCC2D547}"/>
              </a:ext>
            </a:extLst>
          </p:cNvPr>
          <p:cNvSpPr/>
          <p:nvPr/>
        </p:nvSpPr>
        <p:spPr bwMode="auto">
          <a:xfrm>
            <a:off x="4708847" y="3212976"/>
            <a:ext cx="4039617" cy="1080120"/>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lvl="1" indent="-285750">
              <a:buFont typeface="Wingdings" panose="05000000000000000000" pitchFamily="2" charset="2"/>
              <a:buChar char="l"/>
            </a:pPr>
            <a:r>
              <a:rPr lang="zh-TW" altLang="zh-TW" sz="2000" i="0" dirty="0"/>
              <a:t>確定管理當責、監管角色及職責</a:t>
            </a:r>
          </a:p>
          <a:p>
            <a:pPr marL="285750" lvl="1" indent="-285750">
              <a:buFont typeface="Wingdings" panose="05000000000000000000" pitchFamily="2" charset="2"/>
              <a:buChar char="l"/>
            </a:pPr>
            <a:r>
              <a:rPr lang="zh-TW" altLang="zh-TW" sz="2000" i="0" dirty="0"/>
              <a:t>確保風險管理是組織所有功能的一部分，而不是與其分開</a:t>
            </a:r>
          </a:p>
        </p:txBody>
      </p:sp>
      <p:cxnSp>
        <p:nvCxnSpPr>
          <p:cNvPr id="26" name="直線單箭頭接點 25">
            <a:extLst>
              <a:ext uri="{FF2B5EF4-FFF2-40B4-BE49-F238E27FC236}">
                <a16:creationId xmlns:a16="http://schemas.microsoft.com/office/drawing/2014/main" id="{9DDA0422-091F-4368-9B66-4FD479D8EA15}"/>
              </a:ext>
            </a:extLst>
          </p:cNvPr>
          <p:cNvCxnSpPr>
            <a:cxnSpLocks/>
            <a:endCxn id="25" idx="1"/>
          </p:cNvCxnSpPr>
          <p:nvPr/>
        </p:nvCxnSpPr>
        <p:spPr bwMode="auto">
          <a:xfrm>
            <a:off x="2696208" y="3736433"/>
            <a:ext cx="2012639" cy="16603"/>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9" name="Rectangle 7"/>
          <p:cNvSpPr txBox="1">
            <a:spLocks noChangeArrowheads="1"/>
          </p:cNvSpPr>
          <p:nvPr/>
        </p:nvSpPr>
        <p:spPr bwMode="auto">
          <a:xfrm>
            <a:off x="539552" y="2729"/>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89622246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EA2DF58-D220-4433-8C29-1C2760E478AD}"/>
              </a:ext>
            </a:extLst>
          </p:cNvPr>
          <p:cNvPicPr>
            <a:picLocks noChangeAspect="1"/>
          </p:cNvPicPr>
          <p:nvPr/>
        </p:nvPicPr>
        <p:blipFill rotWithShape="1">
          <a:blip r:embed="rId3">
            <a:extLst>
              <a:ext uri="{28A0092B-C50C-407E-A947-70E740481C1C}">
                <a14:useLocalDpi xmlns:a14="http://schemas.microsoft.com/office/drawing/2010/main" val="0"/>
              </a:ext>
            </a:extLst>
          </a:blip>
          <a:srcRect l="12245" r="8164"/>
          <a:stretch/>
        </p:blipFill>
        <p:spPr>
          <a:xfrm>
            <a:off x="395537" y="1700808"/>
            <a:ext cx="3744416" cy="3528392"/>
          </a:xfrm>
          <a:prstGeom prst="rect">
            <a:avLst/>
          </a:prstGeom>
        </p:spPr>
      </p:pic>
      <p:sp>
        <p:nvSpPr>
          <p:cNvPr id="5" name="矩形 4">
            <a:extLst>
              <a:ext uri="{FF2B5EF4-FFF2-40B4-BE49-F238E27FC236}">
                <a16:creationId xmlns:a16="http://schemas.microsoft.com/office/drawing/2014/main" id="{A20A26CD-3937-4A5F-BA70-2D7B31B59A24}"/>
              </a:ext>
            </a:extLst>
          </p:cNvPr>
          <p:cNvSpPr/>
          <p:nvPr/>
        </p:nvSpPr>
        <p:spPr bwMode="auto">
          <a:xfrm>
            <a:off x="4440156" y="4149080"/>
            <a:ext cx="4452324" cy="201622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buFont typeface="Wingdings" panose="05000000000000000000" pitchFamily="2" charset="2"/>
              <a:buChar char="l"/>
            </a:pPr>
            <a:r>
              <a:rPr lang="zh-TW" altLang="zh-TW" sz="2400" i="0" dirty="0"/>
              <a:t>制定適當的實施計畫，包括最後期限等</a:t>
            </a:r>
          </a:p>
          <a:p>
            <a:pPr marL="285750" indent="-285750">
              <a:buFont typeface="Wingdings" panose="05000000000000000000" pitchFamily="2" charset="2"/>
              <a:buChar char="l"/>
            </a:pPr>
            <a:r>
              <a:rPr lang="zh-TW" altLang="zh-TW" sz="2400" i="0" dirty="0"/>
              <a:t>定義由誰於何時、何處及如何進行不同類型的決策</a:t>
            </a:r>
          </a:p>
          <a:p>
            <a:pPr marL="285750" indent="-285750">
              <a:buFont typeface="Wingdings" panose="05000000000000000000" pitchFamily="2" charset="2"/>
              <a:buChar char="l"/>
            </a:pPr>
            <a:r>
              <a:rPr lang="zh-TW" altLang="zh-TW" sz="2400" i="0" dirty="0"/>
              <a:t>在必要時修改適用的決策流程</a:t>
            </a:r>
          </a:p>
          <a:p>
            <a:pPr marL="285750" lvl="0" indent="-285750">
              <a:buFont typeface="Wingdings" panose="05000000000000000000" pitchFamily="2" charset="2"/>
              <a:buChar char="l"/>
            </a:pPr>
            <a:endParaRPr lang="zh-TW" altLang="zh-TW" sz="2000" i="0" dirty="0"/>
          </a:p>
        </p:txBody>
      </p:sp>
      <p:cxnSp>
        <p:nvCxnSpPr>
          <p:cNvPr id="7" name="直線單箭頭接點 6">
            <a:extLst>
              <a:ext uri="{FF2B5EF4-FFF2-40B4-BE49-F238E27FC236}">
                <a16:creationId xmlns:a16="http://schemas.microsoft.com/office/drawing/2014/main" id="{C50455DB-987E-4D36-8589-A99D6F4BBD34}"/>
              </a:ext>
            </a:extLst>
          </p:cNvPr>
          <p:cNvCxnSpPr>
            <a:cxnSpLocks/>
            <a:endCxn id="25" idx="1"/>
          </p:cNvCxnSpPr>
          <p:nvPr/>
        </p:nvCxnSpPr>
        <p:spPr bwMode="auto">
          <a:xfrm flipV="1">
            <a:off x="3635532" y="2276872"/>
            <a:ext cx="804624" cy="729082"/>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25" name="矩形 24">
            <a:extLst>
              <a:ext uri="{FF2B5EF4-FFF2-40B4-BE49-F238E27FC236}">
                <a16:creationId xmlns:a16="http://schemas.microsoft.com/office/drawing/2014/main" id="{4CDC562E-84B5-41CB-A3E5-6FABDCC2D547}"/>
              </a:ext>
            </a:extLst>
          </p:cNvPr>
          <p:cNvSpPr/>
          <p:nvPr/>
        </p:nvSpPr>
        <p:spPr bwMode="auto">
          <a:xfrm>
            <a:off x="4440156" y="1412776"/>
            <a:ext cx="4336930" cy="172819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buFont typeface="Wingdings" panose="05000000000000000000" pitchFamily="2" charset="2"/>
              <a:buChar char="l"/>
            </a:pPr>
            <a:r>
              <a:rPr lang="zh-TW" altLang="zh-TW" sz="2400" i="0" dirty="0"/>
              <a:t>了解組織及其內、外部背景</a:t>
            </a:r>
          </a:p>
          <a:p>
            <a:pPr marL="285750" indent="-285750">
              <a:buFont typeface="Wingdings" panose="05000000000000000000" pitchFamily="2" charset="2"/>
              <a:buChar char="l"/>
            </a:pPr>
            <a:r>
              <a:rPr lang="zh-TW" altLang="zh-TW" sz="2400" i="0" dirty="0"/>
              <a:t>清楚說明風險管理承諾並分配適當資源</a:t>
            </a:r>
          </a:p>
          <a:p>
            <a:pPr marL="285750" indent="-285750">
              <a:buFont typeface="Wingdings" panose="05000000000000000000" pitchFamily="2" charset="2"/>
              <a:buChar char="l"/>
            </a:pPr>
            <a:r>
              <a:rPr lang="zh-TW" altLang="zh-TW" sz="2400" i="0" dirty="0"/>
              <a:t>建立溝通與諮詢</a:t>
            </a:r>
          </a:p>
        </p:txBody>
      </p:sp>
      <p:cxnSp>
        <p:nvCxnSpPr>
          <p:cNvPr id="26" name="直線單箭頭接點 25">
            <a:extLst>
              <a:ext uri="{FF2B5EF4-FFF2-40B4-BE49-F238E27FC236}">
                <a16:creationId xmlns:a16="http://schemas.microsoft.com/office/drawing/2014/main" id="{9DDA0422-091F-4368-9B66-4FD479D8EA15}"/>
              </a:ext>
            </a:extLst>
          </p:cNvPr>
          <p:cNvCxnSpPr>
            <a:cxnSpLocks/>
            <a:endCxn id="5" idx="1"/>
          </p:cNvCxnSpPr>
          <p:nvPr/>
        </p:nvCxnSpPr>
        <p:spPr bwMode="auto">
          <a:xfrm>
            <a:off x="3203484" y="4374105"/>
            <a:ext cx="1236672" cy="783087"/>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8" name="Rectangle 7"/>
          <p:cNvSpPr txBox="1">
            <a:spLocks noChangeArrowheads="1"/>
          </p:cNvSpPr>
          <p:nvPr/>
        </p:nvSpPr>
        <p:spPr bwMode="auto">
          <a:xfrm>
            <a:off x="539552" y="2729"/>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1486571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圖片 3">
            <a:extLst>
              <a:ext uri="{FF2B5EF4-FFF2-40B4-BE49-F238E27FC236}">
                <a16:creationId xmlns:a16="http://schemas.microsoft.com/office/drawing/2014/main" id="{7EA2DF58-D220-4433-8C29-1C2760E478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0784" y="1630940"/>
            <a:ext cx="5085712" cy="3814284"/>
          </a:xfrm>
          <a:prstGeom prst="rect">
            <a:avLst/>
          </a:prstGeom>
        </p:spPr>
      </p:pic>
      <p:sp>
        <p:nvSpPr>
          <p:cNvPr id="58371" name="Title 1"/>
          <p:cNvSpPr>
            <a:spLocks noGrp="1"/>
          </p:cNvSpPr>
          <p:nvPr>
            <p:ph type="title"/>
          </p:nvPr>
        </p:nvSpPr>
        <p:spPr>
          <a:xfrm>
            <a:off x="320105" y="899032"/>
            <a:ext cx="7785825" cy="777600"/>
          </a:xfrm>
        </p:spPr>
        <p:txBody>
          <a:bodyPr/>
          <a:lstStyle/>
          <a:p>
            <a:r>
              <a:rPr lang="zh-TW" altLang="en-US" dirty="0"/>
              <a:t>風險管理</a:t>
            </a:r>
            <a:r>
              <a:rPr lang="zh-TW" altLang="en-US" dirty="0" smtClean="0"/>
              <a:t>框架</a:t>
            </a:r>
            <a:r>
              <a:rPr lang="zh-TW" altLang="en-US" dirty="0"/>
              <a:t>內涵</a:t>
            </a:r>
            <a:endParaRPr lang="en-US" altLang="zh-TW" dirty="0"/>
          </a:p>
        </p:txBody>
      </p:sp>
      <p:sp>
        <p:nvSpPr>
          <p:cNvPr id="5" name="矩形 4">
            <a:extLst>
              <a:ext uri="{FF2B5EF4-FFF2-40B4-BE49-F238E27FC236}">
                <a16:creationId xmlns:a16="http://schemas.microsoft.com/office/drawing/2014/main" id="{A20A26CD-3937-4A5F-BA70-2D7B31B59A24}"/>
              </a:ext>
            </a:extLst>
          </p:cNvPr>
          <p:cNvSpPr/>
          <p:nvPr/>
        </p:nvSpPr>
        <p:spPr bwMode="auto">
          <a:xfrm>
            <a:off x="323528" y="1772816"/>
            <a:ext cx="4039617" cy="1656184"/>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indent="-285750">
              <a:buFont typeface="Wingdings" panose="05000000000000000000" pitchFamily="2" charset="2"/>
              <a:buChar char="l"/>
            </a:pPr>
            <a:r>
              <a:rPr lang="zh-TW" altLang="zh-TW" sz="2000" i="0" dirty="0"/>
              <a:t>不斷監測與調整框架以解決外部與內部變化</a:t>
            </a:r>
          </a:p>
          <a:p>
            <a:pPr marL="285750" indent="-285750">
              <a:buFont typeface="Wingdings" panose="05000000000000000000" pitchFamily="2" charset="2"/>
              <a:buChar char="l"/>
            </a:pPr>
            <a:r>
              <a:rPr lang="zh-TW" altLang="zh-TW" sz="2000" i="0" dirty="0"/>
              <a:t>採取措施以提高風險管理的價值</a:t>
            </a:r>
          </a:p>
          <a:p>
            <a:pPr marL="285750" indent="-285750">
              <a:buFont typeface="Wingdings" panose="05000000000000000000" pitchFamily="2" charset="2"/>
              <a:buChar char="l"/>
            </a:pPr>
            <a:r>
              <a:rPr lang="zh-TW" altLang="zh-TW" sz="2000" i="0" dirty="0"/>
              <a:t>提高風險管理框架的適用性、充分性及有效性</a:t>
            </a:r>
            <a:endParaRPr lang="zh-TW" altLang="en-US" sz="2000" i="0" dirty="0"/>
          </a:p>
        </p:txBody>
      </p:sp>
      <p:cxnSp>
        <p:nvCxnSpPr>
          <p:cNvPr id="7" name="直線單箭頭接點 6">
            <a:extLst>
              <a:ext uri="{FF2B5EF4-FFF2-40B4-BE49-F238E27FC236}">
                <a16:creationId xmlns:a16="http://schemas.microsoft.com/office/drawing/2014/main" id="{C50455DB-987E-4D36-8589-A99D6F4BBD34}"/>
              </a:ext>
            </a:extLst>
          </p:cNvPr>
          <p:cNvCxnSpPr>
            <a:cxnSpLocks/>
            <a:endCxn id="5" idx="3"/>
          </p:cNvCxnSpPr>
          <p:nvPr/>
        </p:nvCxnSpPr>
        <p:spPr bwMode="auto">
          <a:xfrm flipH="1" flipV="1">
            <a:off x="4363145" y="2600908"/>
            <a:ext cx="928935" cy="32403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25" name="矩形 24">
            <a:extLst>
              <a:ext uri="{FF2B5EF4-FFF2-40B4-BE49-F238E27FC236}">
                <a16:creationId xmlns:a16="http://schemas.microsoft.com/office/drawing/2014/main" id="{4CDC562E-84B5-41CB-A3E5-6FABDCC2D547}"/>
              </a:ext>
            </a:extLst>
          </p:cNvPr>
          <p:cNvSpPr/>
          <p:nvPr/>
        </p:nvSpPr>
        <p:spPr bwMode="auto">
          <a:xfrm>
            <a:off x="323529" y="4365104"/>
            <a:ext cx="4039617" cy="1368152"/>
          </a:xfrm>
          <a:prstGeom prst="rect">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285750" lvl="1" indent="-285750">
              <a:buFont typeface="Wingdings" panose="05000000000000000000" pitchFamily="2" charset="2"/>
              <a:buChar char="l"/>
            </a:pPr>
            <a:r>
              <a:rPr lang="zh-TW" altLang="zh-TW" sz="2000" i="0" dirty="0"/>
              <a:t>根據目的、建置及執行情形來衡量框架績效</a:t>
            </a:r>
          </a:p>
          <a:p>
            <a:pPr marL="285750" lvl="1" indent="-285750">
              <a:buFont typeface="Wingdings" panose="05000000000000000000" pitchFamily="2" charset="2"/>
              <a:buChar char="l"/>
            </a:pPr>
            <a:r>
              <a:rPr lang="zh-TW" altLang="zh-TW" sz="2000" i="0" dirty="0"/>
              <a:t>確定風險管理框架是否仍適用於實現組織目標</a:t>
            </a:r>
          </a:p>
        </p:txBody>
      </p:sp>
      <p:cxnSp>
        <p:nvCxnSpPr>
          <p:cNvPr id="26" name="直線單箭頭接點 25">
            <a:extLst>
              <a:ext uri="{FF2B5EF4-FFF2-40B4-BE49-F238E27FC236}">
                <a16:creationId xmlns:a16="http://schemas.microsoft.com/office/drawing/2014/main" id="{9DDA0422-091F-4368-9B66-4FD479D8EA15}"/>
              </a:ext>
            </a:extLst>
          </p:cNvPr>
          <p:cNvCxnSpPr>
            <a:cxnSpLocks/>
            <a:endCxn id="25" idx="3"/>
          </p:cNvCxnSpPr>
          <p:nvPr/>
        </p:nvCxnSpPr>
        <p:spPr bwMode="auto">
          <a:xfrm flipH="1">
            <a:off x="4363146" y="4365104"/>
            <a:ext cx="1144958" cy="684076"/>
          </a:xfrm>
          <a:prstGeom prst="straightConnector1">
            <a:avLst/>
          </a:prstGeom>
          <a:solidFill>
            <a:schemeClr val="accent1"/>
          </a:solidFill>
          <a:ln w="38100" cap="flat" cmpd="sng" algn="ctr">
            <a:solidFill>
              <a:srgbClr val="FF0000"/>
            </a:solidFill>
            <a:prstDash val="solid"/>
            <a:round/>
            <a:headEnd type="none" w="med" len="med"/>
            <a:tailEnd type="triangle"/>
          </a:ln>
          <a:effectLst/>
        </p:spPr>
      </p:cxnSp>
      <p:sp>
        <p:nvSpPr>
          <p:cNvPr id="8" name="Rectangle 7"/>
          <p:cNvSpPr txBox="1">
            <a:spLocks noChangeArrowheads="1"/>
          </p:cNvSpPr>
          <p:nvPr/>
        </p:nvSpPr>
        <p:spPr bwMode="auto">
          <a:xfrm>
            <a:off x="539552" y="2729"/>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42396514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389D3A85-4003-40DA-A998-7681A907D21A}"/>
              </a:ext>
            </a:extLst>
          </p:cNvPr>
          <p:cNvPicPr>
            <a:picLocks noChangeAspect="1"/>
          </p:cNvPicPr>
          <p:nvPr/>
        </p:nvPicPr>
        <p:blipFill rotWithShape="1">
          <a:blip r:embed="rId3">
            <a:extLst>
              <a:ext uri="{28A0092B-C50C-407E-A947-70E740481C1C}">
                <a14:useLocalDpi xmlns:a14="http://schemas.microsoft.com/office/drawing/2010/main" val="0"/>
              </a:ext>
            </a:extLst>
          </a:blip>
          <a:srcRect l="9946" r="4269"/>
          <a:stretch/>
        </p:blipFill>
        <p:spPr>
          <a:xfrm>
            <a:off x="3809380" y="1196752"/>
            <a:ext cx="4968552" cy="4320480"/>
          </a:xfrm>
          <a:prstGeom prst="rect">
            <a:avLst/>
          </a:prstGeom>
        </p:spPr>
      </p:pic>
      <p:sp>
        <p:nvSpPr>
          <p:cNvPr id="60419" name="Content Placeholder 1"/>
          <p:cNvSpPr>
            <a:spLocks noGrp="1"/>
          </p:cNvSpPr>
          <p:nvPr>
            <p:ph sz="quarter" idx="4294967295"/>
          </p:nvPr>
        </p:nvSpPr>
        <p:spPr>
          <a:xfrm>
            <a:off x="268263" y="1196752"/>
            <a:ext cx="3527425" cy="4536504"/>
          </a:xfrm>
        </p:spPr>
        <p:txBody>
          <a:bodyPr/>
          <a:lstStyle/>
          <a:p>
            <a:r>
              <a:rPr lang="en-US" altLang="zh-TW" dirty="0"/>
              <a:t>CNS </a:t>
            </a:r>
            <a:r>
              <a:rPr lang="en-US" altLang="zh-TW" dirty="0" smtClean="0"/>
              <a:t>31000</a:t>
            </a:r>
            <a:r>
              <a:rPr lang="zh-TW" altLang="en-US" dirty="0" smtClean="0"/>
              <a:t>提供</a:t>
            </a:r>
            <a:r>
              <a:rPr lang="zh-TW" altLang="zh-TW" dirty="0" smtClean="0"/>
              <a:t>風險</a:t>
            </a:r>
            <a:r>
              <a:rPr lang="zh-TW" altLang="zh-TW" dirty="0"/>
              <a:t>管理過程以系統化將政策、程序及實踐，應用於溝通及諮詢、建立全景、風險評</a:t>
            </a:r>
            <a:r>
              <a:rPr lang="zh-TW" altLang="en-US" dirty="0"/>
              <a:t>鑑</a:t>
            </a:r>
            <a:r>
              <a:rPr lang="zh-TW" altLang="zh-TW" dirty="0"/>
              <a:t>、風險處理、風險監</a:t>
            </a:r>
            <a:r>
              <a:rPr lang="zh-TW" altLang="en-US" dirty="0"/>
              <a:t>視</a:t>
            </a:r>
            <a:r>
              <a:rPr lang="zh-TW" altLang="zh-TW" dirty="0"/>
              <a:t>與審查、風險記錄與報告等風險活動中</a:t>
            </a:r>
            <a:endParaRPr lang="zh-TW" altLang="en-US" dirty="0"/>
          </a:p>
        </p:txBody>
      </p:sp>
      <p:sp>
        <p:nvSpPr>
          <p:cNvPr id="60421" name="Rectangle 69"/>
          <p:cNvSpPr>
            <a:spLocks noChangeArrowheads="1"/>
          </p:cNvSpPr>
          <p:nvPr/>
        </p:nvSpPr>
        <p:spPr bwMode="auto">
          <a:xfrm>
            <a:off x="0" y="0"/>
            <a:ext cx="9144000" cy="0"/>
          </a:xfrm>
          <a:prstGeom prst="rect">
            <a:avLst/>
          </a:prstGeom>
          <a:noFill/>
          <a:ln>
            <a:noFill/>
          </a:ln>
          <a:effectLst>
            <a:prstShdw prst="shdw17" dist="17961" dir="13500000">
              <a:srgbClr val="708688">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4000" b="1">
              <a:latin typeface="Times New Roman" panose="02020603050405020304" pitchFamily="18" charset="0"/>
            </a:endParaRPr>
          </a:p>
        </p:txBody>
      </p:sp>
      <p:sp>
        <p:nvSpPr>
          <p:cNvPr id="6" name="Rectangle 7"/>
          <p:cNvSpPr txBox="1">
            <a:spLocks noChangeArrowheads="1"/>
          </p:cNvSpPr>
          <p:nvPr/>
        </p:nvSpPr>
        <p:spPr bwMode="auto">
          <a:xfrm>
            <a:off x="690078" y="34703"/>
            <a:ext cx="8453922"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CNS 31000 </a:t>
            </a:r>
            <a:r>
              <a:rPr lang="zh-TW" altLang="en-US" kern="0" dirty="0" smtClean="0"/>
              <a:t>風險管理─指導綱要</a:t>
            </a:r>
            <a:r>
              <a:rPr lang="en-US" altLang="zh-TW" kern="0" dirty="0" smtClean="0"/>
              <a:t>(1/5)</a:t>
            </a:r>
            <a:r>
              <a:rPr lang="zh-TW" altLang="en-US" kern="0" dirty="0" smtClean="0"/>
              <a:t> </a:t>
            </a:r>
            <a:endParaRPr lang="zh-TW" altLang="en-US" kern="0" dirty="0"/>
          </a:p>
        </p:txBody>
      </p:sp>
    </p:spTree>
    <p:extLst>
      <p:ext uri="{BB962C8B-B14F-4D97-AF65-F5344CB8AC3E}">
        <p14:creationId xmlns:p14="http://schemas.microsoft.com/office/powerpoint/2010/main" val="78174449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標題 4"/>
          <p:cNvSpPr>
            <a:spLocks noGrp="1"/>
          </p:cNvSpPr>
          <p:nvPr>
            <p:ph type="title"/>
          </p:nvPr>
        </p:nvSpPr>
        <p:spPr>
          <a:xfrm>
            <a:off x="818623" y="131120"/>
            <a:ext cx="8285398" cy="777600"/>
          </a:xfrm>
        </p:spPr>
        <p:txBody>
          <a:bodyPr/>
          <a:lstStyle/>
          <a:p>
            <a:r>
              <a:rPr lang="en-US" altLang="zh-TW" sz="3600" dirty="0"/>
              <a:t>CNS 31010  </a:t>
            </a:r>
            <a:r>
              <a:rPr lang="zh-TW" altLang="en-US" sz="3600" dirty="0" smtClean="0"/>
              <a:t>風險</a:t>
            </a:r>
            <a:r>
              <a:rPr lang="zh-TW" altLang="en-US" sz="3600" dirty="0"/>
              <a:t>評鑑技術 </a:t>
            </a:r>
            <a:endParaRPr lang="en-US" altLang="zh-TW" sz="3600" dirty="0"/>
          </a:p>
        </p:txBody>
      </p:sp>
      <p:sp>
        <p:nvSpPr>
          <p:cNvPr id="60419" name="Content Placeholder 1"/>
          <p:cNvSpPr>
            <a:spLocks noGrp="1"/>
          </p:cNvSpPr>
          <p:nvPr>
            <p:ph sz="quarter" idx="4294967295"/>
          </p:nvPr>
        </p:nvSpPr>
        <p:spPr>
          <a:xfrm>
            <a:off x="107504" y="1124744"/>
            <a:ext cx="8796114" cy="5373688"/>
          </a:xfrm>
        </p:spPr>
        <p:txBody>
          <a:bodyPr/>
          <a:lstStyle/>
          <a:p>
            <a:r>
              <a:rPr lang="zh-TW" altLang="en-US" sz="2400" dirty="0"/>
              <a:t>對應標準</a:t>
            </a:r>
            <a:r>
              <a:rPr lang="en-US" altLang="zh-TW" sz="2400" dirty="0" smtClean="0"/>
              <a:t>ISO/IEC 31010:2009 </a:t>
            </a:r>
            <a:r>
              <a:rPr lang="zh-TW" altLang="en-US" sz="2400" dirty="0"/>
              <a:t>風險管理 </a:t>
            </a:r>
            <a:r>
              <a:rPr lang="en-US" altLang="zh-TW" sz="2400" dirty="0"/>
              <a:t>— </a:t>
            </a:r>
            <a:r>
              <a:rPr lang="zh-TW" altLang="en-US" sz="2400" dirty="0"/>
              <a:t>風險</a:t>
            </a:r>
            <a:r>
              <a:rPr lang="zh-TW" altLang="en-US" sz="2400" dirty="0" smtClean="0"/>
              <a:t>評鑑技術</a:t>
            </a:r>
            <a:endParaRPr lang="en-US" altLang="zh-TW" sz="2400" dirty="0" smtClean="0"/>
          </a:p>
          <a:p>
            <a:r>
              <a:rPr lang="zh-TW" altLang="en-US" sz="2400" b="1" dirty="0"/>
              <a:t>標準性質</a:t>
            </a:r>
            <a:r>
              <a:rPr lang="zh-TW" altLang="en-US" sz="2400" dirty="0"/>
              <a:t>：輔助性指導標準（</a:t>
            </a:r>
            <a:r>
              <a:rPr lang="en-US" altLang="zh-TW" sz="2400" dirty="0"/>
              <a:t>supporting standard</a:t>
            </a:r>
            <a:r>
              <a:rPr lang="zh-TW" altLang="en-US" sz="2400" dirty="0"/>
              <a:t>）</a:t>
            </a:r>
            <a:br>
              <a:rPr lang="zh-TW" altLang="en-US" sz="2400" dirty="0"/>
            </a:br>
            <a:r>
              <a:rPr lang="zh-TW" altLang="en-US" sz="2400" b="1" dirty="0"/>
              <a:t>主要目的</a:t>
            </a:r>
            <a:r>
              <a:rPr lang="zh-TW" altLang="en-US" sz="2400" dirty="0"/>
              <a:t>：說明如何執行 </a:t>
            </a:r>
            <a:r>
              <a:rPr lang="en-US" altLang="zh-TW" sz="2400" dirty="0" smtClean="0"/>
              <a:t>CNS/ISO </a:t>
            </a:r>
            <a:r>
              <a:rPr lang="en-US" altLang="zh-TW" sz="2400" dirty="0"/>
              <a:t>31000 </a:t>
            </a:r>
            <a:r>
              <a:rPr lang="zh-TW" altLang="en-US" sz="2400" dirty="0"/>
              <a:t>所定義之風險管理流程中的「風險</a:t>
            </a:r>
            <a:r>
              <a:rPr lang="zh-TW" altLang="en-US" sz="2400" dirty="0" smtClean="0"/>
              <a:t>評</a:t>
            </a:r>
            <a:r>
              <a:rPr lang="zh-TW" altLang="en-US" sz="2400" dirty="0"/>
              <a:t>鑑</a:t>
            </a:r>
            <a:r>
              <a:rPr lang="en-US" altLang="zh-TW" sz="2400" dirty="0" smtClean="0"/>
              <a:t>(</a:t>
            </a:r>
            <a:r>
              <a:rPr lang="en-US" altLang="zh-TW" sz="2400" dirty="0"/>
              <a:t>Risk Assessment)</a:t>
            </a:r>
            <a:r>
              <a:rPr lang="zh-TW" altLang="en-US" sz="2400" dirty="0"/>
              <a:t>」步驟，並列舉超過 </a:t>
            </a:r>
            <a:r>
              <a:rPr lang="en-US" altLang="zh-TW" sz="2400" dirty="0"/>
              <a:t>30 </a:t>
            </a:r>
            <a:r>
              <a:rPr lang="zh-TW" altLang="en-US" sz="2400" dirty="0"/>
              <a:t>種風險</a:t>
            </a:r>
            <a:r>
              <a:rPr lang="zh-TW" altLang="en-US" sz="2400" dirty="0" smtClean="0"/>
              <a:t>評</a:t>
            </a:r>
            <a:r>
              <a:rPr lang="zh-TW" altLang="en-US" sz="2400" dirty="0"/>
              <a:t>鑑</a:t>
            </a:r>
            <a:r>
              <a:rPr lang="zh-TW" altLang="en-US" sz="2400" dirty="0" smtClean="0"/>
              <a:t>工具</a:t>
            </a:r>
            <a:r>
              <a:rPr lang="zh-TW" altLang="en-US" sz="2400" dirty="0"/>
              <a:t>與技術。</a:t>
            </a:r>
          </a:p>
        </p:txBody>
      </p:sp>
      <p:sp>
        <p:nvSpPr>
          <p:cNvPr id="60421" name="Rectangle 69"/>
          <p:cNvSpPr>
            <a:spLocks noChangeArrowheads="1"/>
          </p:cNvSpPr>
          <p:nvPr/>
        </p:nvSpPr>
        <p:spPr bwMode="auto">
          <a:xfrm>
            <a:off x="0" y="0"/>
            <a:ext cx="9144000" cy="0"/>
          </a:xfrm>
          <a:prstGeom prst="rect">
            <a:avLst/>
          </a:prstGeom>
          <a:noFill/>
          <a:ln>
            <a:noFill/>
          </a:ln>
          <a:effectLst>
            <a:prstShdw prst="shdw17" dist="17961" dir="13500000">
              <a:srgbClr val="708688">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endParaRPr kumimoji="0" lang="zh-TW" altLang="en-US" sz="4000" b="1">
              <a:latin typeface="Times New Roman" panose="02020603050405020304" pitchFamily="18" charset="0"/>
            </a:endParaRPr>
          </a:p>
        </p:txBody>
      </p:sp>
      <p:graphicFrame>
        <p:nvGraphicFramePr>
          <p:cNvPr id="2" name="表格 1"/>
          <p:cNvGraphicFramePr>
            <a:graphicFrameLocks noGrp="1"/>
          </p:cNvGraphicFramePr>
          <p:nvPr>
            <p:extLst/>
          </p:nvPr>
        </p:nvGraphicFramePr>
        <p:xfrm>
          <a:off x="395536" y="3811588"/>
          <a:ext cx="8508082" cy="2377440"/>
        </p:xfrm>
        <a:graphic>
          <a:graphicData uri="http://schemas.openxmlformats.org/drawingml/2006/table">
            <a:tbl>
              <a:tblPr/>
              <a:tblGrid>
                <a:gridCol w="1202398">
                  <a:extLst>
                    <a:ext uri="{9D8B030D-6E8A-4147-A177-3AD203B41FA5}">
                      <a16:colId xmlns:a16="http://schemas.microsoft.com/office/drawing/2014/main" val="1487023432"/>
                    </a:ext>
                  </a:extLst>
                </a:gridCol>
                <a:gridCol w="3423795">
                  <a:extLst>
                    <a:ext uri="{9D8B030D-6E8A-4147-A177-3AD203B41FA5}">
                      <a16:colId xmlns:a16="http://schemas.microsoft.com/office/drawing/2014/main" val="3654250330"/>
                    </a:ext>
                  </a:extLst>
                </a:gridCol>
                <a:gridCol w="3881889">
                  <a:extLst>
                    <a:ext uri="{9D8B030D-6E8A-4147-A177-3AD203B41FA5}">
                      <a16:colId xmlns:a16="http://schemas.microsoft.com/office/drawing/2014/main" val="3733371959"/>
                    </a:ext>
                  </a:extLst>
                </a:gridCol>
              </a:tblGrid>
              <a:tr h="0">
                <a:tc>
                  <a:txBody>
                    <a:bodyPr/>
                    <a:lstStyle/>
                    <a:p>
                      <a:endParaRPr lang="zh-TW" alt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a:t>ISO 31000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ISO/IEC 31010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67343751"/>
                  </a:ext>
                </a:extLst>
              </a:tr>
              <a:tr h="0">
                <a:tc>
                  <a:txBody>
                    <a:bodyPr/>
                    <a:lstStyle/>
                    <a:p>
                      <a:r>
                        <a:rPr lang="zh-TW" altLang="en-US"/>
                        <a:t>性質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b="1" dirty="0">
                          <a:effectLst>
                            <a:outerShdw blurRad="38100" dist="38100" dir="2700000" algn="tl">
                              <a:srgbClr val="000000">
                                <a:alpha val="43137"/>
                              </a:srgbClr>
                            </a:outerShdw>
                          </a:effectLst>
                        </a:rPr>
                        <a:t>指引性</a:t>
                      </a:r>
                      <a:r>
                        <a:rPr lang="zh-TW" altLang="en-US" dirty="0"/>
                        <a:t>總標準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b="1" dirty="0">
                          <a:effectLst>
                            <a:outerShdw blurRad="38100" dist="38100" dir="2700000" algn="tl">
                              <a:srgbClr val="000000">
                                <a:alpha val="43137"/>
                              </a:srgbClr>
                            </a:outerShdw>
                          </a:effectLst>
                        </a:rPr>
                        <a:t>技術性</a:t>
                      </a:r>
                      <a:r>
                        <a:rPr lang="zh-TW" altLang="en-US" dirty="0"/>
                        <a:t>輔助標準</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63991"/>
                  </a:ext>
                </a:extLst>
              </a:tr>
              <a:tr h="0">
                <a:tc>
                  <a:txBody>
                    <a:bodyPr/>
                    <a:lstStyle/>
                    <a:p>
                      <a:r>
                        <a:rPr lang="zh-TW" altLang="en-US"/>
                        <a:t>功能</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提供風險管理「原則、框架</a:t>
                      </a:r>
                      <a:r>
                        <a:rPr lang="zh-TW" altLang="en-US" dirty="0" smtClean="0"/>
                        <a:t>、過程</a:t>
                      </a:r>
                      <a:r>
                        <a:rPr lang="zh-TW" altLang="en-US" dirty="0"/>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提供「風險</a:t>
                      </a:r>
                      <a:r>
                        <a:rPr lang="zh-TW" altLang="en-US" dirty="0" smtClean="0"/>
                        <a:t>評鑑」</a:t>
                      </a:r>
                      <a:r>
                        <a:rPr lang="zh-TW" altLang="en-US" dirty="0"/>
                        <a:t>的技術工具與方法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57673351"/>
                  </a:ext>
                </a:extLst>
              </a:tr>
              <a:tr h="0">
                <a:tc>
                  <a:txBody>
                    <a:bodyPr/>
                    <a:lstStyle/>
                    <a:p>
                      <a:r>
                        <a:rPr lang="zh-TW" altLang="en-US"/>
                        <a:t>關係</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指出「應如何管理風險」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說明「可用哪些方法識別與評估風險」</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46921077"/>
                  </a:ext>
                </a:extLst>
              </a:tr>
              <a:tr h="0">
                <a:tc>
                  <a:txBody>
                    <a:bodyPr/>
                    <a:lstStyle/>
                    <a:p>
                      <a:r>
                        <a:rPr lang="zh-TW" altLang="en-US"/>
                        <a:t>適用範圍</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所有組織、所有風險類型</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dirty="0"/>
                        <a:t>所有產業、所有風險</a:t>
                      </a:r>
                      <a:r>
                        <a:rPr lang="zh-TW" altLang="en-US" dirty="0" smtClean="0"/>
                        <a:t>評鑑活動（資</a:t>
                      </a:r>
                      <a:r>
                        <a:rPr lang="zh-TW" altLang="en-US" dirty="0"/>
                        <a:t>安、</a:t>
                      </a:r>
                      <a:r>
                        <a:rPr lang="zh-TW" altLang="en-US" dirty="0" smtClean="0"/>
                        <a:t>財務、</a:t>
                      </a:r>
                      <a:r>
                        <a:rPr lang="zh-TW" altLang="en-US" dirty="0"/>
                        <a:t>製造等）</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037773847"/>
                  </a:ext>
                </a:extLst>
              </a:tr>
            </a:tbl>
          </a:graphicData>
        </a:graphic>
      </p:graphicFrame>
    </p:spTree>
    <p:extLst>
      <p:ext uri="{BB962C8B-B14F-4D97-AF65-F5344CB8AC3E}">
        <p14:creationId xmlns:p14="http://schemas.microsoft.com/office/powerpoint/2010/main" val="5909085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A555CB5F-E86B-46B2-924E-616185D7A471}"/>
              </a:ext>
            </a:extLst>
          </p:cNvPr>
          <p:cNvSpPr>
            <a:spLocks noGrp="1"/>
          </p:cNvSpPr>
          <p:nvPr>
            <p:ph type="title"/>
          </p:nvPr>
        </p:nvSpPr>
        <p:spPr>
          <a:xfrm>
            <a:off x="827584" y="-27384"/>
            <a:ext cx="7560840" cy="936104"/>
          </a:xfrm>
        </p:spPr>
        <p:txBody>
          <a:bodyPr/>
          <a:lstStyle/>
          <a:p>
            <a:r>
              <a:rPr lang="en-US" altLang="zh-TW" sz="3600" dirty="0"/>
              <a:t>CNS </a:t>
            </a:r>
            <a:r>
              <a:rPr lang="en-US" altLang="zh-TW" sz="3600" dirty="0" smtClean="0"/>
              <a:t>27001:2023</a:t>
            </a:r>
            <a:r>
              <a:rPr lang="zh-TW" altLang="en-US" sz="3600" dirty="0" smtClean="0"/>
              <a:t>與風險管理</a:t>
            </a:r>
            <a:endParaRPr lang="en-US" altLang="zh-TW" sz="3600" dirty="0"/>
          </a:p>
        </p:txBody>
      </p:sp>
      <p:sp>
        <p:nvSpPr>
          <p:cNvPr id="2" name="矩形 1"/>
          <p:cNvSpPr/>
          <p:nvPr/>
        </p:nvSpPr>
        <p:spPr>
          <a:xfrm>
            <a:off x="144702" y="908720"/>
            <a:ext cx="8675770" cy="1938992"/>
          </a:xfrm>
          <a:prstGeom prst="rect">
            <a:avLst/>
          </a:prstGeom>
        </p:spPr>
        <p:txBody>
          <a:bodyPr wrap="square">
            <a:spAutoFit/>
          </a:bodyPr>
          <a:lstStyle/>
          <a:p>
            <a:pPr marL="285750" indent="-285750">
              <a:buFont typeface="Wingdings" panose="05000000000000000000" pitchFamily="2" charset="2"/>
              <a:buChar char="ü"/>
            </a:pPr>
            <a:r>
              <a:rPr lang="en-US" altLang="zh-TW" sz="2000" dirty="0" smtClean="0"/>
              <a:t>ISO/IEC </a:t>
            </a:r>
            <a:r>
              <a:rPr lang="en-US" altLang="zh-TW" sz="2000" dirty="0"/>
              <a:t>27001 </a:t>
            </a:r>
            <a:r>
              <a:rPr lang="zh-TW" altLang="en-US" sz="2000" dirty="0"/>
              <a:t>是全球資訊安全管理</a:t>
            </a:r>
            <a:r>
              <a:rPr lang="zh-TW" altLang="en-US" sz="2000" dirty="0" smtClean="0"/>
              <a:t>系統的</a:t>
            </a:r>
            <a:r>
              <a:rPr lang="zh-TW" altLang="en-US" sz="2000" dirty="0"/>
              <a:t>核心國際標準，由 </a:t>
            </a:r>
            <a:r>
              <a:rPr lang="en-US" altLang="zh-TW" sz="2000" dirty="0"/>
              <a:t>ISO</a:t>
            </a:r>
            <a:r>
              <a:rPr lang="zh-TW" altLang="en-US" sz="2000" dirty="0"/>
              <a:t>（國際標準化組織）與 </a:t>
            </a:r>
            <a:r>
              <a:rPr lang="en-US" altLang="zh-TW" sz="2000" dirty="0"/>
              <a:t>IEC</a:t>
            </a:r>
            <a:r>
              <a:rPr lang="zh-TW" altLang="en-US" sz="2000" dirty="0"/>
              <a:t>（國際電工委員會）共同制定，旨在協助</a:t>
            </a:r>
            <a:r>
              <a:rPr lang="zh-TW" altLang="en-US" sz="2000" dirty="0" smtClean="0"/>
              <a:t>組織建立</a:t>
            </a:r>
            <a:r>
              <a:rPr lang="zh-TW" altLang="en-US" sz="2000" dirty="0"/>
              <a:t>、實施、維護與持續改進資訊安全管理</a:t>
            </a:r>
            <a:r>
              <a:rPr lang="zh-TW" altLang="en-US" sz="2000" dirty="0" smtClean="0"/>
              <a:t>系統，</a:t>
            </a:r>
            <a:r>
              <a:rPr lang="zh-TW" altLang="en-US" sz="2000" dirty="0"/>
              <a:t>以保護資訊的 機密</a:t>
            </a:r>
            <a:r>
              <a:rPr lang="zh-TW" altLang="en-US" sz="2000" dirty="0" smtClean="0"/>
              <a:t>性、完整性與可用性</a:t>
            </a:r>
            <a:endParaRPr lang="en-US" altLang="zh-TW" sz="2000" dirty="0" smtClean="0"/>
          </a:p>
          <a:p>
            <a:pPr marL="285750" indent="-285750">
              <a:buFont typeface="Wingdings" panose="05000000000000000000" pitchFamily="2" charset="2"/>
              <a:buChar char="ü"/>
            </a:pPr>
            <a:r>
              <a:rPr lang="en-US" altLang="zh-TW" sz="2000" dirty="0" smtClean="0"/>
              <a:t>ISO </a:t>
            </a:r>
            <a:r>
              <a:rPr lang="en-US" altLang="zh-TW" sz="2000" dirty="0"/>
              <a:t>27001:2022 </a:t>
            </a:r>
            <a:r>
              <a:rPr lang="zh-TW" altLang="en-US" sz="2000" dirty="0"/>
              <a:t>發布改版</a:t>
            </a:r>
            <a:r>
              <a:rPr lang="zh-TW" altLang="en-US" sz="2000" dirty="0" smtClean="0"/>
              <a:t>，</a:t>
            </a:r>
            <a:r>
              <a:rPr lang="en-US" altLang="zh-TW" sz="2000" dirty="0" smtClean="0"/>
              <a:t>CNS</a:t>
            </a:r>
            <a:r>
              <a:rPr lang="zh-TW" altLang="en-US" sz="2000" dirty="0" smtClean="0"/>
              <a:t> </a:t>
            </a:r>
            <a:r>
              <a:rPr lang="en-US" altLang="zh-TW" sz="2000" dirty="0" smtClean="0"/>
              <a:t>27001:2023</a:t>
            </a:r>
            <a:r>
              <a:rPr lang="zh-TW" altLang="en-US" sz="2000" dirty="0" smtClean="0"/>
              <a:t>則是依據</a:t>
            </a:r>
            <a:r>
              <a:rPr lang="en-US" altLang="zh-TW" sz="2000" dirty="0"/>
              <a:t>ISO/IEC </a:t>
            </a:r>
            <a:r>
              <a:rPr lang="en-US" altLang="zh-TW" sz="2000" dirty="0" smtClean="0"/>
              <a:t>27001:2022</a:t>
            </a:r>
            <a:r>
              <a:rPr lang="zh-TW" altLang="en-US" sz="2000" dirty="0" smtClean="0"/>
              <a:t>所制定的國家標準</a:t>
            </a:r>
            <a:endParaRPr lang="zh-TW" altLang="en-US" sz="2000" dirty="0"/>
          </a:p>
        </p:txBody>
      </p:sp>
      <p:graphicFrame>
        <p:nvGraphicFramePr>
          <p:cNvPr id="6" name="表格 5"/>
          <p:cNvGraphicFramePr>
            <a:graphicFrameLocks noGrp="1"/>
          </p:cNvGraphicFramePr>
          <p:nvPr>
            <p:extLst/>
          </p:nvPr>
        </p:nvGraphicFramePr>
        <p:xfrm>
          <a:off x="174925" y="2881269"/>
          <a:ext cx="3213383" cy="3881120"/>
        </p:xfrm>
        <a:graphic>
          <a:graphicData uri="http://schemas.openxmlformats.org/drawingml/2006/table">
            <a:tbl>
              <a:tblPr firstRow="1" bandRow="1">
                <a:tableStyleId>{5C22544A-7EE6-4342-B048-85BDC9FD1C3A}</a:tableStyleId>
              </a:tblPr>
              <a:tblGrid>
                <a:gridCol w="3213383">
                  <a:extLst>
                    <a:ext uri="{9D8B030D-6E8A-4147-A177-3AD203B41FA5}">
                      <a16:colId xmlns:a16="http://schemas.microsoft.com/office/drawing/2014/main" val="1342787890"/>
                    </a:ext>
                  </a:extLst>
                </a:gridCol>
              </a:tblGrid>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rPr>
                        <a:t>第一章：</a:t>
                      </a:r>
                      <a:r>
                        <a:rPr lang="zh-TW" altLang="en-US" sz="1600" b="1" dirty="0" smtClean="0">
                          <a:solidFill>
                            <a:schemeClr val="tx1"/>
                          </a:solidFill>
                        </a:rPr>
                        <a:t>範圍</a:t>
                      </a:r>
                      <a:endParaRPr lang="zh-TW"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536557104"/>
                  </a:ext>
                </a:extLst>
              </a:tr>
              <a:tr h="370840">
                <a:tc>
                  <a:txBody>
                    <a:bodyPr/>
                    <a:lstStyle/>
                    <a:p>
                      <a:r>
                        <a:rPr lang="zh-TW" altLang="en-US" sz="1600" b="1" dirty="0">
                          <a:solidFill>
                            <a:schemeClr val="tx1"/>
                          </a:solidFill>
                        </a:rPr>
                        <a:t>第二章：規範性引用</a:t>
                      </a:r>
                      <a:r>
                        <a:rPr lang="zh-TW" altLang="en-US" sz="1600" b="1" dirty="0" smtClean="0">
                          <a:solidFill>
                            <a:schemeClr val="tx1"/>
                          </a:solidFill>
                        </a:rPr>
                        <a:t>文件</a:t>
                      </a:r>
                      <a:endParaRPr lang="zh-TW" altLang="en-US"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44737989"/>
                  </a:ext>
                </a:extLst>
              </a:tr>
              <a:tr h="156499">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rPr>
                        <a:t>第三章：術語和定義</a:t>
                      </a:r>
                      <a:r>
                        <a:rPr lang="en-US" altLang="zh-TW" sz="1600" b="1" baseline="0" dirty="0">
                          <a:solidFill>
                            <a:schemeClr val="tx1"/>
                          </a:solidFill>
                        </a:rPr>
                        <a:t> </a:t>
                      </a:r>
                      <a:endParaRPr lang="en-US" altLang="zh-TW" sz="1600" b="1"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22508345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effectLst>
                            <a:outerShdw blurRad="38100" dist="38100" dir="2700000" algn="tl">
                              <a:srgbClr val="000000">
                                <a:alpha val="43137"/>
                              </a:srgbClr>
                            </a:outerShdw>
                          </a:effectLst>
                        </a:rPr>
                        <a:t>第四章：組織的背景</a:t>
                      </a:r>
                      <a:endParaRPr lang="en-US" altLang="zh-TW" sz="1600" b="1" dirty="0">
                        <a:solidFill>
                          <a:schemeClr val="tx1"/>
                        </a:solidFill>
                        <a:effectLst>
                          <a:outerShdw blurRad="38100" dist="38100" dir="2700000" algn="tl">
                            <a:srgbClr val="000000">
                              <a:alpha val="43137"/>
                            </a:srgbClr>
                          </a:outerShdw>
                        </a:effectLs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altLang="zh-TW" sz="1600" b="1" dirty="0">
                          <a:solidFill>
                            <a:schemeClr val="tx1"/>
                          </a:solidFill>
                          <a:effectLst>
                            <a:outerShdw blurRad="38100" dist="38100" dir="2700000" algn="tl">
                              <a:srgbClr val="000000">
                                <a:alpha val="43137"/>
                              </a:srgbClr>
                            </a:outerShdw>
                          </a:effectLst>
                        </a:rPr>
                        <a:t>Context of the organization</a:t>
                      </a:r>
                      <a:r>
                        <a:rPr lang="zh-TW" altLang="en-US" sz="1600" b="1" dirty="0">
                          <a:solidFill>
                            <a:schemeClr val="tx1"/>
                          </a:solidFill>
                          <a:effectLst>
                            <a:outerShdw blurRad="38100" dist="38100" dir="2700000" algn="tl">
                              <a:srgbClr val="000000">
                                <a:alpha val="43137"/>
                              </a:srgbClr>
                            </a:outerShdw>
                          </a:effectLs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6645185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effectLst>
                            <a:outerShdw blurRad="38100" dist="38100" dir="2700000" algn="tl">
                              <a:srgbClr val="000000">
                                <a:alpha val="43137"/>
                              </a:srgbClr>
                            </a:outerShdw>
                          </a:effectLst>
                        </a:rPr>
                        <a:t>第五章：領導</a:t>
                      </a:r>
                      <a:r>
                        <a:rPr lang="en-US" altLang="zh-TW" sz="1600" b="1" dirty="0">
                          <a:solidFill>
                            <a:schemeClr val="tx1"/>
                          </a:solidFill>
                          <a:effectLst>
                            <a:outerShdw blurRad="38100" dist="38100" dir="2700000" algn="tl">
                              <a:srgbClr val="000000">
                                <a:alpha val="43137"/>
                              </a:srgbClr>
                            </a:outerShdw>
                          </a:effectLst>
                        </a:rPr>
                        <a:t>Leadership</a:t>
                      </a:r>
                      <a:endParaRPr lang="zh-TW" altLang="en-US" sz="1600" b="1" dirty="0">
                        <a:solidFill>
                          <a:schemeClr val="tx1"/>
                        </a:solidFill>
                        <a:effectLst>
                          <a:outerShdw blurRad="38100" dist="38100" dir="2700000" algn="tl">
                            <a:srgbClr val="000000">
                              <a:alpha val="43137"/>
                            </a:srgbClr>
                          </a:outerShdw>
                        </a:effectLst>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69388096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effectLst>
                            <a:outerShdw blurRad="38100" dist="38100" dir="2700000" algn="tl">
                              <a:srgbClr val="000000">
                                <a:alpha val="43137"/>
                              </a:srgbClr>
                            </a:outerShdw>
                          </a:effectLst>
                        </a:rPr>
                        <a:t>第六章：規劃</a:t>
                      </a:r>
                      <a:r>
                        <a:rPr lang="en-US" altLang="zh-TW" sz="1600" b="1" dirty="0">
                          <a:solidFill>
                            <a:schemeClr val="tx1"/>
                          </a:solidFill>
                          <a:effectLst>
                            <a:outerShdw blurRad="38100" dist="38100" dir="2700000" algn="tl">
                              <a:srgbClr val="000000">
                                <a:alpha val="43137"/>
                              </a:srgbClr>
                            </a:outerShdw>
                          </a:effectLst>
                        </a:rPr>
                        <a:t>Planning</a:t>
                      </a:r>
                      <a:r>
                        <a:rPr lang="zh-TW" altLang="en-US" sz="1600" b="1" dirty="0">
                          <a:solidFill>
                            <a:schemeClr val="tx1"/>
                          </a:solidFill>
                          <a:effectLst>
                            <a:outerShdw blurRad="38100" dist="38100" dir="2700000" algn="tl">
                              <a:srgbClr val="000000">
                                <a:alpha val="43137"/>
                              </a:srgbClr>
                            </a:outerShdw>
                          </a:effectLs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1294305"/>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solidFill>
                            <a:schemeClr val="tx1"/>
                          </a:solidFill>
                          <a:effectLst>
                            <a:outerShdw blurRad="38100" dist="38100" dir="2700000" algn="tl">
                              <a:srgbClr val="000000">
                                <a:alpha val="43137"/>
                              </a:srgbClr>
                            </a:outerShdw>
                          </a:effectLst>
                        </a:rPr>
                        <a:t>第七章：支持</a:t>
                      </a:r>
                      <a:r>
                        <a:rPr lang="en-US" altLang="zh-TW" sz="1600" b="1" dirty="0">
                          <a:solidFill>
                            <a:schemeClr val="tx1"/>
                          </a:solidFill>
                          <a:effectLst>
                            <a:outerShdw blurRad="38100" dist="38100" dir="2700000" algn="tl">
                              <a:srgbClr val="000000">
                                <a:alpha val="43137"/>
                              </a:srgbClr>
                            </a:outerShdw>
                          </a:effectLst>
                        </a:rPr>
                        <a:t>Support</a:t>
                      </a:r>
                      <a:r>
                        <a:rPr lang="zh-TW" altLang="en-US" sz="1600" b="1" dirty="0">
                          <a:solidFill>
                            <a:schemeClr val="tx1"/>
                          </a:solidFill>
                          <a:effectLst>
                            <a:outerShdw blurRad="38100" dist="38100" dir="2700000" algn="tl">
                              <a:srgbClr val="000000">
                                <a:alpha val="43137"/>
                              </a:srgbClr>
                            </a:outerShdw>
                          </a:effectLst>
                        </a:rPr>
                        <a:t>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89285955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t>第八章：運行</a:t>
                      </a:r>
                      <a:r>
                        <a:rPr lang="en-US" altLang="zh-TW" sz="1600" b="1" dirty="0"/>
                        <a:t>Operation</a:t>
                      </a:r>
                      <a:endParaRPr lang="zh-TW" altLang="en-US"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707596094"/>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t>第九章：績效</a:t>
                      </a:r>
                      <a:r>
                        <a:rPr lang="zh-TW" altLang="en-US" sz="1600" b="1" dirty="0" smtClean="0"/>
                        <a:t>評估</a:t>
                      </a:r>
                      <a:endParaRPr lang="en-US" altLang="zh-TW" sz="1600" b="1"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14841983"/>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zh-TW" altLang="en-US" sz="1600" b="1" dirty="0"/>
                        <a:t>第十章：改善（</a:t>
                      </a:r>
                      <a:r>
                        <a:rPr lang="en-US" altLang="zh-TW" sz="1600" b="1" dirty="0"/>
                        <a:t>Improvement</a:t>
                      </a:r>
                      <a:r>
                        <a:rPr lang="zh-TW" altLang="en-US" sz="1600" b="1" dirty="0"/>
                        <a: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111695017"/>
                  </a:ext>
                </a:extLst>
              </a:tr>
            </a:tbl>
          </a:graphicData>
        </a:graphic>
      </p:graphicFrame>
      <p:sp>
        <p:nvSpPr>
          <p:cNvPr id="4" name="矩形 3"/>
          <p:cNvSpPr/>
          <p:nvPr/>
        </p:nvSpPr>
        <p:spPr>
          <a:xfrm>
            <a:off x="3563888" y="5391531"/>
            <a:ext cx="2520280" cy="923330"/>
          </a:xfrm>
          <a:prstGeom prst="rect">
            <a:avLst/>
          </a:prstGeom>
          <a:ln w="19050">
            <a:solidFill>
              <a:schemeClr val="tx1"/>
            </a:solidFill>
          </a:ln>
        </p:spPr>
        <p:txBody>
          <a:bodyPr wrap="square">
            <a:spAutoFit/>
          </a:bodyPr>
          <a:lstStyle/>
          <a:p>
            <a:pPr>
              <a:defRPr/>
            </a:pPr>
            <a:r>
              <a:rPr lang="zh-TW" altLang="en-US" b="1" dirty="0" smtClean="0"/>
              <a:t>須執行</a:t>
            </a:r>
            <a:r>
              <a:rPr lang="zh-TW" altLang="en-US" dirty="0"/>
              <a:t>下列事項</a:t>
            </a:r>
            <a:r>
              <a:rPr lang="en-US" altLang="zh-TW" dirty="0" smtClean="0"/>
              <a:t>:</a:t>
            </a:r>
            <a:endParaRPr lang="en-US" altLang="zh-TW" b="1" dirty="0" smtClean="0"/>
          </a:p>
          <a:p>
            <a:pPr>
              <a:defRPr/>
            </a:pPr>
            <a:r>
              <a:rPr lang="zh-TW" altLang="en-US" b="1" dirty="0" smtClean="0"/>
              <a:t>資訊安全</a:t>
            </a:r>
            <a:r>
              <a:rPr lang="zh-TW" altLang="en-US" b="1" dirty="0"/>
              <a:t>風險</a:t>
            </a:r>
            <a:r>
              <a:rPr lang="zh-TW" altLang="en-US" b="1" dirty="0" smtClean="0"/>
              <a:t>評鑑</a:t>
            </a:r>
            <a:r>
              <a:rPr lang="en-US" altLang="zh-TW" b="1" dirty="0" smtClean="0"/>
              <a:t>(</a:t>
            </a:r>
            <a:r>
              <a:rPr lang="en-US" altLang="zh-TW" b="1" dirty="0"/>
              <a:t>8.2</a:t>
            </a:r>
            <a:r>
              <a:rPr lang="en-US" altLang="zh-TW" b="1" dirty="0" smtClean="0"/>
              <a:t>)</a:t>
            </a:r>
            <a:endParaRPr lang="zh-TW" altLang="en-US" b="1" dirty="0"/>
          </a:p>
          <a:p>
            <a:pPr>
              <a:defRPr/>
            </a:pPr>
            <a:r>
              <a:rPr lang="zh-TW" altLang="en-US" b="1" dirty="0" smtClean="0"/>
              <a:t>資訊安全</a:t>
            </a:r>
            <a:r>
              <a:rPr lang="zh-TW" altLang="en-US" b="1" dirty="0"/>
              <a:t>風險</a:t>
            </a:r>
            <a:r>
              <a:rPr lang="zh-TW" altLang="en-US" b="1" dirty="0" smtClean="0"/>
              <a:t>處理</a:t>
            </a:r>
            <a:r>
              <a:rPr lang="en-US" altLang="zh-TW" b="1" dirty="0" smtClean="0"/>
              <a:t>(</a:t>
            </a:r>
            <a:r>
              <a:rPr lang="en-US" altLang="zh-TW" b="1" dirty="0"/>
              <a:t>8.3</a:t>
            </a:r>
            <a:r>
              <a:rPr lang="en-US" altLang="zh-TW" b="1" dirty="0" smtClean="0"/>
              <a:t>)</a:t>
            </a:r>
            <a:endParaRPr lang="zh-TW" altLang="en-US" b="1" dirty="0"/>
          </a:p>
        </p:txBody>
      </p:sp>
      <p:cxnSp>
        <p:nvCxnSpPr>
          <p:cNvPr id="7" name="直線單箭頭接點 6"/>
          <p:cNvCxnSpPr/>
          <p:nvPr/>
        </p:nvCxnSpPr>
        <p:spPr bwMode="auto">
          <a:xfrm flipV="1">
            <a:off x="2624431" y="4537453"/>
            <a:ext cx="1026503" cy="583378"/>
          </a:xfrm>
          <a:prstGeom prst="straightConnector1">
            <a:avLst/>
          </a:prstGeom>
          <a:solidFill>
            <a:schemeClr val="accent1"/>
          </a:solidFill>
          <a:ln w="28575" cap="flat" cmpd="sng" algn="ctr">
            <a:solidFill>
              <a:schemeClr val="tx1"/>
            </a:solidFill>
            <a:prstDash val="solid"/>
            <a:round/>
            <a:headEnd type="none" w="med" len="med"/>
            <a:tailEnd type="triangle"/>
          </a:ln>
          <a:effectLst/>
        </p:spPr>
      </p:cxnSp>
      <p:cxnSp>
        <p:nvCxnSpPr>
          <p:cNvPr id="10" name="直線單箭頭接點 9"/>
          <p:cNvCxnSpPr>
            <a:endCxn id="4" idx="1"/>
          </p:cNvCxnSpPr>
          <p:nvPr/>
        </p:nvCxnSpPr>
        <p:spPr bwMode="auto">
          <a:xfrm flipV="1">
            <a:off x="2555776" y="5853196"/>
            <a:ext cx="1008112" cy="24076"/>
          </a:xfrm>
          <a:prstGeom prst="straightConnector1">
            <a:avLst/>
          </a:prstGeom>
          <a:solidFill>
            <a:schemeClr val="accent1"/>
          </a:solidFill>
          <a:ln w="38100" cap="flat" cmpd="sng" algn="ctr">
            <a:solidFill>
              <a:schemeClr val="tx1"/>
            </a:solidFill>
            <a:prstDash val="solid"/>
            <a:round/>
            <a:headEnd type="none" w="med" len="med"/>
            <a:tailEnd type="triangle"/>
          </a:ln>
          <a:effectLst/>
        </p:spPr>
      </p:cxnSp>
      <p:sp>
        <p:nvSpPr>
          <p:cNvPr id="15" name="矩形 14"/>
          <p:cNvSpPr/>
          <p:nvPr/>
        </p:nvSpPr>
        <p:spPr>
          <a:xfrm>
            <a:off x="3563888" y="3567957"/>
            <a:ext cx="2536552" cy="1477328"/>
          </a:xfrm>
          <a:prstGeom prst="rect">
            <a:avLst/>
          </a:prstGeom>
          <a:ln w="19050">
            <a:solidFill>
              <a:schemeClr val="tx1"/>
            </a:solidFill>
          </a:ln>
        </p:spPr>
        <p:txBody>
          <a:bodyPr wrap="square">
            <a:spAutoFit/>
          </a:bodyPr>
          <a:lstStyle/>
          <a:p>
            <a:r>
              <a:rPr lang="zh-TW" altLang="en-US" dirty="0" smtClean="0"/>
              <a:t>須規劃</a:t>
            </a:r>
            <a:r>
              <a:rPr lang="zh-TW" altLang="en-US" dirty="0"/>
              <a:t>下列</a:t>
            </a:r>
            <a:r>
              <a:rPr lang="zh-TW" altLang="en-US" dirty="0" smtClean="0"/>
              <a:t>事項</a:t>
            </a:r>
            <a:r>
              <a:rPr lang="en-US" altLang="zh-TW" dirty="0" smtClean="0"/>
              <a:t>:</a:t>
            </a:r>
          </a:p>
          <a:p>
            <a:r>
              <a:rPr lang="zh-TW" altLang="en-US" dirty="0" smtClean="0"/>
              <a:t>定義及應用資訊安全風險評鑑</a:t>
            </a:r>
            <a:r>
              <a:rPr lang="en-US" altLang="zh-TW" dirty="0" smtClean="0"/>
              <a:t>(6.1.2)</a:t>
            </a:r>
          </a:p>
          <a:p>
            <a:r>
              <a:rPr lang="zh-TW" altLang="en-US" dirty="0" smtClean="0"/>
              <a:t>定義並應用資訊安全風 險處理過程</a:t>
            </a:r>
            <a:r>
              <a:rPr lang="en-US" altLang="zh-TW" dirty="0"/>
              <a:t>(</a:t>
            </a:r>
            <a:r>
              <a:rPr lang="en-US" altLang="zh-TW" dirty="0" smtClean="0"/>
              <a:t>6.1.3)</a:t>
            </a:r>
            <a:endParaRPr lang="en-US" altLang="zh-TW" dirty="0"/>
          </a:p>
        </p:txBody>
      </p:sp>
      <p:sp>
        <p:nvSpPr>
          <p:cNvPr id="20" name="矩形 19"/>
          <p:cNvSpPr/>
          <p:nvPr/>
        </p:nvSpPr>
        <p:spPr>
          <a:xfrm>
            <a:off x="6925785" y="3852333"/>
            <a:ext cx="2031325" cy="1938992"/>
          </a:xfrm>
          <a:prstGeom prst="rect">
            <a:avLst/>
          </a:prstGeom>
        </p:spPr>
        <p:txBody>
          <a:bodyPr wrap="none">
            <a:spAutoFit/>
          </a:bodyPr>
          <a:lstStyle/>
          <a:p>
            <a:r>
              <a:rPr lang="en-US" altLang="zh-TW" sz="2400" dirty="0" smtClean="0"/>
              <a:t>CNS27005</a:t>
            </a:r>
          </a:p>
          <a:p>
            <a:r>
              <a:rPr lang="zh-TW" altLang="en-US" sz="2400" dirty="0" smtClean="0"/>
              <a:t>進一步依循</a:t>
            </a:r>
            <a:endParaRPr lang="en-US" altLang="zh-TW" sz="2400" dirty="0" smtClean="0"/>
          </a:p>
          <a:p>
            <a:r>
              <a:rPr lang="en-US" altLang="zh-TW" sz="2400" dirty="0" smtClean="0"/>
              <a:t>CNS</a:t>
            </a:r>
            <a:r>
              <a:rPr lang="zh-TW" altLang="en-US" sz="2400" dirty="0" smtClean="0"/>
              <a:t> </a:t>
            </a:r>
            <a:r>
              <a:rPr lang="en-US" altLang="zh-TW" sz="2400" dirty="0" smtClean="0"/>
              <a:t>27001</a:t>
            </a:r>
          </a:p>
          <a:p>
            <a:r>
              <a:rPr lang="zh-TW" altLang="en-US" sz="2400" dirty="0" smtClean="0"/>
              <a:t>規範提供更多</a:t>
            </a:r>
            <a:endParaRPr lang="en-US" altLang="zh-TW" sz="2400" dirty="0" smtClean="0"/>
          </a:p>
          <a:p>
            <a:r>
              <a:rPr lang="zh-TW" altLang="en-US" sz="2400" dirty="0"/>
              <a:t>指南</a:t>
            </a:r>
            <a:endParaRPr lang="en-US" altLang="zh-TW" sz="2400" dirty="0" smtClean="0"/>
          </a:p>
        </p:txBody>
      </p:sp>
      <p:sp>
        <p:nvSpPr>
          <p:cNvPr id="21" name="右大括弧 20"/>
          <p:cNvSpPr/>
          <p:nvPr/>
        </p:nvSpPr>
        <p:spPr bwMode="auto">
          <a:xfrm>
            <a:off x="6256233" y="3933056"/>
            <a:ext cx="454777" cy="2067211"/>
          </a:xfrm>
          <a:prstGeom prst="rightBrace">
            <a:avLst>
              <a:gd name="adj1" fmla="val 8333"/>
              <a:gd name="adj2" fmla="val 51404"/>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TW" altLang="en-US" sz="1800" b="0" i="1" u="none" strike="noStrike" cap="none" normalizeH="0" baseline="0" smtClean="0">
              <a:ln>
                <a:noFill/>
              </a:ln>
              <a:solidFill>
                <a:schemeClr val="tx1"/>
              </a:solidFill>
              <a:effectLst/>
              <a:latin typeface="Arial" charset="0"/>
              <a:ea typeface="標楷體" pitchFamily="65" charset="-120"/>
            </a:endParaRPr>
          </a:p>
        </p:txBody>
      </p:sp>
    </p:spTree>
    <p:extLst>
      <p:ext uri="{BB962C8B-B14F-4D97-AF65-F5344CB8AC3E}">
        <p14:creationId xmlns:p14="http://schemas.microsoft.com/office/powerpoint/2010/main" val="8290536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30ECCB66-F459-460F-829A-E2B8DDC22086}"/>
              </a:ext>
            </a:extLst>
          </p:cNvPr>
          <p:cNvSpPr>
            <a:spLocks noGrp="1"/>
          </p:cNvSpPr>
          <p:nvPr>
            <p:ph sz="quarter" idx="10"/>
          </p:nvPr>
        </p:nvSpPr>
        <p:spPr>
          <a:xfrm>
            <a:off x="539552" y="908720"/>
            <a:ext cx="7920880" cy="5688632"/>
          </a:xfrm>
        </p:spPr>
        <p:txBody>
          <a:bodyPr/>
          <a:lstStyle/>
          <a:p>
            <a:pPr marL="0" indent="0">
              <a:buNone/>
            </a:pPr>
            <a:r>
              <a:rPr lang="en-GB" altLang="zh-TW" sz="2000" dirty="0"/>
              <a:t>ISO 27001:2022</a:t>
            </a:r>
            <a:r>
              <a:rPr lang="zh-TW" altLang="en-US" sz="2000" dirty="0"/>
              <a:t> 發布改版，</a:t>
            </a:r>
            <a:r>
              <a:rPr lang="en-US" altLang="zh-TW" sz="2000" dirty="0"/>
              <a:t>CNS</a:t>
            </a:r>
            <a:r>
              <a:rPr lang="zh-TW" altLang="en-US" sz="2000" dirty="0"/>
              <a:t> </a:t>
            </a:r>
            <a:r>
              <a:rPr lang="en-US" altLang="zh-TW" sz="2000" dirty="0"/>
              <a:t>27001</a:t>
            </a:r>
            <a:r>
              <a:rPr lang="zh-TW" altLang="en-US" sz="2000" dirty="0"/>
              <a:t>標準隨後於</a:t>
            </a:r>
            <a:r>
              <a:rPr lang="en-US" altLang="zh-TW" sz="2000" dirty="0"/>
              <a:t>2023</a:t>
            </a:r>
            <a:r>
              <a:rPr lang="zh-TW" altLang="en-US" sz="2000" dirty="0"/>
              <a:t>年修訂公布，與</a:t>
            </a:r>
            <a:r>
              <a:rPr lang="en-US" altLang="zh-TW" sz="2000" dirty="0"/>
              <a:t>CNS</a:t>
            </a:r>
            <a:r>
              <a:rPr lang="en-GB" altLang="zh-TW" sz="2000" dirty="0"/>
              <a:t> 27001:2014</a:t>
            </a:r>
            <a:r>
              <a:rPr lang="zh-TW" altLang="en-US" sz="2000" dirty="0"/>
              <a:t>舊版相比，本文除部分條款有額外要求新增、用語調整、備考</a:t>
            </a:r>
            <a:r>
              <a:rPr lang="en-US" altLang="zh-TW" sz="2000" dirty="0"/>
              <a:t>(Note)</a:t>
            </a:r>
            <a:r>
              <a:rPr lang="zh-TW" altLang="en-US" sz="2000" dirty="0"/>
              <a:t>說明調整及條款編號互換外，僅新增全新子條款</a:t>
            </a:r>
            <a:r>
              <a:rPr lang="en-US" altLang="zh-TW" sz="2000" dirty="0"/>
              <a:t>1</a:t>
            </a:r>
            <a:r>
              <a:rPr lang="zh-TW" altLang="en-US" sz="2000" dirty="0"/>
              <a:t>項，較多改變為附錄 </a:t>
            </a:r>
            <a:r>
              <a:rPr lang="en-GB" altLang="zh-TW" sz="2000" dirty="0"/>
              <a:t>A</a:t>
            </a:r>
            <a:r>
              <a:rPr lang="zh-TW" altLang="en-US" sz="2000" dirty="0"/>
              <a:t> 的部分，由</a:t>
            </a:r>
            <a:r>
              <a:rPr lang="zh-TW" altLang="zh-TW" sz="2000" dirty="0"/>
              <a:t>原先的</a:t>
            </a:r>
            <a:r>
              <a:rPr lang="en-US" altLang="zh-TW" sz="2000" dirty="0"/>
              <a:t>14</a:t>
            </a:r>
            <a:r>
              <a:rPr lang="zh-TW" altLang="en-US" sz="2000" dirty="0"/>
              <a:t>類整併</a:t>
            </a:r>
            <a:r>
              <a:rPr lang="zh-TW" altLang="zh-TW" sz="2000" dirty="0"/>
              <a:t>為</a:t>
            </a:r>
            <a:r>
              <a:rPr lang="en-US" altLang="zh-TW" sz="2000" dirty="0"/>
              <a:t>4</a:t>
            </a:r>
            <a:r>
              <a:rPr lang="zh-TW" altLang="zh-TW" sz="2000" dirty="0"/>
              <a:t>大主題</a:t>
            </a:r>
            <a:r>
              <a:rPr lang="en-US" altLang="zh-TW" sz="2000" dirty="0"/>
              <a:t>(</a:t>
            </a:r>
            <a:r>
              <a:rPr lang="zh-TW" altLang="zh-TW" sz="2000" dirty="0"/>
              <a:t>組織、人員、實體、技術</a:t>
            </a:r>
            <a:r>
              <a:rPr lang="en-US" altLang="zh-TW" sz="2000" dirty="0"/>
              <a:t>)</a:t>
            </a:r>
            <a:r>
              <a:rPr lang="zh-TW" altLang="zh-TW" sz="2000" dirty="0"/>
              <a:t>，控制措施</a:t>
            </a:r>
            <a:r>
              <a:rPr lang="zh-TW" altLang="en-US" sz="2000" dirty="0"/>
              <a:t>也由</a:t>
            </a:r>
            <a:r>
              <a:rPr lang="en-US" altLang="zh-TW" sz="2000" dirty="0"/>
              <a:t>114</a:t>
            </a:r>
            <a:r>
              <a:rPr lang="zh-TW" altLang="en-US" sz="2000" dirty="0"/>
              <a:t>個控制項目調整為</a:t>
            </a:r>
            <a:r>
              <a:rPr lang="en-US" altLang="zh-TW" sz="2000" dirty="0"/>
              <a:t>93</a:t>
            </a:r>
            <a:r>
              <a:rPr lang="zh-TW" altLang="en-US" sz="2000" dirty="0"/>
              <a:t>個控制項目</a:t>
            </a:r>
            <a:r>
              <a:rPr lang="en-US" altLang="zh-TW" sz="2000" dirty="0"/>
              <a:t>(</a:t>
            </a:r>
            <a:r>
              <a:rPr lang="zh-TW" altLang="zh-TW" sz="2000" dirty="0"/>
              <a:t>新增</a:t>
            </a:r>
            <a:r>
              <a:rPr lang="en-US" altLang="zh-TW" sz="2000" dirty="0"/>
              <a:t>11</a:t>
            </a:r>
            <a:r>
              <a:rPr lang="zh-TW" altLang="zh-TW" sz="2000" dirty="0"/>
              <a:t>個、更新</a:t>
            </a:r>
            <a:r>
              <a:rPr lang="en-US" altLang="zh-TW" sz="2000" dirty="0"/>
              <a:t>58</a:t>
            </a:r>
            <a:r>
              <a:rPr lang="zh-TW" altLang="zh-TW" sz="2000" dirty="0"/>
              <a:t>個、</a:t>
            </a:r>
            <a:r>
              <a:rPr lang="zh-TW" altLang="en-US" sz="2000" dirty="0"/>
              <a:t>合併</a:t>
            </a:r>
            <a:r>
              <a:rPr lang="en-US" altLang="zh-TW" sz="2000" dirty="0"/>
              <a:t>24</a:t>
            </a:r>
            <a:r>
              <a:rPr lang="zh-TW" altLang="zh-TW" sz="2000" dirty="0"/>
              <a:t>個</a:t>
            </a:r>
            <a:r>
              <a:rPr lang="en-US" altLang="zh-TW" sz="2000" dirty="0"/>
              <a:t>)</a:t>
            </a:r>
            <a:r>
              <a:rPr lang="zh-TW" altLang="en-US" sz="2000" dirty="0"/>
              <a:t>，同時在</a:t>
            </a:r>
            <a:r>
              <a:rPr lang="en-GB" altLang="zh-TW" sz="2000" dirty="0"/>
              <a:t>CNS 27002:2023</a:t>
            </a:r>
            <a:r>
              <a:rPr lang="zh-TW" altLang="en-US" sz="2000" dirty="0"/>
              <a:t>提供屬性標籤讓控制措施更容易使用。</a:t>
            </a:r>
            <a:endParaRPr lang="en-US" altLang="zh-TW" sz="2000" dirty="0"/>
          </a:p>
          <a:p>
            <a:pPr marL="0" indent="0">
              <a:buNone/>
            </a:pPr>
            <a:r>
              <a:rPr lang="zh-TW" altLang="en-US" sz="2000" dirty="0"/>
              <a:t>組織可以比對與確認所有附錄 </a:t>
            </a:r>
            <a:r>
              <a:rPr lang="en-US" altLang="zh-TW" sz="2000" dirty="0"/>
              <a:t>A </a:t>
            </a:r>
            <a:r>
              <a:rPr lang="zh-TW" altLang="en-US" sz="2000" dirty="0"/>
              <a:t>中的資訊安全控制措施，並更新風險處理計劃，以實施額外的必要資訊安全控制措施。</a:t>
            </a:r>
            <a:endParaRPr lang="en-US" altLang="zh-TW" sz="2000" dirty="0"/>
          </a:p>
          <a:p>
            <a:pPr marL="0" indent="0">
              <a:buNone/>
            </a:pPr>
            <a:endParaRPr lang="zh-TW" altLang="en-US" sz="1800" dirty="0"/>
          </a:p>
        </p:txBody>
      </p:sp>
      <p:sp>
        <p:nvSpPr>
          <p:cNvPr id="14" name="Title 1">
            <a:extLst>
              <a:ext uri="{FF2B5EF4-FFF2-40B4-BE49-F238E27FC236}">
                <a16:creationId xmlns:a16="http://schemas.microsoft.com/office/drawing/2014/main" id="{A555CB5F-E86B-46B2-924E-616185D7A471}"/>
              </a:ext>
            </a:extLst>
          </p:cNvPr>
          <p:cNvSpPr>
            <a:spLocks noGrp="1"/>
          </p:cNvSpPr>
          <p:nvPr>
            <p:ph type="title"/>
          </p:nvPr>
        </p:nvSpPr>
        <p:spPr>
          <a:xfrm>
            <a:off x="827584" y="-27384"/>
            <a:ext cx="7560840" cy="936104"/>
          </a:xfrm>
        </p:spPr>
        <p:txBody>
          <a:bodyPr/>
          <a:lstStyle/>
          <a:p>
            <a:r>
              <a:rPr lang="en-US" altLang="zh-TW" sz="3600" dirty="0"/>
              <a:t>CNS 27001:2023</a:t>
            </a:r>
            <a:r>
              <a:rPr lang="zh-TW" altLang="en-US" sz="3600" dirty="0"/>
              <a:t>對於風險管理要求</a:t>
            </a:r>
            <a:endParaRPr lang="en-US" altLang="zh-TW" sz="3600" dirty="0"/>
          </a:p>
        </p:txBody>
      </p:sp>
      <p:sp>
        <p:nvSpPr>
          <p:cNvPr id="15" name="Rectangle 4">
            <a:extLst>
              <a:ext uri="{FF2B5EF4-FFF2-40B4-BE49-F238E27FC236}">
                <a16:creationId xmlns:a16="http://schemas.microsoft.com/office/drawing/2014/main" id="{EFFEEB90-716F-41C4-9498-3F4AC77C6A01}"/>
              </a:ext>
            </a:extLst>
          </p:cNvPr>
          <p:cNvSpPr>
            <a:spLocks noChangeArrowheads="1"/>
          </p:cNvSpPr>
          <p:nvPr/>
        </p:nvSpPr>
        <p:spPr bwMode="auto">
          <a:xfrm>
            <a:off x="4139952" y="6488668"/>
            <a:ext cx="245772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i="0" baseline="30000" dirty="0">
                <a:latin typeface="微軟正黑體" panose="020B0604030504040204" pitchFamily="34" charset="-120"/>
                <a:ea typeface="微軟正黑體" panose="020B0604030504040204" pitchFamily="34" charset="-120"/>
              </a:rPr>
              <a:t>CNS</a:t>
            </a:r>
            <a:r>
              <a:rPr lang="zh-TW" altLang="en-US" i="0" baseline="30000" dirty="0">
                <a:latin typeface="微軟正黑體" panose="020B0604030504040204" pitchFamily="34" charset="-120"/>
                <a:ea typeface="微軟正黑體" panose="020B0604030504040204" pitchFamily="34" charset="-120"/>
              </a:rPr>
              <a:t> </a:t>
            </a:r>
            <a:r>
              <a:rPr lang="en-US" altLang="zh-TW" i="0" baseline="30000" dirty="0">
                <a:latin typeface="微軟正黑體" panose="020B0604030504040204" pitchFamily="34" charset="-120"/>
                <a:ea typeface="微軟正黑體" panose="020B0604030504040204" pitchFamily="34" charset="-120"/>
              </a:rPr>
              <a:t>27001</a:t>
            </a:r>
            <a:r>
              <a:rPr lang="zh-TW" altLang="en-US" i="0" baseline="30000" dirty="0">
                <a:latin typeface="微軟正黑體" panose="020B0604030504040204" pitchFamily="34" charset="-120"/>
                <a:ea typeface="微軟正黑體" panose="020B0604030504040204" pitchFamily="34" charset="-120"/>
              </a:rPr>
              <a:t> </a:t>
            </a:r>
            <a:r>
              <a:rPr lang="en-US" altLang="zh-TW" i="0" baseline="30000" dirty="0">
                <a:latin typeface="微軟正黑體" panose="020B0604030504040204" pitchFamily="34" charset="-120"/>
                <a:ea typeface="微軟正黑體" panose="020B0604030504040204" pitchFamily="34" charset="-120"/>
              </a:rPr>
              <a:t>:</a:t>
            </a:r>
            <a:r>
              <a:rPr lang="zh-TW" altLang="en-US" i="0" baseline="30000" dirty="0">
                <a:latin typeface="微軟正黑體" panose="020B0604030504040204" pitchFamily="34" charset="-120"/>
                <a:ea typeface="微軟正黑體" panose="020B0604030504040204" pitchFamily="34" charset="-120"/>
              </a:rPr>
              <a:t> </a:t>
            </a:r>
            <a:r>
              <a:rPr lang="en-US" altLang="zh-TW" i="0" baseline="30000" dirty="0">
                <a:latin typeface="微軟正黑體" panose="020B0604030504040204" pitchFamily="34" charset="-120"/>
                <a:ea typeface="微軟正黑體" panose="020B0604030504040204" pitchFamily="34" charset="-120"/>
              </a:rPr>
              <a:t>2023 </a:t>
            </a:r>
            <a:r>
              <a:rPr lang="zh-TW" altLang="en-US" baseline="30000" dirty="0">
                <a:latin typeface="微軟正黑體" panose="020B0604030504040204" pitchFamily="34" charset="-120"/>
                <a:ea typeface="微軟正黑體" panose="020B0604030504040204" pitchFamily="34" charset="-120"/>
              </a:rPr>
              <a:t> 全新控制措施</a:t>
            </a:r>
            <a:endParaRPr lang="en-US" altLang="zh-TW" i="0" dirty="0">
              <a:latin typeface="微軟正黑體" panose="020B0604030504040204" pitchFamily="34" charset="-120"/>
              <a:ea typeface="微軟正黑體" panose="020B0604030504040204" pitchFamily="34" charset="-120"/>
            </a:endParaRPr>
          </a:p>
        </p:txBody>
      </p:sp>
      <p:sp>
        <p:nvSpPr>
          <p:cNvPr id="16" name="Rectangle 5">
            <a:extLst>
              <a:ext uri="{FF2B5EF4-FFF2-40B4-BE49-F238E27FC236}">
                <a16:creationId xmlns:a16="http://schemas.microsoft.com/office/drawing/2014/main" id="{887D8C12-C95E-489A-BE33-C0E8ACC96235}"/>
              </a:ext>
            </a:extLst>
          </p:cNvPr>
          <p:cNvSpPr>
            <a:spLocks noChangeArrowheads="1"/>
          </p:cNvSpPr>
          <p:nvPr/>
        </p:nvSpPr>
        <p:spPr bwMode="auto">
          <a:xfrm>
            <a:off x="1368693" y="4683557"/>
            <a:ext cx="1619131" cy="954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r>
              <a:rPr lang="en-US" altLang="zh-TW" sz="1400" i="0" dirty="0">
                <a:solidFill>
                  <a:srgbClr val="FF0000"/>
                </a:solidFill>
                <a:latin typeface="微軟正黑體" panose="020B0604030504040204" pitchFamily="34" charset="-120"/>
                <a:ea typeface="微軟正黑體" panose="020B0604030504040204" pitchFamily="34" charset="-120"/>
              </a:rPr>
              <a:t>CNS 27001</a:t>
            </a:r>
            <a:r>
              <a:rPr lang="zh-TW" altLang="en-US" sz="1400" i="0" dirty="0">
                <a:solidFill>
                  <a:srgbClr val="FF0000"/>
                </a:solidFill>
                <a:latin typeface="微軟正黑體" panose="020B0604030504040204" pitchFamily="34" charset="-120"/>
                <a:ea typeface="微軟正黑體" panose="020B0604030504040204" pitchFamily="34" charset="-120"/>
              </a:rPr>
              <a:t>特別強調風險評鑑與處理過程</a:t>
            </a:r>
            <a:r>
              <a:rPr lang="en-US" altLang="zh-TW" sz="1400" i="0" dirty="0">
                <a:solidFill>
                  <a:srgbClr val="FF0000"/>
                </a:solidFill>
                <a:latin typeface="微軟正黑體" panose="020B0604030504040204" pitchFamily="34" charset="-120"/>
                <a:ea typeface="微軟正黑體" panose="020B0604030504040204" pitchFamily="34" charset="-120"/>
              </a:rPr>
              <a:t>(Process)</a:t>
            </a:r>
            <a:r>
              <a:rPr lang="zh-TW" altLang="en-US" sz="1400" i="0" dirty="0">
                <a:solidFill>
                  <a:srgbClr val="FF0000"/>
                </a:solidFill>
                <a:latin typeface="微軟正黑體" panose="020B0604030504040204" pitchFamily="34" charset="-120"/>
                <a:ea typeface="微軟正黑體" panose="020B0604030504040204" pitchFamily="34" charset="-120"/>
              </a:rPr>
              <a:t>，符合</a:t>
            </a:r>
            <a:r>
              <a:rPr lang="en-US" altLang="zh-TW" sz="1400" i="0" dirty="0">
                <a:solidFill>
                  <a:srgbClr val="FF0000"/>
                </a:solidFill>
                <a:latin typeface="微軟正黑體" panose="020B0604030504040204" pitchFamily="34" charset="-120"/>
                <a:ea typeface="微軟正黑體" panose="020B0604030504040204" pitchFamily="34" charset="-120"/>
              </a:rPr>
              <a:t>CNS 31000</a:t>
            </a:r>
          </a:p>
        </p:txBody>
      </p:sp>
      <p:graphicFrame>
        <p:nvGraphicFramePr>
          <p:cNvPr id="17" name="Table 8">
            <a:extLst>
              <a:ext uri="{FF2B5EF4-FFF2-40B4-BE49-F238E27FC236}">
                <a16:creationId xmlns:a16="http://schemas.microsoft.com/office/drawing/2014/main" id="{1AD889BF-2150-4D95-B3BF-EADFC4806175}"/>
              </a:ext>
            </a:extLst>
          </p:cNvPr>
          <p:cNvGraphicFramePr>
            <a:graphicFrameLocks noGrp="1"/>
          </p:cNvGraphicFramePr>
          <p:nvPr/>
        </p:nvGraphicFramePr>
        <p:xfrm>
          <a:off x="3635896" y="4382722"/>
          <a:ext cx="3730147" cy="2078997"/>
        </p:xfrm>
        <a:graphic>
          <a:graphicData uri="http://schemas.openxmlformats.org/drawingml/2006/table">
            <a:tbl>
              <a:tblPr/>
              <a:tblGrid>
                <a:gridCol w="3730147">
                  <a:extLst>
                    <a:ext uri="{9D8B030D-6E8A-4147-A177-3AD203B41FA5}">
                      <a16:colId xmlns:a16="http://schemas.microsoft.com/office/drawing/2014/main" val="20000"/>
                    </a:ext>
                  </a:extLst>
                </a:gridCol>
              </a:tblGrid>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5.7</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威脅情資</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5988" marR="35988"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0"/>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5.23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使用雲端服務之資訊安全</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5988" marR="35988"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1"/>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5.30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營運持續之</a:t>
                      </a: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ICT</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備妥性</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5988" marR="35988"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2"/>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7.4</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實體安全監視</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5988" marR="35988"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3"/>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8.9</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組態管理</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4"/>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8.10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資訊刪除</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5"/>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8.11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資料遮蔽</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6"/>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8.12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資料洩露預防</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7"/>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8.16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監視活動</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8"/>
                  </a:ext>
                </a:extLst>
              </a:tr>
              <a:tr h="165288">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8.22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網頁過濾</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09"/>
                  </a:ext>
                </a:extLst>
              </a:tr>
              <a:tr h="250197">
                <a:tc>
                  <a:txBody>
                    <a:bodyPr/>
                    <a:lstStyle>
                      <a:lvl1pPr>
                        <a:lnSpc>
                          <a:spcPct val="120000"/>
                        </a:lnSpc>
                        <a:spcBef>
                          <a:spcPts val="200"/>
                        </a:spcBef>
                        <a:spcAft>
                          <a:spcPts val="200"/>
                        </a:spcAft>
                        <a:buFont typeface="Times New Roman" panose="02020603050405020304" pitchFamily="18" charset="0"/>
                        <a:defRPr kumimoji="1" sz="2400">
                          <a:solidFill>
                            <a:srgbClr val="333399"/>
                          </a:solidFill>
                          <a:latin typeface="微軟正黑體" panose="020B0604030504040204" pitchFamily="34" charset="-120"/>
                          <a:ea typeface="微軟正黑體" panose="020B0604030504040204" pitchFamily="34" charset="-120"/>
                          <a:cs typeface="微軟正黑體" panose="020B0604030504040204" pitchFamily="34" charset="-120"/>
                        </a:defRPr>
                      </a:lvl1pPr>
                      <a:lvl2pPr marL="742950" indent="-285750">
                        <a:lnSpc>
                          <a:spcPct val="120000"/>
                        </a:lnSpc>
                        <a:spcBef>
                          <a:spcPts val="200"/>
                        </a:spcBef>
                        <a:spcAft>
                          <a:spcPts val="200"/>
                        </a:spcAft>
                        <a:buFont typeface="Times New Roman" panose="02020603050405020304" pitchFamily="18" charset="0"/>
                        <a:defRPr kumimoji="1" sz="2000">
                          <a:solidFill>
                            <a:schemeClr val="tx1"/>
                          </a:solidFill>
                          <a:latin typeface="微軟正黑體" panose="020B0604030504040204" pitchFamily="34" charset="-120"/>
                          <a:ea typeface="微軟正黑體" panose="020B0604030504040204" pitchFamily="34" charset="-120"/>
                          <a:cs typeface="微軟正黑體" panose="020B0604030504040204" pitchFamily="34" charset="-120"/>
                        </a:defRPr>
                      </a:lvl2pPr>
                      <a:lvl3pPr marL="1143000" indent="-228600">
                        <a:lnSpc>
                          <a:spcPct val="120000"/>
                        </a:lnSpc>
                        <a:spcBef>
                          <a:spcPts val="200"/>
                        </a:spcBef>
                        <a:spcAft>
                          <a:spcPts val="200"/>
                        </a:spcAft>
                        <a:buSzPct val="100000"/>
                        <a:buFont typeface="Wingdings" panose="05000000000000000000" pitchFamily="2" charset="2"/>
                        <a:defRPr kumimoji="1">
                          <a:solidFill>
                            <a:schemeClr val="tx1"/>
                          </a:solidFill>
                          <a:latin typeface="微軟正黑體" panose="020B0604030504040204" pitchFamily="34" charset="-120"/>
                          <a:ea typeface="微軟正黑體" panose="020B0604030504040204" pitchFamily="34" charset="-120"/>
                        </a:defRPr>
                      </a:lvl3pPr>
                      <a:lvl4pPr marL="1600200" indent="-228600">
                        <a:lnSpc>
                          <a:spcPct val="120000"/>
                        </a:lnSpc>
                        <a:spcBef>
                          <a:spcPts val="200"/>
                        </a:spcBef>
                        <a:spcAft>
                          <a:spcPts val="200"/>
                        </a:spcAft>
                        <a:buFont typeface="Dotum" panose="020B0600000101010101" pitchFamily="34" charset="-127"/>
                        <a:defRPr kumimoji="1" sz="1600">
                          <a:solidFill>
                            <a:schemeClr val="tx1"/>
                          </a:solidFill>
                          <a:latin typeface="微軟正黑體" panose="020B0604030504040204" pitchFamily="34" charset="-120"/>
                          <a:ea typeface="微軟正黑體" panose="020B0604030504040204" pitchFamily="34" charset="-120"/>
                        </a:defRPr>
                      </a:lvl4pPr>
                      <a:lvl5pPr marL="2057400" indent="-22860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5pPr>
                      <a:lvl6pPr marL="25146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6pPr>
                      <a:lvl7pPr marL="29718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7pPr>
                      <a:lvl8pPr marL="34290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8pPr>
                      <a:lvl9pPr marL="3886200" indent="-228600" eaLnBrk="0" fontAlgn="base" hangingPunct="0">
                        <a:lnSpc>
                          <a:spcPct val="120000"/>
                        </a:lnSpc>
                        <a:spcBef>
                          <a:spcPts val="200"/>
                        </a:spcBef>
                        <a:spcAft>
                          <a:spcPts val="200"/>
                        </a:spcAft>
                        <a:buSzPct val="100000"/>
                        <a:buFont typeface="Wingdings" panose="05000000000000000000" pitchFamily="2" charset="2"/>
                        <a:defRPr kumimoji="1" sz="1400">
                          <a:solidFill>
                            <a:schemeClr val="tx1"/>
                          </a:solidFill>
                          <a:latin typeface="微軟正黑體" panose="020B0604030504040204" pitchFamily="34" charset="-120"/>
                          <a:ea typeface="微軟正黑體" panose="020B0604030504040204" pitchFamily="34" charset="-12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8.28 </a:t>
                      </a:r>
                      <a:r>
                        <a:rPr kumimoji="0" lang="zh-TW" altLang="en-US"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rPr>
                        <a:t>安全程式設計</a:t>
                      </a:r>
                      <a:endParaRPr kumimoji="0" lang="en-US" altLang="zh-TW" sz="1200" b="0" i="0" u="none" strike="noStrike" cap="none" normalizeH="0" baseline="0" dirty="0">
                        <a:ln>
                          <a:noFill/>
                        </a:ln>
                        <a:solidFill>
                          <a:schemeClr val="tx1"/>
                        </a:solidFill>
                        <a:effectLst/>
                        <a:latin typeface="微軟正黑體" panose="020B0604030504040204" pitchFamily="34" charset="-120"/>
                        <a:ea typeface="微軟正黑體" panose="020B0604030504040204" pitchFamily="34" charset="-120"/>
                      </a:endParaRPr>
                    </a:p>
                  </a:txBody>
                  <a:tcPr marL="36012" marR="36012" marT="0" marB="0" horzOverflow="overflow">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2F2F2"/>
                    </a:solidFill>
                  </a:tcPr>
                </a:tc>
                <a:extLst>
                  <a:ext uri="{0D108BD9-81ED-4DB2-BD59-A6C34878D82A}">
                    <a16:rowId xmlns:a16="http://schemas.microsoft.com/office/drawing/2014/main" val="10010"/>
                  </a:ext>
                </a:extLst>
              </a:tr>
            </a:tbl>
          </a:graphicData>
        </a:graphic>
      </p:graphicFrame>
      <p:pic>
        <p:nvPicPr>
          <p:cNvPr id="18" name="Picture 61462">
            <a:extLst>
              <a:ext uri="{FF2B5EF4-FFF2-40B4-BE49-F238E27FC236}">
                <a16:creationId xmlns:a16="http://schemas.microsoft.com/office/drawing/2014/main" id="{8BABF597-FB38-4B15-AD1E-45BB3A20D7AE}"/>
              </a:ext>
            </a:extLst>
          </p:cNvPr>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702504" y="4811589"/>
            <a:ext cx="503237" cy="48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4160276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Content Placeholder 2"/>
          <p:cNvSpPr>
            <a:spLocks noGrp="1"/>
          </p:cNvSpPr>
          <p:nvPr>
            <p:ph sz="quarter" idx="10"/>
          </p:nvPr>
        </p:nvSpPr>
        <p:spPr/>
        <p:txBody>
          <a:bodyPr/>
          <a:lstStyle/>
          <a:p>
            <a:r>
              <a:rPr lang="en-US" altLang="zh-CN" sz="2000" dirty="0">
                <a:cs typeface="微軟正黑體" panose="020B0604030504040204" pitchFamily="34" charset="-120"/>
              </a:rPr>
              <a:t>CNS 27005</a:t>
            </a:r>
            <a:r>
              <a:rPr lang="en-US" altLang="en-US" sz="2000" dirty="0">
                <a:cs typeface="微軟正黑體" panose="020B0604030504040204" pitchFamily="34" charset="-120"/>
              </a:rPr>
              <a:t>不提供任何資安風險管理之特定方法論</a:t>
            </a:r>
            <a:endParaRPr lang="en-US" altLang="zh-TW" sz="2000" dirty="0">
              <a:cs typeface="微軟正黑體" panose="020B0604030504040204" pitchFamily="34" charset="-120"/>
            </a:endParaRPr>
          </a:p>
          <a:p>
            <a:r>
              <a:rPr lang="zh-TW" altLang="en-US" sz="2000" dirty="0">
                <a:cs typeface="微軟正黑體" panose="020B0604030504040204" pitchFamily="34" charset="-120"/>
              </a:rPr>
              <a:t>組織可自行依據，例如：資安管理系統</a:t>
            </a:r>
            <a:r>
              <a:rPr lang="en-US" altLang="zh-TW" sz="2000" dirty="0">
                <a:cs typeface="微軟正黑體" panose="020B0604030504040204" pitchFamily="34" charset="-120"/>
              </a:rPr>
              <a:t>(ISMS)</a:t>
            </a:r>
            <a:r>
              <a:rPr lang="zh-TW" altLang="en-US" sz="2000" dirty="0">
                <a:cs typeface="微軟正黑體" panose="020B0604030504040204" pitchFamily="34" charset="-120"/>
              </a:rPr>
              <a:t>範圍、風險管理全景或產業別等，</a:t>
            </a:r>
            <a:r>
              <a:rPr lang="zh-TW" altLang="en-US" sz="2000" dirty="0" smtClean="0">
                <a:cs typeface="微軟正黑體" panose="020B0604030504040204" pitchFamily="34" charset="-120"/>
              </a:rPr>
              <a:t>定義並採用風險</a:t>
            </a:r>
            <a:r>
              <a:rPr lang="zh-TW" altLang="en-US" sz="2000" dirty="0">
                <a:cs typeface="微軟正黑體" panose="020B0604030504040204" pitchFamily="34" charset="-120"/>
              </a:rPr>
              <a:t>管理作法</a:t>
            </a:r>
          </a:p>
          <a:p>
            <a:pPr>
              <a:buFont typeface="Times New Roman" panose="02020603050405020304" pitchFamily="18" charset="0"/>
              <a:buNone/>
            </a:pPr>
            <a:endParaRPr lang="en-US" altLang="zh-TW" sz="1800" dirty="0">
              <a:cs typeface="微軟正黑體" panose="020B0604030504040204" pitchFamily="34" charset="-120"/>
            </a:endParaRPr>
          </a:p>
        </p:txBody>
      </p:sp>
      <p:sp>
        <p:nvSpPr>
          <p:cNvPr id="72707" name="Title 1"/>
          <p:cNvSpPr>
            <a:spLocks noGrp="1"/>
          </p:cNvSpPr>
          <p:nvPr>
            <p:ph type="title"/>
          </p:nvPr>
        </p:nvSpPr>
        <p:spPr>
          <a:xfrm>
            <a:off x="613781" y="131120"/>
            <a:ext cx="8638739" cy="777600"/>
          </a:xfrm>
        </p:spPr>
        <p:txBody>
          <a:bodyPr>
            <a:normAutofit fontScale="90000"/>
          </a:bodyPr>
          <a:lstStyle/>
          <a:p>
            <a:r>
              <a:rPr lang="en-US" altLang="zh-TW" dirty="0" smtClean="0"/>
              <a:t>CNS27005</a:t>
            </a:r>
            <a:r>
              <a:rPr lang="zh-TW" altLang="en-US" dirty="0" smtClean="0"/>
              <a:t> </a:t>
            </a:r>
            <a:r>
              <a:rPr lang="zh-TW" altLang="en-US" dirty="0" smtClean="0">
                <a:latin typeface="微軟正黑體" panose="020B0604030504040204" pitchFamily="34" charset="-120"/>
                <a:ea typeface="微軟正黑體" panose="020B0604030504040204" pitchFamily="34" charset="-120"/>
              </a:rPr>
              <a:t>管理</a:t>
            </a:r>
            <a:r>
              <a:rPr lang="zh-TW" altLang="en-US" dirty="0">
                <a:latin typeface="微軟正黑體" panose="020B0604030504040204" pitchFamily="34" charset="-120"/>
                <a:ea typeface="微軟正黑體" panose="020B0604030504040204" pitchFamily="34" charset="-120"/>
              </a:rPr>
              <a:t>資訊安全風險之指引</a:t>
            </a:r>
            <a:endParaRPr lang="en-US" altLang="zh-TW" dirty="0"/>
          </a:p>
        </p:txBody>
      </p:sp>
      <p:sp>
        <p:nvSpPr>
          <p:cNvPr id="72708" name="Rectangle 62"/>
          <p:cNvSpPr>
            <a:spLocks noChangeArrowheads="1"/>
          </p:cNvSpPr>
          <p:nvPr/>
        </p:nvSpPr>
        <p:spPr bwMode="auto">
          <a:xfrm>
            <a:off x="1332036" y="3665066"/>
            <a:ext cx="3322638" cy="6832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nSpc>
                <a:spcPct val="120000"/>
              </a:lnSpc>
              <a:spcBef>
                <a:spcPts val="200"/>
              </a:spcBef>
              <a:spcAft>
                <a:spcPts val="200"/>
              </a:spcAft>
            </a:pPr>
            <a:r>
              <a:rPr lang="zh-TW" altLang="en-US" sz="1600" i="0" dirty="0">
                <a:solidFill>
                  <a:srgbClr val="000000"/>
                </a:solidFill>
                <a:latin typeface="微軟正黑體" panose="020B0604030504040204" pitchFamily="34" charset="-120"/>
                <a:ea typeface="微軟正黑體" panose="020B0604030504040204" pitchFamily="34" charset="-120"/>
              </a:rPr>
              <a:t>遵循</a:t>
            </a:r>
            <a:r>
              <a:rPr lang="en-US" altLang="zh-TW" sz="1600" i="0" dirty="0">
                <a:solidFill>
                  <a:srgbClr val="000000"/>
                </a:solidFill>
                <a:latin typeface="微軟正黑體" panose="020B0604030504040204" pitchFamily="34" charset="-120"/>
                <a:ea typeface="微軟正黑體" panose="020B0604030504040204" pitchFamily="34" charset="-120"/>
              </a:rPr>
              <a:t>CNS 31000</a:t>
            </a:r>
            <a:r>
              <a:rPr lang="zh-TW" altLang="en-US" sz="1600" i="0" dirty="0">
                <a:solidFill>
                  <a:srgbClr val="000000"/>
                </a:solidFill>
                <a:latin typeface="微軟正黑體" panose="020B0604030504040204" pitchFamily="34" charset="-120"/>
                <a:ea typeface="微軟正黑體" panose="020B0604030504040204" pitchFamily="34" charset="-120"/>
              </a:rPr>
              <a:t>之規定，以循環作法</a:t>
            </a:r>
            <a:r>
              <a:rPr lang="en-US" altLang="zh-TW" sz="1600" i="0" dirty="0">
                <a:solidFill>
                  <a:srgbClr val="000000"/>
                </a:solidFill>
                <a:latin typeface="微軟正黑體" panose="020B0604030504040204" pitchFamily="34" charset="-120"/>
                <a:ea typeface="微軟正黑體" panose="020B0604030504040204" pitchFamily="34" charset="-120"/>
              </a:rPr>
              <a:t>(</a:t>
            </a:r>
            <a:r>
              <a:rPr lang="zh-TW" altLang="en-US" sz="1600" i="0" dirty="0">
                <a:solidFill>
                  <a:srgbClr val="000000"/>
                </a:solidFill>
                <a:latin typeface="微軟正黑體" panose="020B0604030504040204" pitchFamily="34" charset="-120"/>
                <a:ea typeface="微軟正黑體" panose="020B0604030504040204" pitchFamily="34" charset="-120"/>
              </a:rPr>
              <a:t>亦稱為迭代式</a:t>
            </a:r>
            <a:r>
              <a:rPr lang="en-US" altLang="zh-TW" sz="1600" i="0" dirty="0">
                <a:solidFill>
                  <a:srgbClr val="000000"/>
                </a:solidFill>
                <a:latin typeface="微軟正黑體" panose="020B0604030504040204" pitchFamily="34" charset="-120"/>
                <a:ea typeface="微軟正黑體" panose="020B0604030504040204" pitchFamily="34" charset="-120"/>
              </a:rPr>
              <a:t>)</a:t>
            </a:r>
            <a:r>
              <a:rPr lang="zh-TW" altLang="en-US" sz="1600" i="0" dirty="0">
                <a:solidFill>
                  <a:srgbClr val="000000"/>
                </a:solidFill>
                <a:latin typeface="微軟正黑體" panose="020B0604030504040204" pitchFamily="34" charset="-120"/>
                <a:ea typeface="微軟正黑體" panose="020B0604030504040204" pitchFamily="34" charset="-120"/>
              </a:rPr>
              <a:t>進行風險評鑑</a:t>
            </a:r>
            <a:endParaRPr lang="en-US" altLang="zh-CN" sz="1600" i="0" dirty="0">
              <a:solidFill>
                <a:srgbClr val="000000"/>
              </a:solidFill>
              <a:latin typeface="微軟正黑體" panose="020B0604030504040204" pitchFamily="34" charset="-120"/>
              <a:ea typeface="微軟正黑體" panose="020B0604030504040204" pitchFamily="34" charset="-120"/>
            </a:endParaRPr>
          </a:p>
        </p:txBody>
      </p:sp>
      <p:grpSp>
        <p:nvGrpSpPr>
          <p:cNvPr id="72710" name="Group 20"/>
          <p:cNvGrpSpPr>
            <a:grpSpLocks/>
          </p:cNvGrpSpPr>
          <p:nvPr/>
        </p:nvGrpSpPr>
        <p:grpSpPr bwMode="auto">
          <a:xfrm>
            <a:off x="4974460" y="2753544"/>
            <a:ext cx="3756025" cy="4104456"/>
            <a:chOff x="4756150" y="2701924"/>
            <a:chExt cx="3756025" cy="3801622"/>
          </a:xfrm>
        </p:grpSpPr>
        <p:sp>
          <p:nvSpPr>
            <p:cNvPr id="72715" name="Rectangle 6"/>
            <p:cNvSpPr>
              <a:spLocks noChangeArrowheads="1"/>
            </p:cNvSpPr>
            <p:nvPr/>
          </p:nvSpPr>
          <p:spPr bwMode="auto">
            <a:xfrm>
              <a:off x="5600700" y="3068638"/>
              <a:ext cx="1871663" cy="1512887"/>
            </a:xfrm>
            <a:prstGeom prst="rect">
              <a:avLst/>
            </a:prstGeom>
            <a:solidFill>
              <a:srgbClr val="FFFFFF"/>
            </a:solidFill>
            <a:ln w="9525">
              <a:solidFill>
                <a:srgbClr val="000000"/>
              </a:solidFill>
              <a:prstDash val="dash"/>
              <a:miter lim="800000"/>
              <a:headEnd/>
              <a:tailEnd/>
            </a:ln>
          </p:spPr>
          <p:txBody>
            <a:bodyPr lIns="0" tIns="0" rIns="0" bIns="0"/>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600" i="0">
                  <a:latin typeface="微軟正黑體" panose="020B0604030504040204" pitchFamily="34" charset="-120"/>
                  <a:ea typeface="微軟正黑體" panose="020B0604030504040204" pitchFamily="34" charset="-120"/>
                </a:rPr>
                <a:t>風險評鑑</a:t>
              </a:r>
            </a:p>
          </p:txBody>
        </p:sp>
        <p:sp>
          <p:nvSpPr>
            <p:cNvPr id="72716" name="Text Box 8"/>
            <p:cNvSpPr txBox="1">
              <a:spLocks noChangeArrowheads="1"/>
            </p:cNvSpPr>
            <p:nvPr/>
          </p:nvSpPr>
          <p:spPr bwMode="auto">
            <a:xfrm>
              <a:off x="4756150" y="2708274"/>
              <a:ext cx="412750" cy="3168042"/>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風險溝通</a:t>
              </a:r>
              <a:r>
                <a:rPr kumimoji="0" lang="zh-CN" altLang="en-US" sz="1600" i="0">
                  <a:solidFill>
                    <a:schemeClr val="bg1"/>
                  </a:solidFill>
                  <a:latin typeface="微軟正黑體" panose="020B0604030504040204" pitchFamily="34" charset="-120"/>
                  <a:ea typeface="微軟正黑體" panose="020B0604030504040204" pitchFamily="34" charset="-120"/>
                </a:rPr>
                <a:t>及諮詢</a:t>
              </a:r>
              <a:endParaRPr kumimoji="0" lang="zh-TW" altLang="en-US" sz="1600" i="0">
                <a:solidFill>
                  <a:schemeClr val="bg1"/>
                </a:solidFill>
                <a:latin typeface="微軟正黑體" panose="020B0604030504040204" pitchFamily="34" charset="-120"/>
                <a:ea typeface="微軟正黑體" panose="020B0604030504040204" pitchFamily="34" charset="-120"/>
              </a:endParaRPr>
            </a:p>
          </p:txBody>
        </p:sp>
        <p:sp>
          <p:nvSpPr>
            <p:cNvPr id="72717" name="Text Box 9"/>
            <p:cNvSpPr txBox="1">
              <a:spLocks noChangeArrowheads="1"/>
            </p:cNvSpPr>
            <p:nvPr/>
          </p:nvSpPr>
          <p:spPr bwMode="auto">
            <a:xfrm>
              <a:off x="8099425" y="2708275"/>
              <a:ext cx="412750" cy="3168650"/>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vert="eaVert" lIns="0" tIns="0" rIns="0" bIns="0" anchor="ct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dirty="0">
                  <a:solidFill>
                    <a:schemeClr val="bg1"/>
                  </a:solidFill>
                  <a:latin typeface="微軟正黑體" panose="020B0604030504040204" pitchFamily="34" charset="-120"/>
                  <a:ea typeface="微軟正黑體" panose="020B0604030504040204" pitchFamily="34" charset="-120"/>
                </a:rPr>
                <a:t>風險監控與審查</a:t>
              </a:r>
            </a:p>
          </p:txBody>
        </p:sp>
        <p:sp>
          <p:nvSpPr>
            <p:cNvPr id="72718" name="AutoShape 11"/>
            <p:cNvSpPr>
              <a:spLocks noChangeArrowheads="1"/>
            </p:cNvSpPr>
            <p:nvPr/>
          </p:nvSpPr>
          <p:spPr bwMode="auto">
            <a:xfrm>
              <a:off x="6348413" y="5517609"/>
              <a:ext cx="412750" cy="193638"/>
            </a:xfrm>
            <a:prstGeom prst="flowChartDecision">
              <a:avLst/>
            </a:prstGeom>
            <a:solidFill>
              <a:srgbClr val="E6E6E6"/>
            </a:solidFill>
            <a:ln w="9525">
              <a:solidFill>
                <a:schemeClr val="tx1"/>
              </a:solidFill>
              <a:round/>
              <a:headEnd/>
              <a:tailEnd/>
            </a:ln>
          </p:spPr>
          <p:txBody>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endParaRPr lang="zh-TW" altLang="en-US" sz="1600" i="0">
                <a:latin typeface="微軟正黑體" panose="020B0604030504040204" pitchFamily="34" charset="-120"/>
                <a:ea typeface="微軟正黑體" panose="020B0604030504040204" pitchFamily="34" charset="-120"/>
              </a:endParaRPr>
            </a:p>
          </p:txBody>
        </p:sp>
        <p:sp>
          <p:nvSpPr>
            <p:cNvPr id="72719" name="Line 21"/>
            <p:cNvSpPr>
              <a:spLocks noChangeShapeType="1"/>
            </p:cNvSpPr>
            <p:nvPr/>
          </p:nvSpPr>
          <p:spPr bwMode="auto">
            <a:xfrm>
              <a:off x="6453188" y="3059113"/>
              <a:ext cx="0" cy="38735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lIns="0" tIns="0" rIns="0" bIns="0"/>
            <a:lstStyle/>
            <a:p>
              <a:endParaRPr lang="zh-TW" altLang="en-US" sz="1600" i="0"/>
            </a:p>
          </p:txBody>
        </p:sp>
        <p:sp>
          <p:nvSpPr>
            <p:cNvPr id="72720" name="Rectangle 50"/>
            <p:cNvSpPr>
              <a:spLocks noChangeArrowheads="1"/>
            </p:cNvSpPr>
            <p:nvPr/>
          </p:nvSpPr>
          <p:spPr bwMode="auto">
            <a:xfrm>
              <a:off x="5732463" y="5876925"/>
              <a:ext cx="1646237" cy="288925"/>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dirty="0">
                  <a:solidFill>
                    <a:schemeClr val="bg1"/>
                  </a:solidFill>
                  <a:latin typeface="微軟正黑體" panose="020B0604030504040204" pitchFamily="34" charset="-120"/>
                  <a:ea typeface="微軟正黑體" panose="020B0604030504040204" pitchFamily="34" charset="-120"/>
                </a:rPr>
                <a:t>風險接受</a:t>
              </a:r>
            </a:p>
          </p:txBody>
        </p:sp>
        <p:sp>
          <p:nvSpPr>
            <p:cNvPr id="72721" name="Rectangle 51"/>
            <p:cNvSpPr>
              <a:spLocks noChangeArrowheads="1"/>
            </p:cNvSpPr>
            <p:nvPr/>
          </p:nvSpPr>
          <p:spPr bwMode="auto">
            <a:xfrm>
              <a:off x="5732463" y="5045075"/>
              <a:ext cx="1646237" cy="287338"/>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風險處理</a:t>
              </a:r>
            </a:p>
          </p:txBody>
        </p:sp>
        <p:sp>
          <p:nvSpPr>
            <p:cNvPr id="72722" name="Rectangle 52"/>
            <p:cNvSpPr>
              <a:spLocks noChangeArrowheads="1"/>
            </p:cNvSpPr>
            <p:nvPr/>
          </p:nvSpPr>
          <p:spPr bwMode="auto">
            <a:xfrm>
              <a:off x="5732463" y="4203700"/>
              <a:ext cx="1646237" cy="288925"/>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風險評估</a:t>
              </a:r>
            </a:p>
          </p:txBody>
        </p:sp>
        <p:sp>
          <p:nvSpPr>
            <p:cNvPr id="72723" name="Rectangle 53"/>
            <p:cNvSpPr>
              <a:spLocks noChangeArrowheads="1"/>
            </p:cNvSpPr>
            <p:nvPr/>
          </p:nvSpPr>
          <p:spPr bwMode="auto">
            <a:xfrm>
              <a:off x="5732463" y="3779838"/>
              <a:ext cx="1646237" cy="288925"/>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風險</a:t>
              </a:r>
              <a:r>
                <a:rPr kumimoji="0" lang="zh-CN" altLang="en-US" sz="1600" i="0">
                  <a:solidFill>
                    <a:schemeClr val="bg1"/>
                  </a:solidFill>
                  <a:latin typeface="微軟正黑體" panose="020B0604030504040204" pitchFamily="34" charset="-120"/>
                  <a:ea typeface="微軟正黑體" panose="020B0604030504040204" pitchFamily="34" charset="-120"/>
                </a:rPr>
                <a:t>分析</a:t>
              </a:r>
              <a:endParaRPr kumimoji="0" lang="zh-TW" altLang="en-US" sz="1600" i="0">
                <a:solidFill>
                  <a:schemeClr val="bg1"/>
                </a:solidFill>
                <a:latin typeface="微軟正黑體" panose="020B0604030504040204" pitchFamily="34" charset="-120"/>
                <a:ea typeface="微軟正黑體" panose="020B0604030504040204" pitchFamily="34" charset="-120"/>
              </a:endParaRPr>
            </a:p>
          </p:txBody>
        </p:sp>
        <p:sp>
          <p:nvSpPr>
            <p:cNvPr id="72724" name="Rectangle 54"/>
            <p:cNvSpPr>
              <a:spLocks noChangeArrowheads="1"/>
            </p:cNvSpPr>
            <p:nvPr/>
          </p:nvSpPr>
          <p:spPr bwMode="auto">
            <a:xfrm>
              <a:off x="5732463" y="3355975"/>
              <a:ext cx="1646237" cy="288925"/>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風險識別</a:t>
              </a:r>
            </a:p>
          </p:txBody>
        </p:sp>
        <p:sp>
          <p:nvSpPr>
            <p:cNvPr id="72725" name="Rectangle 55"/>
            <p:cNvSpPr>
              <a:spLocks noChangeArrowheads="1"/>
            </p:cNvSpPr>
            <p:nvPr/>
          </p:nvSpPr>
          <p:spPr bwMode="auto">
            <a:xfrm>
              <a:off x="5732463" y="2708275"/>
              <a:ext cx="1646237" cy="287338"/>
            </a:xfrm>
            <a:prstGeom prst="rect">
              <a:avLst/>
            </a:prstGeom>
            <a:solidFill>
              <a:srgbClr val="3A9EEB"/>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r>
                <a:rPr kumimoji="0" lang="zh-TW" altLang="en-US" sz="1600" i="0">
                  <a:solidFill>
                    <a:schemeClr val="bg1"/>
                  </a:solidFill>
                  <a:latin typeface="微軟正黑體" panose="020B0604030504040204" pitchFamily="34" charset="-120"/>
                  <a:ea typeface="微軟正黑體" panose="020B0604030504040204" pitchFamily="34" charset="-120"/>
                </a:rPr>
                <a:t>全景</a:t>
              </a:r>
              <a:r>
                <a:rPr kumimoji="0" lang="zh-CN" altLang="en-US" sz="1600" i="0">
                  <a:solidFill>
                    <a:schemeClr val="bg1"/>
                  </a:solidFill>
                  <a:latin typeface="微軟正黑體" panose="020B0604030504040204" pitchFamily="34" charset="-120"/>
                  <a:ea typeface="微軟正黑體" panose="020B0604030504040204" pitchFamily="34" charset="-120"/>
                </a:rPr>
                <a:t>建立</a:t>
              </a:r>
              <a:endParaRPr kumimoji="0" lang="zh-TW" altLang="en-US" sz="1600" i="0">
                <a:solidFill>
                  <a:schemeClr val="bg1"/>
                </a:solidFill>
                <a:latin typeface="微軟正黑體" panose="020B0604030504040204" pitchFamily="34" charset="-120"/>
                <a:ea typeface="微軟正黑體" panose="020B0604030504040204" pitchFamily="34" charset="-120"/>
              </a:endParaRPr>
            </a:p>
          </p:txBody>
        </p:sp>
        <p:sp>
          <p:nvSpPr>
            <p:cNvPr id="54" name="Text Box 56"/>
            <p:cNvSpPr txBox="1">
              <a:spLocks noChangeArrowheads="1"/>
            </p:cNvSpPr>
            <p:nvPr/>
          </p:nvSpPr>
          <p:spPr bwMode="auto">
            <a:xfrm>
              <a:off x="7058422" y="4551099"/>
              <a:ext cx="301625" cy="285069"/>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defRPr/>
              </a:pPr>
              <a:r>
                <a:rPr kumimoji="0" lang="zh-TW" altLang="en-US" sz="1400" i="0" dirty="0">
                  <a:latin typeface="微軟正黑體"/>
                  <a:ea typeface="微軟正黑體"/>
                  <a:cs typeface="微軟正黑體"/>
                </a:rPr>
                <a:t>否</a:t>
              </a:r>
            </a:p>
          </p:txBody>
        </p:sp>
        <p:sp>
          <p:nvSpPr>
            <p:cNvPr id="55" name="Text Box 57"/>
            <p:cNvSpPr txBox="1">
              <a:spLocks noChangeArrowheads="1"/>
            </p:cNvSpPr>
            <p:nvPr/>
          </p:nvSpPr>
          <p:spPr bwMode="auto">
            <a:xfrm>
              <a:off x="7058422" y="5369729"/>
              <a:ext cx="301625" cy="285069"/>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defRPr/>
              </a:pPr>
              <a:r>
                <a:rPr kumimoji="0" lang="zh-TW" altLang="en-US" sz="1400" i="0" dirty="0">
                  <a:latin typeface="微軟正黑體"/>
                  <a:ea typeface="微軟正黑體"/>
                  <a:cs typeface="微軟正黑體"/>
                </a:rPr>
                <a:t>否</a:t>
              </a:r>
            </a:p>
          </p:txBody>
        </p:sp>
        <p:sp>
          <p:nvSpPr>
            <p:cNvPr id="56" name="Text Box 58"/>
            <p:cNvSpPr txBox="1">
              <a:spLocks noChangeArrowheads="1"/>
            </p:cNvSpPr>
            <p:nvPr/>
          </p:nvSpPr>
          <p:spPr bwMode="auto">
            <a:xfrm>
              <a:off x="6535738" y="4817880"/>
              <a:ext cx="301625" cy="285069"/>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defRPr/>
              </a:pPr>
              <a:r>
                <a:rPr kumimoji="0" lang="zh-TW" altLang="en-US" sz="1400" i="0" dirty="0">
                  <a:latin typeface="微軟正黑體"/>
                  <a:ea typeface="微軟正黑體"/>
                  <a:cs typeface="微軟正黑體"/>
                </a:rPr>
                <a:t>是</a:t>
              </a:r>
            </a:p>
          </p:txBody>
        </p:sp>
        <p:sp>
          <p:nvSpPr>
            <p:cNvPr id="57" name="Text Box 59"/>
            <p:cNvSpPr txBox="1">
              <a:spLocks noChangeArrowheads="1"/>
            </p:cNvSpPr>
            <p:nvPr/>
          </p:nvSpPr>
          <p:spPr bwMode="auto">
            <a:xfrm>
              <a:off x="6567959" y="5636509"/>
              <a:ext cx="301625" cy="285069"/>
            </a:xfrm>
            <a:prstGeom prst="rect">
              <a:avLst/>
            </a:prstGeom>
            <a:noFill/>
            <a:ln>
              <a:noFill/>
            </a:ln>
            <a:effectLst>
              <a:prstShdw prst="shdw17" dist="17961" dir="13500000">
                <a:srgbClr val="708688"/>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eaLnBrk="1" hangingPunct="1">
                <a:spcBef>
                  <a:spcPct val="50000"/>
                </a:spcBef>
                <a:defRPr/>
              </a:pPr>
              <a:r>
                <a:rPr kumimoji="0" lang="zh-TW" altLang="en-US" sz="1400" i="0" dirty="0">
                  <a:latin typeface="微軟正黑體"/>
                  <a:ea typeface="微軟正黑體"/>
                  <a:cs typeface="微軟正黑體"/>
                </a:rPr>
                <a:t>是</a:t>
              </a:r>
            </a:p>
          </p:txBody>
        </p:sp>
        <p:sp>
          <p:nvSpPr>
            <p:cNvPr id="72730" name="Text Box 60"/>
            <p:cNvSpPr txBox="1">
              <a:spLocks noChangeArrowheads="1"/>
            </p:cNvSpPr>
            <p:nvPr/>
          </p:nvSpPr>
          <p:spPr bwMode="auto">
            <a:xfrm>
              <a:off x="5148263" y="6164927"/>
              <a:ext cx="2860675" cy="338619"/>
            </a:xfrm>
            <a:prstGeom prst="rect">
              <a:avLst/>
            </a:prstGeom>
            <a:noFill/>
            <a:ln>
              <a:noFill/>
            </a:ln>
            <a:effectLst>
              <a:prstShdw prst="shdw17" dist="17961" dir="13500000">
                <a:srgbClr val="708688">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Arial" panose="020B0604020202020204" pitchFamily="34" charset="0"/>
                  <a:ea typeface="新細明體" panose="02020500000000000000" pitchFamily="18" charset="-120"/>
                </a:defRPr>
              </a:lvl1pPr>
              <a:lvl2pPr marL="742950" indent="-285750">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algn="ctr" eaLnBrk="1" hangingPunct="1">
                <a:spcBef>
                  <a:spcPct val="50000"/>
                </a:spcBef>
              </a:pPr>
              <a:r>
                <a:rPr kumimoji="0" lang="zh-TW" altLang="en-US" sz="1600" i="0">
                  <a:latin typeface="微軟正黑體" panose="020B0604030504040204" pitchFamily="34" charset="-120"/>
                  <a:ea typeface="微軟正黑體" panose="020B0604030504040204" pitchFamily="34" charset="-120"/>
                </a:rPr>
                <a:t>初</a:t>
              </a:r>
              <a:r>
                <a:rPr kumimoji="0" lang="zh-CN" altLang="en-US" sz="1600" i="0">
                  <a:latin typeface="微軟正黑體" panose="020B0604030504040204" pitchFamily="34" charset="-120"/>
                  <a:ea typeface="微軟正黑體" panose="020B0604030504040204" pitchFamily="34" charset="-120"/>
                </a:rPr>
                <a:t>次迭代</a:t>
              </a:r>
              <a:r>
                <a:rPr kumimoji="0" lang="zh-TW" altLang="en-US" sz="1600" i="0">
                  <a:latin typeface="微軟正黑體" panose="020B0604030504040204" pitchFamily="34" charset="-120"/>
                  <a:ea typeface="微軟正黑體" panose="020B0604030504040204" pitchFamily="34" charset="-120"/>
                </a:rPr>
                <a:t>或後續</a:t>
              </a:r>
              <a:r>
                <a:rPr kumimoji="0" lang="zh-CN" altLang="en-US" sz="1600" i="0">
                  <a:latin typeface="微軟正黑體" panose="020B0604030504040204" pitchFamily="34" charset="-120"/>
                  <a:ea typeface="微軟正黑體" panose="020B0604030504040204" pitchFamily="34" charset="-120"/>
                </a:rPr>
                <a:t>迭代之</a:t>
              </a:r>
              <a:r>
                <a:rPr kumimoji="0" lang="zh-TW" altLang="en-US" sz="1600" i="0">
                  <a:latin typeface="微軟正黑體" panose="020B0604030504040204" pitchFamily="34" charset="-120"/>
                  <a:ea typeface="微軟正黑體" panose="020B0604030504040204" pitchFamily="34" charset="-120"/>
                </a:rPr>
                <a:t>結束</a:t>
              </a:r>
            </a:p>
          </p:txBody>
        </p:sp>
        <p:sp>
          <p:nvSpPr>
            <p:cNvPr id="72731" name="Text Box 61"/>
            <p:cNvSpPr txBox="1">
              <a:spLocks noChangeArrowheads="1"/>
            </p:cNvSpPr>
            <p:nvPr/>
          </p:nvSpPr>
          <p:spPr bwMode="auto">
            <a:xfrm>
              <a:off x="5199807" y="5436424"/>
              <a:ext cx="1263137" cy="484616"/>
            </a:xfrm>
            <a:prstGeom prst="rect">
              <a:avLst/>
            </a:prstGeom>
            <a:noFill/>
            <a:ln>
              <a:noFill/>
            </a:ln>
            <a:effectLst>
              <a:prstShdw prst="shdw17" dist="17961" dir="13500000">
                <a:srgbClr val="708688">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i="0" dirty="0">
                  <a:latin typeface="微軟正黑體" panose="020B0604030504040204" pitchFamily="34" charset="-120"/>
                  <a:ea typeface="微軟正黑體" panose="020B0604030504040204" pitchFamily="34" charset="-120"/>
                </a:rPr>
                <a:t>風</a:t>
              </a:r>
              <a:r>
                <a:rPr kumimoji="0" lang="zh-CN" altLang="en-US" sz="1400" i="0" dirty="0">
                  <a:latin typeface="微軟正黑體" panose="020B0604030504040204" pitchFamily="34" charset="-120"/>
                  <a:ea typeface="微軟正黑體" panose="020B0604030504040204" pitchFamily="34" charset="-120"/>
                </a:rPr>
                <a:t>險</a:t>
              </a:r>
              <a:r>
                <a:rPr kumimoji="0" lang="zh-TW" altLang="en-US" sz="1400" i="0" dirty="0">
                  <a:latin typeface="微軟正黑體" panose="020B0604030504040204" pitchFamily="34" charset="-120"/>
                  <a:ea typeface="微軟正黑體" panose="020B0604030504040204" pitchFamily="34" charset="-120"/>
                </a:rPr>
                <a:t>決策點</a:t>
              </a:r>
              <a:r>
                <a:rPr kumimoji="0" lang="en-US" altLang="zh-TW" sz="1400" i="0" dirty="0">
                  <a:latin typeface="微軟正黑體" panose="020B0604030504040204" pitchFamily="34" charset="-120"/>
                  <a:ea typeface="微軟正黑體" panose="020B0604030504040204" pitchFamily="34" charset="-120"/>
                </a:rPr>
                <a:t>2</a:t>
              </a:r>
            </a:p>
            <a:p>
              <a:pPr eaLnBrk="1" hangingPunct="1"/>
              <a:r>
                <a:rPr kumimoji="0" lang="zh-TW" altLang="en-US" sz="1400" i="0" dirty="0">
                  <a:latin typeface="微軟正黑體" panose="020B0604030504040204" pitchFamily="34" charset="-120"/>
                  <a:ea typeface="微軟正黑體" panose="020B0604030504040204" pitchFamily="34" charset="-120"/>
                </a:rPr>
                <a:t>處理是否合意</a:t>
              </a:r>
            </a:p>
          </p:txBody>
        </p:sp>
        <p:sp>
          <p:nvSpPr>
            <p:cNvPr id="72732" name="Text Box 62"/>
            <p:cNvSpPr txBox="1">
              <a:spLocks noChangeArrowheads="1"/>
            </p:cNvSpPr>
            <p:nvPr/>
          </p:nvSpPr>
          <p:spPr bwMode="auto">
            <a:xfrm>
              <a:off x="5199807" y="4618333"/>
              <a:ext cx="1360487" cy="484616"/>
            </a:xfrm>
            <a:prstGeom prst="rect">
              <a:avLst/>
            </a:prstGeom>
            <a:noFill/>
            <a:ln>
              <a:noFill/>
            </a:ln>
            <a:effectLst>
              <a:prstShdw prst="shdw17" dist="17961" dir="13500000">
                <a:srgbClr val="708688">
                  <a:alpha val="74997"/>
                </a:srgbClr>
              </a:prst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eaLnBrk="1" hangingPunct="1"/>
              <a:r>
                <a:rPr kumimoji="0" lang="zh-TW" altLang="en-US" sz="1400" i="0" dirty="0">
                  <a:latin typeface="微軟正黑體" panose="020B0604030504040204" pitchFamily="34" charset="-120"/>
                  <a:ea typeface="微軟正黑體" panose="020B0604030504040204" pitchFamily="34" charset="-120"/>
                </a:rPr>
                <a:t>風</a:t>
              </a:r>
              <a:r>
                <a:rPr kumimoji="0" lang="zh-CN" altLang="en-US" sz="1400" i="0" dirty="0">
                  <a:latin typeface="微軟正黑體" panose="020B0604030504040204" pitchFamily="34" charset="-120"/>
                  <a:ea typeface="微軟正黑體" panose="020B0604030504040204" pitchFamily="34" charset="-120"/>
                </a:rPr>
                <a:t>險</a:t>
              </a:r>
              <a:r>
                <a:rPr kumimoji="0" lang="zh-TW" altLang="en-US" sz="1400" i="0" dirty="0">
                  <a:latin typeface="微軟正黑體" panose="020B0604030504040204" pitchFamily="34" charset="-120"/>
                  <a:ea typeface="微軟正黑體" panose="020B0604030504040204" pitchFamily="34" charset="-120"/>
                </a:rPr>
                <a:t>決策點</a:t>
              </a:r>
              <a:r>
                <a:rPr kumimoji="0" lang="en-US" altLang="zh-TW" sz="1400" i="0" dirty="0">
                  <a:latin typeface="微軟正黑體" panose="020B0604030504040204" pitchFamily="34" charset="-120"/>
                  <a:ea typeface="微軟正黑體" panose="020B0604030504040204" pitchFamily="34" charset="-120"/>
                </a:rPr>
                <a:t>1</a:t>
              </a:r>
            </a:p>
            <a:p>
              <a:pPr eaLnBrk="1" hangingPunct="1"/>
              <a:r>
                <a:rPr kumimoji="0" lang="zh-TW" altLang="en-US" sz="1400" i="0" dirty="0">
                  <a:latin typeface="微軟正黑體" panose="020B0604030504040204" pitchFamily="34" charset="-120"/>
                  <a:ea typeface="微軟正黑體" panose="020B0604030504040204" pitchFamily="34" charset="-120"/>
                </a:rPr>
                <a:t>評鑑是否合意</a:t>
              </a:r>
            </a:p>
          </p:txBody>
        </p:sp>
        <p:cxnSp>
          <p:nvCxnSpPr>
            <p:cNvPr id="72733" name="Straight Arrow Connector 65"/>
            <p:cNvCxnSpPr>
              <a:cxnSpLocks noChangeShapeType="1"/>
              <a:stCxn id="72725" idx="2"/>
              <a:endCxn id="72724" idx="0"/>
            </p:cNvCxnSpPr>
            <p:nvPr/>
          </p:nvCxnSpPr>
          <p:spPr bwMode="auto">
            <a:xfrm>
              <a:off x="6555090" y="2996302"/>
              <a:ext cx="0" cy="36010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34" name="Straight Arrow Connector 66"/>
            <p:cNvCxnSpPr>
              <a:cxnSpLocks noChangeShapeType="1"/>
              <a:stCxn id="72724" idx="2"/>
              <a:endCxn id="72723" idx="0"/>
            </p:cNvCxnSpPr>
            <p:nvPr/>
          </p:nvCxnSpPr>
          <p:spPr bwMode="auto">
            <a:xfrm>
              <a:off x="6555090" y="3644434"/>
              <a:ext cx="0" cy="135594"/>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35" name="Straight Arrow Connector 69"/>
            <p:cNvCxnSpPr>
              <a:cxnSpLocks noChangeShapeType="1"/>
              <a:stCxn id="72723" idx="2"/>
              <a:endCxn id="72722" idx="0"/>
            </p:cNvCxnSpPr>
            <p:nvPr/>
          </p:nvCxnSpPr>
          <p:spPr bwMode="auto">
            <a:xfrm>
              <a:off x="6555090" y="4068054"/>
              <a:ext cx="0" cy="135595"/>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36" name="Straight Arrow Connector 72"/>
            <p:cNvCxnSpPr>
              <a:cxnSpLocks noChangeShapeType="1"/>
              <a:stCxn id="72722" idx="2"/>
              <a:endCxn id="64544" idx="0"/>
            </p:cNvCxnSpPr>
            <p:nvPr/>
          </p:nvCxnSpPr>
          <p:spPr bwMode="auto">
            <a:xfrm flipH="1">
              <a:off x="6555089" y="4491675"/>
              <a:ext cx="1" cy="184662"/>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2737" name="Straight Arrow Connector 75"/>
            <p:cNvCxnSpPr>
              <a:cxnSpLocks noChangeShapeType="1"/>
              <a:stCxn id="64544" idx="2"/>
              <a:endCxn id="72721" idx="0"/>
            </p:cNvCxnSpPr>
            <p:nvPr/>
          </p:nvCxnSpPr>
          <p:spPr bwMode="auto">
            <a:xfrm>
              <a:off x="6555089" y="4892381"/>
              <a:ext cx="1" cy="15156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38" name="Straight Arrow Connector 78"/>
            <p:cNvCxnSpPr>
              <a:cxnSpLocks noChangeShapeType="1"/>
              <a:stCxn id="72721" idx="2"/>
              <a:endCxn id="72718" idx="0"/>
            </p:cNvCxnSpPr>
            <p:nvPr/>
          </p:nvCxnSpPr>
          <p:spPr bwMode="auto">
            <a:xfrm>
              <a:off x="6555090" y="5331968"/>
              <a:ext cx="0" cy="184879"/>
            </a:xfrm>
            <a:prstGeom prst="straightConnector1">
              <a:avLst/>
            </a:prstGeom>
            <a:noFill/>
            <a:ln w="9525">
              <a:solidFill>
                <a:schemeClr val="tx1"/>
              </a:solidFill>
              <a:round/>
              <a:headEnd/>
              <a:tailEnd/>
            </a:ln>
            <a:extLst>
              <a:ext uri="{909E8E84-426E-40DD-AFC4-6F175D3DCCD1}">
                <a14:hiddenFill xmlns:a14="http://schemas.microsoft.com/office/drawing/2010/main">
                  <a:noFill/>
                </a14:hiddenFill>
              </a:ext>
            </a:extLst>
          </p:spPr>
        </p:cxnSp>
        <p:cxnSp>
          <p:nvCxnSpPr>
            <p:cNvPr id="72739" name="Straight Arrow Connector 81"/>
            <p:cNvCxnSpPr>
              <a:cxnSpLocks noChangeShapeType="1"/>
              <a:stCxn id="72718" idx="2"/>
              <a:endCxn id="72720" idx="0"/>
            </p:cNvCxnSpPr>
            <p:nvPr/>
          </p:nvCxnSpPr>
          <p:spPr bwMode="auto">
            <a:xfrm>
              <a:off x="6555090" y="5711043"/>
              <a:ext cx="0" cy="165877"/>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0" name="Straight Arrow Connector 84"/>
            <p:cNvCxnSpPr>
              <a:cxnSpLocks noChangeShapeType="1"/>
              <a:stCxn id="64544" idx="3"/>
              <a:endCxn id="72725" idx="0"/>
            </p:cNvCxnSpPr>
            <p:nvPr/>
          </p:nvCxnSpPr>
          <p:spPr bwMode="auto">
            <a:xfrm flipH="1" flipV="1">
              <a:off x="6555090" y="2708276"/>
              <a:ext cx="215952" cy="2076084"/>
            </a:xfrm>
            <a:prstGeom prst="bentConnector4">
              <a:avLst>
                <a:gd name="adj1" fmla="val -386954"/>
                <a:gd name="adj2" fmla="val 111014"/>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sp>
          <p:nvSpPr>
            <p:cNvPr id="64544" name="Decision 95"/>
            <p:cNvSpPr>
              <a:spLocks noChangeArrowheads="1"/>
            </p:cNvSpPr>
            <p:nvPr/>
          </p:nvSpPr>
          <p:spPr bwMode="auto">
            <a:xfrm>
              <a:off x="6338888" y="4677153"/>
              <a:ext cx="431800" cy="214354"/>
            </a:xfrm>
            <a:prstGeom prst="flowChartDecision">
              <a:avLst/>
            </a:prstGeom>
            <a:solidFill>
              <a:schemeClr val="bg2">
                <a:lumMod val="20000"/>
                <a:lumOff val="80000"/>
              </a:schemeClr>
            </a:solidFill>
            <a:ln w="9525">
              <a:solidFill>
                <a:schemeClr val="tx1"/>
              </a:solidFill>
              <a:round/>
              <a:headEnd/>
              <a:tailEnd/>
            </a:ln>
          </p:spPr>
          <p:txBody>
            <a:bodyPr/>
            <a:lstStyle/>
            <a:p>
              <a:pPr defTabSz="0" eaLnBrk="1" hangingPunct="1">
                <a:tabLst>
                  <a:tab pos="0" algn="l"/>
                </a:tabLst>
                <a:defRPr/>
              </a:pPr>
              <a:endParaRPr lang="en-US" altLang="zh-TW" sz="1600" i="0">
                <a:latin typeface="微軟正黑體" charset="0"/>
                <a:ea typeface="微軟正黑體" charset="0"/>
                <a:cs typeface="微軟正黑體" charset="0"/>
              </a:endParaRPr>
            </a:p>
          </p:txBody>
        </p:sp>
        <p:cxnSp>
          <p:nvCxnSpPr>
            <p:cNvPr id="72742" name="Straight Arrow Connector 84"/>
            <p:cNvCxnSpPr>
              <a:cxnSpLocks noChangeShapeType="1"/>
              <a:stCxn id="72718" idx="3"/>
              <a:endCxn id="72721" idx="3"/>
            </p:cNvCxnSpPr>
            <p:nvPr/>
          </p:nvCxnSpPr>
          <p:spPr bwMode="auto">
            <a:xfrm flipV="1">
              <a:off x="6761186" y="5187955"/>
              <a:ext cx="616960" cy="425990"/>
            </a:xfrm>
            <a:prstGeom prst="bentConnector3">
              <a:avLst>
                <a:gd name="adj1" fmla="val 13704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3" name="Straight Arrow Connector 84"/>
            <p:cNvCxnSpPr>
              <a:cxnSpLocks noChangeShapeType="1"/>
              <a:stCxn id="72718" idx="3"/>
            </p:cNvCxnSpPr>
            <p:nvPr/>
          </p:nvCxnSpPr>
          <p:spPr bwMode="auto">
            <a:xfrm flipH="1" flipV="1">
              <a:off x="6392074" y="2708276"/>
              <a:ext cx="369112" cy="2905669"/>
            </a:xfrm>
            <a:prstGeom prst="bentConnector4">
              <a:avLst>
                <a:gd name="adj1" fmla="val -271269"/>
                <a:gd name="adj2" fmla="val 11086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4" name="Straight Arrow Connector 84"/>
            <p:cNvCxnSpPr>
              <a:cxnSpLocks noChangeShapeType="1"/>
              <a:stCxn id="72720" idx="3"/>
              <a:endCxn id="72717" idx="2"/>
            </p:cNvCxnSpPr>
            <p:nvPr/>
          </p:nvCxnSpPr>
          <p:spPr bwMode="auto">
            <a:xfrm flipV="1">
              <a:off x="7378146" y="5876920"/>
              <a:ext cx="927933" cy="144013"/>
            </a:xfrm>
            <a:prstGeom prst="bent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5" name="Straight Arrow Connector 84"/>
            <p:cNvCxnSpPr>
              <a:cxnSpLocks noChangeShapeType="1"/>
              <a:stCxn id="72720" idx="1"/>
              <a:endCxn id="72716" idx="2"/>
            </p:cNvCxnSpPr>
            <p:nvPr/>
          </p:nvCxnSpPr>
          <p:spPr bwMode="auto">
            <a:xfrm rot="10800000">
              <a:off x="4962248" y="5876920"/>
              <a:ext cx="769786" cy="144013"/>
            </a:xfrm>
            <a:prstGeom prst="bentConnector2">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46" name="Straight Arrow Connector 124"/>
            <p:cNvCxnSpPr>
              <a:cxnSpLocks noChangeShapeType="1"/>
              <a:endCxn id="72721" idx="1"/>
            </p:cNvCxnSpPr>
            <p:nvPr/>
          </p:nvCxnSpPr>
          <p:spPr bwMode="auto">
            <a:xfrm>
              <a:off x="5168343" y="5156774"/>
              <a:ext cx="563691"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747" name="Straight Arrow Connector 127"/>
            <p:cNvCxnSpPr>
              <a:cxnSpLocks noChangeShapeType="1"/>
            </p:cNvCxnSpPr>
            <p:nvPr/>
          </p:nvCxnSpPr>
          <p:spPr bwMode="auto">
            <a:xfrm>
              <a:off x="5180526" y="3788495"/>
              <a:ext cx="395867" cy="0"/>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748" name="Straight Arrow Connector 128"/>
            <p:cNvCxnSpPr>
              <a:cxnSpLocks noChangeShapeType="1"/>
              <a:endCxn id="72725" idx="1"/>
            </p:cNvCxnSpPr>
            <p:nvPr/>
          </p:nvCxnSpPr>
          <p:spPr bwMode="auto">
            <a:xfrm flipV="1">
              <a:off x="5168343" y="2852289"/>
              <a:ext cx="563691" cy="16"/>
            </a:xfrm>
            <a:prstGeom prst="straightConnector1">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cxnSp>
        <p:cxnSp>
          <p:nvCxnSpPr>
            <p:cNvPr id="72749" name="Straight Arrow Connector 84"/>
            <p:cNvCxnSpPr>
              <a:cxnSpLocks noChangeShapeType="1"/>
              <a:stCxn id="72717" idx="0"/>
            </p:cNvCxnSpPr>
            <p:nvPr/>
          </p:nvCxnSpPr>
          <p:spPr bwMode="auto">
            <a:xfrm rot="16200000" flipV="1">
              <a:off x="7231242" y="1633440"/>
              <a:ext cx="12701" cy="2149670"/>
            </a:xfrm>
            <a:prstGeom prst="bentConnector4">
              <a:avLst>
                <a:gd name="adj1" fmla="val 3177370"/>
                <a:gd name="adj2" fmla="val 100079"/>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50" name="Straight Arrow Connector 84"/>
            <p:cNvCxnSpPr>
              <a:cxnSpLocks noChangeShapeType="1"/>
              <a:stCxn id="72717" idx="0"/>
              <a:endCxn id="72716" idx="0"/>
            </p:cNvCxnSpPr>
            <p:nvPr/>
          </p:nvCxnSpPr>
          <p:spPr bwMode="auto">
            <a:xfrm rot="16200000" flipV="1">
              <a:off x="6634160" y="1036359"/>
              <a:ext cx="12701" cy="3343832"/>
            </a:xfrm>
            <a:prstGeom prst="bentConnector3">
              <a:avLst>
                <a:gd name="adj1" fmla="val 321667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cxnSp>
          <p:nvCxnSpPr>
            <p:cNvPr id="72751" name="Straight Arrow Connector 148"/>
            <p:cNvCxnSpPr>
              <a:cxnSpLocks noChangeShapeType="1"/>
            </p:cNvCxnSpPr>
            <p:nvPr/>
          </p:nvCxnSpPr>
          <p:spPr bwMode="auto">
            <a:xfrm>
              <a:off x="7380945" y="5084759"/>
              <a:ext cx="755749" cy="0"/>
            </a:xfrm>
            <a:prstGeom prst="straightConnector1">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cxnSp>
      </p:grpSp>
      <p:sp>
        <p:nvSpPr>
          <p:cNvPr id="72711" name="Rectangle 12"/>
          <p:cNvSpPr>
            <a:spLocks noChangeArrowheads="1"/>
          </p:cNvSpPr>
          <p:nvPr/>
        </p:nvSpPr>
        <p:spPr bwMode="auto">
          <a:xfrm>
            <a:off x="827584" y="5323157"/>
            <a:ext cx="3744913" cy="1274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nSpc>
                <a:spcPct val="120000"/>
              </a:lnSpc>
              <a:spcBef>
                <a:spcPts val="200"/>
              </a:spcBef>
              <a:spcAft>
                <a:spcPts val="200"/>
              </a:spcAft>
            </a:pPr>
            <a:r>
              <a:rPr lang="en-US" altLang="zh-TW" sz="1600" i="0" dirty="0">
                <a:solidFill>
                  <a:srgbClr val="FF0000"/>
                </a:solidFill>
                <a:latin typeface="微軟正黑體" panose="020B0604030504040204" pitchFamily="34" charset="-120"/>
                <a:ea typeface="微軟正黑體" panose="020B0604030504040204" pitchFamily="34" charset="-120"/>
              </a:rPr>
              <a:t>CNS</a:t>
            </a:r>
            <a:r>
              <a:rPr lang="zh-CN" altLang="en-US" sz="1600" i="0" dirty="0">
                <a:solidFill>
                  <a:srgbClr val="FF0000"/>
                </a:solidFill>
                <a:latin typeface="微軟正黑體" panose="020B0604030504040204" pitchFamily="34" charset="-120"/>
                <a:ea typeface="微軟正黑體" panose="020B0604030504040204" pitchFamily="34" charset="-120"/>
              </a:rPr>
              <a:t> </a:t>
            </a:r>
            <a:r>
              <a:rPr lang="en-US" altLang="zh-TW" sz="1600" i="0" dirty="0">
                <a:solidFill>
                  <a:srgbClr val="FF0000"/>
                </a:solidFill>
                <a:latin typeface="微軟正黑體" panose="020B0604030504040204" pitchFamily="34" charset="-120"/>
                <a:ea typeface="微軟正黑體" panose="020B0604030504040204" pitchFamily="34" charset="-120"/>
              </a:rPr>
              <a:t>27005</a:t>
            </a:r>
            <a:r>
              <a:rPr lang="zh-TW" altLang="en-US" sz="1600" i="0" dirty="0">
                <a:solidFill>
                  <a:srgbClr val="FF0000"/>
                </a:solidFill>
                <a:latin typeface="微軟正黑體" panose="020B0604030504040204" pitchFamily="34" charset="-120"/>
                <a:ea typeface="微軟正黑體" panose="020B0604030504040204" pitchFamily="34" charset="-120"/>
              </a:rPr>
              <a:t>資安風險管理過程，遵照</a:t>
            </a:r>
            <a:r>
              <a:rPr lang="en-US" altLang="zh-TW" sz="1600" i="0" dirty="0">
                <a:solidFill>
                  <a:srgbClr val="FF0000"/>
                </a:solidFill>
                <a:latin typeface="微軟正黑體" panose="020B0604030504040204" pitchFamily="34" charset="-120"/>
                <a:ea typeface="微軟正黑體" panose="020B0604030504040204" pitchFamily="34" charset="-120"/>
              </a:rPr>
              <a:t>CNS 31000</a:t>
            </a:r>
            <a:r>
              <a:rPr lang="zh-TW" altLang="en-US" sz="1600" i="0" dirty="0">
                <a:solidFill>
                  <a:srgbClr val="FF0000"/>
                </a:solidFill>
                <a:latin typeface="微軟正黑體" panose="020B0604030504040204" pitchFamily="34" charset="-120"/>
                <a:ea typeface="微軟正黑體" panose="020B0604030504040204" pitchFamily="34" charset="-120"/>
              </a:rPr>
              <a:t>規定，並與行政院風險管理與危機處理作業手冊中，陳述的管理架構一致，均符合國際風險管理規範要求</a:t>
            </a:r>
          </a:p>
        </p:txBody>
      </p:sp>
      <p:sp>
        <p:nvSpPr>
          <p:cNvPr id="72712" name="Rectangle 17"/>
          <p:cNvSpPr>
            <a:spLocks noChangeArrowheads="1"/>
          </p:cNvSpPr>
          <p:nvPr/>
        </p:nvSpPr>
        <p:spPr bwMode="auto">
          <a:xfrm>
            <a:off x="1297111" y="4329658"/>
            <a:ext cx="3490913" cy="971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defTabSz="0">
              <a:tabLst>
                <a:tab pos="0" algn="l"/>
              </a:tabLst>
              <a:defRPr kumimoji="1">
                <a:solidFill>
                  <a:schemeClr val="tx1"/>
                </a:solidFill>
                <a:latin typeface="Arial" panose="020B0604020202020204" pitchFamily="34" charset="0"/>
                <a:ea typeface="新細明體" panose="02020500000000000000" pitchFamily="18" charset="-120"/>
              </a:defRPr>
            </a:lvl1pPr>
            <a:lvl2pPr marL="742950" indent="-285750" defTabSz="0">
              <a:tabLst>
                <a:tab pos="0" algn="l"/>
              </a:tabLst>
              <a:defRPr kumimoji="1">
                <a:solidFill>
                  <a:schemeClr val="tx1"/>
                </a:solidFill>
                <a:latin typeface="Arial" panose="020B0604020202020204" pitchFamily="34" charset="0"/>
                <a:ea typeface="新細明體" panose="02020500000000000000" pitchFamily="18" charset="-120"/>
              </a:defRPr>
            </a:lvl2pPr>
            <a:lvl3pPr marL="1143000" indent="-228600" defTabSz="0">
              <a:tabLst>
                <a:tab pos="0" algn="l"/>
              </a:tabLst>
              <a:defRPr kumimoji="1">
                <a:solidFill>
                  <a:schemeClr val="tx1"/>
                </a:solidFill>
                <a:latin typeface="Arial" panose="020B0604020202020204" pitchFamily="34" charset="0"/>
                <a:ea typeface="新細明體" panose="02020500000000000000" pitchFamily="18" charset="-120"/>
              </a:defRPr>
            </a:lvl3pPr>
            <a:lvl4pPr marL="1600200" indent="-228600" defTabSz="0">
              <a:tabLst>
                <a:tab pos="0" algn="l"/>
              </a:tabLst>
              <a:defRPr kumimoji="1">
                <a:solidFill>
                  <a:schemeClr val="tx1"/>
                </a:solidFill>
                <a:latin typeface="Arial" panose="020B0604020202020204" pitchFamily="34" charset="0"/>
                <a:ea typeface="新細明體" panose="02020500000000000000" pitchFamily="18" charset="-120"/>
              </a:defRPr>
            </a:lvl4pPr>
            <a:lvl5pPr marL="2057400" indent="-228600" defTabSz="0">
              <a:tabLst>
                <a:tab pos="0" algn="l"/>
              </a:tabLst>
              <a:defRPr kumimoji="1">
                <a:solidFill>
                  <a:schemeClr val="tx1"/>
                </a:solidFill>
                <a:latin typeface="Arial" panose="020B0604020202020204" pitchFamily="34" charset="0"/>
                <a:ea typeface="新細明體" panose="02020500000000000000" pitchFamily="18" charset="-120"/>
              </a:defRPr>
            </a:lvl5pPr>
            <a:lvl6pPr marL="25146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6pPr>
            <a:lvl7pPr marL="29718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7pPr>
            <a:lvl8pPr marL="34290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8pPr>
            <a:lvl9pPr marL="3886200" indent="-228600" defTabSz="0" eaLnBrk="0" fontAlgn="base" hangingPunct="0">
              <a:spcBef>
                <a:spcPct val="0"/>
              </a:spcBef>
              <a:spcAft>
                <a:spcPct val="0"/>
              </a:spcAft>
              <a:tabLst>
                <a:tab pos="0" algn="l"/>
              </a:tabLst>
              <a:defRPr kumimoji="1">
                <a:solidFill>
                  <a:schemeClr val="tx1"/>
                </a:solidFill>
                <a:latin typeface="Arial" panose="020B0604020202020204" pitchFamily="34" charset="0"/>
                <a:ea typeface="新細明體" panose="02020500000000000000" pitchFamily="18" charset="-120"/>
              </a:defRPr>
            </a:lvl9pPr>
          </a:lstStyle>
          <a:p>
            <a:pPr>
              <a:lnSpc>
                <a:spcPct val="120000"/>
              </a:lnSpc>
              <a:spcBef>
                <a:spcPts val="200"/>
              </a:spcBef>
              <a:spcAft>
                <a:spcPts val="200"/>
              </a:spcAft>
            </a:pPr>
            <a:r>
              <a:rPr lang="zh-TW" altLang="en-US" sz="1600" i="0" dirty="0">
                <a:solidFill>
                  <a:srgbClr val="000000"/>
                </a:solidFill>
                <a:latin typeface="微軟正黑體" panose="020B0604030504040204" pitchFamily="34" charset="-120"/>
                <a:ea typeface="微軟正黑體" panose="020B0604030504040204" pitchFamily="34" charset="-120"/>
              </a:rPr>
              <a:t>循環作法提供在最小化花費，於識別控制措施之時間與耗費間良好平衡時，以確保高風險被適當評鑑</a:t>
            </a:r>
            <a:endParaRPr lang="en-US" altLang="zh-TW" sz="1600" i="0" dirty="0">
              <a:solidFill>
                <a:srgbClr val="000000"/>
              </a:solidFill>
              <a:latin typeface="微軟正黑體" panose="020B0604030504040204" pitchFamily="34" charset="-120"/>
              <a:ea typeface="微軟正黑體" panose="020B0604030504040204" pitchFamily="34" charset="-120"/>
            </a:endParaRPr>
          </a:p>
        </p:txBody>
      </p:sp>
      <p:pic>
        <p:nvPicPr>
          <p:cNvPr id="72713" name="Picture 63"/>
          <p:cNvPicPr>
            <a:picLocks noChangeAspect="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23528" y="5395165"/>
            <a:ext cx="504825" cy="484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2714" name="Picture 2"/>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717848" y="3501008"/>
            <a:ext cx="685800" cy="1409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 name="Content Placeholder 2"/>
          <p:cNvSpPr txBox="1">
            <a:spLocks/>
          </p:cNvSpPr>
          <p:nvPr/>
        </p:nvSpPr>
        <p:spPr bwMode="auto">
          <a:xfrm>
            <a:off x="613781" y="2274438"/>
            <a:ext cx="4174243" cy="12239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88000" indent="-288000" algn="l" defTabSz="0" rtl="0" eaLnBrk="1" fontAlgn="base" hangingPunct="1">
              <a:lnSpc>
                <a:spcPct val="120000"/>
              </a:lnSpc>
              <a:spcBef>
                <a:spcPts val="200"/>
              </a:spcBef>
              <a:spcAft>
                <a:spcPts val="200"/>
              </a:spcAft>
              <a:buFont typeface="Times New Roman" pitchFamily="18" charset="0"/>
              <a:buChar char="●"/>
              <a:tabLst>
                <a:tab pos="0" algn="l"/>
              </a:tabLst>
              <a:defRPr kumimoji="1" sz="2800" baseline="0">
                <a:solidFill>
                  <a:srgbClr val="333399"/>
                </a:solidFill>
                <a:latin typeface="微軟正黑體" panose="020B0604030504040204" pitchFamily="34" charset="-120"/>
                <a:ea typeface="微軟正黑體" panose="020B0604030504040204" pitchFamily="34" charset="-120"/>
                <a:cs typeface="+mn-cs"/>
              </a:defRPr>
            </a:lvl1pPr>
            <a:lvl2pPr marL="468000" marR="0" indent="-180000" algn="l" defTabSz="914400" rtl="0" eaLnBrk="1" fontAlgn="base" latinLnBrk="0" hangingPunct="1">
              <a:lnSpc>
                <a:spcPct val="120000"/>
              </a:lnSpc>
              <a:spcBef>
                <a:spcPts val="200"/>
              </a:spcBef>
              <a:spcAft>
                <a:spcPts val="200"/>
              </a:spcAft>
              <a:buClrTx/>
              <a:buSzTx/>
              <a:buFont typeface="Times New Roman" pitchFamily="18" charset="0"/>
              <a:buChar char="–"/>
              <a:tabLst/>
              <a:defRPr kumimoji="1" sz="2400" baseline="0">
                <a:solidFill>
                  <a:schemeClr val="tx1"/>
                </a:solidFill>
                <a:latin typeface="Microsoft JhengHei" panose="020B0604030504040204" pitchFamily="34" charset="-120"/>
                <a:ea typeface="Microsoft JhengHei" panose="020B0604030504040204" pitchFamily="34" charset="-120"/>
                <a:cs typeface="Microsoft JhengHei" panose="020B0604030504040204" pitchFamily="34" charset="-120"/>
              </a:defRPr>
            </a:lvl2pPr>
            <a:lvl3pPr marL="684000" indent="-216000" algn="l" rtl="0" eaLnBrk="1" fontAlgn="base" hangingPunct="1">
              <a:lnSpc>
                <a:spcPct val="120000"/>
              </a:lnSpc>
              <a:spcBef>
                <a:spcPts val="200"/>
              </a:spcBef>
              <a:spcAft>
                <a:spcPts val="200"/>
              </a:spcAft>
              <a:buSzPct val="100000"/>
              <a:buFont typeface="Wingdings" pitchFamily="2" charset="2"/>
              <a:buChar char="Ø"/>
              <a:defRPr kumimoji="1" sz="2000" baseline="0">
                <a:solidFill>
                  <a:schemeClr val="tx1"/>
                </a:solidFill>
                <a:latin typeface="+mn-lt"/>
                <a:ea typeface="+mn-ea"/>
                <a:cs typeface="SimSun-18030" pitchFamily="49" charset="-122"/>
              </a:defRPr>
            </a:lvl3pPr>
            <a:lvl4pPr marL="900000" indent="-180000" algn="l" rtl="0" eaLnBrk="1" fontAlgn="base" hangingPunct="1">
              <a:lnSpc>
                <a:spcPct val="120000"/>
              </a:lnSpc>
              <a:spcBef>
                <a:spcPts val="200"/>
              </a:spcBef>
              <a:spcAft>
                <a:spcPts val="200"/>
              </a:spcAft>
              <a:buFont typeface="Dotum" pitchFamily="34" charset="-127"/>
              <a:buChar char="♦"/>
              <a:defRPr kumimoji="1" baseline="0">
                <a:solidFill>
                  <a:schemeClr val="tx1"/>
                </a:solidFill>
                <a:latin typeface="+mn-ea"/>
                <a:ea typeface="+mn-ea"/>
                <a:cs typeface="SimSun-18030" pitchFamily="49" charset="-122"/>
              </a:defRPr>
            </a:lvl4pPr>
            <a:lvl5pPr marL="1080000" indent="-180000" algn="l" rtl="0" eaLnBrk="1" fontAlgn="base" hangingPunct="1">
              <a:lnSpc>
                <a:spcPct val="120000"/>
              </a:lnSpc>
              <a:spcBef>
                <a:spcPts val="200"/>
              </a:spcBef>
              <a:spcAft>
                <a:spcPts val="200"/>
              </a:spcAft>
              <a:buSzPct val="100000"/>
              <a:buFont typeface="Wingdings" pitchFamily="2" charset="2"/>
              <a:buChar char="n"/>
              <a:tabLst/>
              <a:defRPr kumimoji="1" sz="1600" baseline="0">
                <a:solidFill>
                  <a:schemeClr val="tx1"/>
                </a:solidFill>
                <a:latin typeface="+mn-ea"/>
                <a:ea typeface="+mn-ea"/>
                <a:cs typeface="SimSun-18030" pitchFamily="49" charset="-122"/>
              </a:defRPr>
            </a:lvl5pPr>
            <a:lvl6pPr marL="2743200" indent="-457200"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6pPr>
            <a:lvl7pPr marL="3200400" indent="-457200"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7pPr>
            <a:lvl8pPr marL="3657600" indent="-457200"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8pPr>
            <a:lvl9pPr marL="4114800" indent="-457200" algn="l" rtl="0" eaLnBrk="1" fontAlgn="base" hangingPunct="1">
              <a:lnSpc>
                <a:spcPct val="120000"/>
              </a:lnSpc>
              <a:spcBef>
                <a:spcPct val="20000"/>
              </a:spcBef>
              <a:spcAft>
                <a:spcPct val="0"/>
              </a:spcAft>
              <a:buFont typeface="Arial" charset="0"/>
              <a:defRPr kumimoji="1" sz="2400">
                <a:solidFill>
                  <a:schemeClr val="accent2"/>
                </a:solidFill>
                <a:latin typeface="+mn-lt"/>
                <a:ea typeface="華康魏碑體" pitchFamily="65" charset="-120"/>
                <a:cs typeface="SimSun-18030" pitchFamily="49" charset="-122"/>
              </a:defRPr>
            </a:lvl9pPr>
          </a:lstStyle>
          <a:p>
            <a:r>
              <a:rPr lang="zh-TW" altLang="en-US" sz="2000" i="0" kern="0" dirty="0">
                <a:cs typeface="微軟正黑體" panose="020B0604030504040204" pitchFamily="34" charset="-120"/>
              </a:rPr>
              <a:t>有數種方法論，能在</a:t>
            </a:r>
            <a:r>
              <a:rPr lang="en-US" altLang="zh-TW" sz="2000" i="0" kern="0" dirty="0">
                <a:cs typeface="微軟正黑體" panose="020B0604030504040204" pitchFamily="34" charset="-120"/>
              </a:rPr>
              <a:t>CNS 27005</a:t>
            </a:r>
            <a:r>
              <a:rPr lang="zh-TW" altLang="en-US" sz="2000" i="0" kern="0" dirty="0">
                <a:cs typeface="微軟正黑體" panose="020B0604030504040204" pitchFamily="34" charset="-120"/>
              </a:rPr>
              <a:t>描述框架下，實作資安管理系統</a:t>
            </a:r>
            <a:r>
              <a:rPr lang="en-US" altLang="zh-TW" sz="2000" i="0" kern="0" dirty="0">
                <a:cs typeface="微軟正黑體" panose="020B0604030504040204" pitchFamily="34" charset="-120"/>
              </a:rPr>
              <a:t>(ISMS)</a:t>
            </a:r>
            <a:r>
              <a:rPr lang="zh-TW" altLang="en-US" sz="2000" i="0" kern="0" dirty="0">
                <a:cs typeface="微軟正黑體" panose="020B0604030504040204" pitchFamily="34" charset="-120"/>
              </a:rPr>
              <a:t>之要求</a:t>
            </a:r>
          </a:p>
          <a:p>
            <a:pPr>
              <a:buFont typeface="Times New Roman" pitchFamily="18" charset="0"/>
              <a:buNone/>
            </a:pPr>
            <a:endParaRPr lang="en-US" altLang="zh-TW" sz="1800" i="0" kern="0" dirty="0">
              <a:cs typeface="微軟正黑體" panose="020B0604030504040204" pitchFamily="34" charset="-120"/>
            </a:endParaRPr>
          </a:p>
        </p:txBody>
      </p:sp>
    </p:spTree>
    <p:extLst>
      <p:ext uri="{BB962C8B-B14F-4D97-AF65-F5344CB8AC3E}">
        <p14:creationId xmlns:p14="http://schemas.microsoft.com/office/powerpoint/2010/main" val="542025684"/>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179512" y="1340768"/>
          <a:ext cx="8721725" cy="4422085"/>
        </p:xfrm>
        <a:graphic>
          <a:graphicData uri="http://schemas.openxmlformats.org/drawingml/2006/table">
            <a:tbl>
              <a:tblPr/>
              <a:tblGrid>
                <a:gridCol w="1610774">
                  <a:extLst>
                    <a:ext uri="{9D8B030D-6E8A-4147-A177-3AD203B41FA5}">
                      <a16:colId xmlns:a16="http://schemas.microsoft.com/office/drawing/2014/main" val="2081677874"/>
                    </a:ext>
                  </a:extLst>
                </a:gridCol>
                <a:gridCol w="3645810">
                  <a:extLst>
                    <a:ext uri="{9D8B030D-6E8A-4147-A177-3AD203B41FA5}">
                      <a16:colId xmlns:a16="http://schemas.microsoft.com/office/drawing/2014/main" val="731019036"/>
                    </a:ext>
                  </a:extLst>
                </a:gridCol>
                <a:gridCol w="3465141">
                  <a:extLst>
                    <a:ext uri="{9D8B030D-6E8A-4147-A177-3AD203B41FA5}">
                      <a16:colId xmlns:a16="http://schemas.microsoft.com/office/drawing/2014/main" val="3616720609"/>
                    </a:ext>
                  </a:extLst>
                </a:gridCol>
              </a:tblGrid>
              <a:tr h="640080">
                <a:tc>
                  <a:txBody>
                    <a:bodyPr/>
                    <a:lstStyle/>
                    <a:p>
                      <a:r>
                        <a:rPr lang="zh-TW" altLang="en-US" sz="1800" dirty="0"/>
                        <a:t>面向</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dirty="0"/>
                        <a:t>ISO 31000:2018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800"/>
                        <a:t>ISO/IEC 27005:2022</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751444360"/>
                  </a:ext>
                </a:extLst>
              </a:tr>
              <a:tr h="764485">
                <a:tc>
                  <a:txBody>
                    <a:bodyPr/>
                    <a:lstStyle/>
                    <a:p>
                      <a:r>
                        <a:rPr lang="zh-TW" altLang="en-US" sz="1800" dirty="0" smtClean="0"/>
                        <a:t>特性</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smtClean="0"/>
                        <a:t>通用性框架</a:t>
                      </a:r>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indent="0" algn="l" defTabSz="914395" rtl="0" eaLnBrk="1" fontAlgn="auto" latinLnBrk="0" hangingPunct="1">
                        <a:lnSpc>
                          <a:spcPct val="100000"/>
                        </a:lnSpc>
                        <a:spcBef>
                          <a:spcPts val="0"/>
                        </a:spcBef>
                        <a:spcAft>
                          <a:spcPts val="0"/>
                        </a:spcAft>
                        <a:buClrTx/>
                        <a:buSzTx/>
                        <a:buFontTx/>
                        <a:buNone/>
                        <a:tabLst/>
                        <a:defRPr/>
                      </a:pPr>
                      <a:r>
                        <a:rPr lang="zh-TW" altLang="en-US" sz="1800" dirty="0" smtClean="0"/>
                        <a:t>實現 </a:t>
                      </a:r>
                      <a:r>
                        <a:rPr lang="en-US" altLang="zh-TW" sz="1800" dirty="0" smtClean="0"/>
                        <a:t>31000 </a:t>
                      </a:r>
                      <a:r>
                        <a:rPr lang="zh-TW" altLang="en-US" sz="1800" dirty="0" smtClean="0"/>
                        <a:t>原則並聚焦與資訊安全</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21560738"/>
                  </a:ext>
                </a:extLst>
              </a:tr>
              <a:tr h="914400">
                <a:tc>
                  <a:txBody>
                    <a:bodyPr/>
                    <a:lstStyle/>
                    <a:p>
                      <a:r>
                        <a:rPr lang="zh-TW" altLang="en-US" sz="1800" b="1" dirty="0"/>
                        <a:t>原則 </a:t>
                      </a:r>
                      <a:endParaRPr lang="en-US" altLang="zh-TW" sz="1800" b="1" dirty="0" smtClean="0"/>
                    </a:p>
                    <a:p>
                      <a:r>
                        <a:rPr lang="en-US" altLang="zh-TW" sz="1800" b="1" dirty="0" smtClean="0"/>
                        <a:t>(</a:t>
                      </a:r>
                      <a:r>
                        <a:rPr lang="en-US" sz="1800" b="1" dirty="0"/>
                        <a:t>Principles)</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強調整合、結構化、客製化、包容人性因素、持續</a:t>
                      </a:r>
                      <a:r>
                        <a:rPr lang="zh-TW" altLang="en-US" sz="1800" dirty="0" smtClean="0"/>
                        <a:t>改進等八大原則</a:t>
                      </a:r>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同樣遵循，但更聚焦於機密性、完整性、可用性三構面</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622627542"/>
                  </a:ext>
                </a:extLst>
              </a:tr>
              <a:tr h="914400">
                <a:tc>
                  <a:txBody>
                    <a:bodyPr/>
                    <a:lstStyle/>
                    <a:p>
                      <a:r>
                        <a:rPr lang="zh-TW" altLang="en-US" sz="1800" b="1" dirty="0"/>
                        <a:t>框架 </a:t>
                      </a:r>
                      <a:r>
                        <a:rPr lang="en-US" altLang="zh-TW" sz="1800" b="1" dirty="0"/>
                        <a:t>(</a:t>
                      </a:r>
                      <a:r>
                        <a:rPr lang="en-US" sz="1800" b="1" dirty="0"/>
                        <a:t>Framework)</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導入組織治理架構、風險政策、責任分配、持續改進</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結合 </a:t>
                      </a:r>
                      <a:r>
                        <a:rPr lang="en-US" altLang="zh-TW" sz="1800" dirty="0"/>
                        <a:t>ISMS</a:t>
                      </a:r>
                      <a:r>
                        <a:rPr lang="zh-TW" altLang="en-US" sz="1800" dirty="0"/>
                        <a:t>（</a:t>
                      </a:r>
                      <a:r>
                        <a:rPr lang="en-US" altLang="zh-TW" sz="1800" dirty="0"/>
                        <a:t>ISO 27001</a:t>
                      </a:r>
                      <a:r>
                        <a:rPr lang="zh-TW" altLang="en-US" sz="1800" dirty="0"/>
                        <a:t>）之組織環境與職責</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01566396"/>
                  </a:ext>
                </a:extLst>
              </a:tr>
              <a:tr h="1188720">
                <a:tc>
                  <a:txBody>
                    <a:bodyPr/>
                    <a:lstStyle/>
                    <a:p>
                      <a:r>
                        <a:rPr lang="zh-TW" altLang="en-US" sz="1800" b="1" dirty="0" smtClean="0"/>
                        <a:t>過程 </a:t>
                      </a:r>
                      <a:endParaRPr lang="en-US" altLang="zh-TW" sz="1800" b="1" dirty="0" smtClean="0"/>
                    </a:p>
                    <a:p>
                      <a:r>
                        <a:rPr lang="en-US" altLang="zh-TW" sz="1800" b="1" dirty="0" smtClean="0"/>
                        <a:t>(</a:t>
                      </a:r>
                      <a:r>
                        <a:rPr lang="en-US" sz="1800" b="1" dirty="0"/>
                        <a:t>Process)</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smtClean="0"/>
                        <a:t>溝通與諮詢→全景建立→風險評鑑</a:t>
                      </a:r>
                      <a:r>
                        <a:rPr lang="en-US" altLang="zh-TW" sz="1800" dirty="0" smtClean="0"/>
                        <a:t>(</a:t>
                      </a:r>
                      <a:r>
                        <a:rPr lang="zh-TW" altLang="en-US" sz="1800" dirty="0" smtClean="0"/>
                        <a:t>識別 </a:t>
                      </a:r>
                      <a:r>
                        <a:rPr lang="zh-TW" altLang="en-US" sz="1800" dirty="0"/>
                        <a:t>→ 分析 → </a:t>
                      </a:r>
                      <a:r>
                        <a:rPr lang="zh-TW" altLang="en-US" sz="1800" dirty="0" smtClean="0"/>
                        <a:t>評估</a:t>
                      </a:r>
                      <a:r>
                        <a:rPr lang="en-US" altLang="zh-TW" sz="1800" dirty="0" smtClean="0"/>
                        <a:t>)</a:t>
                      </a:r>
                      <a:r>
                        <a:rPr lang="zh-TW" altLang="en-US" sz="1800" dirty="0" smtClean="0"/>
                        <a:t>→ 風險處理 </a:t>
                      </a:r>
                      <a:r>
                        <a:rPr lang="zh-TW" altLang="en-US" sz="1800" dirty="0"/>
                        <a:t>→ </a:t>
                      </a:r>
                      <a:r>
                        <a:rPr lang="zh-TW" altLang="en-US" sz="1800" dirty="0" smtClean="0"/>
                        <a:t>持續監控</a:t>
                      </a:r>
                      <a:endParaRPr lang="zh-TW" alt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zh-TW" altLang="en-US" sz="1800" dirty="0"/>
                        <a:t>完整對應，但細化為資安專用步驟（如資產識別、威脅</a:t>
                      </a:r>
                      <a:r>
                        <a:rPr lang="zh-TW" altLang="en-US" sz="1800" dirty="0" smtClean="0"/>
                        <a:t>分析、、</a:t>
                      </a:r>
                      <a:r>
                        <a:rPr lang="zh-TW" altLang="en-US" sz="1800" dirty="0"/>
                        <a:t>控制選擇）</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7151559"/>
                  </a:ext>
                </a:extLst>
              </a:tr>
            </a:tbl>
          </a:graphicData>
        </a:graphic>
      </p:graphicFrame>
      <p:sp>
        <p:nvSpPr>
          <p:cNvPr id="3" name="標題 2"/>
          <p:cNvSpPr>
            <a:spLocks noGrp="1"/>
          </p:cNvSpPr>
          <p:nvPr>
            <p:ph type="title"/>
          </p:nvPr>
        </p:nvSpPr>
        <p:spPr/>
        <p:txBody>
          <a:bodyPr/>
          <a:lstStyle/>
          <a:p>
            <a:r>
              <a:rPr lang="en-US" altLang="zh-TW" dirty="0" smtClean="0"/>
              <a:t>ISO</a:t>
            </a:r>
            <a:r>
              <a:rPr lang="zh-TW" altLang="en-US" dirty="0" smtClean="0"/>
              <a:t> </a:t>
            </a:r>
            <a:r>
              <a:rPr lang="en-US" altLang="zh-TW" dirty="0" smtClean="0"/>
              <a:t>31000 </a:t>
            </a:r>
            <a:r>
              <a:rPr lang="zh-TW" altLang="en-US" dirty="0" smtClean="0"/>
              <a:t>與</a:t>
            </a:r>
            <a:r>
              <a:rPr lang="en-US" altLang="zh-TW" dirty="0" smtClean="0"/>
              <a:t>ISO</a:t>
            </a:r>
            <a:r>
              <a:rPr lang="zh-TW" altLang="en-US" dirty="0" smtClean="0"/>
              <a:t> </a:t>
            </a:r>
            <a:r>
              <a:rPr lang="en-US" altLang="zh-TW" dirty="0" smtClean="0"/>
              <a:t>27005</a:t>
            </a:r>
            <a:r>
              <a:rPr lang="zh-TW" altLang="en-US" dirty="0" smtClean="0"/>
              <a:t>比較</a:t>
            </a:r>
            <a:endParaRPr lang="zh-TW" altLang="en-US" dirty="0"/>
          </a:p>
        </p:txBody>
      </p:sp>
    </p:spTree>
    <p:extLst>
      <p:ext uri="{BB962C8B-B14F-4D97-AF65-F5344CB8AC3E}">
        <p14:creationId xmlns:p14="http://schemas.microsoft.com/office/powerpoint/2010/main" val="26049893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7" name="Content Placeholder 2"/>
          <p:cNvSpPr>
            <a:spLocks noGrp="1"/>
          </p:cNvSpPr>
          <p:nvPr>
            <p:ph sz="quarter" idx="10"/>
          </p:nvPr>
        </p:nvSpPr>
        <p:spPr>
          <a:xfrm>
            <a:off x="107504" y="1080000"/>
            <a:ext cx="8503248" cy="4797272"/>
          </a:xfrm>
        </p:spPr>
        <p:txBody>
          <a:bodyPr/>
          <a:lstStyle/>
          <a:p>
            <a:r>
              <a:rPr lang="zh-TW" altLang="en-US" dirty="0">
                <a:cs typeface="微軟正黑體" panose="020B0604030504040204" pitchFamily="34" charset="-120"/>
              </a:rPr>
              <a:t>行政院及所屬各機關風險管理及危機處理作業原則</a:t>
            </a:r>
            <a:endParaRPr lang="en-US" altLang="zh-TW" dirty="0">
              <a:cs typeface="微軟正黑體" panose="020B0604030504040204" pitchFamily="34" charset="-120"/>
            </a:endParaRPr>
          </a:p>
          <a:p>
            <a:pPr lvl="1"/>
            <a:r>
              <a:rPr lang="zh-TW" altLang="en-US" dirty="0"/>
              <a:t>行政院於</a:t>
            </a:r>
            <a:r>
              <a:rPr lang="en-US" altLang="zh-TW" dirty="0"/>
              <a:t>109</a:t>
            </a:r>
            <a:r>
              <a:rPr lang="zh-TW" altLang="en-US" dirty="0"/>
              <a:t>年</a:t>
            </a:r>
            <a:r>
              <a:rPr lang="en-US" altLang="zh-TW" dirty="0"/>
              <a:t>9</a:t>
            </a:r>
            <a:r>
              <a:rPr lang="zh-TW" altLang="en-US" dirty="0"/>
              <a:t>月</a:t>
            </a:r>
            <a:r>
              <a:rPr lang="en-US" altLang="zh-TW" dirty="0"/>
              <a:t>11</a:t>
            </a:r>
            <a:r>
              <a:rPr lang="zh-TW" altLang="en-US" dirty="0"/>
              <a:t>日發布，</a:t>
            </a:r>
            <a:r>
              <a:rPr lang="en-US" altLang="zh-TW" dirty="0"/>
              <a:t>110</a:t>
            </a:r>
            <a:r>
              <a:rPr lang="zh-TW" altLang="en-US" dirty="0"/>
              <a:t>年</a:t>
            </a:r>
            <a:r>
              <a:rPr lang="en-US" altLang="zh-TW" dirty="0"/>
              <a:t>1</a:t>
            </a:r>
            <a:r>
              <a:rPr lang="zh-TW" altLang="en-US" dirty="0"/>
              <a:t>月</a:t>
            </a:r>
            <a:r>
              <a:rPr lang="en-US" altLang="zh-TW" dirty="0"/>
              <a:t>1</a:t>
            </a:r>
            <a:r>
              <a:rPr lang="zh-TW" altLang="en-US" dirty="0"/>
              <a:t>日生效</a:t>
            </a:r>
          </a:p>
          <a:p>
            <a:pPr lvl="1"/>
            <a:r>
              <a:rPr lang="zh-TW" altLang="en-US" dirty="0"/>
              <a:t>為推動各機關將風險管理融入日常作業及決策運作，考量可能影響施政目標達成之風險，訂定機關之施政目標及策略，以合理確保達成施政目標；並於危機事件發生時，採取危機處理，降低對機關損害之影響程度</a:t>
            </a:r>
          </a:p>
          <a:p>
            <a:pPr lvl="1"/>
            <a:r>
              <a:rPr lang="zh-TW" altLang="en-US" dirty="0"/>
              <a:t>本作業原則係原則性之作業規範，做為協助各機關推動整合性風險管理及危機處理之參考依循，並藉由</a:t>
            </a:r>
            <a:r>
              <a:rPr lang="zh-TW" altLang="en-US" b="1" dirty="0"/>
              <a:t>行政院及所屬各機關風險管理及危機處理作業手冊</a:t>
            </a:r>
            <a:r>
              <a:rPr lang="zh-TW" altLang="en-US" dirty="0"/>
              <a:t>，引導各機關建立標準作業程序並進行實務性操作</a:t>
            </a:r>
            <a:endParaRPr lang="en-US" altLang="zh-TW" dirty="0"/>
          </a:p>
        </p:txBody>
      </p:sp>
      <p:sp>
        <p:nvSpPr>
          <p:cNvPr id="62466" name="Title 1"/>
          <p:cNvSpPr>
            <a:spLocks noGrp="1"/>
          </p:cNvSpPr>
          <p:nvPr>
            <p:ph type="title"/>
          </p:nvPr>
        </p:nvSpPr>
        <p:spPr>
          <a:xfrm>
            <a:off x="818623" y="131120"/>
            <a:ext cx="7785825" cy="777600"/>
          </a:xfrm>
        </p:spPr>
        <p:txBody>
          <a:bodyPr/>
          <a:lstStyle/>
          <a:p>
            <a:r>
              <a:rPr lang="en-US" altLang="en-US" dirty="0" err="1"/>
              <a:t>政府機關風險管理架構</a:t>
            </a:r>
            <a:r>
              <a:rPr lang="en-US" altLang="zh-CN" dirty="0"/>
              <a:t>(1/2)</a:t>
            </a:r>
            <a:endParaRPr lang="en-US" altLang="zh-TW" dirty="0"/>
          </a:p>
        </p:txBody>
      </p:sp>
    </p:spTree>
    <p:extLst>
      <p:ext uri="{BB962C8B-B14F-4D97-AF65-F5344CB8AC3E}">
        <p14:creationId xmlns:p14="http://schemas.microsoft.com/office/powerpoint/2010/main" val="247079793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p:cNvSpPr>
          <p:nvPr>
            <p:ph type="title"/>
          </p:nvPr>
        </p:nvSpPr>
        <p:spPr/>
        <p:txBody>
          <a:bodyPr/>
          <a:lstStyle/>
          <a:p>
            <a:r>
              <a:rPr lang="en-US" altLang="en-US" dirty="0" err="1"/>
              <a:t>政府機關風險管理架構</a:t>
            </a:r>
            <a:r>
              <a:rPr lang="en-US" altLang="zh-CN" dirty="0"/>
              <a:t>(2/2)</a:t>
            </a:r>
            <a:endParaRPr lang="en-US" altLang="zh-TW" dirty="0"/>
          </a:p>
        </p:txBody>
      </p:sp>
      <p:sp>
        <p:nvSpPr>
          <p:cNvPr id="64515" name="Content Placeholder 2"/>
          <p:cNvSpPr>
            <a:spLocks noGrp="1"/>
          </p:cNvSpPr>
          <p:nvPr>
            <p:ph sz="quarter" idx="4294967295"/>
          </p:nvPr>
        </p:nvSpPr>
        <p:spPr>
          <a:xfrm>
            <a:off x="528554" y="1050310"/>
            <a:ext cx="7748588" cy="484188"/>
          </a:xfrm>
        </p:spPr>
        <p:txBody>
          <a:bodyPr/>
          <a:lstStyle/>
          <a:p>
            <a:r>
              <a:rPr lang="zh-TW" altLang="en-US" sz="2400" dirty="0">
                <a:cs typeface="微軟正黑體" panose="020B0604030504040204" pitchFamily="34" charset="-120"/>
              </a:rPr>
              <a:t>行政院及所屬各機關風險管理及危機處理作業手冊</a:t>
            </a:r>
            <a:endParaRPr lang="en-US" altLang="zh-TW" sz="2400" dirty="0"/>
          </a:p>
          <a:p>
            <a:pPr lvl="1"/>
            <a:endParaRPr lang="en-US" altLang="zh-TW" dirty="0"/>
          </a:p>
        </p:txBody>
      </p:sp>
      <p:sp>
        <p:nvSpPr>
          <p:cNvPr id="64518" name="Rectangle 2"/>
          <p:cNvSpPr>
            <a:spLocks noChangeArrowheads="1"/>
          </p:cNvSpPr>
          <p:nvPr/>
        </p:nvSpPr>
        <p:spPr bwMode="auto">
          <a:xfrm>
            <a:off x="132639" y="1676088"/>
            <a:ext cx="4151328" cy="47233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a:defRPr kumimoji="1">
                <a:solidFill>
                  <a:schemeClr val="tx1"/>
                </a:solidFill>
                <a:latin typeface="Arial" panose="020B0604020202020204" pitchFamily="34" charset="0"/>
                <a:ea typeface="新細明體" panose="02020500000000000000" pitchFamily="18" charset="-120"/>
              </a:defRPr>
            </a:lvl1pPr>
            <a:lvl2pPr marL="466725" indent="-179388">
              <a:defRPr kumimoji="1">
                <a:solidFill>
                  <a:schemeClr val="tx1"/>
                </a:solidFill>
                <a:latin typeface="Arial" panose="020B0604020202020204" pitchFamily="34" charset="0"/>
                <a:ea typeface="新細明體" panose="02020500000000000000" pitchFamily="18" charset="-120"/>
              </a:defRPr>
            </a:lvl2pPr>
            <a:lvl3pPr marL="1143000" indent="-228600">
              <a:defRPr kumimoji="1">
                <a:solidFill>
                  <a:schemeClr val="tx1"/>
                </a:solidFill>
                <a:latin typeface="Arial" panose="020B0604020202020204" pitchFamily="34" charset="0"/>
                <a:ea typeface="新細明體" panose="02020500000000000000" pitchFamily="18" charset="-120"/>
              </a:defRPr>
            </a:lvl3pPr>
            <a:lvl4pPr marL="1600200" indent="-228600">
              <a:defRPr kumimoji="1">
                <a:solidFill>
                  <a:schemeClr val="tx1"/>
                </a:solidFill>
                <a:latin typeface="Arial" panose="020B0604020202020204" pitchFamily="34" charset="0"/>
                <a:ea typeface="新細明體" panose="02020500000000000000" pitchFamily="18" charset="-120"/>
              </a:defRPr>
            </a:lvl4pPr>
            <a:lvl5pPr marL="2057400" indent="-228600">
              <a:defRPr kumimoji="1">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0"/>
              </a:spcBef>
              <a:spcAft>
                <a:spcPct val="0"/>
              </a:spcAft>
              <a:defRPr kumimoji="1">
                <a:solidFill>
                  <a:schemeClr val="tx1"/>
                </a:solidFill>
                <a:latin typeface="Arial" panose="020B0604020202020204" pitchFamily="34" charset="0"/>
                <a:ea typeface="新細明體" panose="02020500000000000000" pitchFamily="18" charset="-120"/>
              </a:defRPr>
            </a:lvl9pPr>
          </a:lstStyle>
          <a:p>
            <a:pPr marL="287337" lvl="1" indent="0">
              <a:lnSpc>
                <a:spcPct val="120000"/>
              </a:lnSpc>
              <a:spcBef>
                <a:spcPts val="200"/>
              </a:spcBef>
              <a:spcAft>
                <a:spcPts val="200"/>
              </a:spcAft>
            </a:pPr>
            <a:r>
              <a:rPr lang="zh-TW" altLang="en-US" sz="2400" dirty="0">
                <a:solidFill>
                  <a:srgbClr val="FF0000"/>
                </a:solidFill>
                <a:latin typeface="微軟正黑體" panose="020B0604030504040204" pitchFamily="34" charset="-120"/>
                <a:ea typeface="微軟正黑體" panose="020B0604030504040204" pitchFamily="34" charset="-120"/>
              </a:rPr>
              <a:t>參考</a:t>
            </a:r>
            <a:r>
              <a:rPr lang="en-US" altLang="zh-TW" sz="2400" dirty="0">
                <a:solidFill>
                  <a:srgbClr val="FF0000"/>
                </a:solidFill>
                <a:latin typeface="微軟正黑體" panose="020B0604030504040204" pitchFamily="34" charset="-120"/>
                <a:ea typeface="微軟正黑體" panose="020B0604030504040204" pitchFamily="34" charset="-120"/>
              </a:rPr>
              <a:t>CNS </a:t>
            </a:r>
            <a:r>
              <a:rPr lang="en-US" altLang="zh-TW" sz="2400" dirty="0" smtClean="0">
                <a:solidFill>
                  <a:srgbClr val="FF0000"/>
                </a:solidFill>
                <a:latin typeface="微軟正黑體" panose="020B0604030504040204" pitchFamily="34" charset="-120"/>
                <a:ea typeface="微軟正黑體" panose="020B0604030504040204" pitchFamily="34" charset="-120"/>
              </a:rPr>
              <a:t>31000</a:t>
            </a:r>
            <a:r>
              <a:rPr lang="zh-TW" altLang="en-US" sz="2400" dirty="0" smtClean="0">
                <a:solidFill>
                  <a:srgbClr val="FF0000"/>
                </a:solidFill>
                <a:latin typeface="微軟正黑體" panose="020B0604030504040204" pitchFamily="34" charset="-120"/>
                <a:ea typeface="微軟正黑體" panose="020B0604030504040204" pitchFamily="34" charset="-120"/>
              </a:rPr>
              <a:t>風險</a:t>
            </a:r>
            <a:r>
              <a:rPr lang="zh-TW" altLang="en-US" sz="2400" dirty="0">
                <a:solidFill>
                  <a:srgbClr val="FF0000"/>
                </a:solidFill>
                <a:latin typeface="微軟正黑體" panose="020B0604030504040204" pitchFamily="34" charset="-120"/>
                <a:ea typeface="微軟正黑體" panose="020B0604030504040204" pitchFamily="34" charset="-120"/>
              </a:rPr>
              <a:t>管理</a:t>
            </a:r>
            <a:r>
              <a:rPr lang="zh-TW" altLang="en-US" sz="2400" dirty="0" smtClean="0">
                <a:solidFill>
                  <a:srgbClr val="FF0000"/>
                </a:solidFill>
                <a:latin typeface="微軟正黑體" panose="020B0604030504040204" pitchFamily="34" charset="-120"/>
                <a:ea typeface="微軟正黑體" panose="020B0604030504040204" pitchFamily="34" charset="-120"/>
              </a:rPr>
              <a:t>過程所擬定</a:t>
            </a:r>
            <a:r>
              <a:rPr lang="zh-TW" altLang="en-US" sz="2400" dirty="0">
                <a:solidFill>
                  <a:srgbClr val="FF0000"/>
                </a:solidFill>
                <a:latin typeface="微軟正黑體" panose="020B0604030504040204" pitchFamily="34" charset="-120"/>
                <a:ea typeface="微軟正黑體" panose="020B0604030504040204" pitchFamily="34" charset="-120"/>
              </a:rPr>
              <a:t>右</a:t>
            </a:r>
            <a:r>
              <a:rPr lang="zh-TW" altLang="en-US" sz="2400" dirty="0" smtClean="0">
                <a:solidFill>
                  <a:srgbClr val="FF0000"/>
                </a:solidFill>
                <a:latin typeface="微軟正黑體" panose="020B0604030504040204" pitchFamily="34" charset="-120"/>
                <a:ea typeface="微軟正黑體" panose="020B0604030504040204" pitchFamily="34" charset="-120"/>
              </a:rPr>
              <a:t>圖之過程</a:t>
            </a:r>
            <a:r>
              <a:rPr lang="en-US" altLang="zh-TW" sz="2400" dirty="0" smtClean="0">
                <a:solidFill>
                  <a:srgbClr val="FF0000"/>
                </a:solidFill>
                <a:latin typeface="微軟正黑體" panose="020B0604030504040204" pitchFamily="34" charset="-120"/>
                <a:ea typeface="微軟正黑體" panose="020B0604030504040204" pitchFamily="34" charset="-120"/>
              </a:rPr>
              <a:t>,</a:t>
            </a:r>
            <a:r>
              <a:rPr lang="zh-TW" altLang="en-US" sz="2400" dirty="0" smtClean="0">
                <a:solidFill>
                  <a:srgbClr val="FF0000"/>
                </a:solidFill>
                <a:latin typeface="微軟正黑體" panose="020B0604030504040204" pitchFamily="34" charset="-120"/>
                <a:ea typeface="微軟正黑體" panose="020B0604030504040204" pitchFamily="34" charset="-120"/>
              </a:rPr>
              <a:t>搭配機關運作配合</a:t>
            </a:r>
            <a:endParaRPr lang="en-US" altLang="zh-TW" sz="2400" dirty="0">
              <a:solidFill>
                <a:srgbClr val="FF0000"/>
              </a:solidFill>
              <a:latin typeface="微軟正黑體" panose="020B0604030504040204" pitchFamily="34" charset="-120"/>
              <a:ea typeface="微軟正黑體" panose="020B0604030504040204" pitchFamily="34" charset="-120"/>
            </a:endParaRPr>
          </a:p>
          <a:p>
            <a:pPr marL="287337" lvl="1" indent="0">
              <a:lnSpc>
                <a:spcPct val="120000"/>
              </a:lnSpc>
              <a:spcBef>
                <a:spcPts val="200"/>
              </a:spcBef>
              <a:spcAft>
                <a:spcPts val="200"/>
              </a:spcAft>
            </a:pPr>
            <a:r>
              <a:rPr lang="zh-TW" altLang="en-US" sz="2200" i="0" dirty="0" smtClean="0">
                <a:solidFill>
                  <a:srgbClr val="000000"/>
                </a:solidFill>
                <a:latin typeface="微軟正黑體" panose="020B0604030504040204" pitchFamily="34" charset="-120"/>
                <a:ea typeface="微軟正黑體" panose="020B0604030504040204" pitchFamily="34" charset="-120"/>
              </a:rPr>
              <a:t>秉持風險</a:t>
            </a:r>
            <a:r>
              <a:rPr lang="zh-TW" altLang="en-US" sz="2200" i="0" dirty="0">
                <a:solidFill>
                  <a:srgbClr val="000000"/>
                </a:solidFill>
                <a:latin typeface="微軟正黑體" panose="020B0604030504040204" pitchFamily="34" charset="-120"/>
                <a:ea typeface="微軟正黑體" panose="020B0604030504040204" pitchFamily="34" charset="-120"/>
              </a:rPr>
              <a:t>管理是一個「持續改善」的反覆過程或循環過程，以協助政府部門改善績效並達成公共價值</a:t>
            </a:r>
            <a:r>
              <a:rPr lang="en-US" altLang="zh-TW" sz="2200" i="0" dirty="0">
                <a:solidFill>
                  <a:srgbClr val="000000"/>
                </a:solidFill>
                <a:latin typeface="微軟正黑體" panose="020B0604030504040204" pitchFamily="34" charset="-120"/>
                <a:ea typeface="微軟正黑體" panose="020B0604030504040204" pitchFamily="34" charset="-120"/>
              </a:rPr>
              <a:t>(Public Value)</a:t>
            </a:r>
            <a:r>
              <a:rPr lang="zh-TW" altLang="en-US" sz="2200" i="0" dirty="0">
                <a:solidFill>
                  <a:srgbClr val="000000"/>
                </a:solidFill>
                <a:latin typeface="微軟正黑體" panose="020B0604030504040204" pitchFamily="34" charset="-120"/>
                <a:ea typeface="微軟正黑體" panose="020B0604030504040204" pitchFamily="34" charset="-120"/>
              </a:rPr>
              <a:t>，另可促成行政部門提供更好的服務、資源的更有效使用、更佳的計畫管理、避免貪瀆與浪費公帑並鼓勵創新</a:t>
            </a:r>
          </a:p>
        </p:txBody>
      </p:sp>
      <p:pic>
        <p:nvPicPr>
          <p:cNvPr id="3" name="圖片 2">
            <a:extLst>
              <a:ext uri="{FF2B5EF4-FFF2-40B4-BE49-F238E27FC236}">
                <a16:creationId xmlns:a16="http://schemas.microsoft.com/office/drawing/2014/main" id="{E57EFB4A-F2FE-43EE-BC10-F1F9801CC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283967" y="1772816"/>
            <a:ext cx="4771463" cy="3888432"/>
          </a:xfrm>
          <a:prstGeom prst="rect">
            <a:avLst/>
          </a:prstGeom>
        </p:spPr>
      </p:pic>
    </p:spTree>
    <p:extLst>
      <p:ext uri="{BB962C8B-B14F-4D97-AF65-F5344CB8AC3E}">
        <p14:creationId xmlns:p14="http://schemas.microsoft.com/office/powerpoint/2010/main" val="310011039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內容版面配置區 1"/>
          <p:cNvSpPr>
            <a:spLocks noGrp="1"/>
          </p:cNvSpPr>
          <p:nvPr>
            <p:ph sz="quarter" idx="10"/>
          </p:nvPr>
        </p:nvSpPr>
        <p:spPr/>
        <p:txBody>
          <a:bodyPr/>
          <a:lstStyle/>
          <a:p>
            <a:r>
              <a:rPr lang="en-US" altLang="zh-TW" sz="2400" dirty="0"/>
              <a:t>NIST Risk Management Framework(RMF</a:t>
            </a:r>
            <a:r>
              <a:rPr lang="en-US" altLang="zh-TW" sz="2400" dirty="0" smtClean="0"/>
              <a:t>)</a:t>
            </a:r>
            <a:r>
              <a:rPr lang="zh-TW" altLang="en-US" sz="2400" dirty="0"/>
              <a:t>是美國國家標準與技術研究院（</a:t>
            </a:r>
            <a:r>
              <a:rPr lang="en-US" altLang="zh-TW" sz="2400" dirty="0"/>
              <a:t>NIST</a:t>
            </a:r>
            <a:r>
              <a:rPr lang="zh-TW" altLang="en-US" sz="2400" dirty="0"/>
              <a:t>）提出的資訊系統風險管理架構</a:t>
            </a:r>
            <a:r>
              <a:rPr lang="zh-TW" altLang="en-US" sz="2400" dirty="0" smtClean="0"/>
              <a:t>，深受全球敬重與採用</a:t>
            </a:r>
            <a:endParaRPr lang="zh-TW" altLang="en-US" sz="2400" dirty="0"/>
          </a:p>
          <a:p>
            <a:r>
              <a:rPr lang="zh-TW" altLang="en-US" sz="2400" dirty="0" smtClean="0"/>
              <a:t>其目主要是用於</a:t>
            </a:r>
            <a:r>
              <a:rPr lang="zh-TW" altLang="en-US" sz="2400" dirty="0"/>
              <a:t>確保資訊安全控制（</a:t>
            </a:r>
            <a:r>
              <a:rPr lang="en-US" altLang="zh-TW" sz="2400" dirty="0"/>
              <a:t>Security Controls</a:t>
            </a:r>
            <a:r>
              <a:rPr lang="zh-TW" altLang="en-US" sz="2400" dirty="0"/>
              <a:t>）能與組織任務與風險容忍度一致。</a:t>
            </a:r>
          </a:p>
          <a:p>
            <a:r>
              <a:rPr lang="zh-TW" altLang="en-US" dirty="0" smtClean="0"/>
              <a:t>其核心目標包括</a:t>
            </a:r>
            <a:r>
              <a:rPr lang="en-US" altLang="zh-TW" dirty="0" smtClean="0"/>
              <a:t>:</a:t>
            </a:r>
            <a:endParaRPr lang="zh-TW" altLang="en-US" dirty="0"/>
          </a:p>
          <a:p>
            <a:pPr lvl="1"/>
            <a:r>
              <a:rPr lang="zh-TW" altLang="en-US" dirty="0"/>
              <a:t>系統性地管理資訊與隱私風險。</a:t>
            </a:r>
          </a:p>
          <a:p>
            <a:pPr lvl="1"/>
            <a:r>
              <a:rPr lang="zh-TW" altLang="en-US" dirty="0"/>
              <a:t>將安全控制與組織任務與營運需求結合。</a:t>
            </a:r>
          </a:p>
          <a:p>
            <a:pPr lvl="1"/>
            <a:r>
              <a:rPr lang="zh-TW" altLang="en-US" dirty="0"/>
              <a:t>支援持續監控（</a:t>
            </a:r>
            <a:r>
              <a:rPr lang="en-US" altLang="zh-TW" dirty="0"/>
              <a:t>Continuous Monitoring</a:t>
            </a:r>
            <a:r>
              <a:rPr lang="zh-TW" altLang="en-US" dirty="0"/>
              <a:t>）與風險回饋機制。</a:t>
            </a:r>
          </a:p>
          <a:p>
            <a:endParaRPr lang="zh-TW" altLang="en-US" dirty="0"/>
          </a:p>
        </p:txBody>
      </p:sp>
      <p:sp>
        <p:nvSpPr>
          <p:cNvPr id="3" name="標題 2"/>
          <p:cNvSpPr>
            <a:spLocks noGrp="1"/>
          </p:cNvSpPr>
          <p:nvPr>
            <p:ph type="title"/>
          </p:nvPr>
        </p:nvSpPr>
        <p:spPr/>
        <p:txBody>
          <a:bodyPr/>
          <a:lstStyle/>
          <a:p>
            <a:r>
              <a:rPr lang="en-US" altLang="zh-TW" dirty="0"/>
              <a:t>NIST </a:t>
            </a:r>
            <a:r>
              <a:rPr lang="zh-TW" altLang="en-US" dirty="0" smtClean="0"/>
              <a:t>風險管理框架</a:t>
            </a:r>
            <a:r>
              <a:rPr lang="en-US" altLang="zh-TW" dirty="0" smtClean="0"/>
              <a:t>(1/7)</a:t>
            </a:r>
            <a:endParaRPr lang="zh-TW" altLang="en-US" dirty="0"/>
          </a:p>
        </p:txBody>
      </p:sp>
    </p:spTree>
    <p:extLst>
      <p:ext uri="{BB962C8B-B14F-4D97-AF65-F5344CB8AC3E}">
        <p14:creationId xmlns:p14="http://schemas.microsoft.com/office/powerpoint/2010/main" val="22762917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內容版面配置區 3"/>
          <p:cNvGraphicFramePr>
            <a:graphicFrameLocks noGrp="1"/>
          </p:cNvGraphicFramePr>
          <p:nvPr>
            <p:ph sz="quarter" idx="10"/>
            <p:extLst/>
          </p:nvPr>
        </p:nvGraphicFramePr>
        <p:xfrm>
          <a:off x="4355976" y="1314702"/>
          <a:ext cx="4536504" cy="4745504"/>
        </p:xfrm>
        <a:graphic>
          <a:graphicData uri="http://schemas.openxmlformats.org/drawingml/2006/table">
            <a:tbl>
              <a:tblPr/>
              <a:tblGrid>
                <a:gridCol w="1687462">
                  <a:extLst>
                    <a:ext uri="{9D8B030D-6E8A-4147-A177-3AD203B41FA5}">
                      <a16:colId xmlns:a16="http://schemas.microsoft.com/office/drawing/2014/main" val="2330494885"/>
                    </a:ext>
                  </a:extLst>
                </a:gridCol>
                <a:gridCol w="2849042">
                  <a:extLst>
                    <a:ext uri="{9D8B030D-6E8A-4147-A177-3AD203B41FA5}">
                      <a16:colId xmlns:a16="http://schemas.microsoft.com/office/drawing/2014/main" val="3741547284"/>
                    </a:ext>
                  </a:extLst>
                </a:gridCol>
              </a:tblGrid>
              <a:tr h="253331">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b="1" dirty="0">
                          <a:effectLst/>
                        </a:rPr>
                        <a:t>名稱</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b="1">
                          <a:effectLst/>
                        </a:rPr>
                        <a:t>主要目標</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96606125"/>
                  </a:ext>
                </a:extLst>
              </a:tr>
              <a:tr h="789798">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Prepare</a:t>
                      </a:r>
                    </a:p>
                    <a:p>
                      <a:pPr>
                        <a:buNone/>
                      </a:pPr>
                      <a:r>
                        <a:rPr lang="zh-TW" altLang="en-US" sz="1600" b="1" dirty="0" smtClean="0">
                          <a:effectLst/>
                        </a:rPr>
                        <a:t>準備</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建立組織風險管理策略與基礎架構</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241937467"/>
                  </a:ext>
                </a:extLst>
              </a:tr>
              <a:tr h="610975">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Categorize</a:t>
                      </a:r>
                    </a:p>
                    <a:p>
                      <a:pPr>
                        <a:buNone/>
                      </a:pPr>
                      <a:r>
                        <a:rPr lang="zh-TW" altLang="en-US" sz="1600" b="1" dirty="0" smtClean="0">
                          <a:effectLst/>
                        </a:rPr>
                        <a:t>分類</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smtClean="0">
                          <a:effectLst/>
                        </a:rPr>
                        <a:t>根據機密性、完整性或可用性喪失的潛在影響，對系統及其資訊進行分類</a:t>
                      </a:r>
                      <a:endParaRPr lang="zh-TW" altLang="en-US" sz="18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extLst>
                  <a:ext uri="{0D108BD9-81ED-4DB2-BD59-A6C34878D82A}">
                    <a16:rowId xmlns:a16="http://schemas.microsoft.com/office/drawing/2014/main" val="872290902"/>
                  </a:ext>
                </a:extLst>
              </a:tr>
              <a:tr h="610975">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Select</a:t>
                      </a:r>
                      <a:r>
                        <a:rPr lang="zh-TW" altLang="en-US" sz="1600" b="1" dirty="0" smtClean="0">
                          <a:effectLst/>
                        </a:rPr>
                        <a:t> 選擇</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根據分類選取安全</a:t>
                      </a:r>
                      <a:r>
                        <a:rPr lang="zh-TW" altLang="en-US" sz="1800" dirty="0" smtClean="0">
                          <a:effectLst/>
                        </a:rPr>
                        <a:t>控制</a:t>
                      </a:r>
                      <a:endParaRPr lang="en-US" altLang="zh-TW" sz="18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53212043"/>
                  </a:ext>
                </a:extLst>
              </a:tr>
              <a:tr h="432153">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Implement</a:t>
                      </a:r>
                      <a:r>
                        <a:rPr lang="zh-TW" altLang="en-US" sz="1600" b="1" dirty="0" smtClean="0">
                          <a:effectLst/>
                        </a:rPr>
                        <a:t>實作</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實作並文件化安全控制</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extLst>
                  <a:ext uri="{0D108BD9-81ED-4DB2-BD59-A6C34878D82A}">
                    <a16:rowId xmlns:a16="http://schemas.microsoft.com/office/drawing/2014/main" val="113754003"/>
                  </a:ext>
                </a:extLst>
              </a:tr>
              <a:tr h="610975">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Assess</a:t>
                      </a:r>
                      <a:r>
                        <a:rPr lang="zh-TW" altLang="en-US" sz="1600" b="1" dirty="0" smtClean="0">
                          <a:effectLst/>
                        </a:rPr>
                        <a:t>評鑑</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驗證控制項實施的有效性</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39642068"/>
                  </a:ext>
                </a:extLst>
              </a:tr>
              <a:tr h="432153">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Authorize</a:t>
                      </a:r>
                      <a:r>
                        <a:rPr lang="zh-TW" altLang="en-US" sz="1600" dirty="0" smtClean="0">
                          <a:effectLst/>
                        </a:rPr>
                        <a:t>授權</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授權系統正式運作</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6F8FA"/>
                    </a:solidFill>
                  </a:tcPr>
                </a:tc>
                <a:extLst>
                  <a:ext uri="{0D108BD9-81ED-4DB2-BD59-A6C34878D82A}">
                    <a16:rowId xmlns:a16="http://schemas.microsoft.com/office/drawing/2014/main" val="2318927144"/>
                  </a:ext>
                </a:extLst>
              </a:tr>
              <a:tr h="610975">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600" b="1" dirty="0" smtClean="0">
                          <a:effectLst/>
                        </a:rPr>
                        <a:t>Monitor</a:t>
                      </a:r>
                      <a:r>
                        <a:rPr lang="zh-TW" altLang="en-US" sz="1600" dirty="0" smtClean="0">
                          <a:effectLst/>
                        </a:rPr>
                        <a:t>監控</a:t>
                      </a:r>
                      <a:endParaRPr lang="en-US" sz="1600" dirty="0">
                        <a:effectLst/>
                      </a:endParaRP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effectLst/>
                        </a:rPr>
                        <a:t>持續監控控制項與風險狀態</a:t>
                      </a:r>
                    </a:p>
                  </a:txBody>
                  <a:tcPr marL="80718" marR="80718" marT="37255" marB="3725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49211149"/>
                  </a:ext>
                </a:extLst>
              </a:tr>
            </a:tbl>
          </a:graphicData>
        </a:graphic>
      </p:graphicFrame>
      <p:sp>
        <p:nvSpPr>
          <p:cNvPr id="3" name="標題 2"/>
          <p:cNvSpPr>
            <a:spLocks noGrp="1"/>
          </p:cNvSpPr>
          <p:nvPr>
            <p:ph type="title"/>
          </p:nvPr>
        </p:nvSpPr>
        <p:spPr/>
        <p:txBody>
          <a:bodyPr/>
          <a:lstStyle/>
          <a:p>
            <a:r>
              <a:rPr lang="en-US" altLang="zh-TW" dirty="0"/>
              <a:t>NIST </a:t>
            </a:r>
            <a:r>
              <a:rPr lang="zh-TW" altLang="en-US" dirty="0" smtClean="0"/>
              <a:t>風險管理框架</a:t>
            </a:r>
            <a:r>
              <a:rPr lang="en-US" altLang="zh-TW" dirty="0" smtClean="0"/>
              <a:t>(2/7)</a:t>
            </a:r>
            <a:endParaRPr lang="zh-TW" altLang="en-US" dirty="0"/>
          </a:p>
        </p:txBody>
      </p:sp>
      <p:pic>
        <p:nvPicPr>
          <p:cNvPr id="5" name="圖片 4"/>
          <p:cNvPicPr>
            <a:picLocks noChangeAspect="1"/>
          </p:cNvPicPr>
          <p:nvPr/>
        </p:nvPicPr>
        <p:blipFill>
          <a:blip r:embed="rId3"/>
          <a:stretch>
            <a:fillRect/>
          </a:stretch>
        </p:blipFill>
        <p:spPr>
          <a:xfrm>
            <a:off x="107504" y="3118163"/>
            <a:ext cx="4078281" cy="2942043"/>
          </a:xfrm>
          <a:prstGeom prst="rect">
            <a:avLst/>
          </a:prstGeom>
        </p:spPr>
      </p:pic>
      <p:sp>
        <p:nvSpPr>
          <p:cNvPr id="6" name="矩形 5"/>
          <p:cNvSpPr/>
          <p:nvPr/>
        </p:nvSpPr>
        <p:spPr>
          <a:xfrm>
            <a:off x="240858" y="1003543"/>
            <a:ext cx="4043109" cy="2031325"/>
          </a:xfrm>
          <a:prstGeom prst="rect">
            <a:avLst/>
          </a:prstGeom>
        </p:spPr>
        <p:txBody>
          <a:bodyPr wrap="square">
            <a:spAutoFit/>
          </a:bodyPr>
          <a:lstStyle/>
          <a:p>
            <a:pPr marL="285750" indent="-285750">
              <a:buFont typeface="Arial" panose="020B0604020202020204" pitchFamily="34" charset="0"/>
              <a:buChar char="•"/>
            </a:pPr>
            <a:r>
              <a:rPr lang="en-US" altLang="zh-TW" dirty="0"/>
              <a:t>RMF </a:t>
            </a:r>
            <a:r>
              <a:rPr lang="zh-TW" altLang="en-US" dirty="0" smtClean="0"/>
              <a:t>是美國聯邦</a:t>
            </a:r>
            <a:r>
              <a:rPr lang="zh-TW" altLang="en-US" dirty="0"/>
              <a:t>機構的強制性規定，但也可以</a:t>
            </a:r>
            <a:r>
              <a:rPr lang="zh-TW" altLang="en-US" dirty="0" smtClean="0"/>
              <a:t>被其他單位如非</a:t>
            </a:r>
            <a:r>
              <a:rPr lang="zh-TW" altLang="en-US" dirty="0"/>
              <a:t>聯邦組織（包括私營部門實體）採用，以有效管理網路安全和隱私風險</a:t>
            </a:r>
            <a:r>
              <a:rPr lang="zh-TW" altLang="en-US" dirty="0" smtClean="0"/>
              <a:t>。</a:t>
            </a:r>
            <a:endParaRPr lang="en-US" altLang="zh-TW" dirty="0" smtClean="0"/>
          </a:p>
          <a:p>
            <a:pPr marL="285750" indent="-285750">
              <a:buFont typeface="Arial" panose="020B0604020202020204" pitchFamily="34" charset="0"/>
              <a:buChar char="•"/>
            </a:pPr>
            <a:r>
              <a:rPr lang="zh-TW" altLang="en-US" dirty="0" smtClean="0"/>
              <a:t>它</a:t>
            </a:r>
            <a:r>
              <a:rPr lang="zh-TW" altLang="en-US" dirty="0"/>
              <a:t>與 </a:t>
            </a:r>
            <a:r>
              <a:rPr lang="en-US" altLang="zh-TW" dirty="0"/>
              <a:t>NIST </a:t>
            </a:r>
            <a:r>
              <a:rPr lang="zh-TW" altLang="en-US" dirty="0"/>
              <a:t>網路安全框架 （</a:t>
            </a:r>
            <a:r>
              <a:rPr lang="en-US" altLang="zh-TW" dirty="0"/>
              <a:t>CSF</a:t>
            </a:r>
            <a:r>
              <a:rPr lang="zh-TW" altLang="en-US" dirty="0"/>
              <a:t>） 保持一致，使組織能夠整合這兩個框架以進行全面的風險管理</a:t>
            </a:r>
          </a:p>
        </p:txBody>
      </p:sp>
    </p:spTree>
    <p:extLst>
      <p:ext uri="{BB962C8B-B14F-4D97-AF65-F5344CB8AC3E}">
        <p14:creationId xmlns:p14="http://schemas.microsoft.com/office/powerpoint/2010/main" val="143324279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85580" y="1018075"/>
            <a:ext cx="3954372" cy="1015663"/>
          </a:xfrm>
          <a:prstGeom prst="rect">
            <a:avLst/>
          </a:prstGeom>
          <a:ln w="12700">
            <a:solidFill>
              <a:schemeClr val="tx1"/>
            </a:solidFill>
          </a:ln>
        </p:spPr>
        <p:txBody>
          <a:bodyPr wrap="square">
            <a:spAutoFit/>
          </a:bodyPr>
          <a:lstStyle/>
          <a:p>
            <a:r>
              <a:rPr lang="zh-TW" altLang="en-US" sz="2400" dirty="0" smtClean="0">
                <a:effectLst>
                  <a:outerShdw blurRad="38100" dist="38100" dir="2700000" algn="tl">
                    <a:srgbClr val="000000">
                      <a:alpha val="43137"/>
                    </a:srgbClr>
                  </a:outerShdw>
                </a:effectLst>
              </a:rPr>
              <a:t>準備</a:t>
            </a:r>
            <a:r>
              <a:rPr lang="en-US" altLang="zh-TW" sz="2400" dirty="0" smtClean="0">
                <a:effectLst>
                  <a:outerShdw blurRad="38100" dist="38100" dir="2700000" algn="tl">
                    <a:srgbClr val="000000">
                      <a:alpha val="43137"/>
                    </a:srgbClr>
                  </a:outerShdw>
                </a:effectLst>
              </a:rPr>
              <a:t>(Prepare) </a:t>
            </a:r>
            <a:r>
              <a:rPr lang="zh-TW" altLang="en-US" sz="2400" dirty="0" smtClean="0">
                <a:effectLst>
                  <a:outerShdw blurRad="38100" dist="38100" dir="2700000" algn="tl">
                    <a:srgbClr val="000000">
                      <a:alpha val="43137"/>
                    </a:srgbClr>
                  </a:outerShdw>
                </a:effectLst>
              </a:rPr>
              <a:t>階段</a:t>
            </a:r>
            <a:r>
              <a:rPr lang="en-US" altLang="zh-TW" sz="2400" dirty="0" smtClean="0"/>
              <a:t>:</a:t>
            </a:r>
          </a:p>
          <a:p>
            <a:r>
              <a:rPr lang="zh-TW" altLang="en-US" dirty="0" smtClean="0"/>
              <a:t>目的</a:t>
            </a:r>
            <a:r>
              <a:rPr lang="en-US" altLang="zh-TW" dirty="0"/>
              <a:t>:</a:t>
            </a:r>
            <a:r>
              <a:rPr lang="zh-TW" altLang="en-US" dirty="0"/>
              <a:t>建立執行 </a:t>
            </a:r>
            <a:r>
              <a:rPr lang="en-US" altLang="zh-TW" dirty="0"/>
              <a:t>RMF </a:t>
            </a:r>
            <a:r>
              <a:rPr lang="zh-TW" altLang="en-US" dirty="0"/>
              <a:t>所需的組織基礎、策略、角色與控制結構</a:t>
            </a:r>
            <a:r>
              <a:rPr lang="zh-TW" altLang="en-US" dirty="0" smtClean="0"/>
              <a:t>。</a:t>
            </a:r>
            <a:endParaRPr lang="zh-TW" altLang="en-US" dirty="0"/>
          </a:p>
        </p:txBody>
      </p:sp>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(3/7)</a:t>
            </a:r>
            <a:endParaRPr lang="zh-TW" altLang="en-US" kern="0" dirty="0"/>
          </a:p>
        </p:txBody>
      </p:sp>
      <p:graphicFrame>
        <p:nvGraphicFramePr>
          <p:cNvPr id="7" name="表格 6"/>
          <p:cNvGraphicFramePr>
            <a:graphicFrameLocks noGrp="1"/>
          </p:cNvGraphicFramePr>
          <p:nvPr>
            <p:extLst/>
          </p:nvPr>
        </p:nvGraphicFramePr>
        <p:xfrm>
          <a:off x="186408" y="2204864"/>
          <a:ext cx="8346032" cy="4418595"/>
        </p:xfrm>
        <a:graphic>
          <a:graphicData uri="http://schemas.openxmlformats.org/drawingml/2006/table">
            <a:tbl>
              <a:tblPr/>
              <a:tblGrid>
                <a:gridCol w="1345685">
                  <a:extLst>
                    <a:ext uri="{9D8B030D-6E8A-4147-A177-3AD203B41FA5}">
                      <a16:colId xmlns:a16="http://schemas.microsoft.com/office/drawing/2014/main" val="1807205257"/>
                    </a:ext>
                  </a:extLst>
                </a:gridCol>
                <a:gridCol w="2868706">
                  <a:extLst>
                    <a:ext uri="{9D8B030D-6E8A-4147-A177-3AD203B41FA5}">
                      <a16:colId xmlns:a16="http://schemas.microsoft.com/office/drawing/2014/main" val="3248768558"/>
                    </a:ext>
                  </a:extLst>
                </a:gridCol>
                <a:gridCol w="4131641">
                  <a:extLst>
                    <a:ext uri="{9D8B030D-6E8A-4147-A177-3AD203B41FA5}">
                      <a16:colId xmlns:a16="http://schemas.microsoft.com/office/drawing/2014/main" val="957772202"/>
                    </a:ext>
                  </a:extLst>
                </a:gridCol>
              </a:tblGrid>
              <a:tr h="387837">
                <a:tc>
                  <a:txBody>
                    <a:bodyPr/>
                    <a:lstStyle/>
                    <a:p>
                      <a:pPr algn="ctr">
                        <a:buNone/>
                      </a:pPr>
                      <a:r>
                        <a:rPr lang="zh-TW" altLang="en-US" sz="1600" b="1" dirty="0">
                          <a:effectLst/>
                        </a:rPr>
                        <a:t>任務代碼</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b="1" dirty="0">
                          <a:effectLst/>
                        </a:rPr>
                        <a:t>任務名稱</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b="1">
                          <a:effectLst/>
                        </a:rPr>
                        <a:t>成果（</a:t>
                      </a:r>
                      <a:r>
                        <a:rPr lang="en-US" sz="1600" b="1">
                          <a:effectLst/>
                        </a:rPr>
                        <a:t>Outcomes）</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8484992"/>
                  </a:ext>
                </a:extLst>
              </a:tr>
              <a:tr h="841889">
                <a:tc>
                  <a:txBody>
                    <a:bodyPr/>
                    <a:lstStyle/>
                    <a:p>
                      <a:pPr algn="ctr">
                        <a:buNone/>
                      </a:pPr>
                      <a:r>
                        <a:rPr lang="en-US" sz="1600" b="1" dirty="0">
                          <a:effectLst/>
                        </a:rPr>
                        <a:t>TASK P-1</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風險管理</a:t>
                      </a:r>
                      <a:r>
                        <a:rPr lang="zh-TW" altLang="en-US" sz="1600" dirty="0" smtClean="0">
                          <a:effectLst/>
                        </a:rPr>
                        <a:t>角色</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 指派關鍵 </a:t>
                      </a:r>
                      <a:r>
                        <a:rPr lang="en-US" sz="1600" dirty="0">
                          <a:effectLst/>
                        </a:rPr>
                        <a:t>RMF </a:t>
                      </a:r>
                      <a:r>
                        <a:rPr lang="zh-TW" altLang="en-US" sz="1600" dirty="0">
                          <a:effectLst/>
                        </a:rPr>
                        <a:t>角色（</a:t>
                      </a:r>
                      <a:r>
                        <a:rPr lang="en-US" sz="1600" dirty="0" err="1">
                          <a:effectLst/>
                        </a:rPr>
                        <a:t>AO、CISO、ISSO、System</a:t>
                      </a:r>
                      <a:r>
                        <a:rPr lang="en-US" sz="1600" dirty="0">
                          <a:effectLst/>
                        </a:rPr>
                        <a:t> Owner </a:t>
                      </a:r>
                      <a:r>
                        <a:rPr lang="zh-TW" altLang="en-US" sz="1600" dirty="0">
                          <a:effectLst/>
                        </a:rPr>
                        <a:t>等）。</a:t>
                      </a:r>
                      <a:br>
                        <a:rPr lang="zh-TW" altLang="en-US" sz="1600" dirty="0">
                          <a:effectLst/>
                        </a:rPr>
                      </a:br>
                      <a:r>
                        <a:rPr lang="zh-TW" altLang="en-US" sz="1600" dirty="0">
                          <a:effectLst/>
                        </a:rPr>
                        <a:t>● 文件化責任與權限。</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23528736"/>
                  </a:ext>
                </a:extLst>
              </a:tr>
              <a:tr h="501350">
                <a:tc>
                  <a:txBody>
                    <a:bodyPr/>
                    <a:lstStyle/>
                    <a:p>
                      <a:pPr algn="ctr">
                        <a:buNone/>
                      </a:pPr>
                      <a:r>
                        <a:rPr lang="en-US" sz="1600" b="1">
                          <a:effectLst/>
                        </a:rPr>
                        <a:t>TASK P-2</a:t>
                      </a:r>
                      <a:endParaRPr lang="en-US" sz="160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風險管理</a:t>
                      </a:r>
                      <a:r>
                        <a:rPr lang="zh-TW" altLang="en-US" sz="1600" dirty="0" smtClean="0">
                          <a:effectLst/>
                        </a:rPr>
                        <a:t>策略</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 建立組織層級風險策略，包含風險容忍度與表達方式。</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1817777342"/>
                  </a:ext>
                </a:extLst>
              </a:tr>
              <a:tr h="614863">
                <a:tc>
                  <a:txBody>
                    <a:bodyPr/>
                    <a:lstStyle/>
                    <a:p>
                      <a:pPr algn="ctr">
                        <a:buNone/>
                      </a:pPr>
                      <a:r>
                        <a:rPr lang="en-US" sz="1600" b="1">
                          <a:effectLst/>
                        </a:rPr>
                        <a:t>TASK P-3</a:t>
                      </a:r>
                      <a:endParaRPr lang="en-US" sz="160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組織層級風險</a:t>
                      </a:r>
                      <a:r>
                        <a:rPr lang="zh-TW" altLang="en-US" sz="1600" dirty="0" smtClean="0">
                          <a:effectLst/>
                        </a:rPr>
                        <a:t>評鑑</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 進行組織層級風險評估或更新。</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2273441"/>
                  </a:ext>
                </a:extLst>
              </a:tr>
              <a:tr h="501350">
                <a:tc>
                  <a:txBody>
                    <a:bodyPr/>
                    <a:lstStyle/>
                    <a:p>
                      <a:pPr algn="ctr">
                        <a:buNone/>
                      </a:pPr>
                      <a:r>
                        <a:rPr lang="en-US" sz="1600" b="1">
                          <a:effectLst/>
                        </a:rPr>
                        <a:t>TASK P-4</a:t>
                      </a:r>
                      <a:endParaRPr lang="en-US" sz="160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組織</a:t>
                      </a:r>
                      <a:r>
                        <a:rPr lang="zh-TW" altLang="en-US" sz="1600" dirty="0" smtClean="0">
                          <a:effectLst/>
                        </a:rPr>
                        <a:t>化安全控制基準（</a:t>
                      </a:r>
                      <a:r>
                        <a:rPr lang="zh-TW" altLang="en-US" sz="1600" dirty="0">
                          <a:effectLst/>
                        </a:rPr>
                        <a:t>選用</a:t>
                      </a:r>
                      <a:r>
                        <a:rPr lang="zh-TW" altLang="en-US" sz="1600" dirty="0" smtClean="0">
                          <a:effectLst/>
                        </a:rPr>
                        <a:t>）</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 建立客製化控制基線</a:t>
                      </a:r>
                      <a:r>
                        <a:rPr lang="zh-TW" altLang="en-US" sz="1600" dirty="0" smtClean="0">
                          <a:effectLst/>
                        </a:rPr>
                        <a:t>與框架</a:t>
                      </a:r>
                      <a:r>
                        <a:rPr lang="en-US" sz="1600" dirty="0" smtClean="0">
                          <a:effectLst/>
                        </a:rPr>
                        <a:t>。</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1656330404"/>
                  </a:ext>
                </a:extLst>
              </a:tr>
              <a:tr h="501350">
                <a:tc>
                  <a:txBody>
                    <a:bodyPr/>
                    <a:lstStyle/>
                    <a:p>
                      <a:pPr algn="ctr">
                        <a:buNone/>
                      </a:pPr>
                      <a:r>
                        <a:rPr lang="en-US" sz="1600" b="1">
                          <a:effectLst/>
                        </a:rPr>
                        <a:t>TASK P-5</a:t>
                      </a:r>
                      <a:endParaRPr lang="en-US" sz="160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共同</a:t>
                      </a:r>
                      <a:r>
                        <a:rPr lang="zh-TW" altLang="en-US" sz="1600" dirty="0" smtClean="0">
                          <a:effectLst/>
                        </a:rPr>
                        <a:t>控制的識別</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 識別共用控制項與繼承範圍。</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840708128"/>
                  </a:ext>
                </a:extLst>
              </a:tr>
              <a:tr h="501350">
                <a:tc>
                  <a:txBody>
                    <a:bodyPr/>
                    <a:lstStyle/>
                    <a:p>
                      <a:pPr algn="ctr">
                        <a:buNone/>
                      </a:pPr>
                      <a:r>
                        <a:rPr lang="en-US" sz="1600" b="1">
                          <a:effectLst/>
                        </a:rPr>
                        <a:t>TASK P-6</a:t>
                      </a:r>
                      <a:endParaRPr lang="en-US" sz="160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影響層級優先排序（選用</a:t>
                      </a:r>
                      <a:r>
                        <a:rPr lang="zh-TW" altLang="en-US" sz="1600" dirty="0" smtClean="0">
                          <a:effectLst/>
                        </a:rPr>
                        <a:t>）</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tc>
                  <a:txBody>
                    <a:bodyPr/>
                    <a:lstStyle/>
                    <a:p>
                      <a:pPr algn="l">
                        <a:buNone/>
                      </a:pPr>
                      <a:r>
                        <a:rPr lang="zh-TW" altLang="en-US" sz="1600" dirty="0">
                          <a:effectLst/>
                        </a:rPr>
                        <a:t>● 對相同影響層級系統進行優先排序。</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6F8FA"/>
                    </a:solidFill>
                  </a:tcPr>
                </a:tc>
                <a:extLst>
                  <a:ext uri="{0D108BD9-81ED-4DB2-BD59-A6C34878D82A}">
                    <a16:rowId xmlns:a16="http://schemas.microsoft.com/office/drawing/2014/main" val="1569778193"/>
                  </a:ext>
                </a:extLst>
              </a:tr>
              <a:tr h="501350">
                <a:tc>
                  <a:txBody>
                    <a:bodyPr/>
                    <a:lstStyle/>
                    <a:p>
                      <a:pPr algn="ctr">
                        <a:buNone/>
                      </a:pPr>
                      <a:r>
                        <a:rPr lang="en-US" sz="1600" b="1" dirty="0">
                          <a:effectLst/>
                        </a:rPr>
                        <a:t>TASK P-7</a:t>
                      </a: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持續監控策略</a:t>
                      </a:r>
                      <a:br>
                        <a:rPr lang="zh-TW" altLang="en-US" sz="1600" dirty="0">
                          <a:effectLst/>
                        </a:rPr>
                      </a:br>
                      <a:endParaRPr lang="en-US" sz="1600" dirty="0">
                        <a:effectLst/>
                      </a:endParaRP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l">
                        <a:buNone/>
                      </a:pPr>
                      <a:r>
                        <a:rPr lang="zh-TW" altLang="en-US" sz="1600" dirty="0">
                          <a:effectLst/>
                        </a:rPr>
                        <a:t>● 建立組織層級的監控策略與回報流程。</a:t>
                      </a:r>
                    </a:p>
                  </a:txBody>
                  <a:tcPr marL="51239" marR="51239" marT="23649" marB="23649"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510271051"/>
                  </a:ext>
                </a:extLst>
              </a:tr>
            </a:tbl>
          </a:graphicData>
        </a:graphic>
      </p:graphicFrame>
      <p:sp>
        <p:nvSpPr>
          <p:cNvPr id="8" name="矩形 7"/>
          <p:cNvSpPr/>
          <p:nvPr/>
        </p:nvSpPr>
        <p:spPr>
          <a:xfrm>
            <a:off x="4292211" y="1052345"/>
            <a:ext cx="4219952" cy="923330"/>
          </a:xfrm>
          <a:prstGeom prst="rect">
            <a:avLst/>
          </a:prstGeom>
          <a:ln w="12700">
            <a:solidFill>
              <a:schemeClr val="tx1"/>
            </a:solidFill>
          </a:ln>
        </p:spPr>
        <p:txBody>
          <a:bodyPr wrap="square">
            <a:spAutoFit/>
          </a:bodyPr>
          <a:lstStyle/>
          <a:p>
            <a:r>
              <a:rPr lang="zh-TW" altLang="en-US" dirty="0"/>
              <a:t>包括兩個層級：</a:t>
            </a:r>
          </a:p>
          <a:p>
            <a:r>
              <a:rPr lang="zh-TW" altLang="en-US" dirty="0"/>
              <a:t>組織層級：建立治理架構與風險策略</a:t>
            </a:r>
          </a:p>
          <a:p>
            <a:r>
              <a:rPr lang="zh-TW" altLang="en-US" dirty="0"/>
              <a:t>系統層級：界定系統範圍與</a:t>
            </a:r>
            <a:r>
              <a:rPr lang="zh-TW" altLang="en-US" dirty="0" smtClean="0"/>
              <a:t>利害關</a:t>
            </a:r>
            <a:r>
              <a:rPr lang="zh-TW" altLang="en-US" dirty="0"/>
              <a:t>係</a:t>
            </a:r>
            <a:r>
              <a:rPr lang="zh-TW" altLang="en-US" dirty="0" smtClean="0"/>
              <a:t>人</a:t>
            </a:r>
            <a:endParaRPr lang="zh-TW" altLang="en-US" dirty="0"/>
          </a:p>
        </p:txBody>
      </p:sp>
    </p:spTree>
    <p:extLst>
      <p:ext uri="{BB962C8B-B14F-4D97-AF65-F5344CB8AC3E}">
        <p14:creationId xmlns:p14="http://schemas.microsoft.com/office/powerpoint/2010/main" val="375473165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(4/7)</a:t>
            </a:r>
            <a:endParaRPr lang="zh-TW" altLang="en-US" kern="0" dirty="0"/>
          </a:p>
        </p:txBody>
      </p:sp>
      <p:sp>
        <p:nvSpPr>
          <p:cNvPr id="2" name="矩形 1"/>
          <p:cNvSpPr/>
          <p:nvPr/>
        </p:nvSpPr>
        <p:spPr>
          <a:xfrm>
            <a:off x="179512" y="1125983"/>
            <a:ext cx="8568952" cy="1661993"/>
          </a:xfrm>
          <a:prstGeom prst="rect">
            <a:avLst/>
          </a:prstGeom>
          <a:ln w="12700">
            <a:solidFill>
              <a:schemeClr val="tx1"/>
            </a:solidFill>
          </a:ln>
        </p:spPr>
        <p:txBody>
          <a:bodyPr wrap="square">
            <a:spAutoFit/>
          </a:bodyPr>
          <a:lstStyle/>
          <a:p>
            <a:r>
              <a:rPr lang="en-US" altLang="zh-TW" dirty="0"/>
              <a:t>Categorize</a:t>
            </a:r>
            <a:r>
              <a:rPr lang="zh-TW" altLang="en-US" dirty="0"/>
              <a:t>（分類） </a:t>
            </a:r>
            <a:r>
              <a:rPr lang="zh-TW" altLang="en-US" dirty="0" smtClean="0"/>
              <a:t>階段</a:t>
            </a:r>
            <a:endParaRPr lang="en-US" altLang="zh-TW" dirty="0" smtClean="0"/>
          </a:p>
          <a:p>
            <a:endParaRPr lang="en-US" altLang="zh-TW" sz="1200" dirty="0" smtClean="0"/>
          </a:p>
          <a:p>
            <a:pPr marL="285750" indent="-285750">
              <a:buFont typeface="Wingdings" panose="05000000000000000000" pitchFamily="2" charset="2"/>
              <a:buChar char="ü"/>
            </a:pPr>
            <a:r>
              <a:rPr lang="zh-TW" altLang="en-US" dirty="0" smtClean="0"/>
              <a:t>透過</a:t>
            </a:r>
            <a:r>
              <a:rPr lang="zh-TW" altLang="en-US" dirty="0"/>
              <a:t>判定對組織運作與資產、個人、其他組織及國家，因機密</a:t>
            </a:r>
            <a:r>
              <a:rPr lang="zh-TW" altLang="en-US" dirty="0" smtClean="0"/>
              <a:t>性</a:t>
            </a:r>
            <a:r>
              <a:rPr lang="zh-TW" altLang="en-US" dirty="0" smtClean="0">
                <a:latin typeface="PMingLiU" panose="02020500000000000000" pitchFamily="18" charset="-120"/>
                <a:ea typeface="PMingLiU" panose="02020500000000000000" pitchFamily="18" charset="-120"/>
              </a:rPr>
              <a:t>、</a:t>
            </a:r>
            <a:r>
              <a:rPr lang="zh-TW" altLang="en-US" dirty="0" smtClean="0"/>
              <a:t>完整性與可用性喪失</a:t>
            </a:r>
            <a:r>
              <a:rPr lang="zh-TW" altLang="en-US" dirty="0"/>
              <a:t>所造成的不利影響，來支援並引導組織的風險管理流程與任務</a:t>
            </a:r>
            <a:r>
              <a:rPr lang="zh-TW" altLang="en-US" dirty="0" smtClean="0"/>
              <a:t>。</a:t>
            </a:r>
            <a:endParaRPr lang="en-US" altLang="zh-TW" dirty="0" smtClean="0"/>
          </a:p>
          <a:p>
            <a:pPr marL="285750" indent="-285750">
              <a:buFont typeface="Wingdings" panose="05000000000000000000" pitchFamily="2" charset="2"/>
              <a:buChar char="ü"/>
            </a:pPr>
            <a:r>
              <a:rPr lang="zh-TW" altLang="en-US" dirty="0" smtClean="0"/>
              <a:t>這一</a:t>
            </a:r>
            <a:r>
              <a:rPr lang="zh-TW" altLang="en-US" dirty="0"/>
              <a:t>階段旨在幫助組織了解其系統與所處理、儲存及傳輸的資訊之安全層級與重要性。</a:t>
            </a:r>
          </a:p>
        </p:txBody>
      </p:sp>
      <p:graphicFrame>
        <p:nvGraphicFramePr>
          <p:cNvPr id="3" name="表格 2"/>
          <p:cNvGraphicFramePr>
            <a:graphicFrameLocks noGrp="1"/>
          </p:cNvGraphicFramePr>
          <p:nvPr>
            <p:extLst/>
          </p:nvPr>
        </p:nvGraphicFramePr>
        <p:xfrm>
          <a:off x="179512" y="3068960"/>
          <a:ext cx="8626871" cy="3486364"/>
        </p:xfrm>
        <a:graphic>
          <a:graphicData uri="http://schemas.openxmlformats.org/drawingml/2006/table">
            <a:tbl>
              <a:tblPr/>
              <a:tblGrid>
                <a:gridCol w="2525644">
                  <a:extLst>
                    <a:ext uri="{9D8B030D-6E8A-4147-A177-3AD203B41FA5}">
                      <a16:colId xmlns:a16="http://schemas.microsoft.com/office/drawing/2014/main" val="49670577"/>
                    </a:ext>
                  </a:extLst>
                </a:gridCol>
                <a:gridCol w="6101227">
                  <a:extLst>
                    <a:ext uri="{9D8B030D-6E8A-4147-A177-3AD203B41FA5}">
                      <a16:colId xmlns:a16="http://schemas.microsoft.com/office/drawing/2014/main" val="2594047822"/>
                    </a:ext>
                  </a:extLst>
                </a:gridCol>
              </a:tblGrid>
              <a:tr h="271959">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t>任務 </a:t>
                      </a:r>
                      <a:r>
                        <a:rPr lang="en-US" altLang="zh-TW" sz="1800" dirty="0"/>
                        <a:t>(</a:t>
                      </a:r>
                      <a:r>
                        <a:rPr lang="en-US" sz="1800" dirty="0"/>
                        <a:t>Tasks)</a:t>
                      </a:r>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a:t>成果 </a:t>
                      </a:r>
                      <a:r>
                        <a:rPr lang="en-US" altLang="zh-TW" sz="1800"/>
                        <a:t>(</a:t>
                      </a:r>
                      <a:r>
                        <a:rPr lang="en-US" sz="1800"/>
                        <a:t>Outcomes)</a:t>
                      </a:r>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2548927"/>
                  </a:ext>
                </a:extLst>
              </a:tr>
              <a:tr h="475928">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C-1</a:t>
                      </a:r>
                      <a:r>
                        <a:rPr lang="en-US" altLang="zh-TW" sz="1800" b="1" dirty="0" smtClean="0"/>
                        <a:t>:</a:t>
                      </a:r>
                      <a:r>
                        <a:rPr lang="zh-TW" altLang="en-US" sz="1800" b="1" dirty="0" smtClean="0"/>
                        <a:t>系統描述</a:t>
                      </a:r>
                      <a:endParaRPr lang="en-US" sz="1800" dirty="0"/>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smtClean="0"/>
                        <a:t>描述</a:t>
                      </a:r>
                      <a:r>
                        <a:rPr lang="zh-TW" altLang="en-US" sz="1800" dirty="0"/>
                        <a:t>並記錄系統的特性</a:t>
                      </a:r>
                      <a:r>
                        <a:rPr lang="zh-TW" altLang="en-US" sz="1800" dirty="0" smtClean="0"/>
                        <a:t>。</a:t>
                      </a:r>
                      <a:endParaRPr lang="en-US" sz="1800" dirty="0"/>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4812053"/>
                  </a:ext>
                </a:extLst>
              </a:tr>
              <a:tr h="1665979">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C-2</a:t>
                      </a:r>
                      <a:r>
                        <a:rPr lang="en-US" altLang="zh-TW" sz="1800" b="1" dirty="0" smtClean="0"/>
                        <a:t>:</a:t>
                      </a:r>
                      <a:r>
                        <a:rPr lang="zh-TW" altLang="en-US" sz="1800" b="1" dirty="0" smtClean="0"/>
                        <a:t>安全</a:t>
                      </a:r>
                      <a:r>
                        <a:rPr lang="zh-TW" altLang="en-US" sz="1800" b="1" dirty="0"/>
                        <a:t>分類</a:t>
                      </a:r>
                      <a:r>
                        <a:rPr lang="en-US" altLang="zh-TW" sz="1800" b="1" dirty="0"/>
                        <a:t>(</a:t>
                      </a:r>
                      <a:r>
                        <a:rPr lang="en-US" sz="1800" b="1" dirty="0"/>
                        <a:t>SECURITY CATEGORIZATION</a:t>
                      </a:r>
                      <a:r>
                        <a:rPr lang="en-US" altLang="zh-TW" sz="1800" b="1" dirty="0"/>
                        <a:t>)</a:t>
                      </a:r>
                      <a:endParaRPr lang="en-US" sz="1800" dirty="0"/>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342900" indent="-342900">
                        <a:buFont typeface="+mj-lt"/>
                        <a:buAutoNum type="arabicPeriod"/>
                      </a:pPr>
                      <a:r>
                        <a:rPr lang="zh-TW" altLang="en-US" sz="1800" dirty="0" smtClean="0"/>
                        <a:t>完成</a:t>
                      </a:r>
                      <a:r>
                        <a:rPr lang="zh-TW" altLang="en-US" sz="1800" dirty="0"/>
                        <a:t>系統的安全分類，包括依據組織所識別的資訊類型，對系統處理的資訊進行分類</a:t>
                      </a:r>
                      <a:r>
                        <a:rPr lang="zh-TW" altLang="en-US" sz="1800" dirty="0" smtClean="0"/>
                        <a:t>。</a:t>
                      </a:r>
                      <a:endParaRPr lang="en-US" altLang="zh-TW" sz="1800" dirty="0" smtClean="0"/>
                    </a:p>
                    <a:p>
                      <a:pPr marL="342900" indent="-342900">
                        <a:buFont typeface="+mj-lt"/>
                        <a:buAutoNum type="arabicPeriod"/>
                      </a:pPr>
                      <a:r>
                        <a:rPr lang="zh-TW" altLang="en-US" sz="1800" dirty="0" smtClean="0"/>
                        <a:t>安全</a:t>
                      </a:r>
                      <a:r>
                        <a:rPr lang="zh-TW" altLang="en-US" sz="1800" dirty="0"/>
                        <a:t>分類的結果記錄於安全、隱私與供應鏈風險管理（</a:t>
                      </a:r>
                      <a:r>
                        <a:rPr lang="en-US" altLang="zh-TW" sz="1800" dirty="0"/>
                        <a:t>SCRM</a:t>
                      </a:r>
                      <a:r>
                        <a:rPr lang="zh-TW" altLang="en-US" sz="1800" dirty="0"/>
                        <a:t>）計畫中</a:t>
                      </a:r>
                      <a:r>
                        <a:rPr lang="zh-TW" altLang="en-US" sz="1800" dirty="0" smtClean="0"/>
                        <a:t>。</a:t>
                      </a:r>
                      <a:endParaRPr lang="en-US" altLang="zh-TW" sz="1800" dirty="0" smtClean="0"/>
                    </a:p>
                    <a:p>
                      <a:pPr marL="342900" indent="-342900">
                        <a:buFont typeface="+mj-lt"/>
                        <a:buAutoNum type="arabicPeriod"/>
                      </a:pPr>
                      <a:r>
                        <a:rPr lang="zh-TW" altLang="en-US" sz="1800" dirty="0" smtClean="0"/>
                        <a:t>安全</a:t>
                      </a:r>
                      <a:r>
                        <a:rPr lang="zh-TW" altLang="en-US" sz="1800" dirty="0"/>
                        <a:t>分類結果需與企業架構一致，並展現對組織任務、業務功能及任務／業務流程之保護承諾</a:t>
                      </a:r>
                      <a:r>
                        <a:rPr lang="zh-TW" altLang="en-US" sz="1800" dirty="0" smtClean="0"/>
                        <a:t>。</a:t>
                      </a:r>
                      <a:r>
                        <a:rPr lang="en-US" altLang="zh-TW" sz="1800" dirty="0" smtClean="0"/>
                        <a:t>• </a:t>
                      </a:r>
                      <a:r>
                        <a:rPr lang="zh-TW" altLang="en-US" sz="1800" dirty="0"/>
                        <a:t>安全分類結果需反映組織的風險管理策略。</a:t>
                      </a:r>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94879527"/>
                  </a:ext>
                </a:extLst>
              </a:tr>
              <a:tr h="679896">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C-3</a:t>
                      </a:r>
                      <a:r>
                        <a:rPr lang="en-US" altLang="zh-TW" sz="1800" b="1" dirty="0" smtClean="0"/>
                        <a:t>:</a:t>
                      </a:r>
                      <a:r>
                        <a:rPr lang="zh-TW" altLang="en-US" sz="1800" b="1" dirty="0" smtClean="0"/>
                        <a:t>安全</a:t>
                      </a:r>
                      <a:r>
                        <a:rPr lang="zh-TW" altLang="en-US" sz="1800" b="1" dirty="0"/>
                        <a:t>分類審查與</a:t>
                      </a:r>
                      <a:r>
                        <a:rPr lang="zh-TW" altLang="en-US" sz="1800" b="1" dirty="0" smtClean="0"/>
                        <a:t>核准</a:t>
                      </a:r>
                      <a:endParaRPr lang="en-US" sz="1800" dirty="0"/>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smtClean="0"/>
                        <a:t>審查</a:t>
                      </a:r>
                      <a:r>
                        <a:rPr lang="zh-TW" altLang="en-US" sz="1800" dirty="0"/>
                        <a:t>安全分類結果，並由組織高層主管核准最終分類決策。</a:t>
                      </a:r>
                    </a:p>
                  </a:txBody>
                  <a:tcPr marL="67990" marR="67990" marT="33995" marB="33995"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82164149"/>
                  </a:ext>
                </a:extLst>
              </a:tr>
            </a:tbl>
          </a:graphicData>
        </a:graphic>
      </p:graphicFrame>
    </p:spTree>
    <p:extLst>
      <p:ext uri="{BB962C8B-B14F-4D97-AF65-F5344CB8AC3E}">
        <p14:creationId xmlns:p14="http://schemas.microsoft.com/office/powerpoint/2010/main" val="380979558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(5/7)</a:t>
            </a:r>
            <a:endParaRPr lang="zh-TW" altLang="en-US" kern="0" dirty="0"/>
          </a:p>
        </p:txBody>
      </p:sp>
      <p:sp>
        <p:nvSpPr>
          <p:cNvPr id="3" name="文字方塊 2">
            <a:extLst>
              <a:ext uri="{FF2B5EF4-FFF2-40B4-BE49-F238E27FC236}">
                <a16:creationId xmlns:a16="http://schemas.microsoft.com/office/drawing/2014/main" id="{2F54D6FB-0E38-CEEC-282C-B50D7B0B3534}"/>
              </a:ext>
            </a:extLst>
          </p:cNvPr>
          <p:cNvSpPr txBox="1"/>
          <p:nvPr/>
        </p:nvSpPr>
        <p:spPr>
          <a:xfrm>
            <a:off x="251520" y="1196752"/>
            <a:ext cx="8352928" cy="1138773"/>
          </a:xfrm>
          <a:prstGeom prst="rect">
            <a:avLst/>
          </a:prstGeom>
          <a:noFill/>
          <a:ln w="19050">
            <a:solidFill>
              <a:schemeClr val="tx1"/>
            </a:solidFill>
          </a:ln>
        </p:spPr>
        <p:txBody>
          <a:bodyPr wrap="square">
            <a:spAutoFit/>
          </a:bodyPr>
          <a:lstStyle/>
          <a:p>
            <a:r>
              <a:rPr lang="en-US" altLang="zh-TW" sz="2400" dirty="0"/>
              <a:t>Implement</a:t>
            </a:r>
            <a:r>
              <a:rPr lang="zh-TW" altLang="en-US" sz="2400" dirty="0"/>
              <a:t>（實施） </a:t>
            </a:r>
            <a:r>
              <a:rPr lang="zh-TW" altLang="en-US" sz="2400" dirty="0" smtClean="0"/>
              <a:t>階段</a:t>
            </a:r>
            <a:endParaRPr lang="en-US" altLang="zh-TW" sz="2400" dirty="0" smtClean="0"/>
          </a:p>
          <a:p>
            <a:endParaRPr lang="en-US" altLang="zh-TW" sz="800" dirty="0" smtClean="0"/>
          </a:p>
          <a:p>
            <a:r>
              <a:rPr lang="zh-TW" altLang="en-US" dirty="0" smtClean="0"/>
              <a:t>目的</a:t>
            </a:r>
            <a:r>
              <a:rPr lang="en-US" altLang="zh-TW" dirty="0" smtClean="0"/>
              <a:t>:</a:t>
            </a:r>
            <a:r>
              <a:rPr lang="zh-TW" altLang="en-US" dirty="0" smtClean="0"/>
              <a:t>是</a:t>
            </a:r>
            <a:r>
              <a:rPr lang="zh-TW" altLang="en-US" dirty="0"/>
              <a:t>將安全與隱私計畫中所規劃的控制措施實際部署於系統與組織之中，並在基準設定（</a:t>
            </a:r>
            <a:r>
              <a:rPr lang="en-US" altLang="zh-TW" dirty="0"/>
              <a:t>baseline configuration</a:t>
            </a:r>
            <a:r>
              <a:rPr lang="zh-TW" altLang="en-US" dirty="0"/>
              <a:t>）中記錄控制項實施的具體細節。</a:t>
            </a:r>
          </a:p>
        </p:txBody>
      </p:sp>
      <p:graphicFrame>
        <p:nvGraphicFramePr>
          <p:cNvPr id="4" name="表格 3">
            <a:extLst>
              <a:ext uri="{FF2B5EF4-FFF2-40B4-BE49-F238E27FC236}">
                <a16:creationId xmlns:a16="http://schemas.microsoft.com/office/drawing/2014/main" id="{748326E8-DD44-277F-B0D4-A14453594808}"/>
              </a:ext>
            </a:extLst>
          </p:cNvPr>
          <p:cNvGraphicFramePr>
            <a:graphicFrameLocks noGrp="1"/>
          </p:cNvGraphicFramePr>
          <p:nvPr>
            <p:extLst/>
          </p:nvPr>
        </p:nvGraphicFramePr>
        <p:xfrm>
          <a:off x="251520" y="2780928"/>
          <a:ext cx="8352928" cy="2194560"/>
        </p:xfrm>
        <a:graphic>
          <a:graphicData uri="http://schemas.openxmlformats.org/drawingml/2006/table">
            <a:tbl>
              <a:tblPr/>
              <a:tblGrid>
                <a:gridCol w="3508182">
                  <a:extLst>
                    <a:ext uri="{9D8B030D-6E8A-4147-A177-3AD203B41FA5}">
                      <a16:colId xmlns:a16="http://schemas.microsoft.com/office/drawing/2014/main" val="2955444549"/>
                    </a:ext>
                  </a:extLst>
                </a:gridCol>
                <a:gridCol w="4844746">
                  <a:extLst>
                    <a:ext uri="{9D8B030D-6E8A-4147-A177-3AD203B41FA5}">
                      <a16:colId xmlns:a16="http://schemas.microsoft.com/office/drawing/2014/main" val="2021936170"/>
                    </a:ext>
                  </a:extLst>
                </a:gridCol>
              </a:tblGrid>
              <a:tr h="0">
                <a:tc>
                  <a:txBody>
                    <a:bodyPr/>
                    <a:lstStyle/>
                    <a:p>
                      <a:pPr>
                        <a:buNone/>
                      </a:pPr>
                      <a:r>
                        <a:rPr lang="zh-TW" altLang="en-US" dirty="0"/>
                        <a:t>任務 </a:t>
                      </a:r>
                      <a:r>
                        <a:rPr lang="en-US" altLang="zh-TW" dirty="0"/>
                        <a:t>(</a:t>
                      </a:r>
                      <a:r>
                        <a:rPr lang="en-US" dirty="0"/>
                        <a:t>Tasks)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dirty="0"/>
                        <a:t>成果 </a:t>
                      </a:r>
                      <a:r>
                        <a:rPr lang="en-US" altLang="zh-TW" dirty="0"/>
                        <a:t>(</a:t>
                      </a:r>
                      <a:r>
                        <a:rPr lang="en-US" dirty="0"/>
                        <a:t>Outcomes)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041567886"/>
                  </a:ext>
                </a:extLst>
              </a:tr>
              <a:tr h="0">
                <a:tc>
                  <a:txBody>
                    <a:bodyPr/>
                    <a:lstStyle/>
                    <a:p>
                      <a:pPr>
                        <a:buNone/>
                      </a:pPr>
                      <a:r>
                        <a:rPr lang="en-US" b="1" dirty="0"/>
                        <a:t>TASK </a:t>
                      </a:r>
                      <a:r>
                        <a:rPr lang="en-US" b="1" dirty="0" smtClean="0"/>
                        <a:t>I-1:</a:t>
                      </a:r>
                      <a:r>
                        <a:rPr lang="zh-TW" altLang="en-US" b="1" dirty="0" smtClean="0"/>
                        <a:t>控制項</a:t>
                      </a:r>
                      <a:r>
                        <a:rPr lang="zh-TW" altLang="en-US" b="1" dirty="0"/>
                        <a:t>實施（</a:t>
                      </a:r>
                      <a:r>
                        <a:rPr lang="en-US" b="1" dirty="0"/>
                        <a:t>CONTROL IMPLEMENTATION）</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mj-lt"/>
                        <a:buAutoNum type="arabicPeriod"/>
                      </a:pPr>
                      <a:r>
                        <a:rPr lang="zh-TW" altLang="en-US" dirty="0" smtClean="0"/>
                        <a:t>實施</a:t>
                      </a:r>
                      <a:r>
                        <a:rPr lang="zh-TW" altLang="en-US" dirty="0"/>
                        <a:t>安全與隱私計畫中所規定的控制項</a:t>
                      </a:r>
                      <a:r>
                        <a:rPr lang="zh-TW" altLang="en-US" dirty="0" smtClean="0"/>
                        <a:t>。</a:t>
                      </a:r>
                      <a:endParaRPr lang="en-US" altLang="zh-TW" dirty="0" smtClean="0"/>
                    </a:p>
                    <a:p>
                      <a:pPr marL="342900" indent="-342900">
                        <a:buFont typeface="+mj-lt"/>
                        <a:buAutoNum type="arabicPeriod"/>
                      </a:pPr>
                      <a:r>
                        <a:rPr lang="zh-TW" altLang="en-US" dirty="0" smtClean="0"/>
                        <a:t>使用</a:t>
                      </a:r>
                      <a:r>
                        <a:rPr lang="zh-TW" altLang="en-US" dirty="0"/>
                        <a:t>系統安全與隱私工程的方法，將控制項落實於系統安全與隱私計畫中</a:t>
                      </a:r>
                      <a:r>
                        <a:rPr lang="zh-TW" altLang="en-US" dirty="0" smtClean="0"/>
                        <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540387432"/>
                  </a:ext>
                </a:extLst>
              </a:tr>
              <a:tr h="0">
                <a:tc>
                  <a:txBody>
                    <a:bodyPr/>
                    <a:lstStyle/>
                    <a:p>
                      <a:pPr>
                        <a:buNone/>
                      </a:pPr>
                      <a:r>
                        <a:rPr lang="en-US" b="1" dirty="0"/>
                        <a:t>TASK </a:t>
                      </a:r>
                      <a:r>
                        <a:rPr lang="en-US" b="1" dirty="0" smtClean="0"/>
                        <a:t>I-2:</a:t>
                      </a:r>
                      <a:r>
                        <a:rPr lang="zh-TW" altLang="en-US" b="1" dirty="0" smtClean="0"/>
                        <a:t>更新</a:t>
                      </a:r>
                      <a:r>
                        <a:rPr lang="zh-TW" altLang="en-US" b="1" dirty="0"/>
                        <a:t>控制</a:t>
                      </a:r>
                      <a:r>
                        <a:rPr lang="zh-TW" altLang="en-US" b="1" dirty="0" smtClean="0"/>
                        <a:t>實施之資訊</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342900" indent="-342900">
                        <a:buFont typeface="+mj-lt"/>
                        <a:buAutoNum type="arabicPeriod"/>
                      </a:pPr>
                      <a:r>
                        <a:rPr lang="zh-TW" altLang="en-US" dirty="0" smtClean="0"/>
                        <a:t>將</a:t>
                      </a:r>
                      <a:r>
                        <a:rPr lang="zh-TW" altLang="en-US" dirty="0"/>
                        <a:t>控制項實施計畫的變更內容文件化</a:t>
                      </a:r>
                      <a:r>
                        <a:rPr lang="zh-TW" altLang="en-US" dirty="0" smtClean="0"/>
                        <a:t>。</a:t>
                      </a:r>
                      <a:endParaRPr lang="en-US" b="1" dirty="0"/>
                    </a:p>
                    <a:p>
                      <a:pPr marL="342900" indent="-342900">
                        <a:buFont typeface="+mj-lt"/>
                        <a:buAutoNum type="arabicPeriod"/>
                      </a:pPr>
                      <a:r>
                        <a:rPr lang="zh-TW" altLang="en-US" dirty="0" smtClean="0"/>
                        <a:t>根據</a:t>
                      </a:r>
                      <a:r>
                        <a:rPr lang="zh-TW" altLang="en-US" dirty="0"/>
                        <a:t>控制實施過程中取得的資訊，更新安全與隱私計畫</a:t>
                      </a:r>
                      <a:r>
                        <a:rPr lang="zh-TW" altLang="en-US" dirty="0" smtClean="0"/>
                        <a:t>。</a:t>
                      </a:r>
                      <a:endParaRPr lang="en-US"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5317991"/>
                  </a:ext>
                </a:extLst>
              </a:tr>
            </a:tbl>
          </a:graphicData>
        </a:graphic>
      </p:graphicFrame>
    </p:spTree>
    <p:extLst>
      <p:ext uri="{BB962C8B-B14F-4D97-AF65-F5344CB8AC3E}">
        <p14:creationId xmlns:p14="http://schemas.microsoft.com/office/powerpoint/2010/main" val="378488210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(6/7)</a:t>
            </a:r>
            <a:endParaRPr lang="zh-TW" altLang="en-US" kern="0" dirty="0"/>
          </a:p>
        </p:txBody>
      </p:sp>
      <p:graphicFrame>
        <p:nvGraphicFramePr>
          <p:cNvPr id="2" name="表格 1"/>
          <p:cNvGraphicFramePr>
            <a:graphicFrameLocks noGrp="1"/>
          </p:cNvGraphicFramePr>
          <p:nvPr>
            <p:extLst/>
          </p:nvPr>
        </p:nvGraphicFramePr>
        <p:xfrm>
          <a:off x="179512" y="1881726"/>
          <a:ext cx="8784751" cy="4871530"/>
        </p:xfrm>
        <a:graphic>
          <a:graphicData uri="http://schemas.openxmlformats.org/drawingml/2006/table">
            <a:tbl>
              <a:tblPr/>
              <a:tblGrid>
                <a:gridCol w="2680189">
                  <a:extLst>
                    <a:ext uri="{9D8B030D-6E8A-4147-A177-3AD203B41FA5}">
                      <a16:colId xmlns:a16="http://schemas.microsoft.com/office/drawing/2014/main" val="3443946587"/>
                    </a:ext>
                  </a:extLst>
                </a:gridCol>
                <a:gridCol w="6104562">
                  <a:extLst>
                    <a:ext uri="{9D8B030D-6E8A-4147-A177-3AD203B41FA5}">
                      <a16:colId xmlns:a16="http://schemas.microsoft.com/office/drawing/2014/main" val="2716350179"/>
                    </a:ext>
                  </a:extLst>
                </a:gridCol>
              </a:tblGrid>
              <a:tr h="314013">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t>任務 </a:t>
                      </a:r>
                      <a:r>
                        <a:rPr lang="en-US" altLang="zh-TW" sz="1800" dirty="0"/>
                        <a:t>(</a:t>
                      </a:r>
                      <a:r>
                        <a:rPr lang="en-US" sz="1800" dirty="0"/>
                        <a:t>Tasks)</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800" dirty="0"/>
                        <a:t>成果 </a:t>
                      </a:r>
                      <a:r>
                        <a:rPr lang="en-US" altLang="zh-TW" sz="1800" dirty="0"/>
                        <a:t>(</a:t>
                      </a:r>
                      <a:r>
                        <a:rPr lang="en-US" sz="1800" dirty="0"/>
                        <a:t>Outcomes)</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4986001"/>
                  </a:ext>
                </a:extLst>
              </a:tr>
              <a:tr h="578643">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A-1</a:t>
                      </a:r>
                      <a:r>
                        <a:rPr lang="en-US" altLang="zh-TW" sz="1800" b="1" dirty="0" smtClean="0"/>
                        <a:t>:</a:t>
                      </a:r>
                      <a:r>
                        <a:rPr lang="zh-TW" altLang="en-US" sz="1800" b="1" dirty="0" smtClean="0"/>
                        <a:t>評鑑者</a:t>
                      </a:r>
                      <a:r>
                        <a:rPr lang="zh-TW" altLang="en-US" sz="1800" b="1" dirty="0"/>
                        <a:t>選擇（</a:t>
                      </a:r>
                      <a:r>
                        <a:rPr lang="en-US" sz="1800" b="1" dirty="0" smtClean="0"/>
                        <a:t>ASSESSOR）</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342900" indent="-342900">
                        <a:buFont typeface="+mj-lt"/>
                        <a:buAutoNum type="arabicPeriod"/>
                      </a:pPr>
                      <a:r>
                        <a:rPr lang="zh-TW" altLang="en-US" sz="1600" dirty="0" smtClean="0"/>
                        <a:t>選定評</a:t>
                      </a:r>
                      <a:r>
                        <a:rPr lang="zh-TW" altLang="en-US" sz="1600" b="1" dirty="0" smtClean="0"/>
                        <a:t>鑑</a:t>
                      </a:r>
                      <a:r>
                        <a:rPr lang="zh-TW" altLang="en-US" sz="1600" dirty="0" smtClean="0"/>
                        <a:t>者</a:t>
                      </a:r>
                      <a:r>
                        <a:rPr lang="zh-TW" altLang="en-US" sz="1600" dirty="0"/>
                        <a:t>或</a:t>
                      </a:r>
                      <a:r>
                        <a:rPr lang="zh-TW" altLang="en-US" sz="1600" dirty="0" smtClean="0"/>
                        <a:t>評</a:t>
                      </a:r>
                      <a:r>
                        <a:rPr lang="zh-TW" altLang="en-US" sz="1600" b="1" dirty="0" smtClean="0"/>
                        <a:t>鑑</a:t>
                      </a:r>
                      <a:r>
                        <a:rPr lang="zh-TW" altLang="en-US" sz="1600" dirty="0" smtClean="0"/>
                        <a:t>團隊</a:t>
                      </a:r>
                      <a:r>
                        <a:rPr lang="zh-TW" altLang="en-US" sz="1600" dirty="0"/>
                        <a:t>以執行控制項評估</a:t>
                      </a:r>
                      <a:r>
                        <a:rPr lang="zh-TW" altLang="en-US" sz="1600" dirty="0" smtClean="0"/>
                        <a:t>。</a:t>
                      </a:r>
                      <a:endParaRPr lang="en-US" altLang="zh-TW" sz="1600" dirty="0" smtClean="0"/>
                    </a:p>
                    <a:p>
                      <a:pPr marL="342900" indent="-342900">
                        <a:buFont typeface="+mj-lt"/>
                        <a:buAutoNum type="arabicPeriod"/>
                      </a:pPr>
                      <a:r>
                        <a:rPr lang="zh-TW" altLang="en-US" sz="1600" dirty="0" smtClean="0"/>
                        <a:t>確保</a:t>
                      </a:r>
                      <a:r>
                        <a:rPr lang="zh-TW" altLang="en-US" sz="1600" dirty="0"/>
                        <a:t>所</a:t>
                      </a:r>
                      <a:r>
                        <a:rPr lang="zh-TW" altLang="en-US" sz="1600" dirty="0" smtClean="0"/>
                        <a:t>選</a:t>
                      </a:r>
                      <a:r>
                        <a:rPr lang="zh-TW" altLang="en-US" sz="1600" b="1" dirty="0" smtClean="0"/>
                        <a:t>鑑</a:t>
                      </a:r>
                      <a:r>
                        <a:rPr lang="zh-TW" altLang="en-US" sz="1600" dirty="0" smtClean="0"/>
                        <a:t>估</a:t>
                      </a:r>
                      <a:r>
                        <a:rPr lang="zh-TW" altLang="en-US" sz="1600" dirty="0"/>
                        <a:t>者或團隊具備適當的獨立性。</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12665846"/>
                  </a:ext>
                </a:extLst>
              </a:tr>
              <a:tr h="1035294">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A-2</a:t>
                      </a:r>
                      <a:r>
                        <a:rPr lang="en-US" altLang="zh-TW" sz="1800" b="1" dirty="0" smtClean="0"/>
                        <a:t>:</a:t>
                      </a:r>
                      <a:r>
                        <a:rPr lang="zh-TW" altLang="en-US" sz="1800" b="1" dirty="0" smtClean="0"/>
                        <a:t>評鑑計畫</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342900" indent="-342900">
                        <a:buFont typeface="+mj-lt"/>
                        <a:buAutoNum type="arabicPeriod"/>
                      </a:pPr>
                      <a:r>
                        <a:rPr lang="zh-TW" altLang="en-US" sz="1600" dirty="0" smtClean="0"/>
                        <a:t>提供</a:t>
                      </a:r>
                      <a:r>
                        <a:rPr lang="zh-TW" altLang="en-US" sz="1600" dirty="0"/>
                        <a:t>評估所需的文件予評估者或團隊</a:t>
                      </a:r>
                      <a:r>
                        <a:rPr lang="zh-TW" altLang="en-US" sz="1600" dirty="0" smtClean="0"/>
                        <a:t>。</a:t>
                      </a:r>
                      <a:endParaRPr lang="en-US" altLang="zh-TW" sz="1600" dirty="0" smtClean="0"/>
                    </a:p>
                    <a:p>
                      <a:pPr marL="342900" indent="-342900">
                        <a:buFont typeface="+mj-lt"/>
                        <a:buAutoNum type="arabicPeriod"/>
                      </a:pPr>
                      <a:r>
                        <a:rPr lang="zh-TW" altLang="en-US" sz="1600" dirty="0" smtClean="0"/>
                        <a:t>制定</a:t>
                      </a:r>
                      <a:r>
                        <a:rPr lang="zh-TW" altLang="en-US" sz="1600" dirty="0"/>
                        <a:t>並文件化安全與隱私評估計畫</a:t>
                      </a:r>
                      <a:r>
                        <a:rPr lang="zh-TW" altLang="en-US" sz="1600" dirty="0" smtClean="0"/>
                        <a:t>。</a:t>
                      </a:r>
                      <a:endParaRPr lang="en-US" altLang="zh-TW" sz="1600" dirty="0" smtClean="0"/>
                    </a:p>
                    <a:p>
                      <a:pPr marL="342900" indent="-342900">
                        <a:buFont typeface="+mj-lt"/>
                        <a:buAutoNum type="arabicPeriod"/>
                      </a:pPr>
                      <a:r>
                        <a:rPr lang="zh-TW" altLang="en-US" sz="1600" dirty="0" smtClean="0"/>
                        <a:t>審查</a:t>
                      </a:r>
                      <a:r>
                        <a:rPr lang="zh-TW" altLang="en-US" sz="1600" dirty="0"/>
                        <a:t>與核准安全與隱私評估計畫，以確立控制評估的期望與所需投入的努力程度。</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11038498"/>
                  </a:ext>
                </a:extLst>
              </a:tr>
              <a:tr h="1059014">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A-3</a:t>
                      </a:r>
                      <a:r>
                        <a:rPr lang="en-US" altLang="zh-TW" sz="1800" b="1" dirty="0" smtClean="0"/>
                        <a:t>:</a:t>
                      </a:r>
                      <a:r>
                        <a:rPr lang="zh-TW" altLang="en-US" sz="1800" b="1" dirty="0" smtClean="0"/>
                        <a:t>控制項評鑑</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342900" marR="0" indent="-342900" algn="l" defTabSz="914395" rtl="0" eaLnBrk="1" fontAlgn="auto" latinLnBrk="0" hangingPunct="1">
                        <a:lnSpc>
                          <a:spcPct val="100000"/>
                        </a:lnSpc>
                        <a:spcBef>
                          <a:spcPts val="0"/>
                        </a:spcBef>
                        <a:spcAft>
                          <a:spcPts val="0"/>
                        </a:spcAft>
                        <a:buClrTx/>
                        <a:buSzTx/>
                        <a:buFont typeface="+mj-lt"/>
                        <a:buAutoNum type="arabicPeriod"/>
                        <a:tabLst/>
                        <a:defRPr/>
                      </a:pPr>
                      <a:r>
                        <a:rPr lang="zh-TW" altLang="en-US" sz="1600" dirty="0" smtClean="0"/>
                        <a:t>依據</a:t>
                      </a:r>
                      <a:r>
                        <a:rPr lang="zh-TW" altLang="en-US" sz="1600" dirty="0"/>
                        <a:t>安全與隱私評估計畫執行控制項</a:t>
                      </a:r>
                      <a:r>
                        <a:rPr lang="zh-TW" altLang="en-US" sz="1600" dirty="0" smtClean="0"/>
                        <a:t>評</a:t>
                      </a:r>
                      <a:r>
                        <a:rPr lang="zh-TW" altLang="en-US" sz="1600" b="1" dirty="0" smtClean="0"/>
                        <a:t>鑑</a:t>
                      </a:r>
                      <a:r>
                        <a:rPr lang="zh-TW" altLang="en-US" sz="1600" dirty="0" smtClean="0"/>
                        <a:t>。</a:t>
                      </a:r>
                      <a:endParaRPr lang="en-US" altLang="zh-TW" sz="1600" dirty="0" smtClean="0"/>
                    </a:p>
                    <a:p>
                      <a:pPr marL="342900" marR="0" indent="-342900" algn="l" defTabSz="914395" rtl="0" eaLnBrk="1" fontAlgn="auto" latinLnBrk="0" hangingPunct="1">
                        <a:lnSpc>
                          <a:spcPct val="100000"/>
                        </a:lnSpc>
                        <a:spcBef>
                          <a:spcPts val="0"/>
                        </a:spcBef>
                        <a:spcAft>
                          <a:spcPts val="0"/>
                        </a:spcAft>
                        <a:buClrTx/>
                        <a:buSzTx/>
                        <a:buFont typeface="+mj-lt"/>
                        <a:buAutoNum type="arabicPeriod"/>
                        <a:tabLst/>
                        <a:defRPr/>
                      </a:pPr>
                      <a:r>
                        <a:rPr lang="zh-TW" altLang="en-US" sz="1600" dirty="0" smtClean="0"/>
                        <a:t>考慮</a:t>
                      </a:r>
                      <a:r>
                        <a:rPr lang="zh-TW" altLang="en-US" sz="1600" dirty="0"/>
                        <a:t>重複使用以往</a:t>
                      </a:r>
                      <a:r>
                        <a:rPr lang="zh-TW" altLang="en-US" sz="1600" dirty="0" smtClean="0"/>
                        <a:t>評</a:t>
                      </a:r>
                      <a:r>
                        <a:rPr lang="zh-TW" altLang="en-US" sz="1600" b="1" dirty="0" smtClean="0"/>
                        <a:t>鑑</a:t>
                      </a:r>
                      <a:r>
                        <a:rPr lang="zh-TW" altLang="en-US" sz="1600" dirty="0" smtClean="0"/>
                        <a:t>結果</a:t>
                      </a:r>
                      <a:r>
                        <a:rPr lang="zh-TW" altLang="en-US" sz="1600" dirty="0"/>
                        <a:t>，以提升風險管理程序的時效性與成本效益</a:t>
                      </a:r>
                      <a:r>
                        <a:rPr lang="zh-TW" altLang="en-US" sz="1600" dirty="0" smtClean="0"/>
                        <a:t>。</a:t>
                      </a:r>
                      <a:endParaRPr lang="en-US" altLang="zh-TW" sz="1600" dirty="0" smtClean="0"/>
                    </a:p>
                    <a:p>
                      <a:pPr marL="342900" marR="0" indent="-342900" algn="l" defTabSz="914395" rtl="0" eaLnBrk="1" fontAlgn="auto" latinLnBrk="0" hangingPunct="1">
                        <a:lnSpc>
                          <a:spcPct val="100000"/>
                        </a:lnSpc>
                        <a:spcBef>
                          <a:spcPts val="0"/>
                        </a:spcBef>
                        <a:spcAft>
                          <a:spcPts val="0"/>
                        </a:spcAft>
                        <a:buClrTx/>
                        <a:buSzTx/>
                        <a:buFont typeface="+mj-lt"/>
                        <a:buAutoNum type="arabicPeriod"/>
                        <a:tabLst/>
                        <a:defRPr/>
                      </a:pPr>
                      <a:r>
                        <a:rPr lang="zh-TW" altLang="en-US" sz="1600" dirty="0" smtClean="0"/>
                        <a:t>最大</a:t>
                      </a:r>
                      <a:r>
                        <a:rPr lang="zh-TW" altLang="en-US" sz="1600" dirty="0"/>
                        <a:t>化自動化工具的使用，以提高</a:t>
                      </a:r>
                      <a:r>
                        <a:rPr lang="zh-TW" altLang="en-US" sz="1600" dirty="0" smtClean="0"/>
                        <a:t>評</a:t>
                      </a:r>
                      <a:r>
                        <a:rPr lang="zh-TW" altLang="en-US" sz="1600" b="1" dirty="0" smtClean="0"/>
                        <a:t>鑑</a:t>
                      </a:r>
                      <a:r>
                        <a:rPr lang="zh-TW" altLang="en-US" sz="1600" dirty="0" smtClean="0"/>
                        <a:t>的</a:t>
                      </a:r>
                      <a:r>
                        <a:rPr lang="zh-TW" altLang="en-US" sz="1600" dirty="0"/>
                        <a:t>速度、效果與效率。</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3659557"/>
                  </a:ext>
                </a:extLst>
              </a:tr>
              <a:tr h="323032">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A-4:</a:t>
                      </a:r>
                      <a:r>
                        <a:rPr lang="zh-TW" altLang="en-US" sz="1800" b="1" dirty="0" smtClean="0"/>
                        <a:t>評鑑報告</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0" marR="0" indent="0" algn="l" defTabSz="914395" rtl="0" eaLnBrk="1" fontAlgn="auto" latinLnBrk="0" hangingPunct="1">
                        <a:lnSpc>
                          <a:spcPct val="100000"/>
                        </a:lnSpc>
                        <a:spcBef>
                          <a:spcPts val="0"/>
                        </a:spcBef>
                        <a:spcAft>
                          <a:spcPts val="0"/>
                        </a:spcAft>
                        <a:buClrTx/>
                        <a:buSzTx/>
                        <a:buFontTx/>
                        <a:buNone/>
                        <a:tabLst/>
                        <a:defRPr/>
                      </a:pPr>
                      <a:r>
                        <a:rPr lang="zh-TW" altLang="en-US" sz="1600" dirty="0" smtClean="0"/>
                        <a:t>完成</a:t>
                      </a:r>
                      <a:r>
                        <a:rPr lang="zh-TW" altLang="en-US" sz="1600" dirty="0"/>
                        <a:t>提供發現與建議內容的安全與隱私</a:t>
                      </a:r>
                      <a:r>
                        <a:rPr lang="zh-TW" altLang="en-US" sz="1600" dirty="0" smtClean="0"/>
                        <a:t>評</a:t>
                      </a:r>
                      <a:r>
                        <a:rPr lang="zh-TW" altLang="en-US" sz="1600" b="1" dirty="0" smtClean="0"/>
                        <a:t>鑑</a:t>
                      </a:r>
                      <a:r>
                        <a:rPr lang="zh-TW" altLang="en-US" sz="1600" dirty="0" smtClean="0"/>
                        <a:t>報告</a:t>
                      </a:r>
                      <a:r>
                        <a:rPr lang="zh-TW" altLang="en-US" sz="1600" dirty="0"/>
                        <a:t>。</a:t>
                      </a:r>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1976580"/>
                  </a:ext>
                </a:extLst>
              </a:tr>
              <a:tr h="788008">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A-5:</a:t>
                      </a:r>
                      <a:r>
                        <a:rPr lang="zh-TW" altLang="en-US" sz="1800" b="1" dirty="0" smtClean="0"/>
                        <a:t>修正行動</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marL="342900" indent="-342900">
                        <a:buFont typeface="+mj-lt"/>
                        <a:buAutoNum type="arabicPeriod"/>
                      </a:pPr>
                      <a:r>
                        <a:rPr lang="zh-TW" altLang="en-US" sz="1600" dirty="0" smtClean="0"/>
                        <a:t>採取</a:t>
                      </a:r>
                      <a:r>
                        <a:rPr lang="zh-TW" altLang="en-US" sz="1600" dirty="0"/>
                        <a:t>修正措施以改善系統及運作環境中控制項的缺陷</a:t>
                      </a:r>
                      <a:r>
                        <a:rPr lang="zh-TW" altLang="en-US" sz="1600" dirty="0" smtClean="0"/>
                        <a:t>。</a:t>
                      </a:r>
                      <a:endParaRPr lang="en-US" altLang="zh-TW" sz="1600" dirty="0" smtClean="0"/>
                    </a:p>
                    <a:p>
                      <a:pPr marL="342900" marR="0" indent="-342900" algn="l" defTabSz="914395" rtl="0" eaLnBrk="1" fontAlgn="auto" latinLnBrk="0" hangingPunct="1">
                        <a:lnSpc>
                          <a:spcPct val="100000"/>
                        </a:lnSpc>
                        <a:spcBef>
                          <a:spcPts val="0"/>
                        </a:spcBef>
                        <a:spcAft>
                          <a:spcPts val="0"/>
                        </a:spcAft>
                        <a:buClrTx/>
                        <a:buSzTx/>
                        <a:buFont typeface="+mj-lt"/>
                        <a:buAutoNum type="arabicPeriod"/>
                        <a:tabLst/>
                        <a:defRPr/>
                      </a:pPr>
                      <a:r>
                        <a:rPr lang="zh-TW" altLang="en-US" sz="1600" dirty="0" smtClean="0"/>
                        <a:t>更新</a:t>
                      </a:r>
                      <a:r>
                        <a:rPr lang="zh-TW" altLang="en-US" sz="1600" dirty="0"/>
                        <a:t>安全與隱私計畫，以反映根據</a:t>
                      </a:r>
                      <a:r>
                        <a:rPr lang="zh-TW" altLang="en-US" sz="1600" dirty="0" smtClean="0"/>
                        <a:t>評</a:t>
                      </a:r>
                      <a:r>
                        <a:rPr lang="zh-TW" altLang="en-US" sz="1600" b="1" dirty="0" smtClean="0"/>
                        <a:t>鑑</a:t>
                      </a:r>
                      <a:r>
                        <a:rPr lang="zh-TW" altLang="en-US" sz="1600" dirty="0" smtClean="0"/>
                        <a:t>與</a:t>
                      </a:r>
                      <a:r>
                        <a:rPr lang="zh-TW" altLang="en-US" sz="1600" dirty="0"/>
                        <a:t>後續修正行動所進行的控制項變更</a:t>
                      </a:r>
                      <a:r>
                        <a:rPr lang="zh-TW" altLang="en-US" sz="1600" dirty="0" smtClean="0"/>
                        <a:t>。</a:t>
                      </a:r>
                      <a:endParaRPr lang="zh-TW" altLang="en-US" sz="16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61259872"/>
                  </a:ext>
                </a:extLst>
              </a:tr>
              <a:tr h="738358">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1800" b="1" dirty="0"/>
                        <a:t>TASK </a:t>
                      </a:r>
                      <a:r>
                        <a:rPr lang="en-US" sz="1800" b="1" dirty="0" smtClean="0"/>
                        <a:t>A-6:</a:t>
                      </a:r>
                      <a:r>
                        <a:rPr lang="zh-TW" altLang="en-US" sz="1800" b="1" dirty="0" smtClean="0"/>
                        <a:t>行動與里程碑計畫</a:t>
                      </a:r>
                      <a:endParaRPr lang="en-US" sz="18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1600" dirty="0" smtClean="0"/>
                        <a:t>制定</a:t>
                      </a:r>
                      <a:r>
                        <a:rPr lang="zh-TW" altLang="en-US" sz="1600" dirty="0"/>
                        <a:t>行動與里程碑</a:t>
                      </a:r>
                      <a:r>
                        <a:rPr lang="zh-TW" altLang="en-US" sz="1600" dirty="0" smtClean="0"/>
                        <a:t>計畫，</a:t>
                      </a:r>
                      <a:r>
                        <a:rPr lang="zh-TW" altLang="en-US" sz="1600" dirty="0"/>
                        <a:t>詳細說明針對安全與隱私</a:t>
                      </a:r>
                      <a:r>
                        <a:rPr lang="zh-TW" altLang="en-US" sz="1600" dirty="0" smtClean="0"/>
                        <a:t>評鑑報告</a:t>
                      </a:r>
                      <a:r>
                        <a:rPr lang="zh-TW" altLang="en-US" sz="1600" dirty="0"/>
                        <a:t>中識別出的不可接受風險所需的修正行動</a:t>
                      </a:r>
                      <a:r>
                        <a:rPr lang="zh-TW" altLang="en-US" sz="1600" dirty="0" smtClean="0"/>
                        <a:t>。</a:t>
                      </a:r>
                      <a:endParaRPr lang="zh-TW" altLang="en-US" sz="1600" dirty="0"/>
                    </a:p>
                  </a:txBody>
                  <a:tcPr marL="51192" marR="51192" marT="25596" marB="25596"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27868529"/>
                  </a:ext>
                </a:extLst>
              </a:tr>
            </a:tbl>
          </a:graphicData>
        </a:graphic>
      </p:graphicFrame>
      <p:sp>
        <p:nvSpPr>
          <p:cNvPr id="3" name="矩形 2"/>
          <p:cNvSpPr/>
          <p:nvPr/>
        </p:nvSpPr>
        <p:spPr>
          <a:xfrm>
            <a:off x="170501" y="1040197"/>
            <a:ext cx="8665601" cy="646331"/>
          </a:xfrm>
          <a:prstGeom prst="rect">
            <a:avLst/>
          </a:prstGeom>
          <a:ln w="19050">
            <a:solidFill>
              <a:schemeClr val="tx1"/>
            </a:solidFill>
          </a:ln>
        </p:spPr>
        <p:txBody>
          <a:bodyPr wrap="square">
            <a:spAutoFit/>
          </a:bodyPr>
          <a:lstStyle/>
          <a:p>
            <a:r>
              <a:rPr lang="en-US" altLang="zh-TW" dirty="0" smtClean="0"/>
              <a:t>Assess(</a:t>
            </a:r>
            <a:r>
              <a:rPr lang="zh-TW" altLang="en-US" dirty="0" smtClean="0"/>
              <a:t>評鑑</a:t>
            </a:r>
            <a:r>
              <a:rPr lang="en-US" altLang="zh-TW" dirty="0" smtClean="0"/>
              <a:t>)</a:t>
            </a:r>
            <a:r>
              <a:rPr lang="zh-TW" altLang="en-US" dirty="0" smtClean="0"/>
              <a:t>階段</a:t>
            </a:r>
            <a:r>
              <a:rPr lang="zh-TW" altLang="en-US" dirty="0"/>
              <a:t>的目的，是確認已選定並實施的控制措施是否正確執行、是否依預期運作，並能否達成預期成果，以滿足系統與組織在安全與隱私方面的需求。</a:t>
            </a:r>
          </a:p>
        </p:txBody>
      </p:sp>
    </p:spTree>
    <p:extLst>
      <p:ext uri="{BB962C8B-B14F-4D97-AF65-F5344CB8AC3E}">
        <p14:creationId xmlns:p14="http://schemas.microsoft.com/office/powerpoint/2010/main" val="214715076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(7/7)</a:t>
            </a:r>
            <a:endParaRPr lang="zh-TW" altLang="en-US" kern="0" dirty="0"/>
          </a:p>
        </p:txBody>
      </p:sp>
      <p:sp>
        <p:nvSpPr>
          <p:cNvPr id="2" name="矩形 1"/>
          <p:cNvSpPr/>
          <p:nvPr/>
        </p:nvSpPr>
        <p:spPr>
          <a:xfrm>
            <a:off x="178798" y="1052736"/>
            <a:ext cx="8714396" cy="1754326"/>
          </a:xfrm>
          <a:prstGeom prst="rect">
            <a:avLst/>
          </a:prstGeom>
          <a:ln w="28575">
            <a:solidFill>
              <a:schemeClr val="tx1"/>
            </a:solidFill>
          </a:ln>
        </p:spPr>
        <p:txBody>
          <a:bodyPr wrap="square">
            <a:spAutoFit/>
          </a:bodyPr>
          <a:lstStyle/>
          <a:p>
            <a:r>
              <a:rPr lang="en-US" altLang="zh-TW" sz="2800" dirty="0"/>
              <a:t>Authorize</a:t>
            </a:r>
            <a:r>
              <a:rPr lang="zh-TW" altLang="en-US" sz="2800" dirty="0"/>
              <a:t>（授權） </a:t>
            </a:r>
            <a:r>
              <a:rPr lang="zh-TW" altLang="en-US" sz="2800" dirty="0" smtClean="0"/>
              <a:t>階段</a:t>
            </a:r>
            <a:endParaRPr lang="en-US" altLang="zh-TW" sz="2800" dirty="0" smtClean="0"/>
          </a:p>
          <a:p>
            <a:endParaRPr lang="en-US" altLang="zh-TW" sz="800" dirty="0" smtClean="0"/>
          </a:p>
          <a:p>
            <a:pPr marL="285750" indent="-285750">
              <a:buFont typeface="Wingdings" panose="05000000000000000000" pitchFamily="2" charset="2"/>
              <a:buChar char="ü"/>
            </a:pPr>
            <a:r>
              <a:rPr lang="zh-TW" altLang="en-US" dirty="0" smtClean="0"/>
              <a:t>藉</a:t>
            </a:r>
            <a:r>
              <a:rPr lang="zh-TW" altLang="en-US" dirty="0"/>
              <a:t>由要求高階管理官員（</a:t>
            </a:r>
            <a:r>
              <a:rPr lang="en-US" altLang="zh-TW" dirty="0"/>
              <a:t>senior management official</a:t>
            </a:r>
            <a:r>
              <a:rPr lang="zh-TW" altLang="en-US" dirty="0"/>
              <a:t>）判斷系統運作或共用控制使用所帶來的安全與隱私風險（包含供應鏈風險）是否可接受，來確保組織的問責性（</a:t>
            </a:r>
            <a:r>
              <a:rPr lang="en-US" altLang="zh-TW" dirty="0"/>
              <a:t>accountability</a:t>
            </a:r>
            <a:r>
              <a:rPr lang="zh-TW" altLang="en-US" dirty="0" smtClean="0"/>
              <a:t>）。</a:t>
            </a:r>
            <a:endParaRPr lang="en-US" altLang="zh-TW" dirty="0" smtClean="0"/>
          </a:p>
          <a:p>
            <a:pPr marL="285750" indent="-285750">
              <a:buFont typeface="Wingdings" panose="05000000000000000000" pitchFamily="2" charset="2"/>
              <a:buChar char="ü"/>
            </a:pPr>
            <a:r>
              <a:rPr lang="zh-TW" altLang="en-US" dirty="0" smtClean="0"/>
              <a:t>此</a:t>
            </a:r>
            <a:r>
              <a:rPr lang="zh-TW" altLang="en-US" dirty="0"/>
              <a:t>風險</a:t>
            </a:r>
            <a:r>
              <a:rPr lang="zh-TW" altLang="en-US" dirty="0" smtClean="0"/>
              <a:t>評鑑涵蓋</a:t>
            </a:r>
            <a:r>
              <a:rPr lang="zh-TW" altLang="en-US" dirty="0"/>
              <a:t>對組織運作與資產、個人、其他組織及國家可能造成的影響。</a:t>
            </a:r>
          </a:p>
        </p:txBody>
      </p:sp>
      <p:graphicFrame>
        <p:nvGraphicFramePr>
          <p:cNvPr id="3" name="表格 2"/>
          <p:cNvGraphicFramePr>
            <a:graphicFrameLocks noGrp="1"/>
          </p:cNvGraphicFramePr>
          <p:nvPr>
            <p:extLst/>
          </p:nvPr>
        </p:nvGraphicFramePr>
        <p:xfrm>
          <a:off x="178798" y="3014798"/>
          <a:ext cx="8714396" cy="3363848"/>
        </p:xfrm>
        <a:graphic>
          <a:graphicData uri="http://schemas.openxmlformats.org/drawingml/2006/table">
            <a:tbl>
              <a:tblPr/>
              <a:tblGrid>
                <a:gridCol w="3169780">
                  <a:extLst>
                    <a:ext uri="{9D8B030D-6E8A-4147-A177-3AD203B41FA5}">
                      <a16:colId xmlns:a16="http://schemas.microsoft.com/office/drawing/2014/main" val="127651770"/>
                    </a:ext>
                  </a:extLst>
                </a:gridCol>
                <a:gridCol w="5544616">
                  <a:extLst>
                    <a:ext uri="{9D8B030D-6E8A-4147-A177-3AD203B41FA5}">
                      <a16:colId xmlns:a16="http://schemas.microsoft.com/office/drawing/2014/main" val="3044994920"/>
                    </a:ext>
                  </a:extLst>
                </a:gridCol>
              </a:tblGrid>
              <a:tr h="590168">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800" dirty="0"/>
                        <a:t>任務 </a:t>
                      </a:r>
                      <a:r>
                        <a:rPr lang="en-US" altLang="zh-TW" sz="2800" dirty="0"/>
                        <a:t>(</a:t>
                      </a:r>
                      <a:r>
                        <a:rPr lang="en-US" sz="2800" dirty="0"/>
                        <a:t>Tasks)</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800" dirty="0"/>
                        <a:t>成果 </a:t>
                      </a:r>
                      <a:r>
                        <a:rPr lang="en-US" altLang="zh-TW" sz="2800" dirty="0"/>
                        <a:t>(</a:t>
                      </a:r>
                      <a:r>
                        <a:rPr lang="en-US" sz="2800" dirty="0"/>
                        <a:t>Outcomes)</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1566896"/>
                  </a:ext>
                </a:extLst>
              </a:tr>
              <a:tr h="0">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2000" b="1" dirty="0"/>
                        <a:t>TASK </a:t>
                      </a:r>
                      <a:r>
                        <a:rPr lang="en-US" sz="2000" b="1" dirty="0" smtClean="0"/>
                        <a:t>R-1:</a:t>
                      </a:r>
                      <a:r>
                        <a:rPr lang="zh-TW" altLang="en-US" sz="2000" b="1" dirty="0" smtClean="0"/>
                        <a:t>授權</a:t>
                      </a:r>
                      <a:r>
                        <a:rPr lang="zh-TW" altLang="en-US" sz="2000" b="1" dirty="0"/>
                        <a:t>文件包</a:t>
                      </a:r>
                      <a:r>
                        <a:rPr lang="en-US" altLang="zh-TW" sz="1600" b="1" dirty="0"/>
                        <a:t>(</a:t>
                      </a:r>
                      <a:r>
                        <a:rPr lang="en-US" sz="1600" b="1" dirty="0"/>
                        <a:t>AUTHORIZATION PACKAGE)</a:t>
                      </a:r>
                      <a:endParaRPr lang="en-US" sz="16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000" dirty="0" smtClean="0"/>
                        <a:t>制定</a:t>
                      </a:r>
                      <a:r>
                        <a:rPr lang="zh-TW" altLang="en-US" sz="2000" dirty="0"/>
                        <a:t>授權文件包，以提交給授權官員審查。</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25308919"/>
                  </a:ext>
                </a:extLst>
              </a:tr>
              <a:tr h="0">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2000" b="1" dirty="0"/>
                        <a:t>TASK </a:t>
                      </a:r>
                      <a:r>
                        <a:rPr lang="en-US" sz="2000" b="1" dirty="0" smtClean="0"/>
                        <a:t>R-2:</a:t>
                      </a:r>
                      <a:r>
                        <a:rPr lang="zh-TW" altLang="en-US" sz="2000" b="1" dirty="0" smtClean="0"/>
                        <a:t>風險</a:t>
                      </a:r>
                      <a:r>
                        <a:rPr lang="zh-TW" altLang="en-US" sz="2000" b="1" dirty="0"/>
                        <a:t>分析與</a:t>
                      </a:r>
                      <a:r>
                        <a:rPr lang="zh-TW" altLang="en-US" sz="2000" b="1" dirty="0" smtClean="0"/>
                        <a:t>判定</a:t>
                      </a:r>
                      <a:endParaRPr 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000" dirty="0" smtClean="0"/>
                        <a:t>授權</a:t>
                      </a:r>
                      <a:r>
                        <a:rPr lang="zh-TW" altLang="en-US" sz="2000" dirty="0"/>
                        <a:t>官員根據風險管理策略</a:t>
                      </a:r>
                      <a:r>
                        <a:rPr lang="en-US" altLang="zh-TW" sz="2000" dirty="0"/>
                        <a:t>(</a:t>
                      </a:r>
                      <a:r>
                        <a:rPr lang="zh-TW" altLang="en-US" sz="2000" dirty="0"/>
                        <a:t>包含風險容忍度</a:t>
                      </a:r>
                      <a:r>
                        <a:rPr lang="en-US" altLang="zh-TW" sz="2000" dirty="0"/>
                        <a:t>)</a:t>
                      </a:r>
                      <a:r>
                        <a:rPr lang="zh-TW" altLang="en-US" sz="2000" dirty="0"/>
                        <a:t>作出風險判定。</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24753141"/>
                  </a:ext>
                </a:extLst>
              </a:tr>
              <a:tr h="0">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2000" b="1" dirty="0"/>
                        <a:t>TASK </a:t>
                      </a:r>
                      <a:r>
                        <a:rPr lang="en-US" sz="2000" b="1" dirty="0" smtClean="0"/>
                        <a:t>R-3:</a:t>
                      </a:r>
                      <a:r>
                        <a:rPr lang="zh-TW" altLang="en-US" sz="2000" b="1" dirty="0" smtClean="0"/>
                        <a:t>風險回應</a:t>
                      </a:r>
                      <a:endParaRPr 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altLang="zh-TW" sz="2000" dirty="0"/>
                        <a:t>• </a:t>
                      </a:r>
                      <a:r>
                        <a:rPr lang="zh-TW" altLang="en-US" sz="2000" dirty="0"/>
                        <a:t>提供對已識別風險的應對措施</a:t>
                      </a:r>
                      <a:r>
                        <a:rPr lang="zh-TW" altLang="en-US" sz="2000" dirty="0" smtClean="0"/>
                        <a:t>。</a:t>
                      </a:r>
                      <a:endParaRPr 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52030564"/>
                  </a:ext>
                </a:extLst>
              </a:tr>
              <a:tr h="0">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2000" b="1" dirty="0"/>
                        <a:t>TASK </a:t>
                      </a:r>
                      <a:r>
                        <a:rPr lang="en-US" sz="2000" b="1" dirty="0" smtClean="0"/>
                        <a:t>R-4:</a:t>
                      </a:r>
                      <a:r>
                        <a:rPr lang="zh-TW" altLang="en-US" sz="2000" b="1" dirty="0" smtClean="0"/>
                        <a:t>授權決策</a:t>
                      </a:r>
                      <a:endParaRPr lang="en-US" sz="20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000" dirty="0" smtClean="0"/>
                        <a:t>系統</a:t>
                      </a:r>
                      <a:r>
                        <a:rPr lang="zh-TW" altLang="en-US" sz="2000" dirty="0"/>
                        <a:t>或共用控制的授權申請被核准或駁回。</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83468901"/>
                  </a:ext>
                </a:extLst>
              </a:tr>
              <a:tr h="0">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en-US" sz="2000" b="1" dirty="0"/>
                        <a:t>TASK </a:t>
                      </a:r>
                      <a:r>
                        <a:rPr lang="en-US" sz="2000" b="1" dirty="0" smtClean="0"/>
                        <a:t>R-5:</a:t>
                      </a:r>
                      <a:r>
                        <a:rPr lang="zh-TW" altLang="en-US" sz="2000" b="1" dirty="0" smtClean="0"/>
                        <a:t>授權報告</a:t>
                      </a:r>
                      <a:r>
                        <a:rPr lang="en-US" altLang="zh-TW" sz="1600" b="1" dirty="0" smtClean="0"/>
                        <a:t>(</a:t>
                      </a:r>
                      <a:r>
                        <a:rPr lang="en-US" sz="1600" b="1" dirty="0" smtClean="0"/>
                        <a:t>REPORTING)</a:t>
                      </a:r>
                      <a:endParaRPr lang="en-US" sz="1600" dirty="0"/>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914395" rtl="0" eaLnBrk="1" latinLnBrk="0" hangingPunct="1">
                        <a:defRPr sz="1800" kern="1200">
                          <a:solidFill>
                            <a:schemeClr val="tx1"/>
                          </a:solidFill>
                          <a:latin typeface="Aptos" panose="02110004020202020204"/>
                        </a:defRPr>
                      </a:lvl1pPr>
                      <a:lvl2pPr marL="457197" algn="l" defTabSz="914395" rtl="0" eaLnBrk="1" latinLnBrk="0" hangingPunct="1">
                        <a:defRPr sz="1800" kern="1200">
                          <a:solidFill>
                            <a:schemeClr val="tx1"/>
                          </a:solidFill>
                          <a:latin typeface="Aptos" panose="02110004020202020204"/>
                        </a:defRPr>
                      </a:lvl2pPr>
                      <a:lvl3pPr marL="914395" algn="l" defTabSz="914395" rtl="0" eaLnBrk="1" latinLnBrk="0" hangingPunct="1">
                        <a:defRPr sz="1800" kern="1200">
                          <a:solidFill>
                            <a:schemeClr val="tx1"/>
                          </a:solidFill>
                          <a:latin typeface="Aptos" panose="02110004020202020204"/>
                        </a:defRPr>
                      </a:lvl3pPr>
                      <a:lvl4pPr marL="1371592" algn="l" defTabSz="914395" rtl="0" eaLnBrk="1" latinLnBrk="0" hangingPunct="1">
                        <a:defRPr sz="1800" kern="1200">
                          <a:solidFill>
                            <a:schemeClr val="tx1"/>
                          </a:solidFill>
                          <a:latin typeface="Aptos" panose="02110004020202020204"/>
                        </a:defRPr>
                      </a:lvl4pPr>
                      <a:lvl5pPr marL="1828789" algn="l" defTabSz="914395" rtl="0" eaLnBrk="1" latinLnBrk="0" hangingPunct="1">
                        <a:defRPr sz="1800" kern="1200">
                          <a:solidFill>
                            <a:schemeClr val="tx1"/>
                          </a:solidFill>
                          <a:latin typeface="Aptos" panose="02110004020202020204"/>
                        </a:defRPr>
                      </a:lvl5pPr>
                      <a:lvl6pPr marL="2285987" algn="l" defTabSz="914395" rtl="0" eaLnBrk="1" latinLnBrk="0" hangingPunct="1">
                        <a:defRPr sz="1800" kern="1200">
                          <a:solidFill>
                            <a:schemeClr val="tx1"/>
                          </a:solidFill>
                          <a:latin typeface="Aptos" panose="02110004020202020204"/>
                        </a:defRPr>
                      </a:lvl6pPr>
                      <a:lvl7pPr marL="2743184" algn="l" defTabSz="914395" rtl="0" eaLnBrk="1" latinLnBrk="0" hangingPunct="1">
                        <a:defRPr sz="1800" kern="1200">
                          <a:solidFill>
                            <a:schemeClr val="tx1"/>
                          </a:solidFill>
                          <a:latin typeface="Aptos" panose="02110004020202020204"/>
                        </a:defRPr>
                      </a:lvl7pPr>
                      <a:lvl8pPr marL="3200381" algn="l" defTabSz="914395" rtl="0" eaLnBrk="1" latinLnBrk="0" hangingPunct="1">
                        <a:defRPr sz="1800" kern="1200">
                          <a:solidFill>
                            <a:schemeClr val="tx1"/>
                          </a:solidFill>
                          <a:latin typeface="Aptos" panose="02110004020202020204"/>
                        </a:defRPr>
                      </a:lvl8pPr>
                      <a:lvl9pPr marL="3657579" algn="l" defTabSz="914395" rtl="0" eaLnBrk="1" latinLnBrk="0" hangingPunct="1">
                        <a:defRPr sz="1800" kern="1200">
                          <a:solidFill>
                            <a:schemeClr val="tx1"/>
                          </a:solidFill>
                          <a:latin typeface="Aptos" panose="02110004020202020204"/>
                        </a:defRPr>
                      </a:lvl9pPr>
                    </a:lstStyle>
                    <a:p>
                      <a:pPr>
                        <a:buNone/>
                      </a:pPr>
                      <a:r>
                        <a:rPr lang="zh-TW" altLang="en-US" sz="2000" dirty="0" smtClean="0"/>
                        <a:t>將</a:t>
                      </a:r>
                      <a:r>
                        <a:rPr lang="zh-TW" altLang="en-US" sz="2000" dirty="0"/>
                        <a:t>授權決策、重大弱點與風險通報給組織主管。</a:t>
                      </a:r>
                    </a:p>
                  </a:txBody>
                  <a:tcPr anchor="ctr">
                    <a:lnL w="12700" cap="flat" cmpd="sng" algn="ctr">
                      <a:solidFill>
                        <a:sysClr val="windowText" lastClr="000000"/>
                      </a:solidFill>
                      <a:prstDash val="solid"/>
                      <a:round/>
                      <a:headEnd type="none" w="med" len="med"/>
                      <a:tailEnd type="none" w="med" len="med"/>
                    </a:lnL>
                    <a:lnR w="12700" cap="flat" cmpd="sng" algn="ctr">
                      <a:solidFill>
                        <a:sysClr val="windowText" lastClr="000000"/>
                      </a:solidFill>
                      <a:prstDash val="solid"/>
                      <a:round/>
                      <a:headEnd type="none" w="med" len="med"/>
                      <a:tailEnd type="none" w="med" len="med"/>
                    </a:lnR>
                    <a:lnT w="12700" cap="flat" cmpd="sng" algn="ctr">
                      <a:solidFill>
                        <a:sysClr val="windowText" lastClr="000000"/>
                      </a:solidFill>
                      <a:prstDash val="solid"/>
                      <a:round/>
                      <a:headEnd type="none" w="med" len="med"/>
                      <a:tailEnd type="none" w="med" len="med"/>
                    </a:lnT>
                    <a:lnB w="12700" cap="flat" cmpd="sng" algn="ctr">
                      <a:solidFill>
                        <a:sysClr val="windowText" lastClr="000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169652655"/>
                  </a:ext>
                </a:extLst>
              </a:tr>
            </a:tbl>
          </a:graphicData>
        </a:graphic>
      </p:graphicFrame>
    </p:spTree>
    <p:extLst>
      <p:ext uri="{BB962C8B-B14F-4D97-AF65-F5344CB8AC3E}">
        <p14:creationId xmlns:p14="http://schemas.microsoft.com/office/powerpoint/2010/main" val="18322681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2"/>
          <p:cNvSpPr txBox="1">
            <a:spLocks/>
          </p:cNvSpPr>
          <p:nvPr/>
        </p:nvSpPr>
        <p:spPr bwMode="auto">
          <a:xfrm>
            <a:off x="919251" y="67400"/>
            <a:ext cx="7785825" cy="77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l" rtl="0" eaLnBrk="1" fontAlgn="base" hangingPunct="1">
              <a:spcBef>
                <a:spcPct val="0"/>
              </a:spcBef>
              <a:spcAft>
                <a:spcPct val="0"/>
              </a:spcAft>
              <a:defRPr kumimoji="1" sz="4000" b="1">
                <a:solidFill>
                  <a:srgbClr val="039C97"/>
                </a:solidFill>
                <a:latin typeface="+mj-ea"/>
                <a:ea typeface="+mj-ea"/>
                <a:cs typeface="+mj-cs"/>
              </a:defRPr>
            </a:lvl1pPr>
            <a:lvl2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2pPr>
            <a:lvl3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3pPr>
            <a:lvl4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4pPr>
            <a:lvl5pPr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5pPr>
            <a:lvl6pPr marL="457197"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6pPr>
            <a:lvl7pPr marL="914395"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7pPr>
            <a:lvl8pPr marL="1371592"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8pPr>
            <a:lvl9pPr marL="1828789" algn="l" rtl="0" eaLnBrk="1" fontAlgn="base" hangingPunct="1">
              <a:spcBef>
                <a:spcPct val="0"/>
              </a:spcBef>
              <a:spcAft>
                <a:spcPct val="0"/>
              </a:spcAft>
              <a:defRPr kumimoji="1" sz="4000" b="1">
                <a:solidFill>
                  <a:schemeClr val="accent2"/>
                </a:solidFill>
                <a:latin typeface="Times New Roman" pitchFamily="18" charset="0"/>
                <a:ea typeface="標楷體" pitchFamily="65" charset="-120"/>
              </a:defRPr>
            </a:lvl9pPr>
          </a:lstStyle>
          <a:p>
            <a:r>
              <a:rPr lang="en-US" altLang="zh-TW" kern="0" dirty="0" smtClean="0"/>
              <a:t>NIST </a:t>
            </a:r>
            <a:r>
              <a:rPr lang="zh-TW" altLang="en-US" kern="0" dirty="0" smtClean="0"/>
              <a:t>風險管理框架</a:t>
            </a:r>
            <a:r>
              <a:rPr lang="en-US" altLang="zh-TW" kern="0" dirty="0" smtClean="0"/>
              <a:t>(1/)</a:t>
            </a:r>
            <a:endParaRPr lang="zh-TW" altLang="en-US" kern="0" dirty="0"/>
          </a:p>
        </p:txBody>
      </p:sp>
      <p:sp>
        <p:nvSpPr>
          <p:cNvPr id="3" name="文字方塊 2">
            <a:extLst>
              <a:ext uri="{FF2B5EF4-FFF2-40B4-BE49-F238E27FC236}">
                <a16:creationId xmlns:a16="http://schemas.microsoft.com/office/drawing/2014/main" id="{68D9A5CA-B3D4-96B4-2999-27CEB7BF36CF}"/>
              </a:ext>
            </a:extLst>
          </p:cNvPr>
          <p:cNvSpPr txBox="1"/>
          <p:nvPr/>
        </p:nvSpPr>
        <p:spPr>
          <a:xfrm>
            <a:off x="65081" y="985802"/>
            <a:ext cx="8941827" cy="1138773"/>
          </a:xfrm>
          <a:prstGeom prst="rect">
            <a:avLst/>
          </a:prstGeom>
          <a:noFill/>
          <a:ln w="28575">
            <a:solidFill>
              <a:schemeClr val="tx1"/>
            </a:solidFill>
          </a:ln>
        </p:spPr>
        <p:txBody>
          <a:bodyPr wrap="square">
            <a:spAutoFit/>
          </a:bodyPr>
          <a:lstStyle/>
          <a:p>
            <a:r>
              <a:rPr lang="en-US" altLang="zh-TW" sz="2400" b="1" dirty="0" smtClean="0"/>
              <a:t>Monitor</a:t>
            </a:r>
            <a:r>
              <a:rPr lang="zh-TW" altLang="en-US" sz="2400" b="1" dirty="0"/>
              <a:t>（監控） </a:t>
            </a:r>
            <a:r>
              <a:rPr lang="zh-TW" altLang="en-US" sz="2400" b="1" dirty="0" smtClean="0"/>
              <a:t>階段</a:t>
            </a:r>
            <a:endParaRPr lang="en-US" altLang="zh-TW" sz="2400" b="1" dirty="0" smtClean="0"/>
          </a:p>
          <a:p>
            <a:endParaRPr lang="en-US" altLang="zh-TW" sz="800" b="1" dirty="0" smtClean="0"/>
          </a:p>
          <a:p>
            <a:r>
              <a:rPr lang="zh-TW" altLang="en-US" dirty="0" smtClean="0"/>
              <a:t>持續</a:t>
            </a:r>
            <a:r>
              <a:rPr lang="zh-TW" altLang="en-US" dirty="0"/>
              <a:t>維持對資訊系統與組織之安全與隱私狀態的情境感知（</a:t>
            </a:r>
            <a:r>
              <a:rPr lang="en-US" altLang="zh-TW" dirty="0"/>
              <a:t>situational awareness</a:t>
            </a:r>
            <a:r>
              <a:rPr lang="zh-TW" altLang="en-US" dirty="0"/>
              <a:t>），以支援風險管理決策。</a:t>
            </a:r>
          </a:p>
        </p:txBody>
      </p:sp>
      <p:graphicFrame>
        <p:nvGraphicFramePr>
          <p:cNvPr id="4" name="表格 3">
            <a:extLst>
              <a:ext uri="{FF2B5EF4-FFF2-40B4-BE49-F238E27FC236}">
                <a16:creationId xmlns:a16="http://schemas.microsoft.com/office/drawing/2014/main" id="{DB3AC4BB-5F83-A4D2-268B-1D097C722F56}"/>
              </a:ext>
            </a:extLst>
          </p:cNvPr>
          <p:cNvGraphicFramePr>
            <a:graphicFrameLocks noGrp="1"/>
          </p:cNvGraphicFramePr>
          <p:nvPr>
            <p:extLst/>
          </p:nvPr>
        </p:nvGraphicFramePr>
        <p:xfrm>
          <a:off x="65082" y="2276872"/>
          <a:ext cx="8941827" cy="4270598"/>
        </p:xfrm>
        <a:graphic>
          <a:graphicData uri="http://schemas.openxmlformats.org/drawingml/2006/table">
            <a:tbl>
              <a:tblPr/>
              <a:tblGrid>
                <a:gridCol w="3037171">
                  <a:extLst>
                    <a:ext uri="{9D8B030D-6E8A-4147-A177-3AD203B41FA5}">
                      <a16:colId xmlns:a16="http://schemas.microsoft.com/office/drawing/2014/main" val="3350152293"/>
                    </a:ext>
                  </a:extLst>
                </a:gridCol>
                <a:gridCol w="5904656">
                  <a:extLst>
                    <a:ext uri="{9D8B030D-6E8A-4147-A177-3AD203B41FA5}">
                      <a16:colId xmlns:a16="http://schemas.microsoft.com/office/drawing/2014/main" val="421091263"/>
                    </a:ext>
                  </a:extLst>
                </a:gridCol>
              </a:tblGrid>
              <a:tr h="235207">
                <a:tc>
                  <a:txBody>
                    <a:bodyPr/>
                    <a:lstStyle/>
                    <a:p>
                      <a:pPr>
                        <a:buNone/>
                      </a:pPr>
                      <a:r>
                        <a:rPr lang="zh-TW" altLang="en-US" sz="2400" dirty="0"/>
                        <a:t>任務 </a:t>
                      </a:r>
                      <a:r>
                        <a:rPr lang="en-US" altLang="zh-TW" sz="2400" dirty="0"/>
                        <a:t>(</a:t>
                      </a:r>
                      <a:r>
                        <a:rPr lang="en-US" sz="2400" dirty="0"/>
                        <a:t>Tasks)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2400" dirty="0"/>
                        <a:t>成果 </a:t>
                      </a:r>
                      <a:r>
                        <a:rPr lang="en-US" altLang="zh-TW" sz="2400" dirty="0"/>
                        <a:t>(</a:t>
                      </a:r>
                      <a:r>
                        <a:rPr lang="en-US" sz="2400" dirty="0"/>
                        <a:t>Outcomes)</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34608647"/>
                  </a:ext>
                </a:extLst>
              </a:tr>
              <a:tr h="511542">
                <a:tc>
                  <a:txBody>
                    <a:bodyPr/>
                    <a:lstStyle/>
                    <a:p>
                      <a:pPr>
                        <a:buNone/>
                      </a:pPr>
                      <a:r>
                        <a:rPr lang="en-US" sz="1800" b="1" dirty="0"/>
                        <a:t>TASK M-1：</a:t>
                      </a:r>
                      <a:r>
                        <a:rPr lang="zh-TW" altLang="en-US" sz="1800" b="1" dirty="0"/>
                        <a:t>系統與環境</a:t>
                      </a:r>
                      <a:r>
                        <a:rPr lang="zh-TW" altLang="en-US" sz="1800" b="1" dirty="0" smtClean="0"/>
                        <a:t>變更</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根據</a:t>
                      </a:r>
                      <a:r>
                        <a:rPr lang="zh-TW" altLang="en-US" sz="1800" dirty="0"/>
                        <a:t>持續監控策略，監控資訊系統及其運作環境的變更</a:t>
                      </a:r>
                      <a:r>
                        <a:rPr lang="zh-TW" altLang="en-US" sz="1800" dirty="0" smtClean="0"/>
                        <a:t>。</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95149452"/>
                  </a:ext>
                </a:extLst>
              </a:tr>
              <a:tr h="504056">
                <a:tc>
                  <a:txBody>
                    <a:bodyPr/>
                    <a:lstStyle/>
                    <a:p>
                      <a:pPr>
                        <a:buNone/>
                      </a:pPr>
                      <a:r>
                        <a:rPr lang="en-US" sz="1800" b="1" dirty="0"/>
                        <a:t>TASK M-2：</a:t>
                      </a:r>
                      <a:r>
                        <a:rPr lang="zh-TW" altLang="en-US" sz="1800" b="1" dirty="0"/>
                        <a:t>持續性</a:t>
                      </a:r>
                      <a:r>
                        <a:rPr lang="zh-TW" altLang="en-US" sz="1800" b="1" dirty="0" smtClean="0"/>
                        <a:t>評鑑</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依據</a:t>
                      </a:r>
                      <a:r>
                        <a:rPr lang="zh-TW" altLang="en-US" sz="1800" dirty="0"/>
                        <a:t>持續監控策略，持續執行控制措施的有效性評估</a:t>
                      </a:r>
                      <a:r>
                        <a:rPr lang="zh-TW" altLang="en-US" sz="1800" dirty="0" smtClean="0"/>
                        <a:t>。</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06791033"/>
                  </a:ext>
                </a:extLst>
              </a:tr>
              <a:tr h="504056">
                <a:tc>
                  <a:txBody>
                    <a:bodyPr/>
                    <a:lstStyle/>
                    <a:p>
                      <a:pPr>
                        <a:buNone/>
                      </a:pPr>
                      <a:r>
                        <a:rPr lang="en-US" sz="1800" b="1" dirty="0"/>
                        <a:t>TASK M-3：</a:t>
                      </a:r>
                      <a:r>
                        <a:rPr lang="zh-TW" altLang="en-US" sz="1800" b="1" dirty="0"/>
                        <a:t>持續性風險</a:t>
                      </a:r>
                      <a:r>
                        <a:rPr lang="zh-TW" altLang="en-US" sz="1800" b="1" dirty="0" smtClean="0"/>
                        <a:t>回應</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分析</a:t>
                      </a:r>
                      <a:r>
                        <a:rPr lang="zh-TW" altLang="en-US" sz="1800" dirty="0"/>
                        <a:t>持續監控活動的結果，並對已識別風險採取適當回應</a:t>
                      </a:r>
                      <a:r>
                        <a:rPr lang="zh-TW" altLang="en-US" sz="1800" dirty="0" smtClean="0"/>
                        <a:t>。</a:t>
                      </a:r>
                      <a:endParaRPr lang="en-US" altLang="zh-TW" sz="1800" b="1"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60150856"/>
                  </a:ext>
                </a:extLst>
              </a:tr>
              <a:tr h="504056">
                <a:tc>
                  <a:txBody>
                    <a:bodyPr/>
                    <a:lstStyle/>
                    <a:p>
                      <a:pPr>
                        <a:buNone/>
                      </a:pPr>
                      <a:r>
                        <a:rPr lang="en-US" sz="1800" b="1" dirty="0"/>
                        <a:t>TASK M-4：</a:t>
                      </a:r>
                      <a:r>
                        <a:rPr lang="zh-TW" altLang="en-US" sz="1800" b="1" dirty="0"/>
                        <a:t>授權文件</a:t>
                      </a:r>
                      <a:r>
                        <a:rPr lang="zh-TW" altLang="en-US" sz="1800" b="1" dirty="0" smtClean="0"/>
                        <a:t>更新</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根據</a:t>
                      </a:r>
                      <a:r>
                        <a:rPr lang="zh-TW" altLang="en-US" sz="1800" dirty="0"/>
                        <a:t>持續監控活動的結果，更新風險管理文件。</a:t>
                      </a:r>
                      <a:r>
                        <a:rPr lang="en-US" altLang="zh-TW" sz="1800" b="1" dirty="0" smtClean="0"/>
                        <a:t>[</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25564652"/>
                  </a:ext>
                </a:extLst>
              </a:tr>
              <a:tr h="588019">
                <a:tc>
                  <a:txBody>
                    <a:bodyPr/>
                    <a:lstStyle/>
                    <a:p>
                      <a:pPr>
                        <a:buNone/>
                      </a:pPr>
                      <a:r>
                        <a:rPr lang="en-US" sz="1800" b="1" dirty="0"/>
                        <a:t>TASK M-5：</a:t>
                      </a:r>
                      <a:r>
                        <a:rPr lang="zh-TW" altLang="en-US" sz="1800" b="1" dirty="0"/>
                        <a:t>安全與隱私</a:t>
                      </a:r>
                      <a:r>
                        <a:rPr lang="zh-TW" altLang="en-US" sz="1800" b="1" dirty="0" smtClean="0"/>
                        <a:t>報告</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建立</a:t>
                      </a:r>
                      <a:r>
                        <a:rPr lang="zh-TW" altLang="en-US" sz="1800" dirty="0"/>
                        <a:t>流程，向授權官員及其他高層主管報告系統的安全與隱私狀態。</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21334124"/>
                  </a:ext>
                </a:extLst>
              </a:tr>
              <a:tr h="588019">
                <a:tc>
                  <a:txBody>
                    <a:bodyPr/>
                    <a:lstStyle/>
                    <a:p>
                      <a:pPr>
                        <a:buNone/>
                      </a:pPr>
                      <a:r>
                        <a:rPr lang="en-US" sz="1800" b="1" dirty="0"/>
                        <a:t>TASK M-6：</a:t>
                      </a:r>
                      <a:r>
                        <a:rPr lang="zh-TW" altLang="en-US" sz="1800" b="1" dirty="0"/>
                        <a:t>持續</a:t>
                      </a:r>
                      <a:r>
                        <a:rPr lang="zh-TW" altLang="en-US" sz="1800" b="1" dirty="0" smtClean="0"/>
                        <a:t>授權</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授權</a:t>
                      </a:r>
                      <a:r>
                        <a:rPr lang="zh-TW" altLang="en-US" sz="1800" dirty="0"/>
                        <a:t>官員根據持續監控結果執行持續授權，並傳達風險判定與接受決策的變更。</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1173870"/>
                  </a:ext>
                </a:extLst>
              </a:tr>
              <a:tr h="411613">
                <a:tc>
                  <a:txBody>
                    <a:bodyPr/>
                    <a:lstStyle/>
                    <a:p>
                      <a:pPr>
                        <a:buNone/>
                      </a:pPr>
                      <a:r>
                        <a:rPr lang="en-US" sz="1800" b="1" dirty="0"/>
                        <a:t>TASK M-7：</a:t>
                      </a:r>
                      <a:r>
                        <a:rPr lang="zh-TW" altLang="en-US" sz="1800" b="1" dirty="0"/>
                        <a:t>系統</a:t>
                      </a:r>
                      <a:r>
                        <a:rPr lang="zh-TW" altLang="en-US" sz="1800" b="1" dirty="0" smtClean="0"/>
                        <a:t>處置</a:t>
                      </a:r>
                      <a:endParaRPr lang="en-US" sz="1800" dirty="0"/>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zh-TW" altLang="en-US" sz="1800" dirty="0" smtClean="0"/>
                        <a:t>制定</a:t>
                      </a:r>
                      <a:r>
                        <a:rPr lang="zh-TW" altLang="en-US" sz="1800" dirty="0"/>
                        <a:t>並實施系統處置策略，視需求執行系統退役與相關作業。</a:t>
                      </a:r>
                    </a:p>
                  </a:txBody>
                  <a:tcPr marL="58802" marR="58802" marT="29401" marB="29401"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190308257"/>
                  </a:ext>
                </a:extLst>
              </a:tr>
            </a:tbl>
          </a:graphicData>
        </a:graphic>
      </p:graphicFrame>
    </p:spTree>
    <p:extLst>
      <p:ext uri="{BB962C8B-B14F-4D97-AF65-F5344CB8AC3E}">
        <p14:creationId xmlns:p14="http://schemas.microsoft.com/office/powerpoint/2010/main" val="1390806966"/>
      </p:ext>
    </p:extLst>
  </p:cSld>
  <p:clrMapOvr>
    <a:masterClrMapping/>
  </p:clrMapOvr>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241</TotalTime>
  <Words>12057</Words>
  <Application>Microsoft Office PowerPoint</Application>
  <PresentationFormat>如螢幕大小 (4:3)</PresentationFormat>
  <Paragraphs>1296</Paragraphs>
  <Slides>66</Slides>
  <Notes>48</Notes>
  <HiddenSlides>0</HiddenSlides>
  <MMClips>0</MMClips>
  <ScaleCrop>false</ScaleCrop>
  <HeadingPairs>
    <vt:vector size="6" baseType="variant">
      <vt:variant>
        <vt:lpstr>使用字型</vt:lpstr>
      </vt:variant>
      <vt:variant>
        <vt:i4>19</vt:i4>
      </vt:variant>
      <vt:variant>
        <vt:lpstr>佈景主題</vt:lpstr>
      </vt:variant>
      <vt:variant>
        <vt:i4>1</vt:i4>
      </vt:variant>
      <vt:variant>
        <vt:lpstr>投影片標題</vt:lpstr>
      </vt:variant>
      <vt:variant>
        <vt:i4>66</vt:i4>
      </vt:variant>
    </vt:vector>
  </HeadingPairs>
  <TitlesOfParts>
    <vt:vector size="86" baseType="lpstr">
      <vt:lpstr>Aptos</vt:lpstr>
      <vt:lpstr>等线</vt:lpstr>
      <vt:lpstr>等线 Light</vt:lpstr>
      <vt:lpstr>Google Sans Text</vt:lpstr>
      <vt:lpstr>Monotype Sorts</vt:lpstr>
      <vt:lpstr>SimSun</vt:lpstr>
      <vt:lpstr>SimSun-18030</vt:lpstr>
      <vt:lpstr>游ゴシック</vt:lpstr>
      <vt:lpstr>微軟正黑體</vt:lpstr>
      <vt:lpstr>微軟正黑體</vt:lpstr>
      <vt:lpstr>PMingLiU</vt:lpstr>
      <vt:lpstr>PMingLiU</vt:lpstr>
      <vt:lpstr>標楷體</vt:lpstr>
      <vt:lpstr>Arial</vt:lpstr>
      <vt:lpstr>Calibri</vt:lpstr>
      <vt:lpstr>Calibri Light</vt:lpstr>
      <vt:lpstr>Segoe UI Symbol</vt:lpstr>
      <vt:lpstr>Times New Roman</vt:lpstr>
      <vt:lpstr>Wingdings</vt:lpstr>
      <vt:lpstr>Office 佈景主題</vt:lpstr>
      <vt:lpstr>Week2.ISMS  資訊安全管理系統</vt:lpstr>
      <vt:lpstr>Agenda</vt:lpstr>
      <vt:lpstr>Part A: ISMS 資訊安全管理系統</vt:lpstr>
      <vt:lpstr>資訊安全管理系統(1/3)</vt:lpstr>
      <vt:lpstr>資訊安全管理系統(2/3)</vt:lpstr>
      <vt:lpstr>資訊安全管理系統(3/3)</vt:lpstr>
      <vt:lpstr>CNS/ISO 27001(1/2)</vt:lpstr>
      <vt:lpstr>CNS/ISO 27001(2/2)</vt:lpstr>
      <vt:lpstr>NIST CSF(網路安全框架) (1/6)</vt:lpstr>
      <vt:lpstr>NIST CSF(網路安全框架) (2/6)</vt:lpstr>
      <vt:lpstr>NIST CSF(網路安全框架) (3/6)</vt:lpstr>
      <vt:lpstr>NIST CSF(網路安全框架) (4/6)</vt:lpstr>
      <vt:lpstr>NIST CSF(網路安全框架) (5/6)</vt:lpstr>
      <vt:lpstr>NIST CSF(網路安全框架) (6/6)</vt:lpstr>
      <vt:lpstr>Taiwan推動資訊安全管理系統的規範</vt:lpstr>
      <vt:lpstr>ISMS與安全控制措施</vt:lpstr>
      <vt:lpstr>安全控制措施類型</vt:lpstr>
      <vt:lpstr>安全控制措施框架(1/7)</vt:lpstr>
      <vt:lpstr>安全控制措施框架(2/7)</vt:lpstr>
      <vt:lpstr>安全控制措施框架(3/7)</vt:lpstr>
      <vt:lpstr>安全控制措施框架 (4/7)</vt:lpstr>
      <vt:lpstr>安全控制措施框架(5/7)</vt:lpstr>
      <vt:lpstr>安全控制措施框架(6/7)</vt:lpstr>
      <vt:lpstr>安全控制措施框架(7/7)</vt:lpstr>
      <vt:lpstr>安全控制措施與防護基準</vt:lpstr>
      <vt:lpstr>Part B  Risk management 風險管理</vt:lpstr>
      <vt:lpstr>風險(Risk)</vt:lpstr>
      <vt:lpstr>風險管理(Risk Management):</vt:lpstr>
      <vt:lpstr>不同類型的風險與風險管理</vt:lpstr>
      <vt:lpstr>資訊安全(Information Security)</vt:lpstr>
      <vt:lpstr>資訊安全風險(Risk)</vt:lpstr>
      <vt:lpstr>威脅、脆弱性及攻擊手法-範例</vt:lpstr>
      <vt:lpstr>威脅(Threat)</vt:lpstr>
      <vt:lpstr>威脅建模(Threat Modeling)(1/2)</vt:lpstr>
      <vt:lpstr>威脅建模(Threat Modeling)(2/2)</vt:lpstr>
      <vt:lpstr>脆弱性</vt:lpstr>
      <vt:lpstr>攻擊手法</vt:lpstr>
      <vt:lpstr>MITRE ATT&amp;CK框架(1/6)</vt:lpstr>
      <vt:lpstr>MITRE ATT&amp;CK框架(2/6)</vt:lpstr>
      <vt:lpstr>MITRE ATT&amp;CK框架(3/6)</vt:lpstr>
      <vt:lpstr>MITRE ATT&amp;CK框架(4/6)</vt:lpstr>
      <vt:lpstr>MITRE ATT&amp;CK框架(5/6)</vt:lpstr>
      <vt:lpstr>MITRE ATT&amp;CK框架(6/6)</vt:lpstr>
      <vt:lpstr>風險管理標準(1/2)</vt:lpstr>
      <vt:lpstr>PowerPoint 簡報</vt:lpstr>
      <vt:lpstr>PowerPoint 簡報</vt:lpstr>
      <vt:lpstr>PowerPoint 簡報</vt:lpstr>
      <vt:lpstr>PowerPoint 簡報</vt:lpstr>
      <vt:lpstr>PowerPoint 簡報</vt:lpstr>
      <vt:lpstr>風險管理框架內涵</vt:lpstr>
      <vt:lpstr>PowerPoint 簡報</vt:lpstr>
      <vt:lpstr>CNS 31010  風險評鑑技術 </vt:lpstr>
      <vt:lpstr>CNS 27001:2023與風險管理</vt:lpstr>
      <vt:lpstr>CNS 27001:2023對於風險管理要求</vt:lpstr>
      <vt:lpstr>CNS27005 管理資訊安全風險之指引</vt:lpstr>
      <vt:lpstr>ISO 31000 與ISO 27005比較</vt:lpstr>
      <vt:lpstr>政府機關風險管理架構(1/2)</vt:lpstr>
      <vt:lpstr>政府機關風險管理架構(2/2)</vt:lpstr>
      <vt:lpstr>NIST 風險管理框架(1/7)</vt:lpstr>
      <vt:lpstr>NIST 風險管理框架(2/7)</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ISMS 資訊安全管理系統</dc:title>
  <dc:creator>user</dc:creator>
  <cp:lastModifiedBy>user</cp:lastModifiedBy>
  <cp:revision>4</cp:revision>
  <dcterms:created xsi:type="dcterms:W3CDTF">2026-03-03T20:13:13Z</dcterms:created>
  <dcterms:modified xsi:type="dcterms:W3CDTF">2026-03-04T00:14:52Z</dcterms:modified>
</cp:coreProperties>
</file>