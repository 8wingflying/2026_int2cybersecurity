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329" r:id="rId2"/>
    <p:sldId id="261" r:id="rId3"/>
    <p:sldId id="269" r:id="rId4"/>
    <p:sldId id="313" r:id="rId5"/>
    <p:sldId id="271" r:id="rId6"/>
    <p:sldId id="273" r:id="rId7"/>
    <p:sldId id="274" r:id="rId8"/>
    <p:sldId id="275" r:id="rId9"/>
    <p:sldId id="276" r:id="rId10"/>
    <p:sldId id="314" r:id="rId11"/>
    <p:sldId id="278" r:id="rId12"/>
    <p:sldId id="280" r:id="rId13"/>
    <p:sldId id="281" r:id="rId14"/>
    <p:sldId id="320" r:id="rId15"/>
    <p:sldId id="282" r:id="rId16"/>
    <p:sldId id="284" r:id="rId17"/>
    <p:sldId id="285" r:id="rId18"/>
    <p:sldId id="286" r:id="rId19"/>
    <p:sldId id="315" r:id="rId20"/>
    <p:sldId id="330" r:id="rId21"/>
    <p:sldId id="292"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1" r:id="rId3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14" autoAdjust="0"/>
    <p:restoredTop sz="94660"/>
  </p:normalViewPr>
  <p:slideViewPr>
    <p:cSldViewPr snapToGrid="0">
      <p:cViewPr varScale="1">
        <p:scale>
          <a:sx n="68" d="100"/>
          <a:sy n="68" d="100"/>
        </p:scale>
        <p:origin x="1218"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80331E-C307-49C3-9B7B-48D0CCC9C445}" type="datetimeFigureOut">
              <a:rPr lang="zh-TW" altLang="en-US" smtClean="0"/>
              <a:t>2026/3/4</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707278-4022-4E54-B425-2353612A0460}" type="slidenum">
              <a:rPr lang="zh-TW" altLang="en-US" smtClean="0"/>
              <a:t>‹#›</a:t>
            </a:fld>
            <a:endParaRPr lang="zh-TW" altLang="en-US"/>
          </a:p>
        </p:txBody>
      </p:sp>
    </p:spTree>
    <p:extLst>
      <p:ext uri="{BB962C8B-B14F-4D97-AF65-F5344CB8AC3E}">
        <p14:creationId xmlns:p14="http://schemas.microsoft.com/office/powerpoint/2010/main" val="295164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9B6570EA-9095-4720-A15E-7625FD5BE882}" type="datetime1">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a:xfrm>
            <a:off x="5432258" y="6538913"/>
            <a:ext cx="3573379" cy="272550"/>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1168285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153402" y="82384"/>
            <a:ext cx="7886700" cy="477085"/>
          </a:xfrm>
        </p:spPr>
        <p:txBody>
          <a:bodyPr/>
          <a:lstStyle>
            <a:lvl1pPr>
              <a:defRPr sz="3200"/>
            </a:lvl1pPr>
          </a:lstStyle>
          <a:p>
            <a:r>
              <a:rPr lang="zh-TW" altLang="en-US" dirty="0"/>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F47EFC6-EC61-4F2C-8397-4C81C9B127B0}" type="datetime1">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a:xfrm>
            <a:off x="5540543" y="6538913"/>
            <a:ext cx="3513220" cy="224423"/>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cxnSp>
        <p:nvCxnSpPr>
          <p:cNvPr id="8" name="直線接點 7"/>
          <p:cNvCxnSpPr/>
          <p:nvPr userDrawn="1"/>
        </p:nvCxnSpPr>
        <p:spPr>
          <a:xfrm flipV="1">
            <a:off x="144379" y="541421"/>
            <a:ext cx="8777037" cy="36095"/>
          </a:xfrm>
          <a:prstGeom prst="line">
            <a:avLst/>
          </a:prstGeom>
          <a:ln w="571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254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1BE180C-7A45-43D2-A586-EAC7CD162B0B}" type="datetime1">
              <a:rPr lang="zh-TW" altLang="en-US" smtClean="0"/>
              <a:t>2026/3/4</a:t>
            </a:fld>
            <a:endParaRPr lang="zh-TW" altLang="en-US"/>
          </a:p>
        </p:txBody>
      </p:sp>
      <p:sp>
        <p:nvSpPr>
          <p:cNvPr id="5" name="Footer Placeholder 4"/>
          <p:cNvSpPr>
            <a:spLocks noGrp="1"/>
          </p:cNvSpPr>
          <p:nvPr>
            <p:ph type="ftr" sz="quarter" idx="11"/>
          </p:nvPr>
        </p:nvSpPr>
        <p:spPr>
          <a:xfrm>
            <a:off x="2806366" y="6356351"/>
            <a:ext cx="3086100" cy="365125"/>
          </a:xfrm>
        </p:spPr>
        <p:txBody>
          <a:bodyPr/>
          <a:lstStyle/>
          <a:p>
            <a:endParaRPr lang="zh-TW" altLang="en-US"/>
          </a:p>
        </p:txBody>
      </p:sp>
      <p:sp>
        <p:nvSpPr>
          <p:cNvPr id="6" name="Slide Number Placeholder 5"/>
          <p:cNvSpPr>
            <a:spLocks noGrp="1"/>
          </p:cNvSpPr>
          <p:nvPr>
            <p:ph type="sldNum" sz="quarter" idx="12"/>
          </p:nvPr>
        </p:nvSpPr>
        <p:spPr>
          <a:xfrm>
            <a:off x="5414210" y="6538913"/>
            <a:ext cx="3669631" cy="248487"/>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3712984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9DAA69E-7DCA-4BD3-94FB-985BA48DFEA4}" type="datetime1">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a:xfrm>
            <a:off x="5402179" y="6491037"/>
            <a:ext cx="3693694" cy="230439"/>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620429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A0E785F-F5AD-49F4-BA5F-26106B9A6EAF}" type="datetime1">
              <a:rPr lang="zh-TW" altLang="en-US" smtClean="0"/>
              <a:t>2026/3/4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a:xfrm>
            <a:off x="5588668" y="6538913"/>
            <a:ext cx="3489158" cy="266534"/>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2996022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6CA432F-E22A-4BE5-A0E2-ACAE0F00665D}" type="datetime1">
              <a:rPr lang="zh-TW" altLang="en-US" smtClean="0"/>
              <a:t>2026/3/4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a:xfrm>
            <a:off x="5576636" y="6497053"/>
            <a:ext cx="3489158" cy="224423"/>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766744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67C177-1C9E-493C-A42A-26452AC7964F}" type="datetime1">
              <a:rPr lang="zh-TW" altLang="en-US" smtClean="0"/>
              <a:t>2026/3/4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a:xfrm>
            <a:off x="5366085" y="6538913"/>
            <a:ext cx="3729789" cy="236455"/>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31885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CCCF54B9-E030-4E58-8CA2-31900689BEEA}" type="datetime1">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a:xfrm>
            <a:off x="5456321" y="6491037"/>
            <a:ext cx="3558339" cy="272550"/>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212889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ECBF3FE2-6E33-4C56-99A6-56DB3AB7EA97}" type="datetime1">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a:xfrm>
            <a:off x="5588668" y="6538913"/>
            <a:ext cx="3456071" cy="236455"/>
          </a:xfrm>
        </p:spPr>
        <p:txBody>
          <a:bodyPr/>
          <a:lstStyle/>
          <a:p>
            <a:r>
              <a:rPr lang="zh-TW" altLang="en-US" dirty="0"/>
              <a:t>資訊安全規劃實務</a:t>
            </a:r>
            <a:r>
              <a:rPr lang="en-US" altLang="zh-TW" dirty="0"/>
              <a:t>_</a:t>
            </a:r>
            <a:r>
              <a:rPr lang="zh-TW" altLang="en-US" dirty="0"/>
              <a:t>單元</a:t>
            </a:r>
            <a:r>
              <a:rPr lang="en-US" altLang="zh-TW" dirty="0"/>
              <a:t>1_</a:t>
            </a:r>
            <a:r>
              <a:rPr lang="zh-TW" altLang="en-US" dirty="0"/>
              <a:t>資訊安全管理系統</a:t>
            </a:r>
            <a:r>
              <a:rPr lang="en-US" altLang="zh-TW" dirty="0"/>
              <a:t>_ </a:t>
            </a:r>
            <a:fld id="{B6ED6842-2155-4AC2-A0D1-3136F8EBDE27}" type="slidenum">
              <a:rPr lang="zh-TW" altLang="en-US" smtClean="0"/>
              <a:t>‹#›</a:t>
            </a:fld>
            <a:endParaRPr lang="zh-TW" altLang="en-US" dirty="0"/>
          </a:p>
        </p:txBody>
      </p:sp>
    </p:spTree>
    <p:extLst>
      <p:ext uri="{BB962C8B-B14F-4D97-AF65-F5344CB8AC3E}">
        <p14:creationId xmlns:p14="http://schemas.microsoft.com/office/powerpoint/2010/main" val="806888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5F8FCAD-5279-4115-9C60-68A4B8EFE473}" type="datetime1">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6ED6842-2155-4AC2-A0D1-3136F8EBDE27}" type="slidenum">
              <a:rPr lang="zh-TW" altLang="en-US" smtClean="0"/>
              <a:t>‹#›</a:t>
            </a:fld>
            <a:endParaRPr lang="zh-TW" altLang="en-US"/>
          </a:p>
        </p:txBody>
      </p:sp>
    </p:spTree>
    <p:extLst>
      <p:ext uri="{BB962C8B-B14F-4D97-AF65-F5344CB8AC3E}">
        <p14:creationId xmlns:p14="http://schemas.microsoft.com/office/powerpoint/2010/main" val="3459936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3580EE00-F10E-47D6-A6CE-97CEA634C254}" type="datetime1">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6ED6842-2155-4AC2-A0D1-3136F8EBDE27}" type="slidenum">
              <a:rPr lang="zh-TW" altLang="en-US" smtClean="0"/>
              <a:t>‹#›</a:t>
            </a:fld>
            <a:endParaRPr lang="zh-TW" altLang="en-US"/>
          </a:p>
        </p:txBody>
      </p:sp>
    </p:spTree>
    <p:extLst>
      <p:ext uri="{BB962C8B-B14F-4D97-AF65-F5344CB8AC3E}">
        <p14:creationId xmlns:p14="http://schemas.microsoft.com/office/powerpoint/2010/main" val="1047185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CD833-E320-487A-AA7D-D65763D71C8B}" type="datetime1">
              <a:rPr lang="zh-TW" altLang="en-US" smtClean="0"/>
              <a:t>2026/3/4</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ED6842-2155-4AC2-A0D1-3136F8EBDE27}" type="slidenum">
              <a:rPr lang="zh-TW" altLang="en-US" smtClean="0"/>
              <a:t>‹#›</a:t>
            </a:fld>
            <a:endParaRPr lang="zh-TW" altLang="en-US"/>
          </a:p>
        </p:txBody>
      </p:sp>
    </p:spTree>
    <p:extLst>
      <p:ext uri="{BB962C8B-B14F-4D97-AF65-F5344CB8AC3E}">
        <p14:creationId xmlns:p14="http://schemas.microsoft.com/office/powerpoint/2010/main" val="83597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6.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F9C7B-83B2-4406-38C2-B260064F3F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BCE6D80-885A-15A2-F6C8-5C9B9CBF8574}"/>
              </a:ext>
            </a:extLst>
          </p:cNvPr>
          <p:cNvSpPr/>
          <p:nvPr/>
        </p:nvSpPr>
        <p:spPr>
          <a:xfrm rot="-5400000" flipH="1">
            <a:off x="6895038" y="-326782"/>
            <a:ext cx="1940038" cy="2557885"/>
          </a:xfrm>
          <a:custGeom>
            <a:avLst/>
            <a:gdLst/>
            <a:ahLst/>
            <a:cxnLst/>
            <a:rect l="l" t="t" r="r" b="b"/>
            <a:pathLst>
              <a:path w="2069374" h="2728411">
                <a:moveTo>
                  <a:pt x="2069375" y="0"/>
                </a:moveTo>
                <a:lnTo>
                  <a:pt x="0" y="0"/>
                </a:lnTo>
                <a:lnTo>
                  <a:pt x="0" y="2728411"/>
                </a:lnTo>
                <a:lnTo>
                  <a:pt x="2069375" y="2728411"/>
                </a:lnTo>
                <a:lnTo>
                  <a:pt x="2069375"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sz="1688"/>
          </a:p>
        </p:txBody>
      </p:sp>
      <p:sp>
        <p:nvSpPr>
          <p:cNvPr id="3" name="TextBox 3">
            <a:extLst>
              <a:ext uri="{FF2B5EF4-FFF2-40B4-BE49-F238E27FC236}">
                <a16:creationId xmlns:a16="http://schemas.microsoft.com/office/drawing/2014/main" id="{FAEF5489-C868-6B35-C32D-57EA341E2BD7}"/>
              </a:ext>
            </a:extLst>
          </p:cNvPr>
          <p:cNvSpPr txBox="1"/>
          <p:nvPr/>
        </p:nvSpPr>
        <p:spPr>
          <a:xfrm>
            <a:off x="0" y="216076"/>
            <a:ext cx="7971754" cy="1333698"/>
          </a:xfrm>
          <a:prstGeom prst="rect">
            <a:avLst/>
          </a:prstGeom>
        </p:spPr>
        <p:txBody>
          <a:bodyPr wrap="square" lIns="0" tIns="0" rIns="0" bIns="0" rtlCol="0" anchor="t">
            <a:spAutoFit/>
          </a:bodyPr>
          <a:lstStyle/>
          <a:p>
            <a:pPr algn="ctr">
              <a:lnSpc>
                <a:spcPts val="5216"/>
              </a:lnSpc>
            </a:pPr>
            <a:r>
              <a:rPr lang="zh-TW" altLang="en-US" sz="3750" b="1" dirty="0">
                <a:solidFill>
                  <a:srgbClr val="4F6228"/>
                </a:solidFill>
                <a:latin typeface="Microsoft JhengHei"/>
                <a:ea typeface="Microsoft JhengHei"/>
                <a:cs typeface="Microsoft JhengHei"/>
                <a:sym typeface="Microsoft JhengHei"/>
              </a:rPr>
              <a:t>國家級資訊安全推動方案</a:t>
            </a:r>
            <a:r>
              <a:rPr lang="en-US" altLang="zh-TW" sz="3750" b="1" dirty="0">
                <a:solidFill>
                  <a:srgbClr val="4F6228"/>
                </a:solidFill>
                <a:latin typeface="Microsoft JhengHei"/>
                <a:ea typeface="Microsoft JhengHei"/>
                <a:cs typeface="Microsoft JhengHei"/>
                <a:sym typeface="Microsoft JhengHei"/>
              </a:rPr>
              <a:t>:</a:t>
            </a:r>
            <a:r>
              <a:rPr lang="zh-TW" altLang="en-US" sz="3750" b="1" dirty="0">
                <a:solidFill>
                  <a:srgbClr val="4F6228"/>
                </a:solidFill>
                <a:latin typeface="Microsoft JhengHei"/>
                <a:ea typeface="Microsoft JhengHei"/>
                <a:cs typeface="Microsoft JhengHei"/>
                <a:sym typeface="Microsoft JhengHei"/>
              </a:rPr>
              <a:t/>
            </a:r>
            <a:br>
              <a:rPr lang="zh-TW" altLang="en-US" sz="3750" b="1" dirty="0">
                <a:solidFill>
                  <a:srgbClr val="4F6228"/>
                </a:solidFill>
                <a:latin typeface="Microsoft JhengHei"/>
                <a:ea typeface="Microsoft JhengHei"/>
                <a:cs typeface="Microsoft JhengHei"/>
                <a:sym typeface="Microsoft JhengHei"/>
              </a:rPr>
            </a:br>
            <a:r>
              <a:rPr lang="zh-TW" altLang="en-US" sz="3750" b="1" dirty="0">
                <a:solidFill>
                  <a:srgbClr val="4F6228"/>
                </a:solidFill>
                <a:latin typeface="Microsoft JhengHei"/>
                <a:ea typeface="Microsoft JhengHei"/>
                <a:cs typeface="Microsoft JhengHei"/>
                <a:sym typeface="Microsoft JhengHei"/>
              </a:rPr>
              <a:t>還要有</a:t>
            </a:r>
            <a:r>
              <a:rPr lang="en-US" altLang="zh-TW" sz="3750" b="1" dirty="0">
                <a:solidFill>
                  <a:srgbClr val="4F6228"/>
                </a:solidFill>
                <a:latin typeface="Microsoft JhengHei"/>
                <a:ea typeface="Microsoft JhengHei"/>
                <a:cs typeface="Microsoft JhengHei"/>
                <a:sym typeface="Microsoft JhengHei"/>
              </a:rPr>
              <a:t>ISMS|</a:t>
            </a:r>
            <a:r>
              <a:rPr lang="zh-TW" altLang="en-US" sz="3750" b="1" dirty="0">
                <a:solidFill>
                  <a:srgbClr val="4F6228"/>
                </a:solidFill>
                <a:latin typeface="Microsoft JhengHei"/>
                <a:ea typeface="Microsoft JhengHei"/>
                <a:cs typeface="Microsoft JhengHei"/>
                <a:sym typeface="Microsoft JhengHei"/>
              </a:rPr>
              <a:t>資訊安全管理系統</a:t>
            </a:r>
          </a:p>
        </p:txBody>
      </p:sp>
      <p:sp>
        <p:nvSpPr>
          <p:cNvPr id="4" name="AutoShape 4">
            <a:extLst>
              <a:ext uri="{FF2B5EF4-FFF2-40B4-BE49-F238E27FC236}">
                <a16:creationId xmlns:a16="http://schemas.microsoft.com/office/drawing/2014/main" id="{4B1B75E5-23B4-8E13-EDF1-AA63E26DB6C3}"/>
              </a:ext>
            </a:extLst>
          </p:cNvPr>
          <p:cNvSpPr/>
          <p:nvPr/>
        </p:nvSpPr>
        <p:spPr>
          <a:xfrm>
            <a:off x="205074" y="934300"/>
            <a:ext cx="6982496" cy="0"/>
          </a:xfrm>
          <a:prstGeom prst="line">
            <a:avLst/>
          </a:prstGeom>
          <a:ln w="38100" cap="flat">
            <a:solidFill>
              <a:srgbClr val="1B75BC"/>
            </a:solidFill>
            <a:prstDash val="solid"/>
            <a:headEnd type="none" w="sm" len="sm"/>
            <a:tailEnd type="none" w="sm" len="sm"/>
          </a:ln>
        </p:spPr>
        <p:txBody>
          <a:bodyPr/>
          <a:lstStyle/>
          <a:p>
            <a:endParaRPr lang="en-US" sz="1688"/>
          </a:p>
        </p:txBody>
      </p:sp>
      <p:pic>
        <p:nvPicPr>
          <p:cNvPr id="7" name="圖片 6">
            <a:extLst>
              <a:ext uri="{FF2B5EF4-FFF2-40B4-BE49-F238E27FC236}">
                <a16:creationId xmlns:a16="http://schemas.microsoft.com/office/drawing/2014/main" id="{815CAA3D-5B35-8705-27AD-1CBBAE468422}"/>
              </a:ext>
            </a:extLst>
          </p:cNvPr>
          <p:cNvPicPr>
            <a:picLocks noChangeAspect="1"/>
          </p:cNvPicPr>
          <p:nvPr/>
        </p:nvPicPr>
        <p:blipFill>
          <a:blip r:embed="rId4"/>
          <a:stretch>
            <a:fillRect/>
          </a:stretch>
        </p:blipFill>
        <p:spPr>
          <a:xfrm>
            <a:off x="562159" y="1518181"/>
            <a:ext cx="7559711" cy="2005210"/>
          </a:xfrm>
          <a:prstGeom prst="rect">
            <a:avLst/>
          </a:prstGeom>
        </p:spPr>
      </p:pic>
      <p:sp>
        <p:nvSpPr>
          <p:cNvPr id="8" name="矩形 7">
            <a:extLst>
              <a:ext uri="{FF2B5EF4-FFF2-40B4-BE49-F238E27FC236}">
                <a16:creationId xmlns:a16="http://schemas.microsoft.com/office/drawing/2014/main" id="{BB02EC11-E6FC-EEEA-B2D7-5EA7F0A5EDEE}"/>
              </a:ext>
            </a:extLst>
          </p:cNvPr>
          <p:cNvSpPr/>
          <p:nvPr/>
        </p:nvSpPr>
        <p:spPr>
          <a:xfrm>
            <a:off x="2455252" y="1633639"/>
            <a:ext cx="6088746" cy="294376"/>
          </a:xfrm>
          <a:prstGeom prst="rect">
            <a:avLst/>
          </a:prstGeom>
        </p:spPr>
        <p:txBody>
          <a:bodyPr wrap="square">
            <a:spAutoFit/>
          </a:bodyPr>
          <a:lstStyle/>
          <a:p>
            <a:r>
              <a:rPr lang="zh-TW" altLang="en-US" sz="1313" dirty="0"/>
              <a:t>資料來源</a:t>
            </a:r>
            <a:r>
              <a:rPr lang="en-US" altLang="zh-TW" sz="1313" dirty="0"/>
              <a:t>:</a:t>
            </a:r>
            <a:r>
              <a:rPr lang="zh-TW" altLang="en-US" sz="1313" dirty="0"/>
              <a:t> </a:t>
            </a:r>
            <a:r>
              <a:rPr lang="en-US" altLang="zh-TW" sz="1313" dirty="0"/>
              <a:t>https://www.slideshare.net/AndreyProzorov/iso-270012022-introduction</a:t>
            </a:r>
            <a:endParaRPr lang="zh-TW" altLang="en-US" sz="1313" dirty="0"/>
          </a:p>
        </p:txBody>
      </p:sp>
      <p:pic>
        <p:nvPicPr>
          <p:cNvPr id="9" name="圖片 8">
            <a:extLst>
              <a:ext uri="{FF2B5EF4-FFF2-40B4-BE49-F238E27FC236}">
                <a16:creationId xmlns:a16="http://schemas.microsoft.com/office/drawing/2014/main" id="{FC351686-4A26-9DB6-B2FA-8C19C05562BA}"/>
              </a:ext>
            </a:extLst>
          </p:cNvPr>
          <p:cNvPicPr>
            <a:picLocks noChangeAspect="1"/>
          </p:cNvPicPr>
          <p:nvPr/>
        </p:nvPicPr>
        <p:blipFill>
          <a:blip r:embed="rId5"/>
          <a:stretch>
            <a:fillRect/>
          </a:stretch>
        </p:blipFill>
        <p:spPr>
          <a:xfrm>
            <a:off x="3948776" y="3643230"/>
            <a:ext cx="558106" cy="1357313"/>
          </a:xfrm>
          <a:prstGeom prst="rect">
            <a:avLst/>
          </a:prstGeom>
        </p:spPr>
      </p:pic>
      <p:pic>
        <p:nvPicPr>
          <p:cNvPr id="10" name="圖片 9">
            <a:extLst>
              <a:ext uri="{FF2B5EF4-FFF2-40B4-BE49-F238E27FC236}">
                <a16:creationId xmlns:a16="http://schemas.microsoft.com/office/drawing/2014/main" id="{2B20F95B-A2CB-BCD4-94E0-400F598B0841}"/>
              </a:ext>
            </a:extLst>
          </p:cNvPr>
          <p:cNvPicPr>
            <a:picLocks noChangeAspect="1"/>
          </p:cNvPicPr>
          <p:nvPr/>
        </p:nvPicPr>
        <p:blipFill>
          <a:blip r:embed="rId5"/>
          <a:stretch>
            <a:fillRect/>
          </a:stretch>
        </p:blipFill>
        <p:spPr>
          <a:xfrm>
            <a:off x="4201229" y="5188642"/>
            <a:ext cx="558106" cy="1357313"/>
          </a:xfrm>
          <a:prstGeom prst="rect">
            <a:avLst/>
          </a:prstGeom>
        </p:spPr>
      </p:pic>
      <p:sp>
        <p:nvSpPr>
          <p:cNvPr id="12" name="文字方塊 11">
            <a:extLst>
              <a:ext uri="{FF2B5EF4-FFF2-40B4-BE49-F238E27FC236}">
                <a16:creationId xmlns:a16="http://schemas.microsoft.com/office/drawing/2014/main" id="{A08B21A5-F9F3-D2BB-9AFB-D9B341E2D78D}"/>
              </a:ext>
            </a:extLst>
          </p:cNvPr>
          <p:cNvSpPr txBox="1"/>
          <p:nvPr/>
        </p:nvSpPr>
        <p:spPr>
          <a:xfrm>
            <a:off x="271977" y="3505056"/>
            <a:ext cx="1428750" cy="352084"/>
          </a:xfrm>
          <a:prstGeom prst="rect">
            <a:avLst/>
          </a:prstGeom>
          <a:noFill/>
        </p:spPr>
        <p:txBody>
          <a:bodyPr wrap="square">
            <a:spAutoFit/>
          </a:bodyPr>
          <a:lstStyle/>
          <a:p>
            <a:r>
              <a:rPr lang="en-US" altLang="zh-TW" sz="1688" dirty="0"/>
              <a:t>ISO</a:t>
            </a:r>
            <a:r>
              <a:rPr lang="zh-TW" altLang="en-US" sz="1688" dirty="0"/>
              <a:t> 國際標準</a:t>
            </a:r>
            <a:endParaRPr lang="en-US" sz="1688" dirty="0"/>
          </a:p>
        </p:txBody>
      </p:sp>
      <p:pic>
        <p:nvPicPr>
          <p:cNvPr id="14" name="圖片 13">
            <a:extLst>
              <a:ext uri="{FF2B5EF4-FFF2-40B4-BE49-F238E27FC236}">
                <a16:creationId xmlns:a16="http://schemas.microsoft.com/office/drawing/2014/main" id="{A448E7FA-A46B-DAAA-10DC-284E309500DD}"/>
              </a:ext>
            </a:extLst>
          </p:cNvPr>
          <p:cNvPicPr>
            <a:picLocks noChangeAspect="1"/>
          </p:cNvPicPr>
          <p:nvPr/>
        </p:nvPicPr>
        <p:blipFill>
          <a:blip r:embed="rId6"/>
          <a:stretch>
            <a:fillRect/>
          </a:stretch>
        </p:blipFill>
        <p:spPr>
          <a:xfrm>
            <a:off x="348807" y="3876906"/>
            <a:ext cx="678751" cy="643028"/>
          </a:xfrm>
          <a:prstGeom prst="rect">
            <a:avLst/>
          </a:prstGeom>
        </p:spPr>
      </p:pic>
      <p:sp>
        <p:nvSpPr>
          <p:cNvPr id="16" name="文字方塊 15">
            <a:extLst>
              <a:ext uri="{FF2B5EF4-FFF2-40B4-BE49-F238E27FC236}">
                <a16:creationId xmlns:a16="http://schemas.microsoft.com/office/drawing/2014/main" id="{DBFB7FC0-68A1-1618-C211-6F06EDFFF7F7}"/>
              </a:ext>
            </a:extLst>
          </p:cNvPr>
          <p:cNvSpPr txBox="1"/>
          <p:nvPr/>
        </p:nvSpPr>
        <p:spPr>
          <a:xfrm>
            <a:off x="1054346" y="3874123"/>
            <a:ext cx="3096748" cy="611834"/>
          </a:xfrm>
          <a:prstGeom prst="rect">
            <a:avLst/>
          </a:prstGeom>
          <a:noFill/>
        </p:spPr>
        <p:txBody>
          <a:bodyPr wrap="square">
            <a:spAutoFit/>
          </a:bodyPr>
          <a:lstStyle/>
          <a:p>
            <a:r>
              <a:rPr lang="en-US" sz="1688" dirty="0"/>
              <a:t>ISO - International Organization for Standardization</a:t>
            </a:r>
          </a:p>
        </p:txBody>
      </p:sp>
      <p:sp>
        <p:nvSpPr>
          <p:cNvPr id="18" name="文字方塊 17">
            <a:extLst>
              <a:ext uri="{FF2B5EF4-FFF2-40B4-BE49-F238E27FC236}">
                <a16:creationId xmlns:a16="http://schemas.microsoft.com/office/drawing/2014/main" id="{8C0BED68-09C3-F3FC-E2BD-32204C07C4F9}"/>
              </a:ext>
            </a:extLst>
          </p:cNvPr>
          <p:cNvSpPr txBox="1"/>
          <p:nvPr/>
        </p:nvSpPr>
        <p:spPr>
          <a:xfrm>
            <a:off x="339877" y="4560761"/>
            <a:ext cx="3834374" cy="698333"/>
          </a:xfrm>
          <a:prstGeom prst="rect">
            <a:avLst/>
          </a:prstGeom>
          <a:noFill/>
        </p:spPr>
        <p:txBody>
          <a:bodyPr wrap="square">
            <a:spAutoFit/>
          </a:bodyPr>
          <a:lstStyle/>
          <a:p>
            <a:r>
              <a:rPr lang="en-US" sz="1688" dirty="0"/>
              <a:t>ISO/IEC 2700</a:t>
            </a:r>
            <a:r>
              <a:rPr lang="en-US" sz="1688" dirty="0">
                <a:solidFill>
                  <a:srgbClr val="FF0000"/>
                </a:solidFill>
              </a:rPr>
              <a:t>1</a:t>
            </a:r>
            <a:r>
              <a:rPr lang="en-US" sz="1688" dirty="0"/>
              <a:t>:2022</a:t>
            </a:r>
          </a:p>
          <a:p>
            <a:r>
              <a:rPr lang="en-US" sz="1125" dirty="0"/>
              <a:t>Information security, cybersecurity and privacy protection — Information security management systems — Requirements</a:t>
            </a:r>
          </a:p>
        </p:txBody>
      </p:sp>
      <p:sp>
        <p:nvSpPr>
          <p:cNvPr id="20" name="文字方塊 19">
            <a:extLst>
              <a:ext uri="{FF2B5EF4-FFF2-40B4-BE49-F238E27FC236}">
                <a16:creationId xmlns:a16="http://schemas.microsoft.com/office/drawing/2014/main" id="{4312CD80-10F2-D57E-DD76-E54CB1383505}"/>
              </a:ext>
            </a:extLst>
          </p:cNvPr>
          <p:cNvSpPr txBox="1"/>
          <p:nvPr/>
        </p:nvSpPr>
        <p:spPr>
          <a:xfrm>
            <a:off x="375596" y="5278143"/>
            <a:ext cx="4131286" cy="756169"/>
          </a:xfrm>
          <a:prstGeom prst="rect">
            <a:avLst/>
          </a:prstGeom>
          <a:noFill/>
        </p:spPr>
        <p:txBody>
          <a:bodyPr wrap="square">
            <a:spAutoFit/>
          </a:bodyPr>
          <a:lstStyle/>
          <a:p>
            <a:r>
              <a:rPr lang="en-US" sz="1688" dirty="0"/>
              <a:t>ISO/IEC 2700</a:t>
            </a:r>
            <a:r>
              <a:rPr lang="en-US" sz="1688" dirty="0">
                <a:solidFill>
                  <a:srgbClr val="FF0000"/>
                </a:solidFill>
              </a:rPr>
              <a:t>2</a:t>
            </a:r>
            <a:r>
              <a:rPr lang="en-US" sz="1688" dirty="0"/>
              <a:t>:2022</a:t>
            </a:r>
          </a:p>
          <a:p>
            <a:r>
              <a:rPr lang="en-US" sz="1313" dirty="0"/>
              <a:t>Information security, cybersecurity and privacy protection — Information security controls</a:t>
            </a:r>
          </a:p>
        </p:txBody>
      </p:sp>
      <p:sp>
        <p:nvSpPr>
          <p:cNvPr id="22" name="文字方塊 21">
            <a:extLst>
              <a:ext uri="{FF2B5EF4-FFF2-40B4-BE49-F238E27FC236}">
                <a16:creationId xmlns:a16="http://schemas.microsoft.com/office/drawing/2014/main" id="{AD488BF2-99DC-AFD7-B14C-8FC3609A20E5}"/>
              </a:ext>
            </a:extLst>
          </p:cNvPr>
          <p:cNvSpPr txBox="1"/>
          <p:nvPr/>
        </p:nvSpPr>
        <p:spPr>
          <a:xfrm>
            <a:off x="406849" y="6134678"/>
            <a:ext cx="3894649" cy="698333"/>
          </a:xfrm>
          <a:prstGeom prst="rect">
            <a:avLst/>
          </a:prstGeom>
          <a:noFill/>
        </p:spPr>
        <p:txBody>
          <a:bodyPr wrap="square">
            <a:spAutoFit/>
          </a:bodyPr>
          <a:lstStyle/>
          <a:p>
            <a:r>
              <a:rPr lang="en-US" sz="1688" dirty="0"/>
              <a:t>ISO/IEC 2700</a:t>
            </a:r>
            <a:r>
              <a:rPr lang="en-US" sz="1688" b="1" dirty="0">
                <a:solidFill>
                  <a:srgbClr val="FF0000"/>
                </a:solidFill>
                <a:effectLst>
                  <a:outerShdw blurRad="38100" dist="38100" dir="2700000" algn="tl">
                    <a:srgbClr val="000000">
                      <a:alpha val="43137"/>
                    </a:srgbClr>
                  </a:outerShdw>
                </a:effectLst>
              </a:rPr>
              <a:t>5</a:t>
            </a:r>
            <a:r>
              <a:rPr lang="en-US" sz="1688" dirty="0"/>
              <a:t>:2022</a:t>
            </a:r>
          </a:p>
          <a:p>
            <a:r>
              <a:rPr lang="en-US" sz="1125" dirty="0"/>
              <a:t>Information security, cybersecurity and privacy protection — Guidance on managing information security risks</a:t>
            </a:r>
          </a:p>
        </p:txBody>
      </p:sp>
      <p:sp>
        <p:nvSpPr>
          <p:cNvPr id="24" name="文字方塊 23">
            <a:extLst>
              <a:ext uri="{FF2B5EF4-FFF2-40B4-BE49-F238E27FC236}">
                <a16:creationId xmlns:a16="http://schemas.microsoft.com/office/drawing/2014/main" id="{729D58DC-07AE-F1B0-3F90-187FF5B9E4D1}"/>
              </a:ext>
            </a:extLst>
          </p:cNvPr>
          <p:cNvSpPr txBox="1"/>
          <p:nvPr/>
        </p:nvSpPr>
        <p:spPr>
          <a:xfrm>
            <a:off x="4636456" y="4225533"/>
            <a:ext cx="4572000" cy="352084"/>
          </a:xfrm>
          <a:prstGeom prst="rect">
            <a:avLst/>
          </a:prstGeom>
          <a:noFill/>
        </p:spPr>
        <p:txBody>
          <a:bodyPr wrap="square">
            <a:spAutoFit/>
          </a:bodyPr>
          <a:lstStyle/>
          <a:p>
            <a:r>
              <a:rPr lang="en-US" altLang="zh-TW" sz="1688" dirty="0"/>
              <a:t> </a:t>
            </a:r>
            <a:r>
              <a:rPr lang="en-US" altLang="zh-TW" sz="1688" b="1" dirty="0">
                <a:effectLst>
                  <a:outerShdw blurRad="38100" dist="38100" dir="2700000" algn="tl">
                    <a:srgbClr val="000000">
                      <a:alpha val="43137"/>
                    </a:srgbClr>
                  </a:outerShdw>
                </a:effectLst>
              </a:rPr>
              <a:t>National Institute of Standards and Technology</a:t>
            </a:r>
            <a:endParaRPr lang="zh-TW" altLang="en-US" sz="1688" b="1" dirty="0">
              <a:effectLst>
                <a:outerShdw blurRad="38100" dist="38100" dir="2700000" algn="tl">
                  <a:srgbClr val="000000">
                    <a:alpha val="43137"/>
                  </a:srgbClr>
                </a:outerShdw>
              </a:effectLst>
            </a:endParaRPr>
          </a:p>
        </p:txBody>
      </p:sp>
      <p:pic>
        <p:nvPicPr>
          <p:cNvPr id="26" name="圖片 25">
            <a:extLst>
              <a:ext uri="{FF2B5EF4-FFF2-40B4-BE49-F238E27FC236}">
                <a16:creationId xmlns:a16="http://schemas.microsoft.com/office/drawing/2014/main" id="{B72FC213-7863-AB8A-D98F-1198D5185D75}"/>
              </a:ext>
            </a:extLst>
          </p:cNvPr>
          <p:cNvPicPr>
            <a:picLocks noChangeAspect="1"/>
          </p:cNvPicPr>
          <p:nvPr/>
        </p:nvPicPr>
        <p:blipFill>
          <a:blip r:embed="rId7"/>
          <a:stretch>
            <a:fillRect/>
          </a:stretch>
        </p:blipFill>
        <p:spPr>
          <a:xfrm>
            <a:off x="4786313" y="3638399"/>
            <a:ext cx="1643292" cy="607303"/>
          </a:xfrm>
          <a:prstGeom prst="rect">
            <a:avLst/>
          </a:prstGeom>
        </p:spPr>
      </p:pic>
      <p:sp>
        <p:nvSpPr>
          <p:cNvPr id="28" name="文字方塊 27">
            <a:extLst>
              <a:ext uri="{FF2B5EF4-FFF2-40B4-BE49-F238E27FC236}">
                <a16:creationId xmlns:a16="http://schemas.microsoft.com/office/drawing/2014/main" id="{260FEA38-7F11-C12D-0AEE-C1DCEB82E71B}"/>
              </a:ext>
            </a:extLst>
          </p:cNvPr>
          <p:cNvSpPr txBox="1"/>
          <p:nvPr/>
        </p:nvSpPr>
        <p:spPr>
          <a:xfrm>
            <a:off x="6456394" y="3608576"/>
            <a:ext cx="2415629" cy="611834"/>
          </a:xfrm>
          <a:prstGeom prst="rect">
            <a:avLst/>
          </a:prstGeom>
          <a:noFill/>
        </p:spPr>
        <p:txBody>
          <a:bodyPr wrap="square">
            <a:spAutoFit/>
          </a:bodyPr>
          <a:lstStyle/>
          <a:p>
            <a:r>
              <a:rPr lang="zh-TW" altLang="en-US" sz="1688" dirty="0"/>
              <a:t>隸屬美國商務部</a:t>
            </a:r>
            <a:endParaRPr lang="en-US" altLang="zh-TW" sz="1688" dirty="0"/>
          </a:p>
          <a:p>
            <a:r>
              <a:rPr lang="zh-TW" altLang="en-US" sz="1688" dirty="0"/>
              <a:t>國家標準與技術研究所</a:t>
            </a:r>
            <a:endParaRPr lang="en-US" sz="1688" dirty="0"/>
          </a:p>
        </p:txBody>
      </p:sp>
      <p:sp>
        <p:nvSpPr>
          <p:cNvPr id="30" name="文字方塊 29">
            <a:extLst>
              <a:ext uri="{FF2B5EF4-FFF2-40B4-BE49-F238E27FC236}">
                <a16:creationId xmlns:a16="http://schemas.microsoft.com/office/drawing/2014/main" id="{5F361BB7-8144-9C8F-2730-2B8557A21E75}"/>
              </a:ext>
            </a:extLst>
          </p:cNvPr>
          <p:cNvSpPr txBox="1"/>
          <p:nvPr/>
        </p:nvSpPr>
        <p:spPr>
          <a:xfrm>
            <a:off x="4793842" y="4742077"/>
            <a:ext cx="3834374" cy="352084"/>
          </a:xfrm>
          <a:prstGeom prst="rect">
            <a:avLst/>
          </a:prstGeom>
          <a:noFill/>
        </p:spPr>
        <p:txBody>
          <a:bodyPr wrap="square">
            <a:spAutoFit/>
          </a:bodyPr>
          <a:lstStyle/>
          <a:p>
            <a:r>
              <a:rPr lang="en-US" sz="1688" b="1" dirty="0">
                <a:effectLst>
                  <a:outerShdw blurRad="38100" dist="38100" dir="2700000" algn="tl">
                    <a:srgbClr val="000000">
                      <a:alpha val="43137"/>
                    </a:srgbClr>
                  </a:outerShdw>
                </a:effectLst>
              </a:rPr>
              <a:t>NIST CSF(Cybersecurity Framework)</a:t>
            </a:r>
            <a:r>
              <a:rPr lang="zh-TW" altLang="en-US" sz="1688" b="1" dirty="0">
                <a:effectLst>
                  <a:outerShdw blurRad="38100" dist="38100" dir="2700000" algn="tl">
                    <a:srgbClr val="000000">
                      <a:alpha val="43137"/>
                    </a:srgbClr>
                  </a:outerShdw>
                </a:effectLst>
              </a:rPr>
              <a:t>  </a:t>
            </a:r>
            <a:r>
              <a:rPr lang="en-US" altLang="zh-TW" sz="1688" b="1" dirty="0">
                <a:effectLst>
                  <a:outerShdw blurRad="38100" dist="38100" dir="2700000" algn="tl">
                    <a:srgbClr val="000000">
                      <a:alpha val="43137"/>
                    </a:srgbClr>
                  </a:outerShdw>
                </a:effectLst>
              </a:rPr>
              <a:t>2.0</a:t>
            </a:r>
            <a:endParaRPr lang="en-US" sz="1688" b="1" dirty="0">
              <a:effectLst>
                <a:outerShdw blurRad="38100" dist="38100" dir="2700000" algn="tl">
                  <a:srgbClr val="000000">
                    <a:alpha val="43137"/>
                  </a:srgbClr>
                </a:outerShdw>
              </a:effectLst>
            </a:endParaRPr>
          </a:p>
        </p:txBody>
      </p:sp>
      <p:pic>
        <p:nvPicPr>
          <p:cNvPr id="32" name="圖片 31">
            <a:extLst>
              <a:ext uri="{FF2B5EF4-FFF2-40B4-BE49-F238E27FC236}">
                <a16:creationId xmlns:a16="http://schemas.microsoft.com/office/drawing/2014/main" id="{26C5D4AD-7E57-CFDA-CAAE-2C03E6F013D4}"/>
              </a:ext>
            </a:extLst>
          </p:cNvPr>
          <p:cNvPicPr>
            <a:picLocks noChangeAspect="1"/>
          </p:cNvPicPr>
          <p:nvPr/>
        </p:nvPicPr>
        <p:blipFill>
          <a:blip r:embed="rId8"/>
          <a:stretch>
            <a:fillRect/>
          </a:stretch>
        </p:blipFill>
        <p:spPr>
          <a:xfrm>
            <a:off x="4822544" y="5839847"/>
            <a:ext cx="4199823" cy="303743"/>
          </a:xfrm>
          <a:prstGeom prst="rect">
            <a:avLst/>
          </a:prstGeom>
        </p:spPr>
      </p:pic>
      <p:sp>
        <p:nvSpPr>
          <p:cNvPr id="34" name="文字方塊 33">
            <a:extLst>
              <a:ext uri="{FF2B5EF4-FFF2-40B4-BE49-F238E27FC236}">
                <a16:creationId xmlns:a16="http://schemas.microsoft.com/office/drawing/2014/main" id="{C39F6CFC-2D63-720F-2342-1F956E314B79}"/>
              </a:ext>
            </a:extLst>
          </p:cNvPr>
          <p:cNvSpPr txBox="1"/>
          <p:nvPr/>
        </p:nvSpPr>
        <p:spPr>
          <a:xfrm>
            <a:off x="5232762" y="6134677"/>
            <a:ext cx="3535643" cy="352084"/>
          </a:xfrm>
          <a:prstGeom prst="rect">
            <a:avLst/>
          </a:prstGeom>
          <a:noFill/>
        </p:spPr>
        <p:txBody>
          <a:bodyPr wrap="square">
            <a:spAutoFit/>
          </a:bodyPr>
          <a:lstStyle/>
          <a:p>
            <a:r>
              <a:rPr lang="en-US" sz="1688" dirty="0"/>
              <a:t>NIST AI Risk Management Framework</a:t>
            </a:r>
          </a:p>
        </p:txBody>
      </p:sp>
      <p:sp>
        <p:nvSpPr>
          <p:cNvPr id="36" name="文字方塊 35">
            <a:extLst>
              <a:ext uri="{FF2B5EF4-FFF2-40B4-BE49-F238E27FC236}">
                <a16:creationId xmlns:a16="http://schemas.microsoft.com/office/drawing/2014/main" id="{636C3AAF-5E37-5914-9FCB-61172C44CD58}"/>
              </a:ext>
            </a:extLst>
          </p:cNvPr>
          <p:cNvSpPr txBox="1"/>
          <p:nvPr/>
        </p:nvSpPr>
        <p:spPr>
          <a:xfrm>
            <a:off x="4885944" y="5253258"/>
            <a:ext cx="3699023" cy="352084"/>
          </a:xfrm>
          <a:prstGeom prst="rect">
            <a:avLst/>
          </a:prstGeom>
          <a:noFill/>
        </p:spPr>
        <p:txBody>
          <a:bodyPr wrap="square">
            <a:spAutoFit/>
          </a:bodyPr>
          <a:lstStyle/>
          <a:p>
            <a:r>
              <a:rPr lang="en-US" sz="1688" b="1" dirty="0">
                <a:effectLst>
                  <a:outerShdw blurRad="38100" dist="38100" dir="2700000" algn="tl">
                    <a:srgbClr val="000000">
                      <a:alpha val="43137"/>
                    </a:srgbClr>
                  </a:outerShdw>
                </a:effectLst>
              </a:rPr>
              <a:t>NIST SP 800-53 | 53A | 53 B</a:t>
            </a:r>
          </a:p>
        </p:txBody>
      </p:sp>
      <p:cxnSp>
        <p:nvCxnSpPr>
          <p:cNvPr id="38" name="直線單箭頭接點 37">
            <a:extLst>
              <a:ext uri="{FF2B5EF4-FFF2-40B4-BE49-F238E27FC236}">
                <a16:creationId xmlns:a16="http://schemas.microsoft.com/office/drawing/2014/main" id="{9ADD0761-9FD6-E73A-594F-0674158A8862}"/>
              </a:ext>
            </a:extLst>
          </p:cNvPr>
          <p:cNvCxnSpPr>
            <a:cxnSpLocks/>
          </p:cNvCxnSpPr>
          <p:nvPr/>
        </p:nvCxnSpPr>
        <p:spPr>
          <a:xfrm>
            <a:off x="2393927" y="5500688"/>
            <a:ext cx="2492017"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投影片編號版面配置區 5"/>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a:t>
            </a:fld>
            <a:endParaRPr lang="zh-TW" altLang="en-US" dirty="0"/>
          </a:p>
        </p:txBody>
      </p:sp>
    </p:spTree>
    <p:extLst>
      <p:ext uri="{BB962C8B-B14F-4D97-AF65-F5344CB8AC3E}">
        <p14:creationId xmlns:p14="http://schemas.microsoft.com/office/powerpoint/2010/main" val="3092248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38181" y="130830"/>
            <a:ext cx="7886700" cy="795682"/>
          </a:xfrm>
        </p:spPr>
        <p:txBody>
          <a:bodyPr>
            <a:normAutofit fontScale="90000"/>
          </a:bodyPr>
          <a:lstStyle/>
          <a:p>
            <a:r>
              <a:rPr lang="en-US" altLang="zh-TW" sz="3600" dirty="0"/>
              <a:t>1.1.</a:t>
            </a:r>
            <a:r>
              <a:rPr lang="zh-TW" altLang="en-US" sz="3600" dirty="0"/>
              <a:t>資訊安全管理系統 </a:t>
            </a:r>
            <a:r>
              <a:rPr lang="en-US" altLang="zh-TW" sz="3600" dirty="0"/>
              <a:t>ISMS</a:t>
            </a:r>
            <a:br>
              <a:rPr lang="en-US" altLang="zh-TW" sz="3600" dirty="0"/>
            </a:br>
            <a:r>
              <a:rPr lang="en-US" altLang="zh-TW" dirty="0"/>
              <a:t>Information security management systems</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660063" y="979088"/>
            <a:ext cx="7178968" cy="1899493"/>
          </a:xfrm>
          <a:prstGeom prst="rect">
            <a:avLst/>
          </a:prstGeom>
        </p:spPr>
      </p:pic>
      <p:sp>
        <p:nvSpPr>
          <p:cNvPr id="6" name="矩形 5"/>
          <p:cNvSpPr/>
          <p:nvPr/>
        </p:nvSpPr>
        <p:spPr>
          <a:xfrm>
            <a:off x="238181" y="6486337"/>
            <a:ext cx="5829559" cy="276999"/>
          </a:xfrm>
          <a:prstGeom prst="rect">
            <a:avLst/>
          </a:prstGeom>
        </p:spPr>
        <p:txBody>
          <a:bodyPr wrap="square">
            <a:spAutoFit/>
          </a:bodyPr>
          <a:lstStyle/>
          <a:p>
            <a:r>
              <a:rPr lang="zh-TW" altLang="en-US" sz="1200" dirty="0"/>
              <a:t>資料來源</a:t>
            </a:r>
            <a:r>
              <a:rPr lang="en-US" altLang="zh-TW" sz="1200" dirty="0"/>
              <a:t>:</a:t>
            </a:r>
            <a:r>
              <a:rPr lang="zh-TW" altLang="en-US" sz="1200" dirty="0"/>
              <a:t> </a:t>
            </a:r>
            <a:r>
              <a:rPr lang="en-US" altLang="zh-TW" sz="1200" dirty="0"/>
              <a:t>https://www.slideshare.net/AndreyProzorov/iso-270012022-introduction</a:t>
            </a:r>
            <a:endParaRPr lang="zh-TW" altLang="en-US" sz="1200" dirty="0"/>
          </a:p>
        </p:txBody>
      </p:sp>
      <p:pic>
        <p:nvPicPr>
          <p:cNvPr id="7" name="圖片 6"/>
          <p:cNvPicPr>
            <a:picLocks noChangeAspect="1"/>
          </p:cNvPicPr>
          <p:nvPr/>
        </p:nvPicPr>
        <p:blipFill>
          <a:blip r:embed="rId3"/>
          <a:stretch>
            <a:fillRect/>
          </a:stretch>
        </p:blipFill>
        <p:spPr>
          <a:xfrm>
            <a:off x="2263878" y="2712922"/>
            <a:ext cx="6535073" cy="3747127"/>
          </a:xfrm>
          <a:prstGeom prst="rect">
            <a:avLst/>
          </a:prstGeom>
        </p:spPr>
      </p:pic>
      <p:sp>
        <p:nvSpPr>
          <p:cNvPr id="4" name="投影片編號版面配置區 3"/>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a:t>
            </a:fld>
            <a:endParaRPr lang="zh-TW" altLang="en-US" dirty="0"/>
          </a:p>
        </p:txBody>
      </p:sp>
    </p:spTree>
    <p:extLst>
      <p:ext uri="{BB962C8B-B14F-4D97-AF65-F5344CB8AC3E}">
        <p14:creationId xmlns:p14="http://schemas.microsoft.com/office/powerpoint/2010/main" val="164164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1793" y="0"/>
            <a:ext cx="3873011" cy="567801"/>
          </a:xfrm>
        </p:spPr>
        <p:txBody>
          <a:bodyPr>
            <a:normAutofit/>
          </a:bodyPr>
          <a:lstStyle/>
          <a:p>
            <a:r>
              <a:rPr lang="en-US" altLang="zh-TW" dirty="0"/>
              <a:t>ISO-27000</a:t>
            </a:r>
            <a:r>
              <a:rPr lang="zh-TW" altLang="en-US" dirty="0"/>
              <a:t>系列標準</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3696866036"/>
              </p:ext>
            </p:extLst>
          </p:nvPr>
        </p:nvGraphicFramePr>
        <p:xfrm>
          <a:off x="132825" y="567801"/>
          <a:ext cx="8920938" cy="5951220"/>
        </p:xfrm>
        <a:graphic>
          <a:graphicData uri="http://schemas.openxmlformats.org/drawingml/2006/table">
            <a:tbl>
              <a:tblPr firstRow="1" bandRow="1">
                <a:tableStyleId>{5C22544A-7EE6-4342-B048-85BDC9FD1C3A}</a:tableStyleId>
              </a:tblPr>
              <a:tblGrid>
                <a:gridCol w="1648786">
                  <a:extLst>
                    <a:ext uri="{9D8B030D-6E8A-4147-A177-3AD203B41FA5}">
                      <a16:colId xmlns:a16="http://schemas.microsoft.com/office/drawing/2014/main" val="2750438507"/>
                    </a:ext>
                  </a:extLst>
                </a:gridCol>
                <a:gridCol w="7272152">
                  <a:extLst>
                    <a:ext uri="{9D8B030D-6E8A-4147-A177-3AD203B41FA5}">
                      <a16:colId xmlns:a16="http://schemas.microsoft.com/office/drawing/2014/main" val="2075619327"/>
                    </a:ext>
                  </a:extLst>
                </a:gridCol>
              </a:tblGrid>
              <a:tr h="160020">
                <a:tc>
                  <a:txBody>
                    <a:bodyPr/>
                    <a:lstStyle/>
                    <a:p>
                      <a:endParaRPr lang="zh-TW" altLang="en-US" sz="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866069"/>
                  </a:ext>
                </a:extLst>
              </a:tr>
              <a:tr h="411480">
                <a:tc>
                  <a:txBody>
                    <a:bodyPr/>
                    <a:lstStyle/>
                    <a:p>
                      <a:r>
                        <a:rPr lang="en-US" altLang="zh-TW" sz="1400" dirty="0"/>
                        <a:t>ISO/IEC 27000:2018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 Information security management systems — </a:t>
                      </a:r>
                    </a:p>
                    <a:p>
                      <a:r>
                        <a:rPr lang="en-US" altLang="zh-TW" sz="1600" b="1" dirty="0">
                          <a:effectLst>
                            <a:outerShdw blurRad="38100" dist="38100" dir="2700000" algn="tl">
                              <a:srgbClr val="000000">
                                <a:alpha val="43137"/>
                              </a:srgbClr>
                            </a:outerShdw>
                          </a:effectLst>
                        </a:rPr>
                        <a:t>Overview and vocabulary </a:t>
                      </a:r>
                      <a:r>
                        <a:rPr lang="zh-TW" altLang="en-US" sz="1600" b="1" dirty="0">
                          <a:effectLst>
                            <a:outerShdw blurRad="38100" dist="38100" dir="2700000" algn="tl">
                              <a:srgbClr val="000000">
                                <a:alpha val="43137"/>
                              </a:srgbClr>
                            </a:outerShdw>
                          </a:effectLst>
                        </a:rPr>
                        <a:t>概述和詞彙</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86052290"/>
                  </a:ext>
                </a:extLst>
              </a:tr>
              <a:tr h="278130">
                <a:tc>
                  <a:txBody>
                    <a:bodyPr/>
                    <a:lstStyle/>
                    <a:p>
                      <a:r>
                        <a:rPr lang="en-US" altLang="zh-TW" sz="1400" b="0" i="0" kern="1200" dirty="0">
                          <a:solidFill>
                            <a:schemeClr val="dk1"/>
                          </a:solidFill>
                          <a:effectLst/>
                          <a:latin typeface="+mn-lt"/>
                          <a:ea typeface="+mn-ea"/>
                          <a:cs typeface="+mn-cs"/>
                        </a:rPr>
                        <a:t>ISO/IEC 27001:2022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b="0" i="0" kern="1200" dirty="0">
                          <a:solidFill>
                            <a:schemeClr val="dk1"/>
                          </a:solidFill>
                          <a:effectLst/>
                          <a:latin typeface="+mn-lt"/>
                          <a:ea typeface="+mn-ea"/>
                          <a:cs typeface="+mn-cs"/>
                        </a:rPr>
                        <a:t>Information security management systems ---- </a:t>
                      </a:r>
                      <a:r>
                        <a:rPr lang="en-US" altLang="zh-TW" sz="1600" b="1" i="0" kern="1200" dirty="0">
                          <a:solidFill>
                            <a:srgbClr val="FF0000"/>
                          </a:solidFill>
                          <a:effectLst>
                            <a:outerShdw blurRad="38100" dist="38100" dir="2700000" algn="tl">
                              <a:srgbClr val="000000">
                                <a:alpha val="43137"/>
                              </a:srgbClr>
                            </a:outerShdw>
                          </a:effectLst>
                          <a:latin typeface="+mn-lt"/>
                          <a:ea typeface="+mn-ea"/>
                          <a:cs typeface="+mn-cs"/>
                        </a:rPr>
                        <a:t>Requirements</a:t>
                      </a:r>
                      <a:r>
                        <a:rPr lang="zh-TW" altLang="en-US" sz="1600" b="1" i="0" kern="1200" dirty="0">
                          <a:solidFill>
                            <a:srgbClr val="FF0000"/>
                          </a:solidFill>
                          <a:effectLst>
                            <a:outerShdw blurRad="38100" dist="38100" dir="2700000" algn="tl">
                              <a:srgbClr val="000000">
                                <a:alpha val="43137"/>
                              </a:srgbClr>
                            </a:outerShdw>
                          </a:effectLst>
                          <a:latin typeface="+mn-lt"/>
                          <a:ea typeface="+mn-ea"/>
                          <a:cs typeface="+mn-cs"/>
                        </a:rPr>
                        <a:t>   要求</a:t>
                      </a:r>
                      <a:endParaRPr lang="zh-TW" altLang="en-US" sz="1600" b="1" dirty="0">
                        <a:solidFill>
                          <a:srgbClr val="FF000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7487344"/>
                  </a:ext>
                </a:extLst>
              </a:tr>
              <a:tr h="1097280">
                <a:tc>
                  <a:txBody>
                    <a:bodyPr/>
                    <a:lstStyle/>
                    <a:p>
                      <a:r>
                        <a:rPr lang="en-US" altLang="zh-TW" sz="1400" b="0" i="0" kern="1200" dirty="0">
                          <a:solidFill>
                            <a:schemeClr val="dk1"/>
                          </a:solidFill>
                          <a:effectLst/>
                          <a:latin typeface="+mn-lt"/>
                          <a:ea typeface="+mn-ea"/>
                          <a:cs typeface="+mn-cs"/>
                        </a:rPr>
                        <a:t>IS0/IEC 27002:2022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b="0" i="0" kern="1200" dirty="0">
                          <a:solidFill>
                            <a:schemeClr val="dk1"/>
                          </a:solidFill>
                          <a:effectLst/>
                          <a:latin typeface="+mn-lt"/>
                          <a:ea typeface="+mn-ea"/>
                          <a:cs typeface="+mn-cs"/>
                        </a:rPr>
                        <a:t> Information security, cybersecurity and privacy protection — </a:t>
                      </a:r>
                      <a:r>
                        <a:rPr lang="en-US" altLang="zh-TW" sz="1600" b="1" i="0" kern="1200" dirty="0">
                          <a:solidFill>
                            <a:srgbClr val="0070C0"/>
                          </a:solidFill>
                          <a:effectLst>
                            <a:outerShdw blurRad="38100" dist="38100" dir="2700000" algn="tl">
                              <a:srgbClr val="000000">
                                <a:alpha val="43137"/>
                              </a:srgbClr>
                            </a:outerShdw>
                          </a:effectLst>
                          <a:latin typeface="+mn-lt"/>
                          <a:ea typeface="+mn-ea"/>
                          <a:cs typeface="+mn-cs"/>
                        </a:rPr>
                        <a:t>Information security controls</a:t>
                      </a:r>
                      <a:r>
                        <a:rPr lang="zh-TW" altLang="en-US" sz="1600" b="1" i="0" kern="1200" dirty="0">
                          <a:solidFill>
                            <a:srgbClr val="0070C0"/>
                          </a:solidFill>
                          <a:effectLst>
                            <a:outerShdw blurRad="38100" dist="38100" dir="2700000" algn="tl">
                              <a:srgbClr val="000000">
                                <a:alpha val="43137"/>
                              </a:srgbClr>
                            </a:outerShdw>
                          </a:effectLst>
                          <a:latin typeface="+mn-lt"/>
                          <a:ea typeface="+mn-ea"/>
                          <a:cs typeface="+mn-cs"/>
                        </a:rPr>
                        <a:t>     安全控制措施</a:t>
                      </a:r>
                      <a:endParaRPr lang="en-US" altLang="zh-TW" sz="1600" b="1" i="0" kern="1200" dirty="0">
                        <a:solidFill>
                          <a:srgbClr val="0070C0"/>
                        </a:solidFill>
                        <a:effectLst>
                          <a:outerShdw blurRad="38100" dist="38100" dir="2700000" algn="tl">
                            <a:srgbClr val="000000">
                              <a:alpha val="43137"/>
                            </a:srgbClr>
                          </a:outerShdw>
                        </a:effectLst>
                        <a:latin typeface="+mn-lt"/>
                        <a:ea typeface="+mn-ea"/>
                        <a:cs typeface="+mn-cs"/>
                      </a:endParaRPr>
                    </a:p>
                    <a:p>
                      <a:r>
                        <a:rPr lang="en-US" altLang="zh-TW" sz="1600" b="1" i="0" kern="1200" dirty="0">
                          <a:solidFill>
                            <a:schemeClr val="tx1"/>
                          </a:solidFill>
                          <a:effectLst>
                            <a:outerShdw blurRad="38100" dist="38100" dir="2700000" algn="tl">
                              <a:srgbClr val="000000">
                                <a:alpha val="43137"/>
                              </a:srgbClr>
                            </a:outerShdw>
                          </a:effectLst>
                          <a:latin typeface="+mn-lt"/>
                          <a:ea typeface="+mn-ea"/>
                          <a:cs typeface="+mn-cs"/>
                        </a:rPr>
                        <a:t>ISO/IEC 27002 </a:t>
                      </a:r>
                      <a:r>
                        <a:rPr lang="zh-TW" altLang="en-US" sz="1600" b="1" i="0" kern="1200" dirty="0">
                          <a:solidFill>
                            <a:schemeClr val="tx1"/>
                          </a:solidFill>
                          <a:effectLst>
                            <a:outerShdw blurRad="38100" dist="38100" dir="2700000" algn="tl">
                              <a:srgbClr val="000000">
                                <a:alpha val="43137"/>
                              </a:srgbClr>
                            </a:outerShdw>
                          </a:effectLst>
                          <a:latin typeface="+mn-lt"/>
                          <a:ea typeface="+mn-ea"/>
                          <a:cs typeface="+mn-cs"/>
                        </a:rPr>
                        <a:t>提供了一種最佳實踐方式用來初始化、實作、及管理的一套資訊安全系統</a:t>
                      </a:r>
                      <a:r>
                        <a:rPr lang="zh-TW" altLang="en-US" sz="1600" b="1" i="0" kern="1200" dirty="0" smtClean="0">
                          <a:solidFill>
                            <a:schemeClr val="tx1"/>
                          </a:solidFill>
                          <a:effectLst>
                            <a:outerShdw blurRad="38100" dist="38100" dir="2700000" algn="tl">
                              <a:srgbClr val="000000">
                                <a:alpha val="43137"/>
                              </a:srgbClr>
                            </a:outerShdw>
                          </a:effectLst>
                          <a:latin typeface="+mn-lt"/>
                          <a:ea typeface="+mn-ea"/>
                          <a:cs typeface="+mn-cs"/>
                        </a:rPr>
                        <a:t>。</a:t>
                      </a:r>
                      <a:endParaRPr lang="en-US" altLang="zh-TW" sz="1600" b="1" i="0" kern="1200" dirty="0">
                        <a:solidFill>
                          <a:schemeClr val="tx1"/>
                        </a:solidFill>
                        <a:effectLst>
                          <a:outerShdw blurRad="38100" dist="38100" dir="2700000" algn="tl">
                            <a:srgbClr val="000000">
                              <a:alpha val="43137"/>
                            </a:srgbClr>
                          </a:outerShdw>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6436996"/>
                  </a:ext>
                </a:extLst>
              </a:tr>
              <a:tr h="278130">
                <a:tc>
                  <a:txBody>
                    <a:bodyPr/>
                    <a:lstStyle/>
                    <a:p>
                      <a:r>
                        <a:rPr lang="en-US" altLang="zh-TW" sz="1400" dirty="0"/>
                        <a:t>ISO/IEC 27003:2017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 Information security management systems — </a:t>
                      </a:r>
                      <a:r>
                        <a:rPr lang="en-US" altLang="zh-TW" sz="1600" b="1" dirty="0">
                          <a:effectLst>
                            <a:outerShdw blurRad="38100" dist="38100" dir="2700000" algn="tl">
                              <a:srgbClr val="000000">
                                <a:alpha val="43137"/>
                              </a:srgbClr>
                            </a:outerShdw>
                          </a:effectLst>
                        </a:rPr>
                        <a:t>Guidance </a:t>
                      </a:r>
                      <a:r>
                        <a:rPr lang="zh-TW" altLang="en-US" sz="1600" dirty="0"/>
                        <a:t>實施指南</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0575344"/>
                  </a:ext>
                </a:extLst>
              </a:tr>
              <a:tr h="411480">
                <a:tc>
                  <a:txBody>
                    <a:bodyPr/>
                    <a:lstStyle/>
                    <a:p>
                      <a:r>
                        <a:rPr lang="en-US" altLang="zh-TW" sz="1400" dirty="0"/>
                        <a:t>ISO/IEC 27004:2016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 Information security management </a:t>
                      </a:r>
                    </a:p>
                    <a:p>
                      <a:r>
                        <a:rPr lang="en-US" altLang="zh-TW" sz="1600" dirty="0"/>
                        <a:t>— Monitoring, measurement, analysis and evaluation</a:t>
                      </a:r>
                      <a:r>
                        <a:rPr lang="zh-TW" altLang="en-US" sz="1600" dirty="0"/>
                        <a:t>          監控 量度 分析 與 評估</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23055324"/>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dirty="0"/>
                        <a:t>ISO/IEC 27005:2022</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security, cybersecurity and privacy protection </a:t>
                      </a:r>
                    </a:p>
                    <a:p>
                      <a:r>
                        <a:rPr lang="en-US" altLang="zh-TW" sz="1600" dirty="0"/>
                        <a:t>— Guidance on managing information security risks</a:t>
                      </a:r>
                      <a:r>
                        <a:rPr lang="zh-TW" altLang="en-US" sz="1600" dirty="0"/>
                        <a:t>      風險管理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3233216"/>
                  </a:ext>
                </a:extLst>
              </a:tr>
              <a:tr h="525780">
                <a:tc>
                  <a:txBody>
                    <a:bodyPr/>
                    <a:lstStyle/>
                    <a:p>
                      <a:r>
                        <a:rPr lang="en-US" altLang="zh-TW" sz="1400" b="0" i="0" kern="1200" dirty="0">
                          <a:solidFill>
                            <a:schemeClr val="dk1"/>
                          </a:solidFill>
                          <a:effectLst/>
                          <a:latin typeface="+mn-lt"/>
                          <a:ea typeface="+mn-ea"/>
                          <a:cs typeface="+mn-cs"/>
                        </a:rPr>
                        <a:t>ISO/IEC 27007:2020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Information security, cybersecurity and privacy protection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 Guidelines for information security management systems auditing</a:t>
                      </a:r>
                      <a:r>
                        <a:rPr lang="zh-TW" altLang="en-US" sz="1600" b="0" i="0" kern="1200" dirty="0">
                          <a:solidFill>
                            <a:schemeClr val="dk1"/>
                          </a:solidFill>
                          <a:effectLst/>
                          <a:latin typeface="+mn-lt"/>
                          <a:ea typeface="+mn-ea"/>
                          <a:cs typeface="+mn-cs"/>
                        </a:rPr>
                        <a:t>    資安稽核</a:t>
                      </a:r>
                      <a:endParaRPr lang="en-US" altLang="zh-TW" sz="1600" b="0" i="0" kern="1200" dirty="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3100548"/>
                  </a:ext>
                </a:extLst>
              </a:tr>
              <a:tr h="411480">
                <a:tc>
                  <a:txBody>
                    <a:bodyPr/>
                    <a:lstStyle/>
                    <a:p>
                      <a:r>
                        <a:rPr lang="en-US" altLang="zh-TW" sz="1400" b="0" i="0" kern="1200" dirty="0">
                          <a:solidFill>
                            <a:schemeClr val="dk1"/>
                          </a:solidFill>
                          <a:effectLst/>
                          <a:latin typeface="+mn-lt"/>
                          <a:ea typeface="+mn-ea"/>
                          <a:cs typeface="+mn-cs"/>
                        </a:rPr>
                        <a:t>ISO/IEC TS 27008:2019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Information technology — Security techniques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 Guidelines for the </a:t>
                      </a:r>
                      <a:r>
                        <a:rPr lang="en-US" altLang="zh-TW" sz="1600" b="1" i="0" kern="1200" dirty="0">
                          <a:solidFill>
                            <a:srgbClr val="FF0000"/>
                          </a:solidFill>
                          <a:effectLst>
                            <a:outerShdw blurRad="38100" dist="38100" dir="2700000" algn="tl">
                              <a:srgbClr val="000000">
                                <a:alpha val="43137"/>
                              </a:srgbClr>
                            </a:outerShdw>
                          </a:effectLst>
                          <a:latin typeface="+mn-lt"/>
                          <a:ea typeface="+mn-ea"/>
                          <a:cs typeface="+mn-cs"/>
                        </a:rPr>
                        <a:t>assessment</a:t>
                      </a:r>
                      <a:r>
                        <a:rPr lang="en-US" altLang="zh-TW" sz="1600" b="0" i="0" kern="1200" dirty="0">
                          <a:solidFill>
                            <a:schemeClr val="dk1"/>
                          </a:solidFill>
                          <a:effectLst/>
                          <a:latin typeface="+mn-lt"/>
                          <a:ea typeface="+mn-ea"/>
                          <a:cs typeface="+mn-cs"/>
                        </a:rPr>
                        <a:t> of </a:t>
                      </a:r>
                      <a:r>
                        <a:rPr lang="en-US" altLang="zh-TW" sz="1600" b="1" i="0" kern="1200" dirty="0">
                          <a:solidFill>
                            <a:srgbClr val="0070C0"/>
                          </a:solidFill>
                          <a:effectLst>
                            <a:outerShdw blurRad="38100" dist="38100" dir="2700000" algn="tl">
                              <a:srgbClr val="000000">
                                <a:alpha val="43137"/>
                              </a:srgbClr>
                            </a:outerShdw>
                          </a:effectLst>
                          <a:latin typeface="+mn-lt"/>
                          <a:ea typeface="+mn-ea"/>
                          <a:cs typeface="+mn-cs"/>
                        </a:rPr>
                        <a:t>information security controls</a:t>
                      </a:r>
                      <a:r>
                        <a:rPr lang="zh-TW" altLang="en-US" sz="1600" b="1" i="0" kern="1200" dirty="0">
                          <a:solidFill>
                            <a:srgbClr val="0070C0"/>
                          </a:solidFill>
                          <a:effectLst>
                            <a:outerShdw blurRad="38100" dist="38100" dir="2700000" algn="tl">
                              <a:srgbClr val="000000">
                                <a:alpha val="43137"/>
                              </a:srgbClr>
                            </a:outerShdw>
                          </a:effectLst>
                          <a:latin typeface="+mn-lt"/>
                          <a:ea typeface="+mn-ea"/>
                          <a:cs typeface="+mn-cs"/>
                        </a:rPr>
                        <a:t>   安全控制措施 </a:t>
                      </a:r>
                      <a:r>
                        <a:rPr lang="zh-TW" altLang="en-US" sz="1600" b="1" i="0" kern="1200" dirty="0">
                          <a:solidFill>
                            <a:schemeClr val="tx1"/>
                          </a:solidFill>
                          <a:effectLst>
                            <a:outerShdw blurRad="38100" dist="38100" dir="2700000" algn="tl">
                              <a:srgbClr val="000000">
                                <a:alpha val="43137"/>
                              </a:srgbClr>
                            </a:outerShdw>
                          </a:effectLst>
                          <a:latin typeface="+mn-lt"/>
                          <a:ea typeface="+mn-ea"/>
                          <a:cs typeface="+mn-cs"/>
                        </a:rPr>
                        <a:t>的 </a:t>
                      </a:r>
                      <a:r>
                        <a:rPr lang="zh-TW" altLang="en-US" sz="1600" b="1" i="0" kern="1200" dirty="0">
                          <a:solidFill>
                            <a:srgbClr val="FF0000"/>
                          </a:solidFill>
                          <a:effectLst>
                            <a:outerShdw blurRad="38100" dist="38100" dir="2700000" algn="tl">
                              <a:srgbClr val="000000">
                                <a:alpha val="43137"/>
                              </a:srgbClr>
                            </a:outerShdw>
                          </a:effectLst>
                          <a:latin typeface="+mn-lt"/>
                          <a:ea typeface="+mn-ea"/>
                          <a:cs typeface="+mn-cs"/>
                        </a:rPr>
                        <a:t>驗證</a:t>
                      </a:r>
                      <a:endParaRPr lang="en-US" altLang="zh-TW" sz="1600" b="0" i="0" kern="1200" dirty="0">
                        <a:solidFill>
                          <a:srgbClr val="FF0000"/>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496221"/>
                  </a:ext>
                </a:extLst>
              </a:tr>
              <a:tr h="278130">
                <a:tc>
                  <a:txBody>
                    <a:bodyPr/>
                    <a:lstStyle/>
                    <a:p>
                      <a:r>
                        <a:rPr lang="en-US" altLang="zh-TW" sz="1400" b="0" i="0" kern="1200" dirty="0">
                          <a:solidFill>
                            <a:schemeClr val="dk1"/>
                          </a:solidFill>
                          <a:effectLst/>
                          <a:latin typeface="+mn-lt"/>
                          <a:ea typeface="+mn-ea"/>
                          <a:cs typeface="+mn-cs"/>
                        </a:rPr>
                        <a:t>ISO/IEC 27014:2020 </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Information security, cybersecurity and privacy protection — Governance of information security</a:t>
                      </a:r>
                      <a:r>
                        <a:rPr lang="zh-TW" altLang="en-US" sz="1600" b="0" i="0" kern="1200" dirty="0">
                          <a:solidFill>
                            <a:schemeClr val="dk1"/>
                          </a:solidFill>
                          <a:effectLst/>
                          <a:latin typeface="+mn-lt"/>
                          <a:ea typeface="+mn-ea"/>
                          <a:cs typeface="+mn-cs"/>
                        </a:rPr>
                        <a:t>   資安治理</a:t>
                      </a:r>
                      <a:endParaRPr lang="en-US" altLang="zh-TW" sz="1600" b="0" i="0" kern="1200" dirty="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0469614"/>
                  </a:ext>
                </a:extLst>
              </a:tr>
            </a:tbl>
          </a:graphicData>
        </a:graphic>
      </p:graphicFrame>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a:t>
            </a:fld>
            <a:endParaRPr lang="zh-TW" altLang="en-US" dirty="0"/>
          </a:p>
        </p:txBody>
      </p:sp>
    </p:spTree>
    <p:extLst>
      <p:ext uri="{BB962C8B-B14F-4D97-AF65-F5344CB8AC3E}">
        <p14:creationId xmlns:p14="http://schemas.microsoft.com/office/powerpoint/2010/main" val="1985227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ISO27000</a:t>
            </a:r>
            <a:r>
              <a:rPr lang="zh-TW" altLang="en-US" dirty="0"/>
              <a:t>系列標準</a:t>
            </a:r>
          </a:p>
        </p:txBody>
      </p:sp>
      <p:graphicFrame>
        <p:nvGraphicFramePr>
          <p:cNvPr id="5" name="表格 4"/>
          <p:cNvGraphicFramePr>
            <a:graphicFrameLocks noGrp="1"/>
          </p:cNvGraphicFramePr>
          <p:nvPr>
            <p:extLst>
              <p:ext uri="{D42A27DB-BD31-4B8C-83A1-F6EECF244321}">
                <p14:modId xmlns:p14="http://schemas.microsoft.com/office/powerpoint/2010/main" val="2461651250"/>
              </p:ext>
            </p:extLst>
          </p:nvPr>
        </p:nvGraphicFramePr>
        <p:xfrm>
          <a:off x="153402" y="815902"/>
          <a:ext cx="8833632" cy="5760720"/>
        </p:xfrm>
        <a:graphic>
          <a:graphicData uri="http://schemas.openxmlformats.org/drawingml/2006/table">
            <a:tbl>
              <a:tblPr firstRow="1" bandRow="1">
                <a:tableStyleId>{5C22544A-7EE6-4342-B048-85BDC9FD1C3A}</a:tableStyleId>
              </a:tblPr>
              <a:tblGrid>
                <a:gridCol w="1862640">
                  <a:extLst>
                    <a:ext uri="{9D8B030D-6E8A-4147-A177-3AD203B41FA5}">
                      <a16:colId xmlns:a16="http://schemas.microsoft.com/office/drawing/2014/main" val="794286969"/>
                    </a:ext>
                  </a:extLst>
                </a:gridCol>
                <a:gridCol w="6970992">
                  <a:extLst>
                    <a:ext uri="{9D8B030D-6E8A-4147-A177-3AD203B41FA5}">
                      <a16:colId xmlns:a16="http://schemas.microsoft.com/office/drawing/2014/main" val="108392362"/>
                    </a:ext>
                  </a:extLst>
                </a:gridCol>
              </a:tblGrid>
              <a:tr h="278130">
                <a:tc>
                  <a:txBody>
                    <a:bodyPr/>
                    <a:lstStyle/>
                    <a:p>
                      <a:endParaRPr lang="zh-TW" altLang="en-US" sz="1400" dirty="0"/>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4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0213982"/>
                  </a:ext>
                </a:extLst>
              </a:tr>
              <a:tr h="411480">
                <a:tc>
                  <a:txBody>
                    <a:bodyPr/>
                    <a:lstStyle/>
                    <a:p>
                      <a:r>
                        <a:rPr lang="en-US" altLang="zh-TW" sz="1600" dirty="0"/>
                        <a:t>ISO/IEC 27009:2020 </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security, cybersecurity and privacy protection </a:t>
                      </a:r>
                    </a:p>
                    <a:p>
                      <a:r>
                        <a:rPr lang="en-US" altLang="zh-TW" sz="1600" dirty="0"/>
                        <a:t>— Sector-specific application of ISO/IEC 27001 — </a:t>
                      </a:r>
                      <a:r>
                        <a:rPr lang="en-US" altLang="zh-TW" sz="1600" dirty="0" smtClean="0"/>
                        <a:t>Requirements</a:t>
                      </a:r>
                    </a:p>
                    <a:p>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89299603"/>
                  </a:ext>
                </a:extLst>
              </a:tr>
              <a:tr h="411480">
                <a:tc>
                  <a:txBody>
                    <a:bodyPr/>
                    <a:lstStyle/>
                    <a:p>
                      <a:r>
                        <a:rPr lang="en-US" altLang="zh-TW" sz="1600" dirty="0"/>
                        <a:t>ISO/IEC 27010:2015 </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a:t>
                      </a:r>
                    </a:p>
                    <a:p>
                      <a:r>
                        <a:rPr lang="en-US" altLang="zh-TW" sz="1600" dirty="0"/>
                        <a:t>— Information security management for inter-sector and inter-organizational communications</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845708"/>
                  </a:ext>
                </a:extLst>
              </a:tr>
              <a:tr h="480060">
                <a:tc>
                  <a:txBody>
                    <a:bodyPr/>
                    <a:lstStyle/>
                    <a:p>
                      <a:r>
                        <a:rPr lang="en-US" altLang="zh-TW" sz="1600" dirty="0"/>
                        <a:t>ISO/IEC 27011:2016 </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 Code of practice for Information security controls based on ISO/IEC 27002 for telecommunications </a:t>
                      </a:r>
                      <a:r>
                        <a:rPr lang="en-US" altLang="zh-TW" sz="1600" dirty="0" smtClean="0"/>
                        <a:t>organizations</a:t>
                      </a:r>
                    </a:p>
                    <a:p>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796512"/>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dirty="0"/>
                        <a:t>ISO/IEC TR</a:t>
                      </a:r>
                      <a:r>
                        <a:rPr lang="zh-TW" altLang="en-US" sz="1600" dirty="0"/>
                        <a:t> </a:t>
                      </a:r>
                      <a:r>
                        <a:rPr lang="en-US" altLang="zh-TW" sz="1600" dirty="0"/>
                        <a:t>27015:2012</a:t>
                      </a:r>
                    </a:p>
                    <a:p>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Information technology — Security techniques — Information security management guidelines for financial services</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9591981"/>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ISO/IEC 27017:2015</a:t>
                      </a:r>
                    </a:p>
                    <a:p>
                      <a:endParaRPr lang="zh-TW" altLang="en-US" sz="16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b="1" dirty="0"/>
                        <a:t>Information technology — Security techniques — Code of practice for information security controls based on ISO/IEC 27002 for cloud </a:t>
                      </a:r>
                      <a:r>
                        <a:rPr lang="en-US" altLang="zh-TW" sz="1600" b="1" dirty="0" smtClean="0"/>
                        <a:t>services</a:t>
                      </a:r>
                    </a:p>
                    <a:p>
                      <a:endParaRPr lang="zh-TW" altLang="en-US" sz="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8307294"/>
                  </a:ext>
                </a:extLst>
              </a:tr>
              <a:tr h="480060">
                <a:tc>
                  <a:txBody>
                    <a:bodyPr/>
                    <a:lstStyle/>
                    <a:p>
                      <a:r>
                        <a:rPr lang="en-US" altLang="zh-TW" sz="1600" b="1" dirty="0"/>
                        <a:t>ISO/IEC 27018:2019 </a:t>
                      </a:r>
                      <a:endParaRPr lang="zh-TW" altLang="en-US" sz="16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b="1" dirty="0"/>
                        <a:t>Information technology — Security techniques — Code of practice for protection of personally identifiable information (PII) in public clouds acting as PII </a:t>
                      </a:r>
                      <a:r>
                        <a:rPr lang="en-US" altLang="zh-TW" sz="1600" b="1" dirty="0" smtClean="0"/>
                        <a:t>processors</a:t>
                      </a:r>
                    </a:p>
                    <a:p>
                      <a:endParaRPr lang="zh-TW" altLang="en-US" sz="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7131157"/>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dirty="0"/>
                        <a:t>ISO 27799:2016</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600" dirty="0"/>
                        <a:t>Health informatics — Information security management in health using ISO/IEC </a:t>
                      </a:r>
                      <a:r>
                        <a:rPr lang="en-US" altLang="zh-TW" sz="1600" dirty="0" smtClean="0"/>
                        <a:t>27002</a:t>
                      </a:r>
                    </a:p>
                    <a:p>
                      <a:endParaRPr lang="zh-TW" altLang="en-US" sz="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5943774"/>
                  </a:ext>
                </a:extLst>
              </a:tr>
            </a:tbl>
          </a:graphicData>
        </a:graphic>
      </p:graphicFrame>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4</a:t>
            </a:fld>
            <a:endParaRPr lang="zh-TW" altLang="en-US" dirty="0"/>
          </a:p>
        </p:txBody>
      </p:sp>
    </p:spTree>
    <p:extLst>
      <p:ext uri="{BB962C8B-B14F-4D97-AF65-F5344CB8AC3E}">
        <p14:creationId xmlns:p14="http://schemas.microsoft.com/office/powerpoint/2010/main" val="2015115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CCA4A7-C171-4DE4-8EB3-712A29021F99}"/>
              </a:ext>
            </a:extLst>
          </p:cNvPr>
          <p:cNvSpPr>
            <a:spLocks noGrp="1"/>
          </p:cNvSpPr>
          <p:nvPr>
            <p:ph type="title"/>
          </p:nvPr>
        </p:nvSpPr>
        <p:spPr>
          <a:xfrm>
            <a:off x="191475" y="-71085"/>
            <a:ext cx="5915025" cy="784112"/>
          </a:xfrm>
        </p:spPr>
        <p:txBody>
          <a:bodyPr>
            <a:normAutofit/>
          </a:bodyPr>
          <a:lstStyle/>
          <a:p>
            <a:r>
              <a:rPr lang="zh-TW" altLang="en-US" sz="3600" b="1" dirty="0">
                <a:effectLst>
                  <a:outerShdw blurRad="38100" dist="38100" dir="2700000" algn="tl">
                    <a:srgbClr val="000000">
                      <a:alpha val="43137"/>
                    </a:srgbClr>
                  </a:outerShdw>
                </a:effectLst>
              </a:rPr>
              <a:t>導入</a:t>
            </a:r>
            <a:r>
              <a:rPr lang="en-US" altLang="zh-TW" sz="3600" b="1" dirty="0">
                <a:effectLst>
                  <a:outerShdw blurRad="38100" dist="38100" dir="2700000" algn="tl">
                    <a:srgbClr val="000000">
                      <a:alpha val="43137"/>
                    </a:srgbClr>
                  </a:outerShdw>
                </a:effectLst>
              </a:rPr>
              <a:t>ISMS</a:t>
            </a:r>
            <a:endParaRPr lang="zh-TW" altLang="en-US" b="1" dirty="0">
              <a:effectLst>
                <a:outerShdw blurRad="38100" dist="38100" dir="2700000" algn="tl">
                  <a:srgbClr val="000000">
                    <a:alpha val="43137"/>
                  </a:srgbClr>
                </a:outerShdw>
              </a:effectLst>
            </a:endParaRPr>
          </a:p>
        </p:txBody>
      </p:sp>
      <p:graphicFrame>
        <p:nvGraphicFramePr>
          <p:cNvPr id="7" name="表格 7">
            <a:extLst>
              <a:ext uri="{FF2B5EF4-FFF2-40B4-BE49-F238E27FC236}">
                <a16:creationId xmlns:a16="http://schemas.microsoft.com/office/drawing/2014/main" id="{5EB6F9A8-2770-4089-B84B-3153A8D8B8C1}"/>
              </a:ext>
            </a:extLst>
          </p:cNvPr>
          <p:cNvGraphicFramePr>
            <a:graphicFrameLocks noGrp="1"/>
          </p:cNvGraphicFramePr>
          <p:nvPr>
            <p:extLst>
              <p:ext uri="{D42A27DB-BD31-4B8C-83A1-F6EECF244321}">
                <p14:modId xmlns:p14="http://schemas.microsoft.com/office/powerpoint/2010/main" val="566795172"/>
              </p:ext>
            </p:extLst>
          </p:nvPr>
        </p:nvGraphicFramePr>
        <p:xfrm>
          <a:off x="588152" y="2142568"/>
          <a:ext cx="7907895" cy="4258232"/>
        </p:xfrm>
        <a:graphic>
          <a:graphicData uri="http://schemas.openxmlformats.org/drawingml/2006/table">
            <a:tbl>
              <a:tblPr firstRow="1" bandRow="1">
                <a:tableStyleId>{5C22544A-7EE6-4342-B048-85BDC9FD1C3A}</a:tableStyleId>
              </a:tblPr>
              <a:tblGrid>
                <a:gridCol w="2428750">
                  <a:extLst>
                    <a:ext uri="{9D8B030D-6E8A-4147-A177-3AD203B41FA5}">
                      <a16:colId xmlns:a16="http://schemas.microsoft.com/office/drawing/2014/main" val="2627323397"/>
                    </a:ext>
                  </a:extLst>
                </a:gridCol>
                <a:gridCol w="3093765">
                  <a:extLst>
                    <a:ext uri="{9D8B030D-6E8A-4147-A177-3AD203B41FA5}">
                      <a16:colId xmlns:a16="http://schemas.microsoft.com/office/drawing/2014/main" val="2750642700"/>
                    </a:ext>
                  </a:extLst>
                </a:gridCol>
                <a:gridCol w="2385380">
                  <a:extLst>
                    <a:ext uri="{9D8B030D-6E8A-4147-A177-3AD203B41FA5}">
                      <a16:colId xmlns:a16="http://schemas.microsoft.com/office/drawing/2014/main" val="340978091"/>
                    </a:ext>
                  </a:extLst>
                </a:gridCol>
              </a:tblGrid>
              <a:tr h="392241">
                <a:tc>
                  <a:txBody>
                    <a:bodyPr/>
                    <a:lstStyle/>
                    <a:p>
                      <a:pPr algn="l"/>
                      <a:r>
                        <a:rPr lang="zh-TW" altLang="en-US" sz="1800" dirty="0">
                          <a:effectLst>
                            <a:outerShdw blurRad="38100" dist="38100" dir="2700000" algn="tl">
                              <a:srgbClr val="000000">
                                <a:alpha val="43137"/>
                              </a:srgbClr>
                            </a:outerShdw>
                          </a:effectLst>
                        </a:rPr>
                        <a:t>比較項目</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導入前</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導入後</a:t>
                      </a:r>
                    </a:p>
                  </a:txBody>
                  <a:tcPr marL="68580" marR="68580" marT="34290" marB="34290"/>
                </a:tc>
                <a:extLst>
                  <a:ext uri="{0D108BD9-81ED-4DB2-BD59-A6C34878D82A}">
                    <a16:rowId xmlns:a16="http://schemas.microsoft.com/office/drawing/2014/main" val="84774420"/>
                  </a:ext>
                </a:extLst>
              </a:tr>
              <a:tr h="392241">
                <a:tc>
                  <a:txBody>
                    <a:bodyPr/>
                    <a:lstStyle/>
                    <a:p>
                      <a:pPr algn="l"/>
                      <a:r>
                        <a:rPr lang="zh-TW" altLang="en-US" sz="1800" dirty="0">
                          <a:effectLst>
                            <a:outerShdw blurRad="38100" dist="38100" dir="2700000" algn="tl">
                              <a:srgbClr val="000000">
                                <a:alpha val="43137"/>
                              </a:srgbClr>
                            </a:outerShdw>
                          </a:effectLst>
                        </a:rPr>
                        <a:t>安全目標</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未明確設定</a:t>
                      </a:r>
                    </a:p>
                  </a:txBody>
                  <a:tcPr marL="68580" marR="68580" marT="34290" marB="34290">
                    <a:solidFill>
                      <a:schemeClr val="accent5">
                        <a:lumMod val="20000"/>
                        <a:lumOff val="80000"/>
                      </a:schemeClr>
                    </a:solidFill>
                  </a:tcPr>
                </a:tc>
                <a:tc>
                  <a:txBody>
                    <a:bodyPr/>
                    <a:lstStyle/>
                    <a:p>
                      <a:pPr algn="l"/>
                      <a:r>
                        <a:rPr lang="zh-TW" altLang="en-US" sz="1800" dirty="0">
                          <a:solidFill>
                            <a:srgbClr val="FF0000"/>
                          </a:solidFill>
                          <a:effectLst>
                            <a:outerShdw blurRad="38100" dist="38100" dir="2700000" algn="tl">
                              <a:srgbClr val="000000">
                                <a:alpha val="43137"/>
                              </a:srgbClr>
                            </a:outerShdw>
                          </a:effectLst>
                        </a:rPr>
                        <a:t>可衡量</a:t>
                      </a:r>
                      <a:r>
                        <a:rPr lang="zh-TW" altLang="en-US" sz="1800" dirty="0">
                          <a:effectLst>
                            <a:outerShdw blurRad="38100" dist="38100" dir="2700000" algn="tl">
                              <a:srgbClr val="000000">
                                <a:alpha val="43137"/>
                              </a:srgbClr>
                            </a:outerShdw>
                          </a:effectLst>
                        </a:rPr>
                        <a:t>指標</a:t>
                      </a:r>
                    </a:p>
                  </a:txBody>
                  <a:tcPr marL="68580" marR="68580" marT="34290" marB="34290"/>
                </a:tc>
                <a:extLst>
                  <a:ext uri="{0D108BD9-81ED-4DB2-BD59-A6C34878D82A}">
                    <a16:rowId xmlns:a16="http://schemas.microsoft.com/office/drawing/2014/main" val="670621809"/>
                  </a:ext>
                </a:extLst>
              </a:tr>
              <a:tr h="392241">
                <a:tc>
                  <a:txBody>
                    <a:bodyPr/>
                    <a:lstStyle/>
                    <a:p>
                      <a:pPr algn="l"/>
                      <a:r>
                        <a:rPr lang="zh-TW" altLang="en-US" sz="1800" dirty="0">
                          <a:effectLst>
                            <a:outerShdw blurRad="38100" dist="38100" dir="2700000" algn="tl">
                              <a:srgbClr val="000000">
                                <a:alpha val="43137"/>
                              </a:srgbClr>
                            </a:outerShdw>
                          </a:effectLst>
                        </a:rPr>
                        <a:t>瞭解風險來源</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被動回應</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積極回應</a:t>
                      </a:r>
                    </a:p>
                  </a:txBody>
                  <a:tcPr marL="68580" marR="68580" marT="34290" marB="34290"/>
                </a:tc>
                <a:extLst>
                  <a:ext uri="{0D108BD9-81ED-4DB2-BD59-A6C34878D82A}">
                    <a16:rowId xmlns:a16="http://schemas.microsoft.com/office/drawing/2014/main" val="4184685422"/>
                  </a:ext>
                </a:extLst>
              </a:tr>
              <a:tr h="392241">
                <a:tc>
                  <a:txBody>
                    <a:bodyPr/>
                    <a:lstStyle/>
                    <a:p>
                      <a:pPr algn="l"/>
                      <a:r>
                        <a:rPr lang="zh-TW" altLang="en-US" sz="1800" dirty="0">
                          <a:effectLst>
                            <a:outerShdw blurRad="38100" dist="38100" dir="2700000" algn="tl">
                              <a:srgbClr val="000000">
                                <a:alpha val="43137"/>
                              </a:srgbClr>
                            </a:outerShdw>
                          </a:effectLst>
                        </a:rPr>
                        <a:t>業務承擔風險</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風險高</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風險降至</a:t>
                      </a:r>
                      <a:r>
                        <a:rPr lang="zh-TW" altLang="en-US" sz="1800" b="1" dirty="0">
                          <a:solidFill>
                            <a:srgbClr val="FF0000"/>
                          </a:solidFill>
                          <a:effectLst>
                            <a:outerShdw blurRad="38100" dist="38100" dir="2700000" algn="tl">
                              <a:srgbClr val="000000">
                                <a:alpha val="43137"/>
                              </a:srgbClr>
                            </a:outerShdw>
                          </a:effectLst>
                        </a:rPr>
                        <a:t>可接受</a:t>
                      </a:r>
                    </a:p>
                  </a:txBody>
                  <a:tcPr marL="68580" marR="68580" marT="34290" marB="34290"/>
                </a:tc>
                <a:extLst>
                  <a:ext uri="{0D108BD9-81ED-4DB2-BD59-A6C34878D82A}">
                    <a16:rowId xmlns:a16="http://schemas.microsoft.com/office/drawing/2014/main" val="3870667131"/>
                  </a:ext>
                </a:extLst>
              </a:tr>
              <a:tr h="392241">
                <a:tc>
                  <a:txBody>
                    <a:bodyPr/>
                    <a:lstStyle/>
                    <a:p>
                      <a:pPr algn="l"/>
                      <a:r>
                        <a:rPr lang="zh-TW" altLang="en-US" sz="1800" dirty="0">
                          <a:effectLst>
                            <a:outerShdw blurRad="38100" dist="38100" dir="2700000" algn="tl">
                              <a:srgbClr val="000000">
                                <a:alpha val="43137"/>
                              </a:srgbClr>
                            </a:outerShdw>
                          </a:effectLst>
                        </a:rPr>
                        <a:t>使用者信心</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信心不足</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信心高</a:t>
                      </a:r>
                    </a:p>
                  </a:txBody>
                  <a:tcPr marL="68580" marR="68580" marT="34290" marB="34290"/>
                </a:tc>
                <a:extLst>
                  <a:ext uri="{0D108BD9-81ED-4DB2-BD59-A6C34878D82A}">
                    <a16:rowId xmlns:a16="http://schemas.microsoft.com/office/drawing/2014/main" val="4117772233"/>
                  </a:ext>
                </a:extLst>
              </a:tr>
              <a:tr h="392241">
                <a:tc>
                  <a:txBody>
                    <a:bodyPr/>
                    <a:lstStyle/>
                    <a:p>
                      <a:pPr algn="l"/>
                      <a:r>
                        <a:rPr lang="zh-TW" altLang="en-US" sz="1800" dirty="0">
                          <a:effectLst>
                            <a:outerShdw blurRad="38100" dist="38100" dir="2700000" algn="tl">
                              <a:srgbClr val="000000">
                                <a:alpha val="43137"/>
                              </a:srgbClr>
                            </a:outerShdw>
                          </a:effectLst>
                        </a:rPr>
                        <a:t>使用者資安滿意度</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滿意度低</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滿意度高</a:t>
                      </a:r>
                    </a:p>
                  </a:txBody>
                  <a:tcPr marL="68580" marR="68580" marT="34290" marB="34290"/>
                </a:tc>
                <a:extLst>
                  <a:ext uri="{0D108BD9-81ED-4DB2-BD59-A6C34878D82A}">
                    <a16:rowId xmlns:a16="http://schemas.microsoft.com/office/drawing/2014/main" val="623148781"/>
                  </a:ext>
                </a:extLst>
              </a:tr>
              <a:tr h="392241">
                <a:tc>
                  <a:txBody>
                    <a:bodyPr/>
                    <a:lstStyle/>
                    <a:p>
                      <a:pPr algn="l"/>
                      <a:r>
                        <a:rPr lang="zh-TW" altLang="en-US" sz="1800" dirty="0">
                          <a:effectLst>
                            <a:outerShdw blurRad="38100" dist="38100" dir="2700000" algn="tl">
                              <a:srgbClr val="000000">
                                <a:alpha val="43137"/>
                              </a:srgbClr>
                            </a:outerShdw>
                          </a:effectLst>
                        </a:rPr>
                        <a:t>資訊安全管理難度</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分散式的管理</a:t>
                      </a:r>
                    </a:p>
                  </a:txBody>
                  <a:tcPr marL="68580" marR="68580" marT="34290" marB="34290">
                    <a:solidFill>
                      <a:schemeClr val="accent5">
                        <a:lumMod val="20000"/>
                        <a:lumOff val="80000"/>
                      </a:schemeClr>
                    </a:solidFill>
                  </a:tcPr>
                </a:tc>
                <a:tc>
                  <a:txBody>
                    <a:bodyPr/>
                    <a:lstStyle/>
                    <a:p>
                      <a:pPr algn="l"/>
                      <a:r>
                        <a:rPr lang="zh-TW" altLang="en-US" sz="1800" b="1" dirty="0">
                          <a:solidFill>
                            <a:srgbClr val="FF0000"/>
                          </a:solidFill>
                          <a:effectLst>
                            <a:outerShdw blurRad="38100" dist="38100" dir="2700000" algn="tl">
                              <a:srgbClr val="000000">
                                <a:alpha val="43137"/>
                              </a:srgbClr>
                            </a:outerShdw>
                          </a:effectLst>
                        </a:rPr>
                        <a:t>系統式</a:t>
                      </a:r>
                      <a:r>
                        <a:rPr lang="zh-TW" altLang="en-US" sz="1800" dirty="0">
                          <a:effectLst>
                            <a:outerShdw blurRad="38100" dist="38100" dir="2700000" algn="tl">
                              <a:srgbClr val="000000">
                                <a:alpha val="43137"/>
                              </a:srgbClr>
                            </a:outerShdw>
                          </a:effectLst>
                        </a:rPr>
                        <a:t>的管理</a:t>
                      </a:r>
                    </a:p>
                  </a:txBody>
                  <a:tcPr marL="68580" marR="68580" marT="34290" marB="34290"/>
                </a:tc>
                <a:extLst>
                  <a:ext uri="{0D108BD9-81ED-4DB2-BD59-A6C34878D82A}">
                    <a16:rowId xmlns:a16="http://schemas.microsoft.com/office/drawing/2014/main" val="4262791973"/>
                  </a:ext>
                </a:extLst>
              </a:tr>
              <a:tr h="440363">
                <a:tc>
                  <a:txBody>
                    <a:bodyPr/>
                    <a:lstStyle/>
                    <a:p>
                      <a:pPr algn="l"/>
                      <a:r>
                        <a:rPr lang="zh-TW" altLang="en-US" sz="1800" dirty="0">
                          <a:effectLst>
                            <a:outerShdw blurRad="38100" dist="38100" dir="2700000" algn="tl">
                              <a:srgbClr val="000000">
                                <a:alpha val="43137"/>
                              </a:srgbClr>
                            </a:outerShdw>
                          </a:effectLst>
                        </a:rPr>
                        <a:t>資安事件回應</a:t>
                      </a:r>
                      <a:r>
                        <a:rPr lang="zh-TW" altLang="en-US" sz="1800" b="1" dirty="0">
                          <a:solidFill>
                            <a:srgbClr val="FF0000"/>
                          </a:solidFill>
                          <a:effectLst>
                            <a:outerShdw blurRad="38100" dist="38100" dir="2700000" algn="tl">
                              <a:srgbClr val="000000">
                                <a:alpha val="43137"/>
                              </a:srgbClr>
                            </a:outerShdw>
                          </a:effectLst>
                        </a:rPr>
                        <a:t>速度</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事件處理人力未有效管理</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建立事件回應機制</a:t>
                      </a:r>
                    </a:p>
                  </a:txBody>
                  <a:tcPr marL="68580" marR="68580" marT="34290" marB="34290"/>
                </a:tc>
                <a:extLst>
                  <a:ext uri="{0D108BD9-81ED-4DB2-BD59-A6C34878D82A}">
                    <a16:rowId xmlns:a16="http://schemas.microsoft.com/office/drawing/2014/main" val="3061257950"/>
                  </a:ext>
                </a:extLst>
              </a:tr>
              <a:tr h="679941">
                <a:tc>
                  <a:txBody>
                    <a:bodyPr/>
                    <a:lstStyle/>
                    <a:p>
                      <a:pPr algn="l"/>
                      <a:r>
                        <a:rPr lang="zh-TW" altLang="en-US" sz="1800" dirty="0">
                          <a:effectLst>
                            <a:outerShdw blurRad="38100" dist="38100" dir="2700000" algn="tl">
                              <a:srgbClr val="000000">
                                <a:alpha val="43137"/>
                              </a:srgbClr>
                            </a:outerShdw>
                          </a:effectLst>
                        </a:rPr>
                        <a:t>資訊作業效率</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人員經驗分享</a:t>
                      </a:r>
                      <a:endParaRPr lang="en-US" altLang="zh-TW" sz="1800" dirty="0">
                        <a:solidFill>
                          <a:schemeClr val="tx1"/>
                        </a:solidFill>
                        <a:effectLst>
                          <a:outerShdw blurRad="38100" dist="38100" dir="2700000" algn="tl">
                            <a:srgbClr val="000000">
                              <a:alpha val="43137"/>
                            </a:srgbClr>
                          </a:outerShdw>
                        </a:effectLst>
                      </a:endParaRPr>
                    </a:p>
                    <a:p>
                      <a:pPr algn="r"/>
                      <a:r>
                        <a:rPr lang="zh-TW" altLang="en-US" sz="1800" dirty="0">
                          <a:solidFill>
                            <a:schemeClr val="tx1"/>
                          </a:solidFill>
                          <a:effectLst>
                            <a:outerShdw blurRad="38100" dist="38100" dir="2700000" algn="tl">
                              <a:srgbClr val="000000">
                                <a:alpha val="43137"/>
                              </a:srgbClr>
                            </a:outerShdw>
                          </a:effectLst>
                        </a:rPr>
                        <a:t>效率低</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定義標準流程</a:t>
                      </a:r>
                      <a:endParaRPr lang="en-US" altLang="zh-TW" sz="1800" dirty="0">
                        <a:effectLst>
                          <a:outerShdw blurRad="38100" dist="38100" dir="2700000" algn="tl">
                            <a:srgbClr val="000000">
                              <a:alpha val="43137"/>
                            </a:srgbClr>
                          </a:outerShdw>
                        </a:effectLst>
                      </a:endParaRPr>
                    </a:p>
                    <a:p>
                      <a:pPr algn="l"/>
                      <a:r>
                        <a:rPr lang="zh-TW" altLang="en-US" sz="1800" dirty="0">
                          <a:effectLst>
                            <a:outerShdw blurRad="38100" dist="38100" dir="2700000" algn="tl">
                              <a:srgbClr val="000000">
                                <a:alpha val="43137"/>
                              </a:srgbClr>
                            </a:outerShdw>
                          </a:effectLst>
                        </a:rPr>
                        <a:t>效率高</a:t>
                      </a:r>
                    </a:p>
                  </a:txBody>
                  <a:tcPr marL="68580" marR="68580" marT="34290" marB="34290"/>
                </a:tc>
                <a:extLst>
                  <a:ext uri="{0D108BD9-81ED-4DB2-BD59-A6C34878D82A}">
                    <a16:rowId xmlns:a16="http://schemas.microsoft.com/office/drawing/2014/main" val="2967019284"/>
                  </a:ext>
                </a:extLst>
              </a:tr>
              <a:tr h="392241">
                <a:tc>
                  <a:txBody>
                    <a:bodyPr/>
                    <a:lstStyle/>
                    <a:p>
                      <a:pPr algn="l"/>
                      <a:r>
                        <a:rPr lang="zh-TW" altLang="en-US" sz="1800" dirty="0">
                          <a:effectLst>
                            <a:outerShdw blurRad="38100" dist="38100" dir="2700000" algn="tl">
                              <a:srgbClr val="000000">
                                <a:alpha val="43137"/>
                              </a:srgbClr>
                            </a:outerShdw>
                          </a:effectLst>
                        </a:rPr>
                        <a:t>內部稽核能力</a:t>
                      </a:r>
                    </a:p>
                  </a:txBody>
                  <a:tcPr marL="68580" marR="68580" marT="34290" marB="34290"/>
                </a:tc>
                <a:tc>
                  <a:txBody>
                    <a:bodyPr/>
                    <a:lstStyle/>
                    <a:p>
                      <a:pPr algn="r"/>
                      <a:r>
                        <a:rPr lang="zh-TW" altLang="en-US" sz="1800" dirty="0">
                          <a:solidFill>
                            <a:schemeClr val="tx1"/>
                          </a:solidFill>
                          <a:effectLst>
                            <a:outerShdw blurRad="38100" dist="38100" dir="2700000" algn="tl">
                              <a:srgbClr val="000000">
                                <a:alpha val="43137"/>
                              </a:srgbClr>
                            </a:outerShdw>
                          </a:effectLst>
                        </a:rPr>
                        <a:t>缺乏專業人力</a:t>
                      </a:r>
                    </a:p>
                  </a:txBody>
                  <a:tcPr marL="68580" marR="68580" marT="34290" marB="34290">
                    <a:solidFill>
                      <a:schemeClr val="accent5">
                        <a:lumMod val="20000"/>
                        <a:lumOff val="80000"/>
                      </a:schemeClr>
                    </a:solidFill>
                  </a:tcPr>
                </a:tc>
                <a:tc>
                  <a:txBody>
                    <a:bodyPr/>
                    <a:lstStyle/>
                    <a:p>
                      <a:pPr algn="l"/>
                      <a:r>
                        <a:rPr lang="zh-TW" altLang="en-US" sz="1800" dirty="0">
                          <a:effectLst>
                            <a:outerShdw blurRad="38100" dist="38100" dir="2700000" algn="tl">
                              <a:srgbClr val="000000">
                                <a:alpha val="43137"/>
                              </a:srgbClr>
                            </a:outerShdw>
                          </a:effectLst>
                        </a:rPr>
                        <a:t>具規劃和實務能力</a:t>
                      </a:r>
                    </a:p>
                  </a:txBody>
                  <a:tcPr marL="68580" marR="68580" marT="34290" marB="34290"/>
                </a:tc>
                <a:extLst>
                  <a:ext uri="{0D108BD9-81ED-4DB2-BD59-A6C34878D82A}">
                    <a16:rowId xmlns:a16="http://schemas.microsoft.com/office/drawing/2014/main" val="3363356234"/>
                  </a:ext>
                </a:extLst>
              </a:tr>
            </a:tbl>
          </a:graphicData>
        </a:graphic>
      </p:graphicFrame>
      <p:sp>
        <p:nvSpPr>
          <p:cNvPr id="5" name="矩形 4"/>
          <p:cNvSpPr/>
          <p:nvPr/>
        </p:nvSpPr>
        <p:spPr>
          <a:xfrm>
            <a:off x="273709" y="757573"/>
            <a:ext cx="8542723" cy="1384995"/>
          </a:xfrm>
          <a:prstGeom prst="rect">
            <a:avLst/>
          </a:prstGeom>
        </p:spPr>
        <p:txBody>
          <a:bodyPr wrap="none">
            <a:spAutoFit/>
          </a:bodyPr>
          <a:lstStyle/>
          <a:p>
            <a:r>
              <a:rPr lang="zh-TW" altLang="en-US" sz="2800" b="1" dirty="0">
                <a:effectLst>
                  <a:outerShdw blurRad="38100" dist="38100" dir="2700000" algn="tl">
                    <a:srgbClr val="000000">
                      <a:alpha val="43137"/>
                    </a:srgbClr>
                  </a:outerShdw>
                </a:effectLst>
              </a:rPr>
              <a:t>目的</a:t>
            </a:r>
            <a:r>
              <a:rPr lang="en-US" altLang="zh-TW" sz="2800" b="1" dirty="0">
                <a:effectLst>
                  <a:outerShdw blurRad="38100" dist="38100" dir="2700000" algn="tl">
                    <a:srgbClr val="000000">
                      <a:alpha val="43137"/>
                    </a:srgbClr>
                  </a:outerShdw>
                </a:effectLst>
              </a:rPr>
              <a:t>:</a:t>
            </a:r>
            <a:r>
              <a:rPr lang="zh-TW" altLang="en-US" sz="2800" b="1" dirty="0">
                <a:effectLst>
                  <a:outerShdw blurRad="38100" dist="38100" dir="2700000" algn="tl">
                    <a:srgbClr val="000000">
                      <a:alpha val="43137"/>
                    </a:srgbClr>
                  </a:outerShdw>
                </a:effectLst>
              </a:rPr>
              <a:t>設定機關內</a:t>
            </a:r>
            <a:r>
              <a:rPr lang="zh-TW" altLang="en-US" sz="2800" b="1" dirty="0">
                <a:solidFill>
                  <a:srgbClr val="FF0000"/>
                </a:solidFill>
                <a:effectLst>
                  <a:outerShdw blurRad="38100" dist="38100" dir="2700000" algn="tl">
                    <a:srgbClr val="000000">
                      <a:alpha val="43137"/>
                    </a:srgbClr>
                  </a:outerShdw>
                </a:effectLst>
              </a:rPr>
              <a:t>持續運作</a:t>
            </a:r>
            <a:r>
              <a:rPr lang="zh-TW" altLang="en-US" sz="2800" b="1" dirty="0">
                <a:effectLst>
                  <a:outerShdw blurRad="38100" dist="38100" dir="2700000" algn="tl">
                    <a:srgbClr val="000000">
                      <a:alpha val="43137"/>
                    </a:srgbClr>
                  </a:outerShdw>
                </a:effectLst>
              </a:rPr>
              <a:t>的資安管理目標與相關機制</a:t>
            </a:r>
            <a:endParaRPr lang="en-US" altLang="zh-TW" sz="2800" b="1" dirty="0">
              <a:effectLst>
                <a:outerShdw blurRad="38100" dist="38100" dir="2700000" algn="tl">
                  <a:srgbClr val="000000">
                    <a:alpha val="43137"/>
                  </a:srgbClr>
                </a:outerShdw>
              </a:effectLst>
            </a:endParaRPr>
          </a:p>
          <a:p>
            <a:endParaRPr lang="en-US" altLang="zh-TW" sz="2800" b="1" dirty="0">
              <a:effectLst>
                <a:outerShdw blurRad="38100" dist="38100" dir="2700000" algn="tl">
                  <a:srgbClr val="000000">
                    <a:alpha val="43137"/>
                  </a:srgbClr>
                </a:outerShdw>
              </a:effectLst>
            </a:endParaRPr>
          </a:p>
          <a:p>
            <a:r>
              <a:rPr lang="en-US" altLang="zh-TW" sz="2800" b="1" dirty="0">
                <a:effectLst>
                  <a:outerShdw blurRad="38100" dist="38100" dir="2700000" algn="tl">
                    <a:srgbClr val="000000">
                      <a:alpha val="43137"/>
                    </a:srgbClr>
                  </a:outerShdw>
                </a:effectLst>
              </a:rPr>
              <a:t>Benefits:</a:t>
            </a:r>
            <a:endParaRPr lang="zh-TW" altLang="en-US" sz="2800" b="1" dirty="0">
              <a:effectLst>
                <a:outerShdw blurRad="38100" dist="38100" dir="2700000" algn="tl">
                  <a:srgbClr val="000000">
                    <a:alpha val="43137"/>
                  </a:srgbClr>
                </a:outerShdw>
              </a:effectLst>
            </a:endParaRPr>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5</a:t>
            </a:fld>
            <a:endParaRPr lang="zh-TW" altLang="en-US" dirty="0"/>
          </a:p>
        </p:txBody>
      </p:sp>
    </p:spTree>
    <p:extLst>
      <p:ext uri="{BB962C8B-B14F-4D97-AF65-F5344CB8AC3E}">
        <p14:creationId xmlns:p14="http://schemas.microsoft.com/office/powerpoint/2010/main" val="2609898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61215" y="5947802"/>
            <a:ext cx="5262326" cy="253916"/>
          </a:xfrm>
          <a:prstGeom prst="rect">
            <a:avLst/>
          </a:prstGeom>
        </p:spPr>
        <p:txBody>
          <a:bodyPr wrap="square">
            <a:spAutoFit/>
          </a:bodyPr>
          <a:lstStyle/>
          <a:p>
            <a:r>
              <a:rPr lang="zh-TW" altLang="en-US" sz="1050" dirty="0"/>
              <a:t>資料來源</a:t>
            </a:r>
            <a:r>
              <a:rPr lang="en-US" altLang="zh-TW" sz="1050" dirty="0"/>
              <a:t>:</a:t>
            </a:r>
            <a:r>
              <a:rPr lang="zh-TW" altLang="en-US" sz="1050" dirty="0"/>
              <a:t> </a:t>
            </a:r>
            <a:r>
              <a:rPr lang="en-US" altLang="zh-TW" sz="1050" dirty="0"/>
              <a:t>https://www.slideshare.net/AndreyProzorov/iso-270012022-introduction</a:t>
            </a:r>
            <a:endParaRPr lang="zh-TW" altLang="en-US" sz="1050" dirty="0"/>
          </a:p>
        </p:txBody>
      </p:sp>
      <p:pic>
        <p:nvPicPr>
          <p:cNvPr id="4" name="圖片 3"/>
          <p:cNvPicPr>
            <a:picLocks noChangeAspect="1"/>
          </p:cNvPicPr>
          <p:nvPr/>
        </p:nvPicPr>
        <p:blipFill>
          <a:blip r:embed="rId2"/>
          <a:stretch>
            <a:fillRect/>
          </a:stretch>
        </p:blipFill>
        <p:spPr>
          <a:xfrm>
            <a:off x="763534" y="2396383"/>
            <a:ext cx="6890781" cy="3604250"/>
          </a:xfrm>
          <a:prstGeom prst="rect">
            <a:avLst/>
          </a:prstGeom>
        </p:spPr>
      </p:pic>
      <p:sp>
        <p:nvSpPr>
          <p:cNvPr id="5" name="矩形 4"/>
          <p:cNvSpPr/>
          <p:nvPr/>
        </p:nvSpPr>
        <p:spPr>
          <a:xfrm>
            <a:off x="142875" y="0"/>
            <a:ext cx="3068469" cy="600164"/>
          </a:xfrm>
          <a:prstGeom prst="rect">
            <a:avLst/>
          </a:prstGeom>
        </p:spPr>
        <p:txBody>
          <a:bodyPr wrap="none">
            <a:spAutoFit/>
          </a:bodyPr>
          <a:lstStyle/>
          <a:p>
            <a:r>
              <a:rPr lang="en-US" altLang="zh-TW" sz="3300" b="1" dirty="0">
                <a:effectLst>
                  <a:outerShdw blurRad="38100" dist="38100" dir="2700000" algn="tl">
                    <a:srgbClr val="000000">
                      <a:alpha val="43137"/>
                    </a:srgbClr>
                  </a:outerShdw>
                </a:effectLst>
              </a:rPr>
              <a:t>27001:</a:t>
            </a:r>
            <a:r>
              <a:rPr lang="zh-TW" altLang="en-US" sz="3300" b="1" dirty="0">
                <a:effectLst>
                  <a:outerShdw blurRad="38100" dist="38100" dir="2700000" algn="tl">
                    <a:srgbClr val="000000">
                      <a:alpha val="43137"/>
                    </a:srgbClr>
                  </a:outerShdw>
                </a:effectLst>
              </a:rPr>
              <a:t>歷史發展</a:t>
            </a:r>
          </a:p>
        </p:txBody>
      </p:sp>
      <p:pic>
        <p:nvPicPr>
          <p:cNvPr id="6" name="圖片 5"/>
          <p:cNvPicPr>
            <a:picLocks noChangeAspect="1"/>
          </p:cNvPicPr>
          <p:nvPr/>
        </p:nvPicPr>
        <p:blipFill>
          <a:blip r:embed="rId3"/>
          <a:stretch>
            <a:fillRect/>
          </a:stretch>
        </p:blipFill>
        <p:spPr>
          <a:xfrm>
            <a:off x="312433" y="559670"/>
            <a:ext cx="8100491" cy="1895639"/>
          </a:xfrm>
          <a:prstGeom prst="rect">
            <a:avLst/>
          </a:prstGeom>
        </p:spPr>
      </p:pic>
      <p:sp>
        <p:nvSpPr>
          <p:cNvPr id="8" name="矩形 7"/>
          <p:cNvSpPr/>
          <p:nvPr/>
        </p:nvSpPr>
        <p:spPr>
          <a:xfrm>
            <a:off x="397212" y="6331164"/>
            <a:ext cx="4173467" cy="415498"/>
          </a:xfrm>
          <a:prstGeom prst="rect">
            <a:avLst/>
          </a:prstGeom>
          <a:solidFill>
            <a:schemeClr val="accent6">
              <a:lumMod val="20000"/>
              <a:lumOff val="80000"/>
            </a:schemeClr>
          </a:solidFill>
        </p:spPr>
        <p:txBody>
          <a:bodyPr wrap="square">
            <a:spAutoFit/>
          </a:bodyPr>
          <a:lstStyle/>
          <a:p>
            <a:r>
              <a:rPr lang="en-US" altLang="zh-TW" sz="1200" dirty="0"/>
              <a:t>ISO/IEC 27001:2022 </a:t>
            </a:r>
            <a:r>
              <a:rPr lang="zh-TW" altLang="en-US" sz="1200" dirty="0"/>
              <a:t>版與</a:t>
            </a:r>
            <a:r>
              <a:rPr lang="en-US" altLang="zh-TW" sz="1200" dirty="0"/>
              <a:t>2013 </a:t>
            </a:r>
            <a:r>
              <a:rPr lang="zh-TW" altLang="en-US" sz="1200" dirty="0"/>
              <a:t>版關鍵差異說明  轉版指引說明</a:t>
            </a:r>
            <a:endParaRPr lang="en-US" altLang="zh-TW" sz="1200" dirty="0"/>
          </a:p>
          <a:p>
            <a:r>
              <a:rPr lang="en-US" altLang="zh-TW" sz="900" dirty="0"/>
              <a:t>https://twap.sgs.com/trainsys/data/Changes-in-ISO-27001-2013-2022-Guidance.pdf</a:t>
            </a:r>
            <a:endParaRPr lang="zh-TW" altLang="en-US" sz="9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6</a:t>
            </a:fld>
            <a:endParaRPr lang="zh-TW" altLang="en-US" dirty="0"/>
          </a:p>
        </p:txBody>
      </p:sp>
    </p:spTree>
    <p:extLst>
      <p:ext uri="{BB962C8B-B14F-4D97-AF65-F5344CB8AC3E}">
        <p14:creationId xmlns:p14="http://schemas.microsoft.com/office/powerpoint/2010/main" val="217822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p:cNvPicPr>
            <a:picLocks noGrp="1" noChangeAspect="1"/>
          </p:cNvPicPr>
          <p:nvPr>
            <p:ph idx="1"/>
          </p:nvPr>
        </p:nvPicPr>
        <p:blipFill>
          <a:blip r:embed="rId2"/>
          <a:stretch>
            <a:fillRect/>
          </a:stretch>
        </p:blipFill>
        <p:spPr>
          <a:xfrm>
            <a:off x="89981" y="423246"/>
            <a:ext cx="8963782" cy="4986893"/>
          </a:xfrm>
          <a:prstGeom prst="rect">
            <a:avLst/>
          </a:prstGeom>
        </p:spPr>
      </p:pic>
      <p:sp>
        <p:nvSpPr>
          <p:cNvPr id="6" name="矩形 5"/>
          <p:cNvSpPr/>
          <p:nvPr/>
        </p:nvSpPr>
        <p:spPr>
          <a:xfrm>
            <a:off x="261868" y="6238831"/>
            <a:ext cx="6126480" cy="300082"/>
          </a:xfrm>
          <a:prstGeom prst="rect">
            <a:avLst/>
          </a:prstGeom>
        </p:spPr>
        <p:txBody>
          <a:bodyPr wrap="square">
            <a:spAutoFit/>
          </a:bodyPr>
          <a:lstStyle/>
          <a:p>
            <a:r>
              <a:rPr lang="zh-TW" altLang="en-US" sz="1350" dirty="0"/>
              <a:t>資料來源</a:t>
            </a:r>
            <a:r>
              <a:rPr lang="en-US" altLang="zh-TW" sz="1350" dirty="0"/>
              <a:t>:</a:t>
            </a:r>
            <a:r>
              <a:rPr lang="zh-TW" altLang="en-US" sz="1350" dirty="0"/>
              <a:t> </a:t>
            </a:r>
            <a:r>
              <a:rPr lang="en-US" altLang="zh-TW" sz="1350" dirty="0"/>
              <a:t>https://www.slideshare.net/AndreyProzorov/iso-270012022-introduction</a:t>
            </a:r>
            <a:endParaRPr lang="zh-TW" altLang="en-US" sz="1350" dirty="0"/>
          </a:p>
        </p:txBody>
      </p:sp>
      <p:sp>
        <p:nvSpPr>
          <p:cNvPr id="7" name="標題 1"/>
          <p:cNvSpPr txBox="1">
            <a:spLocks/>
          </p:cNvSpPr>
          <p:nvPr/>
        </p:nvSpPr>
        <p:spPr>
          <a:xfrm>
            <a:off x="87674" y="-29203"/>
            <a:ext cx="5858953" cy="6740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t>CNS/ISO:2013</a:t>
            </a:r>
            <a:r>
              <a:rPr lang="zh-TW" altLang="en-US" sz="3200" dirty="0"/>
              <a:t>版 與</a:t>
            </a:r>
            <a:r>
              <a:rPr lang="en-US" altLang="zh-TW" sz="3200" dirty="0"/>
              <a:t>2022</a:t>
            </a:r>
            <a:r>
              <a:rPr lang="zh-TW" altLang="en-US" sz="3200" dirty="0"/>
              <a:t>版差異</a:t>
            </a:r>
            <a:r>
              <a:rPr lang="en-US" altLang="zh-TW" sz="3200" dirty="0"/>
              <a:t>:</a:t>
            </a:r>
            <a:endParaRPr lang="zh-TW" altLang="en-US" sz="3200" dirty="0"/>
          </a:p>
        </p:txBody>
      </p:sp>
      <p:sp>
        <p:nvSpPr>
          <p:cNvPr id="3" name="矩形 2"/>
          <p:cNvSpPr/>
          <p:nvPr/>
        </p:nvSpPr>
        <p:spPr>
          <a:xfrm>
            <a:off x="3325108" y="644842"/>
            <a:ext cx="1107996" cy="369332"/>
          </a:xfrm>
          <a:prstGeom prst="rect">
            <a:avLst/>
          </a:prstGeom>
        </p:spPr>
        <p:txBody>
          <a:bodyPr wrap="none">
            <a:spAutoFit/>
          </a:bodyPr>
          <a:lstStyle/>
          <a:p>
            <a:r>
              <a:rPr lang="zh-TW" altLang="en-US" dirty="0"/>
              <a:t>控制措施</a:t>
            </a:r>
          </a:p>
        </p:txBody>
      </p:sp>
      <p:sp>
        <p:nvSpPr>
          <p:cNvPr id="8" name="矩形 7"/>
          <p:cNvSpPr/>
          <p:nvPr/>
        </p:nvSpPr>
        <p:spPr>
          <a:xfrm>
            <a:off x="3325108" y="5074280"/>
            <a:ext cx="5453094" cy="1200329"/>
          </a:xfrm>
          <a:prstGeom prst="rect">
            <a:avLst/>
          </a:prstGeom>
        </p:spPr>
        <p:txBody>
          <a:bodyPr wrap="square">
            <a:spAutoFit/>
          </a:bodyPr>
          <a:lstStyle/>
          <a:p>
            <a:r>
              <a:rPr lang="zh-TW" altLang="en-US" dirty="0"/>
              <a:t>控制措施</a:t>
            </a:r>
            <a:r>
              <a:rPr lang="en-US" altLang="zh-TW" dirty="0"/>
              <a:t>:</a:t>
            </a:r>
            <a:endParaRPr lang="zh-TW" altLang="en-US" dirty="0"/>
          </a:p>
          <a:p>
            <a:pPr marL="742950" lvl="1" indent="-285750">
              <a:buFont typeface="Wingdings" panose="05000000000000000000" pitchFamily="2" charset="2"/>
              <a:buChar char="n"/>
            </a:pPr>
            <a:r>
              <a:rPr lang="zh-TW" altLang="en-US" dirty="0"/>
              <a:t>從 </a:t>
            </a:r>
            <a:r>
              <a:rPr lang="en-US" altLang="zh-TW" dirty="0"/>
              <a:t>114 </a:t>
            </a:r>
            <a:r>
              <a:rPr lang="zh-TW" altLang="en-US" dirty="0"/>
              <a:t>項減少到 </a:t>
            </a:r>
            <a:r>
              <a:rPr lang="en-US" altLang="zh-TW" dirty="0"/>
              <a:t>93 </a:t>
            </a:r>
            <a:r>
              <a:rPr lang="zh-TW" altLang="en-US" dirty="0"/>
              <a:t>項</a:t>
            </a:r>
          </a:p>
          <a:p>
            <a:pPr marL="742950" lvl="1" indent="-285750">
              <a:buFont typeface="Wingdings" panose="05000000000000000000" pitchFamily="2" charset="2"/>
              <a:buChar char="n"/>
            </a:pPr>
            <a:r>
              <a:rPr lang="zh-TW" altLang="en-US" dirty="0"/>
              <a:t>部分控制措施被合併，另一些被刪除</a:t>
            </a:r>
            <a:endParaRPr lang="en-US" altLang="zh-TW" dirty="0"/>
          </a:p>
          <a:p>
            <a:pPr marL="742950" lvl="1" indent="-285750">
              <a:buFont typeface="Wingdings" panose="05000000000000000000" pitchFamily="2" charset="2"/>
              <a:buChar char="n"/>
            </a:pPr>
            <a:r>
              <a:rPr lang="zh-TW" altLang="en-US" dirty="0"/>
              <a:t>引入了</a:t>
            </a:r>
            <a:r>
              <a:rPr lang="en-US" altLang="zh-TW" dirty="0"/>
              <a:t>11 </a:t>
            </a:r>
            <a:r>
              <a:rPr lang="zh-TW" altLang="en-US" dirty="0"/>
              <a:t>新的控制措施，還有一些做更新</a:t>
            </a:r>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7</a:t>
            </a:fld>
            <a:endParaRPr lang="zh-TW" altLang="en-US" dirty="0"/>
          </a:p>
        </p:txBody>
      </p:sp>
    </p:spTree>
    <p:extLst>
      <p:ext uri="{BB962C8B-B14F-4D97-AF65-F5344CB8AC3E}">
        <p14:creationId xmlns:p14="http://schemas.microsoft.com/office/powerpoint/2010/main" val="346018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5630" y="-7054"/>
            <a:ext cx="6146815" cy="667410"/>
          </a:xfrm>
        </p:spPr>
        <p:txBody>
          <a:bodyPr>
            <a:normAutofit/>
          </a:bodyPr>
          <a:lstStyle/>
          <a:p>
            <a:r>
              <a:rPr lang="en-US" altLang="zh-TW" dirty="0"/>
              <a:t>CNS/ISO 27001:2022</a:t>
            </a:r>
            <a:r>
              <a:rPr lang="zh-TW" altLang="en-US" dirty="0"/>
              <a:t>文件架構</a:t>
            </a:r>
          </a:p>
        </p:txBody>
      </p:sp>
      <p:sp>
        <p:nvSpPr>
          <p:cNvPr id="3" name="內容版面配置區 2"/>
          <p:cNvSpPr>
            <a:spLocks noGrp="1"/>
          </p:cNvSpPr>
          <p:nvPr>
            <p:ph idx="1"/>
          </p:nvPr>
        </p:nvSpPr>
        <p:spPr>
          <a:xfrm>
            <a:off x="125630" y="809056"/>
            <a:ext cx="4076977" cy="5270795"/>
          </a:xfrm>
          <a:solidFill>
            <a:schemeClr val="accent6">
              <a:lumMod val="40000"/>
              <a:lumOff val="60000"/>
            </a:schemeClr>
          </a:solidFill>
        </p:spPr>
        <p:txBody>
          <a:bodyPr>
            <a:noAutofit/>
          </a:bodyPr>
          <a:lstStyle/>
          <a:p>
            <a:pPr marL="0" indent="0">
              <a:buNone/>
            </a:pPr>
            <a:r>
              <a:rPr lang="zh-TW" altLang="en-US" sz="1600" b="1" dirty="0">
                <a:effectLst>
                  <a:outerShdw blurRad="38100" dist="38100" dir="2700000" algn="tl">
                    <a:srgbClr val="000000">
                      <a:alpha val="43137"/>
                    </a:srgbClr>
                  </a:outerShdw>
                </a:effectLst>
              </a:rPr>
              <a:t>第一章：範圍（</a:t>
            </a:r>
            <a:r>
              <a:rPr lang="en-US" altLang="zh-TW" sz="1600" b="1" dirty="0">
                <a:effectLst>
                  <a:outerShdw blurRad="38100" dist="38100" dir="2700000" algn="tl">
                    <a:srgbClr val="000000">
                      <a:alpha val="43137"/>
                    </a:srgbClr>
                  </a:outerShdw>
                </a:effectLst>
              </a:rPr>
              <a:t>Scope</a:t>
            </a:r>
            <a:r>
              <a:rPr lang="zh-TW" altLang="en-US" sz="1600" b="1" dirty="0">
                <a:effectLst>
                  <a:outerShdw blurRad="38100" dist="38100" dir="2700000" algn="tl">
                    <a:srgbClr val="000000">
                      <a:alpha val="43137"/>
                    </a:srgbClr>
                  </a:outerShdw>
                </a:effectLst>
              </a:rPr>
              <a:t>） </a:t>
            </a:r>
          </a:p>
          <a:p>
            <a:pPr marL="0" indent="0">
              <a:buNone/>
            </a:pPr>
            <a:r>
              <a:rPr lang="zh-TW" altLang="en-US" sz="1600" b="1" dirty="0">
                <a:effectLst>
                  <a:outerShdw blurRad="38100" dist="38100" dir="2700000" algn="tl">
                    <a:srgbClr val="000000">
                      <a:alpha val="43137"/>
                    </a:srgbClr>
                  </a:outerShdw>
                </a:effectLst>
              </a:rPr>
              <a:t>第二章：規範性引用文件（</a:t>
            </a:r>
            <a:r>
              <a:rPr lang="en-US" altLang="zh-TW" sz="1600" b="1" dirty="0">
                <a:effectLst>
                  <a:outerShdw blurRad="38100" dist="38100" dir="2700000" algn="tl">
                    <a:srgbClr val="000000">
                      <a:alpha val="43137"/>
                    </a:srgbClr>
                  </a:outerShdw>
                </a:effectLst>
              </a:rPr>
              <a:t>Normative references</a:t>
            </a:r>
            <a:r>
              <a:rPr lang="zh-TW" altLang="en-US" sz="1600" b="1" dirty="0">
                <a:effectLst>
                  <a:outerShdw blurRad="38100" dist="38100" dir="2700000" algn="tl">
                    <a:srgbClr val="000000">
                      <a:alpha val="43137"/>
                    </a:srgbClr>
                  </a:outerShdw>
                </a:effectLst>
              </a:rPr>
              <a:t>） </a:t>
            </a:r>
          </a:p>
          <a:p>
            <a:pPr marL="0" indent="0">
              <a:buNone/>
            </a:pPr>
            <a:r>
              <a:rPr lang="zh-TW" altLang="en-US" sz="1600" b="1" dirty="0">
                <a:effectLst>
                  <a:outerShdw blurRad="38100" dist="38100" dir="2700000" algn="tl">
                    <a:srgbClr val="000000">
                      <a:alpha val="43137"/>
                    </a:srgbClr>
                  </a:outerShdw>
                </a:effectLst>
              </a:rPr>
              <a:t>第三章：術語和定義（</a:t>
            </a:r>
            <a:r>
              <a:rPr lang="en-US" altLang="zh-TW" sz="1600" b="1" dirty="0">
                <a:effectLst>
                  <a:outerShdw blurRad="38100" dist="38100" dir="2700000" algn="tl">
                    <a:srgbClr val="000000">
                      <a:alpha val="43137"/>
                    </a:srgbClr>
                  </a:outerShdw>
                </a:effectLst>
              </a:rPr>
              <a:t>Terms and definitions</a:t>
            </a:r>
            <a:r>
              <a:rPr lang="zh-TW" altLang="en-US" sz="1600" b="1" dirty="0">
                <a:effectLst>
                  <a:outerShdw blurRad="38100" dist="38100" dir="2700000" algn="tl">
                    <a:srgbClr val="000000">
                      <a:alpha val="43137"/>
                    </a:srgbClr>
                  </a:outerShdw>
                </a:effectLst>
              </a:rPr>
              <a:t>） </a:t>
            </a:r>
          </a:p>
          <a:p>
            <a:pPr marL="0" indent="0">
              <a:buNone/>
            </a:pPr>
            <a:endParaRPr lang="en-US" altLang="zh-TW" sz="1600" b="1" dirty="0">
              <a:effectLst>
                <a:outerShdw blurRad="38100" dist="38100" dir="2700000" algn="tl">
                  <a:srgbClr val="000000">
                    <a:alpha val="43137"/>
                  </a:srgbClr>
                </a:outerShdw>
              </a:effectLst>
            </a:endParaRPr>
          </a:p>
          <a:p>
            <a:pPr marL="0" indent="0">
              <a:buNone/>
            </a:pPr>
            <a:r>
              <a:rPr lang="zh-TW" altLang="en-US" sz="1600" b="1" dirty="0">
                <a:effectLst>
                  <a:outerShdw blurRad="38100" dist="38100" dir="2700000" algn="tl">
                    <a:srgbClr val="000000">
                      <a:alpha val="43137"/>
                    </a:srgbClr>
                  </a:outerShdw>
                </a:effectLst>
              </a:rPr>
              <a:t>第四章：組織的背景</a:t>
            </a:r>
            <a:endParaRPr lang="en-US" altLang="zh-TW" sz="1600" b="1" dirty="0">
              <a:effectLst>
                <a:outerShdw blurRad="38100" dist="38100" dir="2700000" algn="tl">
                  <a:srgbClr val="000000">
                    <a:alpha val="43137"/>
                  </a:srgbClr>
                </a:outerShdw>
              </a:effectLst>
            </a:endParaRPr>
          </a:p>
          <a:p>
            <a:pPr marL="0" indent="0">
              <a:buNone/>
            </a:pPr>
            <a:r>
              <a:rPr lang="en-US" altLang="zh-TW" sz="1600" b="1" dirty="0">
                <a:effectLst>
                  <a:outerShdw blurRad="38100" dist="38100" dir="2700000" algn="tl">
                    <a:srgbClr val="000000">
                      <a:alpha val="43137"/>
                    </a:srgbClr>
                  </a:outerShdw>
                </a:effectLst>
              </a:rPr>
              <a:t>   Context of the organization</a:t>
            </a:r>
            <a:r>
              <a:rPr lang="zh-TW" altLang="en-US" sz="1600" b="1" dirty="0">
                <a:effectLst>
                  <a:outerShdw blurRad="38100" dist="38100" dir="2700000" algn="tl">
                    <a:srgbClr val="000000">
                      <a:alpha val="43137"/>
                    </a:srgbClr>
                  </a:outerShdw>
                </a:effectLst>
              </a:rPr>
              <a:t> </a:t>
            </a:r>
          </a:p>
          <a:p>
            <a:pPr marL="0" indent="0">
              <a:buNone/>
            </a:pPr>
            <a:r>
              <a:rPr lang="zh-TW" altLang="en-US" sz="1600" b="1" dirty="0">
                <a:effectLst>
                  <a:outerShdw blurRad="38100" dist="38100" dir="2700000" algn="tl">
                    <a:srgbClr val="000000">
                      <a:alpha val="43137"/>
                    </a:srgbClr>
                  </a:outerShdw>
                </a:effectLst>
              </a:rPr>
              <a:t>第五章：領導（</a:t>
            </a:r>
            <a:r>
              <a:rPr lang="en-US" altLang="zh-TW" sz="1600" b="1" dirty="0">
                <a:effectLst>
                  <a:outerShdw blurRad="38100" dist="38100" dir="2700000" algn="tl">
                    <a:srgbClr val="000000">
                      <a:alpha val="43137"/>
                    </a:srgbClr>
                  </a:outerShdw>
                </a:effectLst>
              </a:rPr>
              <a:t>Leadership</a:t>
            </a:r>
            <a:r>
              <a:rPr lang="zh-TW" altLang="en-US" sz="1600" b="1" dirty="0">
                <a:effectLst>
                  <a:outerShdw blurRad="38100" dist="38100" dir="2700000" algn="tl">
                    <a:srgbClr val="000000">
                      <a:alpha val="43137"/>
                    </a:srgbClr>
                  </a:outerShdw>
                </a:effectLst>
              </a:rPr>
              <a:t>） </a:t>
            </a:r>
          </a:p>
          <a:p>
            <a:pPr marL="0" indent="0">
              <a:buNone/>
            </a:pPr>
            <a:r>
              <a:rPr lang="zh-TW" altLang="en-US" sz="1600" b="1" dirty="0">
                <a:effectLst>
                  <a:outerShdw blurRad="38100" dist="38100" dir="2700000" algn="tl">
                    <a:srgbClr val="000000">
                      <a:alpha val="43137"/>
                    </a:srgbClr>
                  </a:outerShdw>
                </a:effectLst>
              </a:rPr>
              <a:t>第六章：規劃（</a:t>
            </a:r>
            <a:r>
              <a:rPr lang="en-US" altLang="zh-TW" sz="1600" b="1" dirty="0">
                <a:effectLst>
                  <a:outerShdw blurRad="38100" dist="38100" dir="2700000" algn="tl">
                    <a:srgbClr val="000000">
                      <a:alpha val="43137"/>
                    </a:srgbClr>
                  </a:outerShdw>
                </a:effectLst>
              </a:rPr>
              <a:t>Planning</a:t>
            </a:r>
            <a:r>
              <a:rPr lang="zh-TW" altLang="en-US" sz="1600" b="1" dirty="0">
                <a:effectLst>
                  <a:outerShdw blurRad="38100" dist="38100" dir="2700000" algn="tl">
                    <a:srgbClr val="000000">
                      <a:alpha val="43137"/>
                    </a:srgbClr>
                  </a:outerShdw>
                </a:effectLst>
              </a:rPr>
              <a:t>） </a:t>
            </a:r>
          </a:p>
          <a:p>
            <a:pPr marL="0" indent="0">
              <a:buNone/>
            </a:pPr>
            <a:r>
              <a:rPr lang="zh-TW" altLang="en-US" sz="1600" b="1" dirty="0">
                <a:effectLst>
                  <a:outerShdw blurRad="38100" dist="38100" dir="2700000" algn="tl">
                    <a:srgbClr val="000000">
                      <a:alpha val="43137"/>
                    </a:srgbClr>
                  </a:outerShdw>
                </a:effectLst>
              </a:rPr>
              <a:t>第七章：支持（</a:t>
            </a:r>
            <a:r>
              <a:rPr lang="en-US" altLang="zh-TW" sz="1600" b="1" dirty="0">
                <a:effectLst>
                  <a:outerShdw blurRad="38100" dist="38100" dir="2700000" algn="tl">
                    <a:srgbClr val="000000">
                      <a:alpha val="43137"/>
                    </a:srgbClr>
                  </a:outerShdw>
                </a:effectLst>
              </a:rPr>
              <a:t>Support</a:t>
            </a:r>
            <a:r>
              <a:rPr lang="zh-TW" altLang="en-US" sz="1600" b="1" dirty="0">
                <a:effectLst>
                  <a:outerShdw blurRad="38100" dist="38100" dir="2700000" algn="tl">
                    <a:srgbClr val="000000">
                      <a:alpha val="43137"/>
                    </a:srgbClr>
                  </a:outerShdw>
                </a:effectLst>
              </a:rPr>
              <a:t>） </a:t>
            </a:r>
          </a:p>
          <a:p>
            <a:pPr marL="0" indent="0">
              <a:buNone/>
            </a:pPr>
            <a:endParaRPr lang="en-US" altLang="zh-TW" sz="1600" b="1" dirty="0">
              <a:effectLst>
                <a:outerShdw blurRad="38100" dist="38100" dir="2700000" algn="tl">
                  <a:srgbClr val="000000">
                    <a:alpha val="43137"/>
                  </a:srgbClr>
                </a:outerShdw>
              </a:effectLst>
            </a:endParaRPr>
          </a:p>
          <a:p>
            <a:pPr marL="0" indent="0">
              <a:buNone/>
            </a:pPr>
            <a:r>
              <a:rPr lang="zh-TW" altLang="en-US" sz="1600" b="1" dirty="0">
                <a:effectLst>
                  <a:outerShdw blurRad="38100" dist="38100" dir="2700000" algn="tl">
                    <a:srgbClr val="000000">
                      <a:alpha val="43137"/>
                    </a:srgbClr>
                  </a:outerShdw>
                </a:effectLst>
              </a:rPr>
              <a:t>第八章：運行（</a:t>
            </a:r>
            <a:r>
              <a:rPr lang="en-US" altLang="zh-TW" sz="1600" b="1" dirty="0">
                <a:effectLst>
                  <a:outerShdw blurRad="38100" dist="38100" dir="2700000" algn="tl">
                    <a:srgbClr val="000000">
                      <a:alpha val="43137"/>
                    </a:srgbClr>
                  </a:outerShdw>
                </a:effectLst>
              </a:rPr>
              <a:t>Operation</a:t>
            </a:r>
            <a:r>
              <a:rPr lang="zh-TW" altLang="en-US" sz="1600" b="1" dirty="0">
                <a:effectLst>
                  <a:outerShdw blurRad="38100" dist="38100" dir="2700000" algn="tl">
                    <a:srgbClr val="000000">
                      <a:alpha val="43137"/>
                    </a:srgbClr>
                  </a:outerShdw>
                </a:effectLst>
              </a:rPr>
              <a:t>） </a:t>
            </a:r>
            <a:endParaRPr lang="en-US" altLang="zh-TW" sz="1600" b="1" dirty="0">
              <a:effectLst>
                <a:outerShdw blurRad="38100" dist="38100" dir="2700000" algn="tl">
                  <a:srgbClr val="000000">
                    <a:alpha val="43137"/>
                  </a:srgbClr>
                </a:outerShdw>
              </a:effectLst>
            </a:endParaRPr>
          </a:p>
          <a:p>
            <a:pPr marL="0" indent="0">
              <a:buNone/>
            </a:pPr>
            <a:r>
              <a:rPr lang="zh-TW" altLang="en-US" sz="1600" b="1" dirty="0">
                <a:effectLst>
                  <a:outerShdw blurRad="38100" dist="38100" dir="2700000" algn="tl">
                    <a:srgbClr val="000000">
                      <a:alpha val="43137"/>
                    </a:srgbClr>
                  </a:outerShdw>
                </a:effectLst>
              </a:rPr>
              <a:t>第九章：績效評估（</a:t>
            </a:r>
            <a:r>
              <a:rPr lang="en-US" altLang="zh-TW" sz="1600" b="1" dirty="0">
                <a:effectLst>
                  <a:outerShdw blurRad="38100" dist="38100" dir="2700000" algn="tl">
                    <a:srgbClr val="000000">
                      <a:alpha val="43137"/>
                    </a:srgbClr>
                  </a:outerShdw>
                </a:effectLst>
              </a:rPr>
              <a:t>Performance evaluation</a:t>
            </a:r>
            <a:r>
              <a:rPr lang="zh-TW" altLang="en-US" sz="1600" b="1" dirty="0">
                <a:effectLst>
                  <a:outerShdw blurRad="38100" dist="38100" dir="2700000" algn="tl">
                    <a:srgbClr val="000000">
                      <a:alpha val="43137"/>
                    </a:srgbClr>
                  </a:outerShdw>
                </a:effectLst>
              </a:rPr>
              <a:t>） </a:t>
            </a:r>
            <a:endParaRPr lang="en-US" altLang="zh-TW" sz="1600" b="1" dirty="0">
              <a:effectLst>
                <a:outerShdw blurRad="38100" dist="38100" dir="2700000" algn="tl">
                  <a:srgbClr val="000000">
                    <a:alpha val="43137"/>
                  </a:srgbClr>
                </a:outerShdw>
              </a:effectLst>
            </a:endParaRPr>
          </a:p>
          <a:p>
            <a:pPr marL="0" indent="0">
              <a:buNone/>
            </a:pPr>
            <a:r>
              <a:rPr lang="zh-TW" altLang="en-US" sz="1600" b="1" dirty="0">
                <a:effectLst>
                  <a:outerShdw blurRad="38100" dist="38100" dir="2700000" algn="tl">
                    <a:srgbClr val="000000">
                      <a:alpha val="43137"/>
                    </a:srgbClr>
                  </a:outerShdw>
                </a:effectLst>
              </a:rPr>
              <a:t>第十章：改善（</a:t>
            </a:r>
            <a:r>
              <a:rPr lang="en-US" altLang="zh-TW" sz="1600" b="1" dirty="0">
                <a:effectLst>
                  <a:outerShdw blurRad="38100" dist="38100" dir="2700000" algn="tl">
                    <a:srgbClr val="000000">
                      <a:alpha val="43137"/>
                    </a:srgbClr>
                  </a:outerShdw>
                </a:effectLst>
              </a:rPr>
              <a:t>Improvement</a:t>
            </a:r>
            <a:r>
              <a:rPr lang="zh-TW" altLang="en-US" sz="1600" b="1" dirty="0">
                <a:effectLst>
                  <a:outerShdw blurRad="38100" dist="38100" dir="2700000" algn="tl">
                    <a:srgbClr val="000000">
                      <a:alpha val="43137"/>
                    </a:srgbClr>
                  </a:outerShdw>
                </a:effectLst>
              </a:rPr>
              <a:t>）</a:t>
            </a:r>
          </a:p>
        </p:txBody>
      </p:sp>
      <p:sp>
        <p:nvSpPr>
          <p:cNvPr id="4" name="矩形 3"/>
          <p:cNvSpPr/>
          <p:nvPr/>
        </p:nvSpPr>
        <p:spPr>
          <a:xfrm>
            <a:off x="223707" y="6377252"/>
            <a:ext cx="3720211" cy="230832"/>
          </a:xfrm>
          <a:prstGeom prst="rect">
            <a:avLst/>
          </a:prstGeom>
        </p:spPr>
        <p:txBody>
          <a:bodyPr wrap="square">
            <a:spAutoFit/>
          </a:bodyPr>
          <a:lstStyle/>
          <a:p>
            <a:r>
              <a:rPr lang="en-US" altLang="zh-TW" sz="900" dirty="0"/>
              <a:t>https://www.isoleader.com.tw/home/iso-coaching-detail/ISO27001</a:t>
            </a:r>
            <a:endParaRPr lang="zh-TW" altLang="en-US" sz="900" dirty="0"/>
          </a:p>
        </p:txBody>
      </p:sp>
      <p:sp>
        <p:nvSpPr>
          <p:cNvPr id="5" name="矩形 4"/>
          <p:cNvSpPr/>
          <p:nvPr/>
        </p:nvSpPr>
        <p:spPr>
          <a:xfrm>
            <a:off x="4321420" y="809056"/>
            <a:ext cx="4547288" cy="507831"/>
          </a:xfrm>
          <a:prstGeom prst="rect">
            <a:avLst/>
          </a:prstGeom>
          <a:solidFill>
            <a:schemeClr val="accent6">
              <a:lumMod val="20000"/>
              <a:lumOff val="80000"/>
            </a:schemeClr>
          </a:solidFill>
        </p:spPr>
        <p:txBody>
          <a:bodyPr wrap="square">
            <a:spAutoFit/>
          </a:bodyPr>
          <a:lstStyle/>
          <a:p>
            <a:r>
              <a:rPr lang="zh-TW" altLang="en-US" sz="1350" dirty="0"/>
              <a:t>附錄 </a:t>
            </a:r>
            <a:r>
              <a:rPr lang="en-US" altLang="zh-TW" sz="1350" dirty="0"/>
              <a:t>A</a:t>
            </a:r>
            <a:r>
              <a:rPr lang="zh-TW" altLang="en-US" sz="1350" dirty="0"/>
              <a:t> 資訊安全控制項參考</a:t>
            </a:r>
            <a:endParaRPr lang="en-US" altLang="zh-TW" sz="1350" dirty="0"/>
          </a:p>
          <a:p>
            <a:r>
              <a:rPr lang="en-US" altLang="zh-TW" sz="1350" dirty="0"/>
              <a:t>Information security controls reference</a:t>
            </a:r>
            <a:endParaRPr lang="zh-TW" altLang="en-US" sz="1350" dirty="0"/>
          </a:p>
        </p:txBody>
      </p:sp>
      <p:graphicFrame>
        <p:nvGraphicFramePr>
          <p:cNvPr id="6" name="表格 5"/>
          <p:cNvGraphicFramePr>
            <a:graphicFrameLocks noGrp="1"/>
          </p:cNvGraphicFramePr>
          <p:nvPr>
            <p:extLst>
              <p:ext uri="{D42A27DB-BD31-4B8C-83A1-F6EECF244321}">
                <p14:modId xmlns:p14="http://schemas.microsoft.com/office/powerpoint/2010/main" val="3738504274"/>
              </p:ext>
            </p:extLst>
          </p:nvPr>
        </p:nvGraphicFramePr>
        <p:xfrm>
          <a:off x="4321419" y="1444896"/>
          <a:ext cx="4547289" cy="3555943"/>
        </p:xfrm>
        <a:graphic>
          <a:graphicData uri="http://schemas.openxmlformats.org/drawingml/2006/table">
            <a:tbl>
              <a:tblPr firstRow="1" bandRow="1">
                <a:tableStyleId>{5C22544A-7EE6-4342-B048-85BDC9FD1C3A}</a:tableStyleId>
              </a:tblPr>
              <a:tblGrid>
                <a:gridCol w="1912327">
                  <a:extLst>
                    <a:ext uri="{9D8B030D-6E8A-4147-A177-3AD203B41FA5}">
                      <a16:colId xmlns:a16="http://schemas.microsoft.com/office/drawing/2014/main" val="3003477835"/>
                    </a:ext>
                  </a:extLst>
                </a:gridCol>
                <a:gridCol w="2634962">
                  <a:extLst>
                    <a:ext uri="{9D8B030D-6E8A-4147-A177-3AD203B41FA5}">
                      <a16:colId xmlns:a16="http://schemas.microsoft.com/office/drawing/2014/main" val="3866619322"/>
                    </a:ext>
                  </a:extLst>
                </a:gridCol>
              </a:tblGrid>
              <a:tr h="523183">
                <a:tc>
                  <a:txBody>
                    <a:bodyPr/>
                    <a:lstStyle/>
                    <a:p>
                      <a:r>
                        <a:rPr lang="en-US" altLang="zh-TW" sz="1400" dirty="0"/>
                        <a:t>4 </a:t>
                      </a:r>
                      <a:r>
                        <a:rPr lang="zh-TW" altLang="en-US" sz="1400" dirty="0"/>
                        <a:t>大關鍵領域</a:t>
                      </a:r>
                      <a:endParaRPr lang="en-US" altLang="zh-TW" sz="1400" dirty="0"/>
                    </a:p>
                    <a:p>
                      <a:r>
                        <a:rPr lang="en-US" altLang="zh-TW" sz="1100" dirty="0"/>
                        <a:t>(2013</a:t>
                      </a:r>
                      <a:r>
                        <a:rPr lang="zh-TW" altLang="en-US" sz="1100" dirty="0"/>
                        <a:t>版</a:t>
                      </a:r>
                      <a:r>
                        <a:rPr lang="en-US" altLang="zh-TW" sz="1100" dirty="0"/>
                        <a:t>:14 </a:t>
                      </a:r>
                      <a:r>
                        <a:rPr lang="zh-TW" altLang="en-US" sz="1100" dirty="0"/>
                        <a:t>個整合成</a:t>
                      </a:r>
                      <a:r>
                        <a:rPr lang="en-US" altLang="zh-TW" sz="1100" dirty="0"/>
                        <a:t>4</a:t>
                      </a:r>
                      <a:r>
                        <a:rPr lang="zh-TW" altLang="en-US" sz="1100" dirty="0"/>
                        <a:t>大</a:t>
                      </a:r>
                      <a:r>
                        <a:rPr lang="en-US" altLang="zh-TW" sz="1100" dirty="0"/>
                        <a:t>)</a:t>
                      </a:r>
                      <a:endParaRPr lang="zh-TW" altLang="en-US" sz="1100" dirty="0"/>
                    </a:p>
                  </a:txBody>
                  <a:tcPr marL="68580" marR="68580" marT="34290" marB="34290"/>
                </a:tc>
                <a:tc>
                  <a:txBody>
                    <a:bodyPr/>
                    <a:lstStyle/>
                    <a:p>
                      <a:r>
                        <a:rPr lang="zh-TW" altLang="en-US" sz="1400" baseline="0" dirty="0"/>
                        <a:t>控制措施範例</a:t>
                      </a:r>
                      <a:endParaRPr lang="en-US" altLang="zh-TW" sz="1400" baseline="0" dirty="0"/>
                    </a:p>
                  </a:txBody>
                  <a:tcPr marL="68580" marR="68580" marT="34290" marB="34290"/>
                </a:tc>
                <a:extLst>
                  <a:ext uri="{0D108BD9-81ED-4DB2-BD59-A6C34878D82A}">
                    <a16:rowId xmlns:a16="http://schemas.microsoft.com/office/drawing/2014/main" val="2499373322"/>
                  </a:ext>
                </a:extLst>
              </a:tr>
              <a:tr h="685800">
                <a:tc>
                  <a:txBody>
                    <a:bodyPr/>
                    <a:lstStyle/>
                    <a:p>
                      <a:r>
                        <a:rPr lang="zh-TW" altLang="en-US" sz="1400" dirty="0"/>
                        <a:t>組織</a:t>
                      </a:r>
                      <a:endParaRPr lang="en-US" altLang="zh-TW" sz="14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dirty="0"/>
                        <a:t>5 Organizational controls(5.1-5.37)</a:t>
                      </a:r>
                      <a:endParaRPr lang="zh-TW" altLang="en-US" sz="1400" dirty="0"/>
                    </a:p>
                  </a:txBody>
                  <a:tcPr marL="68580" marR="68580" marT="34290" marB="34290"/>
                </a:tc>
                <a:tc>
                  <a:txBody>
                    <a:bodyPr/>
                    <a:lstStyle/>
                    <a:p>
                      <a:r>
                        <a:rPr lang="en-US" altLang="zh-TW" sz="1100" dirty="0"/>
                        <a:t>5.35 Independent review of information security</a:t>
                      </a:r>
                    </a:p>
                    <a:p>
                      <a:r>
                        <a:rPr lang="en-US" altLang="zh-TW" sz="1100" dirty="0"/>
                        <a:t>5.37 Documented operating procedures</a:t>
                      </a:r>
                      <a:endParaRPr lang="zh-TW" altLang="en-US" sz="1100" dirty="0"/>
                    </a:p>
                  </a:txBody>
                  <a:tcPr marL="68580" marR="68580" marT="34290" marB="34290"/>
                </a:tc>
                <a:extLst>
                  <a:ext uri="{0D108BD9-81ED-4DB2-BD59-A6C34878D82A}">
                    <a16:rowId xmlns:a16="http://schemas.microsoft.com/office/drawing/2014/main" val="1676703063"/>
                  </a:ext>
                </a:extLst>
              </a:tr>
              <a:tr h="685800">
                <a:tc>
                  <a:txBody>
                    <a:bodyPr/>
                    <a:lstStyle/>
                    <a:p>
                      <a:r>
                        <a:rPr lang="zh-TW" altLang="en-US" sz="1400" dirty="0"/>
                        <a:t>人員</a:t>
                      </a:r>
                      <a:endParaRPr lang="en-US" altLang="zh-TW" sz="1400" dirty="0"/>
                    </a:p>
                    <a:p>
                      <a:r>
                        <a:rPr lang="en-US" altLang="zh-TW" sz="1400" dirty="0"/>
                        <a:t>6 People controls</a:t>
                      </a:r>
                    </a:p>
                    <a:p>
                      <a:r>
                        <a:rPr lang="en-US" altLang="zh-TW" sz="1400" dirty="0"/>
                        <a:t>(6.1-6.8)</a:t>
                      </a:r>
                      <a:endParaRPr lang="zh-TW" altLang="en-US" sz="1400" dirty="0"/>
                    </a:p>
                  </a:txBody>
                  <a:tcPr marL="68580" marR="68580" marT="34290" marB="34290"/>
                </a:tc>
                <a:tc>
                  <a:txBody>
                    <a:bodyPr/>
                    <a:lstStyle/>
                    <a:p>
                      <a:r>
                        <a:rPr lang="en-US" altLang="zh-TW" sz="1100" dirty="0"/>
                        <a:t>6.3 Information security awareness,</a:t>
                      </a:r>
                    </a:p>
                    <a:p>
                      <a:r>
                        <a:rPr lang="en-US" altLang="zh-TW" sz="1100" dirty="0"/>
                        <a:t>education and training</a:t>
                      </a:r>
                      <a:endParaRPr lang="zh-TW" altLang="en-US" sz="1100" dirty="0"/>
                    </a:p>
                  </a:txBody>
                  <a:tcPr marL="68580" marR="68580" marT="34290" marB="34290"/>
                </a:tc>
                <a:extLst>
                  <a:ext uri="{0D108BD9-81ED-4DB2-BD59-A6C34878D82A}">
                    <a16:rowId xmlns:a16="http://schemas.microsoft.com/office/drawing/2014/main" val="3279870826"/>
                  </a:ext>
                </a:extLst>
              </a:tr>
              <a:tr h="685800">
                <a:tc>
                  <a:txBody>
                    <a:bodyPr/>
                    <a:lstStyle/>
                    <a:p>
                      <a:r>
                        <a:rPr lang="zh-TW" altLang="en-US" sz="1400" dirty="0"/>
                        <a:t>實體</a:t>
                      </a:r>
                      <a:endParaRPr lang="en-US" altLang="zh-TW" sz="1400" dirty="0"/>
                    </a:p>
                    <a:p>
                      <a:r>
                        <a:rPr lang="en-US" altLang="zh-TW" sz="1400" dirty="0"/>
                        <a:t>7 Physical controls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dirty="0"/>
                        <a:t>(7.1-7.14)</a:t>
                      </a:r>
                      <a:endParaRPr lang="zh-TW" altLang="en-US" sz="1400" dirty="0"/>
                    </a:p>
                  </a:txBody>
                  <a:tcPr marL="68580" marR="68580" marT="34290" marB="34290"/>
                </a:tc>
                <a:tc>
                  <a:txBody>
                    <a:bodyPr/>
                    <a:lstStyle/>
                    <a:p>
                      <a:r>
                        <a:rPr lang="en-US" altLang="zh-TW" sz="1100" dirty="0"/>
                        <a:t>7.4 Physical security monitoring</a:t>
                      </a:r>
                      <a:endParaRPr lang="zh-TW" altLang="en-US" sz="1100" dirty="0"/>
                    </a:p>
                  </a:txBody>
                  <a:tcPr marL="68580" marR="68580" marT="34290" marB="34290"/>
                </a:tc>
                <a:extLst>
                  <a:ext uri="{0D108BD9-81ED-4DB2-BD59-A6C34878D82A}">
                    <a16:rowId xmlns:a16="http://schemas.microsoft.com/office/drawing/2014/main" val="3025050458"/>
                  </a:ext>
                </a:extLst>
              </a:tr>
              <a:tr h="8686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技術</a:t>
                      </a:r>
                    </a:p>
                    <a:p>
                      <a:r>
                        <a:rPr lang="en-US" altLang="zh-TW" sz="1400" dirty="0"/>
                        <a:t>8 Technological controls</a:t>
                      </a:r>
                      <a:r>
                        <a:rPr lang="zh-TW" altLang="en-US" sz="1400" dirty="0"/>
                        <a:t> </a:t>
                      </a:r>
                      <a:r>
                        <a:rPr lang="en-US" altLang="zh-TW" sz="1400" dirty="0"/>
                        <a:t>(8.1-8.34)</a:t>
                      </a:r>
                      <a:endParaRPr lang="zh-TW" altLang="en-US" sz="1400" dirty="0"/>
                    </a:p>
                  </a:txBody>
                  <a:tcPr marL="68580" marR="68580" marT="34290" marB="34290"/>
                </a:tc>
                <a:tc>
                  <a:txBody>
                    <a:bodyPr/>
                    <a:lstStyle/>
                    <a:p>
                      <a:r>
                        <a:rPr lang="en-US" altLang="zh-TW" sz="1100" dirty="0"/>
                        <a:t>8.28 Secure coding</a:t>
                      </a:r>
                    </a:p>
                    <a:p>
                      <a:r>
                        <a:rPr lang="en-US" altLang="zh-TW" sz="1100" dirty="0"/>
                        <a:t>8.31 Separation of development, test and production environments </a:t>
                      </a:r>
                    </a:p>
                    <a:p>
                      <a:r>
                        <a:rPr lang="en-US" altLang="zh-TW" sz="1100" dirty="0"/>
                        <a:t>8.34 Protection of information systems during audit testing</a:t>
                      </a:r>
                      <a:endParaRPr lang="zh-TW" altLang="en-US" sz="1100" dirty="0"/>
                    </a:p>
                  </a:txBody>
                  <a:tcPr marL="68580" marR="68580" marT="34290" marB="34290"/>
                </a:tc>
                <a:extLst>
                  <a:ext uri="{0D108BD9-81ED-4DB2-BD59-A6C34878D82A}">
                    <a16:rowId xmlns:a16="http://schemas.microsoft.com/office/drawing/2014/main" val="610229417"/>
                  </a:ext>
                </a:extLst>
              </a:tr>
            </a:tbl>
          </a:graphicData>
        </a:graphic>
      </p:graphicFrame>
      <p:sp>
        <p:nvSpPr>
          <p:cNvPr id="7" name="投影片編號版面配置區 6"/>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8</a:t>
            </a:fld>
            <a:endParaRPr lang="zh-TW" altLang="en-US" dirty="0"/>
          </a:p>
        </p:txBody>
      </p:sp>
    </p:spTree>
    <p:extLst>
      <p:ext uri="{BB962C8B-B14F-4D97-AF65-F5344CB8AC3E}">
        <p14:creationId xmlns:p14="http://schemas.microsoft.com/office/powerpoint/2010/main" val="63308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0358" y="29962"/>
            <a:ext cx="7886700" cy="550045"/>
          </a:xfrm>
        </p:spPr>
        <p:txBody>
          <a:bodyPr>
            <a:normAutofit/>
          </a:bodyPr>
          <a:lstStyle/>
          <a:p>
            <a:r>
              <a:rPr lang="en-US" altLang="zh-TW" dirty="0"/>
              <a:t>ISO/IEC 27001:2013  14</a:t>
            </a:r>
            <a:r>
              <a:rPr lang="zh-TW" altLang="en-US" dirty="0"/>
              <a:t>個關鍵領域</a:t>
            </a: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787207245"/>
              </p:ext>
            </p:extLst>
          </p:nvPr>
        </p:nvGraphicFramePr>
        <p:xfrm>
          <a:off x="110358" y="633380"/>
          <a:ext cx="8953872" cy="5303520"/>
        </p:xfrm>
        <a:graphic>
          <a:graphicData uri="http://schemas.openxmlformats.org/drawingml/2006/table">
            <a:tbl>
              <a:tblPr firstRow="1" bandRow="1">
                <a:tableStyleId>{5C22544A-7EE6-4342-B048-85BDC9FD1C3A}</a:tableStyleId>
              </a:tblPr>
              <a:tblGrid>
                <a:gridCol w="4284384">
                  <a:extLst>
                    <a:ext uri="{9D8B030D-6E8A-4147-A177-3AD203B41FA5}">
                      <a16:colId xmlns:a16="http://schemas.microsoft.com/office/drawing/2014/main" val="442174568"/>
                    </a:ext>
                  </a:extLst>
                </a:gridCol>
                <a:gridCol w="4669488">
                  <a:extLst>
                    <a:ext uri="{9D8B030D-6E8A-4147-A177-3AD203B41FA5}">
                      <a16:colId xmlns:a16="http://schemas.microsoft.com/office/drawing/2014/main" val="1907295331"/>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904336789"/>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A.5 – Information security policies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(2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資訊安全政策</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A.12 – Operations security (14 controls)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操作</a:t>
                      </a: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營運安全</a:t>
                      </a:r>
                      <a:endParaRPr lang="en-US" altLang="zh-TW" sz="1800" b="1" i="0" kern="1200" dirty="0">
                        <a:solidFill>
                          <a:schemeClr val="tx1"/>
                        </a:solidFill>
                        <a:effectLst>
                          <a:outerShdw blurRad="38100" dist="38100" dir="2700000" algn="tl">
                            <a:srgbClr val="000000">
                              <a:alpha val="43137"/>
                            </a:srgbClr>
                          </a:outerShdw>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994155"/>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A.6 – </a:t>
                      </a:r>
                      <a:r>
                        <a:rPr lang="en-US" altLang="zh-TW" sz="1800" b="1" i="0" kern="1200" dirty="0" err="1">
                          <a:solidFill>
                            <a:schemeClr val="tx1"/>
                          </a:solidFill>
                          <a:effectLst>
                            <a:outerShdw blurRad="38100" dist="38100" dir="2700000" algn="tl">
                              <a:srgbClr val="000000">
                                <a:alpha val="43137"/>
                              </a:srgbClr>
                            </a:outerShdw>
                          </a:effectLst>
                          <a:latin typeface="+mn-lt"/>
                          <a:ea typeface="+mn-ea"/>
                          <a:cs typeface="+mn-cs"/>
                        </a:rPr>
                        <a:t>Organisation</a:t>
                      </a: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 of information security (7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推動資訊安全的組織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A.13 – Communications security (7 controls)</a:t>
                      </a:r>
                      <a:r>
                        <a:rPr lang="en-US" altLang="zh-TW" sz="1800" b="1" i="0" kern="1200" baseline="0" dirty="0">
                          <a:solidFill>
                            <a:schemeClr val="tx1"/>
                          </a:solidFill>
                          <a:effectLst>
                            <a:outerShdw blurRad="38100" dist="38100" dir="2700000" algn="tl">
                              <a:srgbClr val="000000">
                                <a:alpha val="43137"/>
                              </a:srgbClr>
                            </a:outerShdw>
                          </a:effectLst>
                          <a:latin typeface="+mn-lt"/>
                          <a:ea typeface="+mn-ea"/>
                          <a:cs typeface="+mn-cs"/>
                        </a:rPr>
                        <a:t>  </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通信安全</a:t>
                      </a:r>
                      <a:endParaRPr lang="en-US" altLang="zh-TW" sz="1800" b="1" i="0" kern="1200" dirty="0">
                        <a:solidFill>
                          <a:schemeClr val="tx1"/>
                        </a:solidFill>
                        <a:effectLst>
                          <a:outerShdw blurRad="38100" dist="38100" dir="2700000" algn="tl">
                            <a:srgbClr val="000000">
                              <a:alpha val="43137"/>
                            </a:srgbClr>
                          </a:outerShdw>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5298533"/>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A.7 – Human resource security (6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人力資源安全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A.14 – System acquisition, development and maintenance</a:t>
                      </a:r>
                      <a:r>
                        <a:rPr lang="en-US" altLang="zh-TW" sz="1800" b="1" i="0" kern="1200" baseline="0" dirty="0">
                          <a:solidFill>
                            <a:schemeClr val="tx1"/>
                          </a:solidFill>
                          <a:effectLst>
                            <a:outerShdw blurRad="38100" dist="38100" dir="2700000" algn="tl">
                              <a:srgbClr val="000000">
                                <a:alpha val="43137"/>
                              </a:srgbClr>
                            </a:outerShdw>
                          </a:effectLst>
                          <a:latin typeface="+mn-lt"/>
                          <a:ea typeface="+mn-ea"/>
                          <a:cs typeface="+mn-cs"/>
                        </a:rPr>
                        <a:t> </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系統獲取、開發和維護</a:t>
                      </a: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 (13)</a:t>
                      </a:r>
                      <a:endParaRPr lang="zh-TW" altLang="en-US" sz="1800" b="1" i="0" kern="1200" dirty="0">
                        <a:solidFill>
                          <a:schemeClr val="tx1"/>
                        </a:solidFill>
                        <a:effectLst>
                          <a:outerShdw blurRad="38100" dist="38100" dir="2700000" algn="tl">
                            <a:srgbClr val="000000">
                              <a:alpha val="43137"/>
                            </a:srgbClr>
                          </a:outerShdw>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4210365"/>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zh-TW" sz="1800" b="1" i="0" kern="1200" dirty="0">
                          <a:solidFill>
                            <a:schemeClr val="tx1"/>
                          </a:solidFill>
                          <a:effectLst>
                            <a:outerShdw blurRad="38100" dist="38100" dir="2700000" algn="tl">
                              <a:srgbClr val="000000">
                                <a:alpha val="43137"/>
                              </a:srgbClr>
                            </a:outerShdw>
                          </a:effectLst>
                          <a:latin typeface="+mn-lt"/>
                          <a:ea typeface="+mn-ea"/>
                          <a:cs typeface="+mn-cs"/>
                        </a:rPr>
                        <a:t>Annex A.8 – Asset management </a:t>
                      </a:r>
                    </a:p>
                    <a:p>
                      <a:pPr marL="0" marR="0" indent="0" algn="l" defTabSz="914400" rtl="0" eaLnBrk="1" fontAlgn="auto" latinLnBrk="0" hangingPunct="1">
                        <a:lnSpc>
                          <a:spcPct val="100000"/>
                        </a:lnSpc>
                        <a:spcBef>
                          <a:spcPts val="0"/>
                        </a:spcBef>
                        <a:spcAft>
                          <a:spcPts val="0"/>
                        </a:spcAft>
                        <a:buClrTx/>
                        <a:buSzTx/>
                        <a:buFontTx/>
                        <a:buNone/>
                        <a:tabLst/>
                        <a:defRPr/>
                      </a:pPr>
                      <a:r>
                        <a:rPr lang="fr-FR" altLang="zh-TW" sz="1800" b="1" i="0" kern="1200" dirty="0">
                          <a:solidFill>
                            <a:schemeClr val="tx1"/>
                          </a:solidFill>
                          <a:effectLst>
                            <a:outerShdw blurRad="38100" dist="38100" dir="2700000" algn="tl">
                              <a:srgbClr val="000000">
                                <a:alpha val="43137"/>
                              </a:srgbClr>
                            </a:outerShdw>
                          </a:effectLst>
                          <a:latin typeface="+mn-lt"/>
                          <a:ea typeface="+mn-ea"/>
                          <a:cs typeface="+mn-cs"/>
                        </a:rPr>
                        <a:t>(10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資產管理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A.15 – Supplier relationships (5 controls)</a:t>
                      </a:r>
                    </a:p>
                    <a:p>
                      <a:r>
                        <a:rPr lang="zh-TW" altLang="en-US" sz="1800" b="1" dirty="0">
                          <a:solidFill>
                            <a:schemeClr val="tx1"/>
                          </a:solidFill>
                          <a:effectLst>
                            <a:outerShdw blurRad="38100" dist="38100" dir="2700000" algn="tl">
                              <a:srgbClr val="000000">
                                <a:alpha val="43137"/>
                              </a:srgbClr>
                            </a:outerShdw>
                          </a:effectLst>
                        </a:rPr>
                        <a:t>供應商關係</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0587106"/>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A.9 – Access control (14 controls)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存取控制</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A.16 – Information security incident management (7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 資訊安全事件管理</a:t>
                      </a:r>
                      <a:endParaRPr lang="en-US" altLang="zh-TW" sz="1800" b="1" i="0" kern="1200" dirty="0">
                        <a:solidFill>
                          <a:schemeClr val="tx1"/>
                        </a:solidFill>
                        <a:effectLst>
                          <a:outerShdw blurRad="38100" dist="38100" dir="2700000" algn="tl">
                            <a:srgbClr val="000000">
                              <a:alpha val="43137"/>
                            </a:srgbClr>
                          </a:outerShdw>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9593882"/>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A.10 – Cryptography (2 controls)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密碼學</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A.17 – Information security aspects of business continuity management (4 controls)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業務連續性管理的資訊安全方面</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8961962"/>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A.11 – Physical and environmental security (15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 實體和環境安全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i="0" kern="1200" dirty="0">
                          <a:solidFill>
                            <a:schemeClr val="tx1"/>
                          </a:solidFill>
                          <a:effectLst>
                            <a:outerShdw blurRad="38100" dist="38100" dir="2700000" algn="tl">
                              <a:srgbClr val="000000">
                                <a:alpha val="43137"/>
                              </a:srgbClr>
                            </a:outerShdw>
                          </a:effectLst>
                          <a:latin typeface="+mn-lt"/>
                          <a:ea typeface="+mn-ea"/>
                          <a:cs typeface="+mn-cs"/>
                        </a:rPr>
                        <a:t>Annex A.18 – Compliance (8 controls)</a:t>
                      </a: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  合規性 </a:t>
                      </a:r>
                      <a:endParaRPr lang="en-US" altLang="zh-TW" sz="1800" b="1" i="0" kern="1200" dirty="0">
                        <a:solidFill>
                          <a:schemeClr val="tx1"/>
                        </a:solidFill>
                        <a:effectLst>
                          <a:outerShdw blurRad="38100" dist="38100" dir="2700000" algn="tl">
                            <a:srgbClr val="000000">
                              <a:alpha val="43137"/>
                            </a:srgbClr>
                          </a:outerShdw>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i="0" kern="1200" dirty="0">
                          <a:solidFill>
                            <a:schemeClr val="tx1"/>
                          </a:solidFill>
                          <a:effectLst>
                            <a:outerShdw blurRad="38100" dist="38100" dir="2700000" algn="tl">
                              <a:srgbClr val="000000">
                                <a:alpha val="43137"/>
                              </a:srgbClr>
                            </a:outerShdw>
                          </a:effectLst>
                          <a:latin typeface="+mn-lt"/>
                          <a:ea typeface="+mn-ea"/>
                          <a:cs typeface="+mn-cs"/>
                        </a:rPr>
                        <a:t>確保組織識別相關法律法規。這有助於他們瞭解他們的法律和合同要求，減輕不合規的風險以及隨之而來的處罰。</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7879519"/>
                  </a:ext>
                </a:extLst>
              </a:tr>
            </a:tbl>
          </a:graphicData>
        </a:graphic>
      </p:graphicFrame>
      <p:sp>
        <p:nvSpPr>
          <p:cNvPr id="6" name="矩形 5"/>
          <p:cNvSpPr/>
          <p:nvPr/>
        </p:nvSpPr>
        <p:spPr>
          <a:xfrm>
            <a:off x="110358" y="6501083"/>
            <a:ext cx="6745927" cy="300082"/>
          </a:xfrm>
          <a:prstGeom prst="rect">
            <a:avLst/>
          </a:prstGeom>
        </p:spPr>
        <p:txBody>
          <a:bodyPr wrap="square">
            <a:spAutoFit/>
          </a:bodyPr>
          <a:lstStyle/>
          <a:p>
            <a:r>
              <a:rPr lang="en-US" altLang="zh-TW" sz="1350" dirty="0"/>
              <a:t>https://www.itgovernance.co.uk/blog/iso-27001-the-14-control-sets-of-annex-a-explained</a:t>
            </a:r>
            <a:endParaRPr lang="zh-TW" altLang="en-US" sz="1350" dirty="0"/>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9</a:t>
            </a:fld>
            <a:endParaRPr lang="zh-TW" altLang="en-US" dirty="0"/>
          </a:p>
        </p:txBody>
      </p:sp>
    </p:spTree>
    <p:extLst>
      <p:ext uri="{BB962C8B-B14F-4D97-AF65-F5344CB8AC3E}">
        <p14:creationId xmlns:p14="http://schemas.microsoft.com/office/powerpoint/2010/main" val="199849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b="1" dirty="0">
                <a:effectLst>
                  <a:outerShdw blurRad="38100" dist="38100" dir="2700000" algn="tl">
                    <a:srgbClr val="000000">
                      <a:alpha val="43137"/>
                    </a:srgbClr>
                  </a:outerShdw>
                </a:effectLst>
              </a:rPr>
              <a:t>導入</a:t>
            </a:r>
            <a:r>
              <a:rPr lang="en-US" altLang="zh-TW" b="1" dirty="0">
                <a:effectLst>
                  <a:outerShdw blurRad="38100" dist="38100" dir="2700000" algn="tl">
                    <a:srgbClr val="000000">
                      <a:alpha val="43137"/>
                    </a:srgbClr>
                  </a:outerShdw>
                </a:effectLst>
              </a:rPr>
              <a:t>ISMS</a:t>
            </a:r>
            <a:r>
              <a:rPr lang="zh-TW" altLang="en-US" b="1" dirty="0">
                <a:effectLst>
                  <a:outerShdw blurRad="38100" dist="38100" dir="2700000" algn="tl">
                    <a:srgbClr val="000000">
                      <a:alpha val="43137"/>
                    </a:srgbClr>
                  </a:outerShdw>
                </a:effectLst>
              </a:rPr>
              <a:t>的過程與程式</a:t>
            </a:r>
            <a:r>
              <a:rPr lang="en-US" altLang="zh-TW" b="1" dirty="0">
                <a:effectLst>
                  <a:outerShdw blurRad="38100" dist="38100" dir="2700000" algn="tl">
                    <a:srgbClr val="000000">
                      <a:alpha val="43137"/>
                    </a:srgbClr>
                  </a:outerShdw>
                </a:effectLst>
              </a:rPr>
              <a:t>:PDCA</a:t>
            </a:r>
            <a:endParaRPr lang="zh-TW" altLang="en-US" dirty="0"/>
          </a:p>
        </p:txBody>
      </p:sp>
      <p:sp>
        <p:nvSpPr>
          <p:cNvPr id="5" name="矩形 4"/>
          <p:cNvSpPr/>
          <p:nvPr/>
        </p:nvSpPr>
        <p:spPr>
          <a:xfrm>
            <a:off x="6293673" y="259387"/>
            <a:ext cx="2684902" cy="300082"/>
          </a:xfrm>
          <a:prstGeom prst="rect">
            <a:avLst/>
          </a:prstGeom>
        </p:spPr>
        <p:txBody>
          <a:bodyPr wrap="none">
            <a:spAutoFit/>
          </a:bodyPr>
          <a:lstStyle/>
          <a:p>
            <a:r>
              <a:rPr lang="en-US" altLang="zh-TW" sz="1350" dirty="0"/>
              <a:t>https://zh.wikipedia.org/wiki/PDCA</a:t>
            </a:r>
            <a:endParaRPr lang="zh-TW" altLang="en-US" sz="1350" dirty="0"/>
          </a:p>
        </p:txBody>
      </p:sp>
      <p:graphicFrame>
        <p:nvGraphicFramePr>
          <p:cNvPr id="6" name="表格 5"/>
          <p:cNvGraphicFramePr>
            <a:graphicFrameLocks noGrp="1"/>
          </p:cNvGraphicFramePr>
          <p:nvPr>
            <p:extLst>
              <p:ext uri="{D42A27DB-BD31-4B8C-83A1-F6EECF244321}">
                <p14:modId xmlns:p14="http://schemas.microsoft.com/office/powerpoint/2010/main" val="146317359"/>
              </p:ext>
            </p:extLst>
          </p:nvPr>
        </p:nvGraphicFramePr>
        <p:xfrm>
          <a:off x="95124" y="3313324"/>
          <a:ext cx="8915527" cy="3208020"/>
        </p:xfrm>
        <a:graphic>
          <a:graphicData uri="http://schemas.openxmlformats.org/drawingml/2006/table">
            <a:tbl>
              <a:tblPr firstRow="1" bandRow="1">
                <a:tableStyleId>{5C22544A-7EE6-4342-B048-85BDC9FD1C3A}</a:tableStyleId>
              </a:tblPr>
              <a:tblGrid>
                <a:gridCol w="1438169">
                  <a:extLst>
                    <a:ext uri="{9D8B030D-6E8A-4147-A177-3AD203B41FA5}">
                      <a16:colId xmlns:a16="http://schemas.microsoft.com/office/drawing/2014/main" val="20000"/>
                    </a:ext>
                  </a:extLst>
                </a:gridCol>
                <a:gridCol w="7477358">
                  <a:extLst>
                    <a:ext uri="{9D8B030D-6E8A-4147-A177-3AD203B41FA5}">
                      <a16:colId xmlns:a16="http://schemas.microsoft.com/office/drawing/2014/main" val="20001"/>
                    </a:ext>
                  </a:extLst>
                </a:gridCol>
              </a:tblGrid>
              <a:tr h="132626">
                <a:tc gridSpan="2">
                  <a:txBody>
                    <a:bodyPr/>
                    <a:lstStyle/>
                    <a:p>
                      <a:endParaRPr lang="zh-TW" altLang="en-US" sz="8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14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172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規劃</a:t>
                      </a:r>
                      <a:r>
                        <a:rPr lang="en-US" altLang="zh-TW" sz="1800" dirty="0"/>
                        <a:t>(Plan)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產品可靠度目標預測與訂定、可靠度計畫研擬與確定、可靠度組織與分工。</a:t>
                      </a:r>
                      <a:endParaRPr lang="en-US" altLang="zh-TW" sz="1800" dirty="0"/>
                    </a:p>
                    <a:p>
                      <a:r>
                        <a:rPr lang="zh-TW" altLang="en-US" sz="1800" dirty="0"/>
                        <a:t>建立一個明確的目標，並制定相關的計劃和確定必要的程式</a:t>
                      </a:r>
                      <a:r>
                        <a:rPr lang="zh-TW" altLang="en-US" sz="1800" dirty="0" smtClean="0"/>
                        <a:t>。</a:t>
                      </a:r>
                      <a:endParaRPr lang="en-US" altLang="zh-TW" sz="1800" dirty="0" smtClean="0"/>
                    </a:p>
                    <a:p>
                      <a:endParaRPr lang="zh-TW" altLang="en-US"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172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執行</a:t>
                      </a:r>
                      <a:r>
                        <a:rPr lang="en-US" altLang="zh-TW" sz="1800" dirty="0"/>
                        <a:t>(Do) </a:t>
                      </a:r>
                    </a:p>
                    <a:p>
                      <a:endParaRPr lang="zh-TW" altLang="en-US"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執行</a:t>
                      </a:r>
                      <a:r>
                        <a:rPr lang="en-US" altLang="zh-TW" sz="1800" dirty="0"/>
                        <a:t>plan</a:t>
                      </a:r>
                      <a:r>
                        <a:rPr lang="zh-TW" altLang="en-US" sz="1800" dirty="0"/>
                        <a:t>中的計劃和程式</a:t>
                      </a:r>
                    </a:p>
                    <a:p>
                      <a:r>
                        <a:rPr lang="zh-TW" altLang="en-US" sz="1800" dirty="0"/>
                        <a:t>並收集資訊來為下一步進行的修正和改善</a:t>
                      </a:r>
                      <a:r>
                        <a:rPr lang="zh-TW" altLang="en-US" sz="1800" dirty="0" smtClean="0"/>
                        <a:t>。</a:t>
                      </a:r>
                      <a:endParaRPr lang="en-US" altLang="zh-TW" sz="1800" dirty="0" smtClean="0"/>
                    </a:p>
                    <a:p>
                      <a:endParaRPr lang="zh-TW" altLang="en-US"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檢查</a:t>
                      </a:r>
                      <a:r>
                        <a:rPr lang="en-US" altLang="zh-TW" sz="1800" dirty="0"/>
                        <a:t>(Check)</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產品可靠度評定與評估、可靠度作業管制與稽核</a:t>
                      </a:r>
                      <a:r>
                        <a:rPr lang="zh-TW" altLang="en-US" sz="1800" dirty="0" smtClean="0"/>
                        <a:t>。</a:t>
                      </a:r>
                      <a:endParaRPr lang="en-US" altLang="zh-TW" sz="18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行動</a:t>
                      </a:r>
                      <a:r>
                        <a:rPr lang="en-US" altLang="zh-TW" sz="1800" dirty="0"/>
                        <a:t>(Action)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t>各種可靠度工作之作業單位間協調、可靠度改善對策訂定、改善行動</a:t>
                      </a:r>
                      <a:r>
                        <a:rPr lang="zh-TW" altLang="en-US" sz="1800" dirty="0" smtClean="0"/>
                        <a:t>執行。</a:t>
                      </a:r>
                      <a:endParaRPr lang="en-US" altLang="zh-TW" sz="18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矩形 6"/>
          <p:cNvSpPr/>
          <p:nvPr/>
        </p:nvSpPr>
        <p:spPr>
          <a:xfrm>
            <a:off x="95124" y="1567265"/>
            <a:ext cx="5644748" cy="923330"/>
          </a:xfrm>
          <a:prstGeom prst="rect">
            <a:avLst/>
          </a:prstGeom>
        </p:spPr>
        <p:txBody>
          <a:bodyPr wrap="square">
            <a:spAutoFit/>
          </a:bodyPr>
          <a:lstStyle/>
          <a:p>
            <a:r>
              <a:rPr lang="en-US" altLang="zh-TW" dirty="0"/>
              <a:t>PDCA</a:t>
            </a:r>
            <a:r>
              <a:rPr lang="zh-TW" altLang="en-US" dirty="0"/>
              <a:t>（</a:t>
            </a:r>
            <a:r>
              <a:rPr lang="en-US" altLang="zh-TW" dirty="0"/>
              <a:t>Plan-Do-Check-Act</a:t>
            </a:r>
            <a:r>
              <a:rPr lang="zh-TW" altLang="en-US" dirty="0"/>
              <a:t>的簡稱）</a:t>
            </a:r>
            <a:r>
              <a:rPr lang="zh-TW" altLang="en-US" b="1" dirty="0">
                <a:solidFill>
                  <a:srgbClr val="FF0000"/>
                </a:solidFill>
                <a:effectLst>
                  <a:outerShdw blurRad="38100" dist="38100" dir="2700000" algn="tl">
                    <a:srgbClr val="000000">
                      <a:alpha val="43137"/>
                    </a:srgbClr>
                  </a:outerShdw>
                </a:effectLst>
              </a:rPr>
              <a:t>循環式品質管理</a:t>
            </a:r>
            <a:r>
              <a:rPr lang="zh-TW" altLang="en-US" dirty="0"/>
              <a:t>，針對品質工作按規劃、執行、查核與行動來進行活動，以確保</a:t>
            </a:r>
            <a:r>
              <a:rPr lang="zh-TW" altLang="en-US" b="1" dirty="0">
                <a:solidFill>
                  <a:srgbClr val="FF0000"/>
                </a:solidFill>
                <a:effectLst>
                  <a:outerShdw blurRad="38100" dist="38100" dir="2700000" algn="tl">
                    <a:srgbClr val="000000">
                      <a:alpha val="43137"/>
                    </a:srgbClr>
                  </a:outerShdw>
                </a:effectLst>
              </a:rPr>
              <a:t>可靠度目標</a:t>
            </a:r>
            <a:r>
              <a:rPr lang="zh-TW" altLang="en-US" dirty="0"/>
              <a:t>之達成，並進而促使品質</a:t>
            </a:r>
            <a:r>
              <a:rPr lang="zh-TW" altLang="en-US" b="1" dirty="0">
                <a:solidFill>
                  <a:srgbClr val="FF0000"/>
                </a:solidFill>
                <a:effectLst>
                  <a:outerShdw blurRad="38100" dist="38100" dir="2700000" algn="tl">
                    <a:srgbClr val="000000">
                      <a:alpha val="43137"/>
                    </a:srgbClr>
                  </a:outerShdw>
                </a:effectLst>
              </a:rPr>
              <a:t>持續改善</a:t>
            </a:r>
            <a:r>
              <a:rPr lang="zh-TW" altLang="en-US" dirty="0"/>
              <a:t>。</a:t>
            </a:r>
          </a:p>
        </p:txBody>
      </p:sp>
      <p:sp>
        <p:nvSpPr>
          <p:cNvPr id="8" name="矩形 7"/>
          <p:cNvSpPr/>
          <p:nvPr/>
        </p:nvSpPr>
        <p:spPr>
          <a:xfrm>
            <a:off x="95124" y="649190"/>
            <a:ext cx="9141989" cy="523220"/>
          </a:xfrm>
          <a:prstGeom prst="rect">
            <a:avLst/>
          </a:prstGeom>
        </p:spPr>
        <p:txBody>
          <a:bodyPr wrap="square">
            <a:spAutoFit/>
          </a:bodyPr>
          <a:lstStyle/>
          <a:p>
            <a:r>
              <a:rPr lang="zh-TW" altLang="en-US" sz="1400" dirty="0"/>
              <a:t>由美國學者愛德華茲</a:t>
            </a:r>
            <a:r>
              <a:rPr lang="en-US" altLang="zh-TW" sz="1400" dirty="0"/>
              <a:t>·</a:t>
            </a:r>
            <a:r>
              <a:rPr lang="zh-TW" altLang="en-US" sz="1400" dirty="0"/>
              <a:t>戴明提出，因此也稱戴明環。這個四步的循環一般用來</a:t>
            </a:r>
            <a:r>
              <a:rPr lang="zh-TW" altLang="en-US" sz="1400" b="1" dirty="0">
                <a:solidFill>
                  <a:srgbClr val="FF0000"/>
                </a:solidFill>
                <a:effectLst>
                  <a:outerShdw blurRad="38100" dist="38100" dir="2700000" algn="tl">
                    <a:srgbClr val="000000">
                      <a:alpha val="43137"/>
                    </a:srgbClr>
                  </a:outerShdw>
                </a:effectLst>
              </a:rPr>
              <a:t>提高產品品質和改善產品生產過程</a:t>
            </a:r>
            <a:r>
              <a:rPr lang="zh-TW" altLang="en-US" sz="1400" dirty="0"/>
              <a:t>。</a:t>
            </a:r>
            <a:endParaRPr lang="en-US" altLang="zh-TW" sz="1400" dirty="0"/>
          </a:p>
          <a:p>
            <a:r>
              <a:rPr lang="zh-TW" altLang="en-US" sz="1400" dirty="0"/>
              <a:t>這個過程循環也被人熟知為：</a:t>
            </a:r>
            <a:r>
              <a:rPr lang="en-US" altLang="zh-TW" sz="1400" dirty="0"/>
              <a:t>Plan-Do-Study-Act</a:t>
            </a:r>
            <a:r>
              <a:rPr lang="zh-TW" altLang="en-US" sz="1400" dirty="0"/>
              <a:t>（</a:t>
            </a:r>
            <a:r>
              <a:rPr lang="en-US" altLang="zh-TW" sz="1400" dirty="0"/>
              <a:t>PDSA</a:t>
            </a:r>
            <a:r>
              <a:rPr lang="zh-TW" altLang="en-US" sz="1400" dirty="0"/>
              <a:t>），戴明圓環（</a:t>
            </a:r>
            <a:r>
              <a:rPr lang="en-US" altLang="zh-TW" sz="1400" dirty="0"/>
              <a:t>Deming </a:t>
            </a:r>
            <a:r>
              <a:rPr lang="en-US" altLang="zh-TW" sz="1400" dirty="0" err="1"/>
              <a:t>cicle</a:t>
            </a:r>
            <a:r>
              <a:rPr lang="en-US" altLang="zh-TW" sz="1400" dirty="0"/>
              <a:t>/cycle/wheel</a:t>
            </a:r>
            <a:r>
              <a:rPr lang="zh-TW" altLang="en-US" sz="1400" dirty="0"/>
              <a:t>）或者哈特利圓環。</a:t>
            </a:r>
          </a:p>
        </p:txBody>
      </p:sp>
      <p:pic>
        <p:nvPicPr>
          <p:cNvPr id="9" name="Picture 4" descr="https://upload.wikimedia.org/wikipedia/commons/thumb/7/7a/PDCA_Cycle.svg/350px-PDCA_Cycle.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8743" y="1262131"/>
            <a:ext cx="3122888" cy="2123564"/>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10</a:t>
            </a:fld>
            <a:endParaRPr lang="zh-TW" altLang="en-US" dirty="0"/>
          </a:p>
        </p:txBody>
      </p:sp>
    </p:spTree>
    <p:extLst>
      <p:ext uri="{BB962C8B-B14F-4D97-AF65-F5344CB8AC3E}">
        <p14:creationId xmlns:p14="http://schemas.microsoft.com/office/powerpoint/2010/main" val="3268853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8041" y="0"/>
            <a:ext cx="7886700" cy="572273"/>
          </a:xfrm>
        </p:spPr>
        <p:txBody>
          <a:bodyPr>
            <a:normAutofit/>
          </a:bodyPr>
          <a:lstStyle/>
          <a:p>
            <a:r>
              <a:rPr lang="zh-TW" altLang="en-US" sz="2400" b="1" dirty="0">
                <a:effectLst>
                  <a:outerShdw blurRad="38100" dist="38100" dir="2700000" algn="tl">
                    <a:srgbClr val="000000">
                      <a:alpha val="43137"/>
                    </a:srgbClr>
                  </a:outerShdw>
                </a:effectLst>
              </a:rPr>
              <a:t>計畫</a:t>
            </a:r>
            <a:r>
              <a:rPr lang="en-US" altLang="zh-TW" sz="2400" b="1" dirty="0">
                <a:effectLst>
                  <a:outerShdw blurRad="38100" dist="38100" dir="2700000" algn="tl">
                    <a:srgbClr val="000000">
                      <a:alpha val="43137"/>
                    </a:srgbClr>
                  </a:outerShdw>
                </a:effectLst>
              </a:rPr>
              <a:t>(Plan)</a:t>
            </a:r>
            <a:r>
              <a:rPr lang="zh-TW" altLang="en-US" sz="2400" b="1" dirty="0">
                <a:effectLst>
                  <a:outerShdw blurRad="38100" dist="38100" dir="2700000" algn="tl">
                    <a:srgbClr val="000000">
                      <a:alpha val="43137"/>
                    </a:srgbClr>
                  </a:outerShdw>
                </a:effectLst>
              </a:rPr>
              <a:t>、執行</a:t>
            </a:r>
            <a:r>
              <a:rPr lang="en-US" altLang="zh-TW" sz="2400" b="1" dirty="0">
                <a:effectLst>
                  <a:outerShdw blurRad="38100" dist="38100" dir="2700000" algn="tl">
                    <a:srgbClr val="000000">
                      <a:alpha val="43137"/>
                    </a:srgbClr>
                  </a:outerShdw>
                </a:effectLst>
              </a:rPr>
              <a:t>(Do)</a:t>
            </a:r>
            <a:r>
              <a:rPr lang="zh-TW" altLang="en-US" sz="2400" b="1" dirty="0">
                <a:effectLst>
                  <a:outerShdw blurRad="38100" dist="38100" dir="2700000" algn="tl">
                    <a:srgbClr val="000000">
                      <a:alpha val="43137"/>
                    </a:srgbClr>
                  </a:outerShdw>
                </a:effectLst>
              </a:rPr>
              <a:t>、檢查</a:t>
            </a:r>
            <a:r>
              <a:rPr lang="en-US" altLang="zh-TW" sz="2400" b="1" dirty="0">
                <a:effectLst>
                  <a:outerShdw blurRad="38100" dist="38100" dir="2700000" algn="tl">
                    <a:srgbClr val="000000">
                      <a:alpha val="43137"/>
                    </a:srgbClr>
                  </a:outerShdw>
                </a:effectLst>
              </a:rPr>
              <a:t>(Check)</a:t>
            </a:r>
            <a:r>
              <a:rPr lang="zh-TW" altLang="en-US" sz="2400" b="1" dirty="0">
                <a:effectLst>
                  <a:outerShdw blurRad="38100" dist="38100" dir="2700000" algn="tl">
                    <a:srgbClr val="000000">
                      <a:alpha val="43137"/>
                    </a:srgbClr>
                  </a:outerShdw>
                </a:effectLst>
              </a:rPr>
              <a:t>及行動</a:t>
            </a:r>
            <a:r>
              <a:rPr lang="en-US" altLang="zh-TW" sz="2400" b="1" dirty="0">
                <a:effectLst>
                  <a:outerShdw blurRad="38100" dist="38100" dir="2700000" algn="tl">
                    <a:srgbClr val="000000">
                      <a:alpha val="43137"/>
                    </a:srgbClr>
                  </a:outerShdw>
                </a:effectLst>
              </a:rPr>
              <a:t>(Act)</a:t>
            </a:r>
            <a:r>
              <a:rPr lang="zh-TW" altLang="en-US" sz="2400" b="1" dirty="0">
                <a:effectLst>
                  <a:outerShdw blurRad="38100" dist="38100" dir="2700000" algn="tl">
                    <a:srgbClr val="000000">
                      <a:alpha val="43137"/>
                    </a:srgbClr>
                  </a:outerShdw>
                </a:effectLst>
              </a:rPr>
              <a:t>程式</a:t>
            </a:r>
          </a:p>
        </p:txBody>
      </p:sp>
      <p:graphicFrame>
        <p:nvGraphicFramePr>
          <p:cNvPr id="6" name="表格 5"/>
          <p:cNvGraphicFramePr>
            <a:graphicFrameLocks noGrp="1"/>
          </p:cNvGraphicFramePr>
          <p:nvPr>
            <p:extLst>
              <p:ext uri="{D42A27DB-BD31-4B8C-83A1-F6EECF244321}">
                <p14:modId xmlns:p14="http://schemas.microsoft.com/office/powerpoint/2010/main" val="3808781007"/>
              </p:ext>
            </p:extLst>
          </p:nvPr>
        </p:nvGraphicFramePr>
        <p:xfrm>
          <a:off x="131703" y="706870"/>
          <a:ext cx="8922060" cy="5631180"/>
        </p:xfrm>
        <a:graphic>
          <a:graphicData uri="http://schemas.openxmlformats.org/drawingml/2006/table">
            <a:tbl>
              <a:tblPr firstRow="1" bandRow="1">
                <a:tableStyleId>{5C22544A-7EE6-4342-B048-85BDC9FD1C3A}</a:tableStyleId>
              </a:tblPr>
              <a:tblGrid>
                <a:gridCol w="3355431">
                  <a:extLst>
                    <a:ext uri="{9D8B030D-6E8A-4147-A177-3AD203B41FA5}">
                      <a16:colId xmlns:a16="http://schemas.microsoft.com/office/drawing/2014/main" val="1342787890"/>
                    </a:ext>
                  </a:extLst>
                </a:gridCol>
                <a:gridCol w="5566629">
                  <a:extLst>
                    <a:ext uri="{9D8B030D-6E8A-4147-A177-3AD203B41FA5}">
                      <a16:colId xmlns:a16="http://schemas.microsoft.com/office/drawing/2014/main" val="458084055"/>
                    </a:ext>
                  </a:extLst>
                </a:gridCol>
              </a:tblGrid>
              <a:tr h="140918">
                <a:tc gridSpan="2">
                  <a:txBody>
                    <a:bodyPr/>
                    <a:lstStyle/>
                    <a:p>
                      <a:endParaRPr lang="zh-TW" altLang="en-US" sz="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1100" dirty="0"/>
                    </a:p>
                  </a:txBody>
                  <a:tcPr marL="68580" marR="68580" marT="34290" marB="34290"/>
                </a:tc>
                <a:extLst>
                  <a:ext uri="{0D108BD9-81ED-4DB2-BD59-A6C34878D82A}">
                    <a16:rowId xmlns:a16="http://schemas.microsoft.com/office/drawing/2014/main" val="2912342189"/>
                  </a:ext>
                </a:extLst>
              </a:tr>
              <a:tr h="27813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第一章：</a:t>
                      </a:r>
                      <a:r>
                        <a:rPr lang="zh-TW" altLang="en-US" sz="1800" b="1" dirty="0" smtClean="0"/>
                        <a:t>範圍</a:t>
                      </a:r>
                      <a:r>
                        <a:rPr lang="en-US" altLang="zh-TW" sz="1800" b="1" dirty="0" smtClean="0"/>
                        <a:t>(Scope)</a:t>
                      </a:r>
                      <a:r>
                        <a:rPr lang="zh-TW" altLang="en-US" sz="1800" b="1" dirty="0" smtClean="0"/>
                        <a:t> </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100" b="1" dirty="0"/>
                    </a:p>
                  </a:txBody>
                  <a:tcPr marL="68580" marR="68580" marT="34290" marB="34290"/>
                </a:tc>
                <a:extLst>
                  <a:ext uri="{0D108BD9-81ED-4DB2-BD59-A6C34878D82A}">
                    <a16:rowId xmlns:a16="http://schemas.microsoft.com/office/drawing/2014/main" val="3536557104"/>
                  </a:ext>
                </a:extLst>
              </a:tr>
              <a:tr h="278130">
                <a:tc gridSpan="2">
                  <a:txBody>
                    <a:bodyPr/>
                    <a:lstStyle/>
                    <a:p>
                      <a:r>
                        <a:rPr lang="zh-TW" altLang="en-US" sz="1800" b="1" dirty="0"/>
                        <a:t>第二章：規範性引用</a:t>
                      </a:r>
                      <a:r>
                        <a:rPr lang="zh-TW" altLang="en-US" sz="1800" b="1" dirty="0" smtClean="0"/>
                        <a:t>文件</a:t>
                      </a:r>
                      <a:r>
                        <a:rPr lang="en-US" altLang="zh-TW" sz="1800" b="1" dirty="0" smtClean="0"/>
                        <a:t>(Normative references)</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1100" b="1" dirty="0"/>
                    </a:p>
                  </a:txBody>
                  <a:tcPr marL="68580" marR="68580" marT="34290" marB="34290"/>
                </a:tc>
                <a:extLst>
                  <a:ext uri="{0D108BD9-81ED-4DB2-BD59-A6C34878D82A}">
                    <a16:rowId xmlns:a16="http://schemas.microsoft.com/office/drawing/2014/main" val="3444737989"/>
                  </a:ext>
                </a:extLst>
              </a:tr>
              <a:tr h="27813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第三章：術語和</a:t>
                      </a:r>
                      <a:r>
                        <a:rPr lang="zh-TW" altLang="en-US" sz="1800" b="1" dirty="0" smtClean="0"/>
                        <a:t>定義</a:t>
                      </a:r>
                      <a:r>
                        <a:rPr lang="en-US" altLang="zh-TW" sz="1800" b="1" baseline="0" dirty="0" smtClean="0"/>
                        <a:t>(</a:t>
                      </a:r>
                      <a:r>
                        <a:rPr lang="en-US" altLang="zh-TW" sz="1800" b="1" dirty="0" smtClean="0"/>
                        <a:t>Terms </a:t>
                      </a:r>
                      <a:r>
                        <a:rPr lang="en-US" altLang="zh-TW" sz="1800" b="1" dirty="0"/>
                        <a:t>and </a:t>
                      </a:r>
                      <a:r>
                        <a:rPr lang="en-US" altLang="zh-TW" sz="1800" b="1" dirty="0" smtClean="0"/>
                        <a:t>definitions)</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100" b="1" dirty="0"/>
                    </a:p>
                  </a:txBody>
                  <a:tcPr marL="68580" marR="68580" marT="34290" marB="34290"/>
                </a:tc>
                <a:extLst>
                  <a:ext uri="{0D108BD9-81ED-4DB2-BD59-A6C34878D82A}">
                    <a16:rowId xmlns:a16="http://schemas.microsoft.com/office/drawing/2014/main" val="4225083458"/>
                  </a:ext>
                </a:extLst>
              </a:tr>
              <a:tr h="7086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chemeClr val="tx1"/>
                          </a:solidFill>
                          <a:effectLst>
                            <a:outerShdw blurRad="38100" dist="38100" dir="2700000" algn="tl">
                              <a:srgbClr val="000000">
                                <a:alpha val="43137"/>
                              </a:srgbClr>
                            </a:outerShdw>
                          </a:effectLst>
                        </a:rPr>
                        <a:t>第四章：組織的背景</a:t>
                      </a:r>
                      <a:endParaRPr lang="en-US" altLang="zh-TW" sz="1800" b="1"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Context of the organization</a:t>
                      </a:r>
                      <a:r>
                        <a:rPr lang="zh-TW" altLang="en-US" sz="1800" b="1" dirty="0">
                          <a:solidFill>
                            <a:schemeClr val="tx1"/>
                          </a:solidFill>
                          <a:effectLst>
                            <a:outerShdw blurRad="38100" dist="38100" dir="2700000" algn="tl">
                              <a:srgbClr val="000000">
                                <a:alpha val="43137"/>
                              </a:srgbClr>
                            </a:outerShdw>
                          </a:effectLst>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4.1</a:t>
                      </a:r>
                      <a:r>
                        <a:rPr lang="zh-TW" altLang="en-US" sz="1600" b="1" dirty="0">
                          <a:solidFill>
                            <a:schemeClr val="tx1"/>
                          </a:solidFill>
                          <a:effectLst>
                            <a:outerShdw blurRad="38100" dist="38100" dir="2700000" algn="tl">
                              <a:srgbClr val="000000">
                                <a:alpha val="43137"/>
                              </a:srgbClr>
                            </a:outerShdw>
                          </a:effectLst>
                        </a:rPr>
                        <a:t>瞭解組織及其全景</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4.2</a:t>
                      </a:r>
                      <a:r>
                        <a:rPr lang="zh-TW" altLang="en-US" sz="1600" b="1" dirty="0">
                          <a:solidFill>
                            <a:schemeClr val="tx1"/>
                          </a:solidFill>
                          <a:effectLst>
                            <a:outerShdw blurRad="38100" dist="38100" dir="2700000" algn="tl">
                              <a:srgbClr val="000000">
                                <a:alpha val="43137"/>
                              </a:srgbClr>
                            </a:outerShdw>
                          </a:effectLst>
                        </a:rPr>
                        <a:t>理解</a:t>
                      </a:r>
                      <a:r>
                        <a:rPr lang="zh-TW" altLang="en-US" sz="1600" b="1" dirty="0" smtClean="0">
                          <a:solidFill>
                            <a:schemeClr val="tx1"/>
                          </a:solidFill>
                          <a:effectLst>
                            <a:outerShdw blurRad="38100" dist="38100" dir="2700000" algn="tl">
                              <a:srgbClr val="000000">
                                <a:alpha val="43137"/>
                              </a:srgbClr>
                            </a:outerShdw>
                          </a:effectLst>
                        </a:rPr>
                        <a:t>關注方的需要</a:t>
                      </a:r>
                      <a:r>
                        <a:rPr lang="zh-TW" altLang="en-US" sz="1600" b="1" dirty="0">
                          <a:solidFill>
                            <a:schemeClr val="tx1"/>
                          </a:solidFill>
                          <a:effectLst>
                            <a:outerShdw blurRad="38100" dist="38100" dir="2700000" algn="tl">
                              <a:srgbClr val="000000">
                                <a:alpha val="43137"/>
                              </a:srgbClr>
                            </a:outerShdw>
                          </a:effectLst>
                        </a:rPr>
                        <a:t>及期望</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4.3</a:t>
                      </a:r>
                      <a:r>
                        <a:rPr lang="zh-TW" altLang="en-US" sz="1600" b="1" dirty="0">
                          <a:solidFill>
                            <a:schemeClr val="tx1"/>
                          </a:solidFill>
                          <a:effectLst>
                            <a:outerShdw blurRad="38100" dist="38100" dir="2700000" algn="tl">
                              <a:srgbClr val="000000">
                                <a:alpha val="43137"/>
                              </a:srgbClr>
                            </a:outerShdw>
                          </a:effectLst>
                        </a:rPr>
                        <a:t>決定資訊安全管理系統之範圍</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4.4</a:t>
                      </a:r>
                      <a:r>
                        <a:rPr lang="zh-TW" altLang="en-US" sz="1600" b="1" dirty="0">
                          <a:solidFill>
                            <a:schemeClr val="tx1"/>
                          </a:solidFill>
                          <a:effectLst>
                            <a:outerShdw blurRad="38100" dist="38100" dir="2700000" algn="tl">
                              <a:srgbClr val="000000">
                                <a:alpha val="43137"/>
                              </a:srgbClr>
                            </a:outerShdw>
                          </a:effectLst>
                        </a:rPr>
                        <a:t>資訊安全管理系統</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6451853"/>
                  </a:ext>
                </a:extLst>
              </a:tr>
              <a:tr h="3886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chemeClr val="tx1"/>
                          </a:solidFill>
                          <a:effectLst>
                            <a:outerShdw blurRad="38100" dist="38100" dir="2700000" algn="tl">
                              <a:srgbClr val="000000">
                                <a:alpha val="43137"/>
                              </a:srgbClr>
                            </a:outerShdw>
                          </a:effectLst>
                        </a:rPr>
                        <a:t>第五章：領導</a:t>
                      </a:r>
                      <a:r>
                        <a:rPr lang="en-US" altLang="zh-TW" sz="1800" b="1" dirty="0">
                          <a:solidFill>
                            <a:schemeClr val="tx1"/>
                          </a:solidFill>
                          <a:effectLst>
                            <a:outerShdw blurRad="38100" dist="38100" dir="2700000" algn="tl">
                              <a:srgbClr val="000000">
                                <a:alpha val="43137"/>
                              </a:srgbClr>
                            </a:outerShdw>
                          </a:effectLst>
                        </a:rPr>
                        <a:t>Leadership</a:t>
                      </a: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5.1</a:t>
                      </a:r>
                      <a:r>
                        <a:rPr lang="zh-TW" altLang="en-US" sz="1600" b="1" dirty="0">
                          <a:solidFill>
                            <a:schemeClr val="tx1"/>
                          </a:solidFill>
                          <a:effectLst>
                            <a:outerShdw blurRad="38100" dist="38100" dir="2700000" algn="tl">
                              <a:srgbClr val="000000">
                                <a:alpha val="43137"/>
                              </a:srgbClr>
                            </a:outerShdw>
                          </a:effectLst>
                        </a:rPr>
                        <a:t>領導及承諾         </a:t>
                      </a:r>
                      <a:r>
                        <a:rPr lang="en-US" altLang="zh-TW" sz="1600" b="1" dirty="0">
                          <a:solidFill>
                            <a:schemeClr val="tx1"/>
                          </a:solidFill>
                          <a:effectLst>
                            <a:outerShdw blurRad="38100" dist="38100" dir="2700000" algn="tl">
                              <a:srgbClr val="000000">
                                <a:alpha val="43137"/>
                              </a:srgbClr>
                            </a:outerShdw>
                          </a:effectLst>
                        </a:rPr>
                        <a:t>5.2</a:t>
                      </a:r>
                      <a:r>
                        <a:rPr lang="zh-TW" altLang="en-US" sz="1600" b="1" dirty="0">
                          <a:solidFill>
                            <a:schemeClr val="tx1"/>
                          </a:solidFill>
                          <a:effectLst>
                            <a:outerShdw blurRad="38100" dist="38100" dir="2700000" algn="tl">
                              <a:srgbClr val="000000">
                                <a:alpha val="43137"/>
                              </a:srgbClr>
                            </a:outerShdw>
                          </a:effectLst>
                        </a:rPr>
                        <a:t>政策</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5.3</a:t>
                      </a:r>
                      <a:r>
                        <a:rPr lang="zh-TW" altLang="en-US" sz="1600" b="1" dirty="0">
                          <a:solidFill>
                            <a:schemeClr val="tx1"/>
                          </a:solidFill>
                          <a:effectLst>
                            <a:outerShdw blurRad="38100" dist="38100" dir="2700000" algn="tl">
                              <a:srgbClr val="000000">
                                <a:alpha val="43137"/>
                              </a:srgbClr>
                            </a:outerShdw>
                          </a:effectLst>
                        </a:rPr>
                        <a:t>組織角色、責任及權限</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3880960"/>
                  </a:ext>
                </a:extLst>
              </a:tr>
              <a:tr h="3886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chemeClr val="tx1"/>
                          </a:solidFill>
                          <a:effectLst>
                            <a:outerShdw blurRad="38100" dist="38100" dir="2700000" algn="tl">
                              <a:srgbClr val="000000">
                                <a:alpha val="43137"/>
                              </a:srgbClr>
                            </a:outerShdw>
                          </a:effectLst>
                        </a:rPr>
                        <a:t>第六章：規劃</a:t>
                      </a:r>
                      <a:r>
                        <a:rPr lang="en-US" altLang="zh-TW" sz="1800" b="1" dirty="0">
                          <a:solidFill>
                            <a:schemeClr val="tx1"/>
                          </a:solidFill>
                          <a:effectLst>
                            <a:outerShdw blurRad="38100" dist="38100" dir="2700000" algn="tl">
                              <a:srgbClr val="000000">
                                <a:alpha val="43137"/>
                              </a:srgbClr>
                            </a:outerShdw>
                          </a:effectLst>
                        </a:rPr>
                        <a:t>Planning</a:t>
                      </a:r>
                      <a:r>
                        <a:rPr lang="zh-TW" altLang="en-US" sz="1800" b="1" dirty="0">
                          <a:solidFill>
                            <a:schemeClr val="tx1"/>
                          </a:solidFill>
                          <a:effectLst>
                            <a:outerShdw blurRad="38100" dist="38100" dir="2700000" algn="tl">
                              <a:srgbClr val="000000">
                                <a:alpha val="43137"/>
                              </a:srgbClr>
                            </a:outerShdw>
                          </a:effectLst>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6.1</a:t>
                      </a:r>
                      <a:r>
                        <a:rPr lang="zh-TW" altLang="en-US" sz="1600" b="1" dirty="0">
                          <a:solidFill>
                            <a:schemeClr val="tx1"/>
                          </a:solidFill>
                          <a:effectLst>
                            <a:outerShdw blurRad="38100" dist="38100" dir="2700000" algn="tl">
                              <a:srgbClr val="000000">
                                <a:alpha val="43137"/>
                              </a:srgbClr>
                            </a:outerShdw>
                          </a:effectLst>
                        </a:rPr>
                        <a:t>因應風險評及機會之行動</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6.2</a:t>
                      </a:r>
                      <a:r>
                        <a:rPr lang="zh-TW" altLang="en-US" sz="1600" b="1" dirty="0">
                          <a:solidFill>
                            <a:schemeClr val="tx1"/>
                          </a:solidFill>
                          <a:effectLst>
                            <a:outerShdw blurRad="38100" dist="38100" dir="2700000" algn="tl">
                              <a:srgbClr val="000000">
                                <a:alpha val="43137"/>
                              </a:srgbClr>
                            </a:outerShdw>
                          </a:effectLst>
                        </a:rPr>
                        <a:t>資訊安全目標極其達成之規劃</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1294305"/>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chemeClr val="tx1"/>
                          </a:solidFill>
                          <a:effectLst>
                            <a:outerShdw blurRad="38100" dist="38100" dir="2700000" algn="tl">
                              <a:srgbClr val="000000">
                                <a:alpha val="43137"/>
                              </a:srgbClr>
                            </a:outerShdw>
                          </a:effectLst>
                        </a:rPr>
                        <a:t>第七章：支持</a:t>
                      </a:r>
                      <a:r>
                        <a:rPr lang="en-US" altLang="zh-TW" sz="1800" b="1" dirty="0">
                          <a:solidFill>
                            <a:schemeClr val="tx1"/>
                          </a:solidFill>
                          <a:effectLst>
                            <a:outerShdw blurRad="38100" dist="38100" dir="2700000" algn="tl">
                              <a:srgbClr val="000000">
                                <a:alpha val="43137"/>
                              </a:srgbClr>
                            </a:outerShdw>
                          </a:effectLst>
                        </a:rPr>
                        <a:t>Support</a:t>
                      </a:r>
                      <a:r>
                        <a:rPr lang="zh-TW" altLang="en-US" sz="1800" b="1" dirty="0">
                          <a:solidFill>
                            <a:schemeClr val="tx1"/>
                          </a:solidFill>
                          <a:effectLst>
                            <a:outerShdw blurRad="38100" dist="38100" dir="2700000" algn="tl">
                              <a:srgbClr val="000000">
                                <a:alpha val="43137"/>
                              </a:srgbClr>
                            </a:outerShdw>
                          </a:effectLst>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7.1</a:t>
                      </a:r>
                      <a:r>
                        <a:rPr lang="zh-TW" altLang="en-US" sz="1600" b="1" dirty="0">
                          <a:solidFill>
                            <a:schemeClr val="tx1"/>
                          </a:solidFill>
                          <a:effectLst>
                            <a:outerShdw blurRad="38100" dist="38100" dir="2700000" algn="tl">
                              <a:srgbClr val="000000">
                                <a:alpha val="43137"/>
                              </a:srgbClr>
                            </a:outerShdw>
                          </a:effectLst>
                        </a:rPr>
                        <a:t>資源</a:t>
                      </a:r>
                      <a:r>
                        <a:rPr lang="zh-TW" altLang="en-US" sz="1600" b="1" baseline="0" dirty="0">
                          <a:solidFill>
                            <a:schemeClr val="tx1"/>
                          </a:solidFill>
                          <a:effectLst>
                            <a:outerShdw blurRad="38100" dist="38100" dir="2700000" algn="tl">
                              <a:srgbClr val="000000">
                                <a:alpha val="43137"/>
                              </a:srgbClr>
                            </a:outerShdw>
                          </a:effectLst>
                        </a:rPr>
                        <a:t>    </a:t>
                      </a:r>
                      <a:r>
                        <a:rPr lang="en-US" altLang="zh-TW" sz="1600" b="1" dirty="0">
                          <a:solidFill>
                            <a:schemeClr val="tx1"/>
                          </a:solidFill>
                          <a:effectLst>
                            <a:outerShdw blurRad="38100" dist="38100" dir="2700000" algn="tl">
                              <a:srgbClr val="000000">
                                <a:alpha val="43137"/>
                              </a:srgbClr>
                            </a:outerShdw>
                          </a:effectLst>
                        </a:rPr>
                        <a:t>7.2</a:t>
                      </a:r>
                      <a:r>
                        <a:rPr lang="zh-TW" altLang="en-US" sz="1600" b="1" dirty="0">
                          <a:solidFill>
                            <a:schemeClr val="tx1"/>
                          </a:solidFill>
                          <a:effectLst>
                            <a:outerShdw blurRad="38100" dist="38100" dir="2700000" algn="tl">
                              <a:srgbClr val="000000">
                                <a:alpha val="43137"/>
                              </a:srgbClr>
                            </a:outerShdw>
                          </a:effectLst>
                        </a:rPr>
                        <a:t>能力</a:t>
                      </a:r>
                      <a:r>
                        <a:rPr lang="zh-TW" altLang="en-US" sz="1600" b="1" baseline="0" dirty="0">
                          <a:solidFill>
                            <a:schemeClr val="tx1"/>
                          </a:solidFill>
                          <a:effectLst>
                            <a:outerShdw blurRad="38100" dist="38100" dir="2700000" algn="tl">
                              <a:srgbClr val="000000">
                                <a:alpha val="43137"/>
                              </a:srgbClr>
                            </a:outerShdw>
                          </a:effectLst>
                        </a:rPr>
                        <a:t>   </a:t>
                      </a:r>
                      <a:r>
                        <a:rPr lang="en-US" altLang="zh-TW" sz="1600" b="1" dirty="0">
                          <a:solidFill>
                            <a:schemeClr val="tx1"/>
                          </a:solidFill>
                          <a:effectLst>
                            <a:outerShdw blurRad="38100" dist="38100" dir="2700000" algn="tl">
                              <a:srgbClr val="000000">
                                <a:alpha val="43137"/>
                              </a:srgbClr>
                            </a:outerShdw>
                          </a:effectLst>
                        </a:rPr>
                        <a:t>7.3</a:t>
                      </a:r>
                      <a:r>
                        <a:rPr lang="zh-TW" altLang="en-US" sz="1600" b="1" dirty="0">
                          <a:solidFill>
                            <a:schemeClr val="tx1"/>
                          </a:solidFill>
                          <a:effectLst>
                            <a:outerShdw blurRad="38100" dist="38100" dir="2700000" algn="tl">
                              <a:srgbClr val="000000">
                                <a:alpha val="43137"/>
                              </a:srgbClr>
                            </a:outerShdw>
                          </a:effectLst>
                        </a:rPr>
                        <a:t>認知</a:t>
                      </a:r>
                      <a:r>
                        <a:rPr lang="zh-TW" altLang="en-US" sz="1600" b="1" baseline="0" dirty="0">
                          <a:solidFill>
                            <a:schemeClr val="tx1"/>
                          </a:solidFill>
                          <a:effectLst>
                            <a:outerShdw blurRad="38100" dist="38100" dir="2700000" algn="tl">
                              <a:srgbClr val="000000">
                                <a:alpha val="43137"/>
                              </a:srgbClr>
                            </a:outerShdw>
                          </a:effectLst>
                        </a:rPr>
                        <a:t>  </a:t>
                      </a:r>
                      <a:r>
                        <a:rPr lang="en-US" altLang="zh-TW" sz="1600" b="1" dirty="0">
                          <a:solidFill>
                            <a:schemeClr val="tx1"/>
                          </a:solidFill>
                          <a:effectLst>
                            <a:outerShdw blurRad="38100" dist="38100" dir="2700000" algn="tl">
                              <a:srgbClr val="000000">
                                <a:alpha val="43137"/>
                              </a:srgbClr>
                            </a:outerShdw>
                          </a:effectLst>
                        </a:rPr>
                        <a:t>7.4</a:t>
                      </a:r>
                      <a:r>
                        <a:rPr lang="zh-TW" altLang="en-US" sz="1600" b="1" dirty="0">
                          <a:solidFill>
                            <a:schemeClr val="tx1"/>
                          </a:solidFill>
                          <a:effectLst>
                            <a:outerShdw blurRad="38100" dist="38100" dir="2700000" algn="tl">
                              <a:srgbClr val="000000">
                                <a:alpha val="43137"/>
                              </a:srgbClr>
                            </a:outerShdw>
                          </a:effectLst>
                        </a:rPr>
                        <a:t>溝通或傳達     </a:t>
                      </a:r>
                      <a:r>
                        <a:rPr lang="en-US" altLang="zh-TW" sz="1600" b="1" dirty="0">
                          <a:solidFill>
                            <a:schemeClr val="tx1"/>
                          </a:solidFill>
                          <a:effectLst>
                            <a:outerShdw blurRad="38100" dist="38100" dir="2700000" algn="tl">
                              <a:srgbClr val="000000">
                                <a:alpha val="43137"/>
                              </a:srgbClr>
                            </a:outerShdw>
                          </a:effectLst>
                        </a:rPr>
                        <a:t>7.5</a:t>
                      </a:r>
                      <a:r>
                        <a:rPr lang="zh-TW" altLang="en-US" sz="1600" b="1" dirty="0">
                          <a:solidFill>
                            <a:schemeClr val="tx1"/>
                          </a:solidFill>
                          <a:effectLst>
                            <a:outerShdw blurRad="38100" dist="38100" dir="2700000" algn="tl">
                              <a:srgbClr val="000000">
                                <a:alpha val="43137"/>
                              </a:srgbClr>
                            </a:outerShdw>
                          </a:effectLst>
                        </a:rPr>
                        <a:t>文件化資訊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2859551"/>
                  </a:ext>
                </a:extLst>
              </a:tr>
              <a:tr h="3886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第八章：運行</a:t>
                      </a:r>
                      <a:r>
                        <a:rPr lang="en-US" altLang="zh-TW" sz="1800" b="1" dirty="0"/>
                        <a:t>Operation</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8.1</a:t>
                      </a:r>
                      <a:r>
                        <a:rPr lang="zh-TW" altLang="en-US" sz="1600" b="1" dirty="0"/>
                        <a:t>運作之規劃及控制          </a:t>
                      </a:r>
                      <a:r>
                        <a:rPr lang="en-US" altLang="zh-TW" sz="1600" b="1" dirty="0"/>
                        <a:t>8.2</a:t>
                      </a:r>
                      <a:r>
                        <a:rPr lang="zh-TW" altLang="en-US" sz="1600" b="1" dirty="0"/>
                        <a:t>資訊安全風險評鑑</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8.3</a:t>
                      </a:r>
                      <a:r>
                        <a:rPr lang="zh-TW" altLang="en-US" sz="1600" b="1" dirty="0"/>
                        <a:t>資訊安全風險處理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7596094"/>
                  </a:ext>
                </a:extLst>
              </a:tr>
              <a:tr h="5943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第九章：績效評估</a:t>
                      </a:r>
                      <a:endParaRPr lang="en-US" altLang="zh-TW" sz="18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t>Performance evaluation</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9.1</a:t>
                      </a:r>
                      <a:r>
                        <a:rPr lang="zh-TW" altLang="en-US" sz="1600" b="1" dirty="0"/>
                        <a:t>監督、量測、分析及評估</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9.2</a:t>
                      </a:r>
                      <a:r>
                        <a:rPr lang="zh-TW" altLang="en-US" sz="1600" b="1" dirty="0"/>
                        <a:t>內部稽核</a:t>
                      </a:r>
                      <a:r>
                        <a:rPr lang="en-US" altLang="zh-TW" sz="1600" b="1" dirty="0"/>
                        <a:t>(</a:t>
                      </a:r>
                      <a:r>
                        <a:rPr lang="en-US" altLang="zh-TW" sz="1600" b="1" dirty="0">
                          <a:effectLst>
                            <a:outerShdw blurRad="38100" dist="38100" dir="2700000" algn="tl">
                              <a:srgbClr val="000000">
                                <a:alpha val="43137"/>
                              </a:srgbClr>
                            </a:outerShdw>
                          </a:effectLst>
                        </a:rPr>
                        <a:t>Internal audit</a:t>
                      </a:r>
                      <a:r>
                        <a:rPr lang="en-US" altLang="zh-TW" sz="1600" b="1" dirty="0"/>
                        <a:t>)</a:t>
                      </a:r>
                      <a:endParaRPr lang="zh-TW" altLang="en-US" sz="16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9.3</a:t>
                      </a:r>
                      <a:r>
                        <a:rPr lang="zh-TW" altLang="en-US" sz="1600" b="1" dirty="0"/>
                        <a:t>管理審查</a:t>
                      </a:r>
                      <a:r>
                        <a:rPr lang="en-US" altLang="zh-TW" sz="1600" b="1" dirty="0"/>
                        <a:t>(</a:t>
                      </a:r>
                      <a:r>
                        <a:rPr lang="en-US" altLang="zh-TW" sz="1600" b="0" i="0" kern="1200" dirty="0">
                          <a:solidFill>
                            <a:schemeClr val="dk1"/>
                          </a:solidFill>
                          <a:effectLst/>
                          <a:latin typeface="+mn-lt"/>
                          <a:ea typeface="+mn-ea"/>
                          <a:cs typeface="+mn-cs"/>
                        </a:rPr>
                        <a:t>Management review</a:t>
                      </a:r>
                      <a:r>
                        <a:rPr lang="en-US" altLang="zh-TW" sz="1600" b="1" dirty="0"/>
                        <a:t>)</a:t>
                      </a:r>
                      <a:endParaRPr lang="zh-TW" altLang="en-US" sz="16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4841983"/>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第十章：</a:t>
                      </a:r>
                      <a:r>
                        <a:rPr lang="zh-TW" altLang="en-US" sz="1800" b="1" dirty="0" smtClean="0"/>
                        <a:t>改善</a:t>
                      </a:r>
                      <a:r>
                        <a:rPr lang="en-US" altLang="zh-TW" sz="1800" b="1" dirty="0" smtClean="0"/>
                        <a:t>(Improvement)</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10.1</a:t>
                      </a:r>
                      <a:r>
                        <a:rPr lang="zh-TW" altLang="en-US" sz="1600" b="1" dirty="0"/>
                        <a:t>不符合項目</a:t>
                      </a:r>
                      <a:r>
                        <a:rPr lang="en-US" altLang="zh-TW" sz="1600" b="1" dirty="0"/>
                        <a:t>(nonconformity)</a:t>
                      </a:r>
                      <a:r>
                        <a:rPr lang="zh-TW" altLang="en-US" sz="1600" b="1" dirty="0"/>
                        <a:t>及矯正措施</a:t>
                      </a:r>
                      <a:r>
                        <a:rPr lang="en-US" altLang="zh-TW" sz="1600" b="1" dirty="0"/>
                        <a:t>(</a:t>
                      </a:r>
                      <a:r>
                        <a:rPr lang="en-US" altLang="zh-TW" sz="1600" b="0" i="0" kern="1200" dirty="0">
                          <a:solidFill>
                            <a:schemeClr val="dk1"/>
                          </a:solidFill>
                          <a:effectLst/>
                          <a:latin typeface="+mn-lt"/>
                          <a:ea typeface="+mn-ea"/>
                          <a:cs typeface="+mn-cs"/>
                        </a:rPr>
                        <a:t>corrective action</a:t>
                      </a:r>
                      <a:r>
                        <a:rPr lang="en-US" altLang="zh-TW" sz="1600" b="1" dirty="0"/>
                        <a:t>)</a:t>
                      </a:r>
                      <a:endParaRPr lang="zh-TW" altLang="en-US" sz="16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t>10.2</a:t>
                      </a:r>
                      <a:r>
                        <a:rPr lang="zh-TW" altLang="en-US" sz="1600" b="1" dirty="0"/>
                        <a:t>持續改善</a:t>
                      </a:r>
                      <a:r>
                        <a:rPr lang="en-US" altLang="zh-TW" sz="1600" b="1" dirty="0"/>
                        <a:t>(</a:t>
                      </a:r>
                      <a:r>
                        <a:rPr lang="en-US" altLang="zh-TW" sz="1600" b="0" i="0" kern="1200" dirty="0">
                          <a:solidFill>
                            <a:schemeClr val="dk1"/>
                          </a:solidFill>
                          <a:effectLst/>
                          <a:latin typeface="+mn-lt"/>
                          <a:ea typeface="+mn-ea"/>
                          <a:cs typeface="+mn-cs"/>
                        </a:rPr>
                        <a:t>Continual improvement</a:t>
                      </a:r>
                      <a:r>
                        <a:rPr lang="en-US" altLang="zh-TW" sz="1600" b="1" dirty="0"/>
                        <a:t>)</a:t>
                      </a:r>
                      <a:endParaRPr lang="zh-TW" altLang="en-US" sz="16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695017"/>
                  </a:ext>
                </a:extLst>
              </a:tr>
            </a:tbl>
          </a:graphicData>
        </a:graphic>
      </p:graphicFrame>
      <p:pic>
        <p:nvPicPr>
          <p:cNvPr id="4" name="圖片 3"/>
          <p:cNvPicPr>
            <a:picLocks noChangeAspect="1"/>
          </p:cNvPicPr>
          <p:nvPr/>
        </p:nvPicPr>
        <p:blipFill>
          <a:blip r:embed="rId2"/>
          <a:stretch>
            <a:fillRect/>
          </a:stretch>
        </p:blipFill>
        <p:spPr>
          <a:xfrm>
            <a:off x="6430951" y="706870"/>
            <a:ext cx="2501101" cy="1700932"/>
          </a:xfrm>
          <a:prstGeom prst="rect">
            <a:avLst/>
          </a:prstGeom>
        </p:spPr>
      </p:pic>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11</a:t>
            </a:fld>
            <a:endParaRPr lang="zh-TW" altLang="en-US" dirty="0"/>
          </a:p>
        </p:txBody>
      </p:sp>
    </p:spTree>
    <p:extLst>
      <p:ext uri="{BB962C8B-B14F-4D97-AF65-F5344CB8AC3E}">
        <p14:creationId xmlns:p14="http://schemas.microsoft.com/office/powerpoint/2010/main" val="2777170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752" y="136524"/>
            <a:ext cx="8539876" cy="686276"/>
          </a:xfrm>
        </p:spPr>
        <p:txBody>
          <a:bodyPr>
            <a:normAutofit fontScale="90000"/>
          </a:bodyPr>
          <a:lstStyle/>
          <a:p>
            <a:r>
              <a:rPr lang="en-US" altLang="zh-TW" dirty="0"/>
              <a:t>4. </a:t>
            </a:r>
            <a:r>
              <a:rPr lang="en-US" altLang="zh-TW" b="1" dirty="0">
                <a:solidFill>
                  <a:srgbClr val="FF0000"/>
                </a:solidFill>
                <a:effectLst>
                  <a:outerShdw blurRad="38100" dist="38100" dir="2700000" algn="tl">
                    <a:srgbClr val="000000">
                      <a:alpha val="43137"/>
                    </a:srgbClr>
                  </a:outerShdw>
                </a:effectLst>
              </a:rPr>
              <a:t>Context </a:t>
            </a:r>
            <a:r>
              <a:rPr lang="en-US" altLang="zh-TW" dirty="0"/>
              <a:t>of the organization </a:t>
            </a:r>
            <a:r>
              <a:rPr lang="zh-TW" altLang="en-US" dirty="0"/>
              <a:t>組織</a:t>
            </a:r>
            <a:r>
              <a:rPr lang="zh-TW" altLang="en-US" b="1" dirty="0">
                <a:solidFill>
                  <a:srgbClr val="FF0000"/>
                </a:solidFill>
                <a:effectLst>
                  <a:outerShdw blurRad="38100" dist="38100" dir="2700000" algn="tl">
                    <a:srgbClr val="000000">
                      <a:alpha val="43137"/>
                    </a:srgbClr>
                  </a:outerShdw>
                </a:effectLst>
              </a:rPr>
              <a:t>背景</a:t>
            </a:r>
          </a:p>
        </p:txBody>
      </p:sp>
      <p:graphicFrame>
        <p:nvGraphicFramePr>
          <p:cNvPr id="3" name="表格 2"/>
          <p:cNvGraphicFramePr>
            <a:graphicFrameLocks noGrp="1"/>
          </p:cNvGraphicFramePr>
          <p:nvPr>
            <p:extLst>
              <p:ext uri="{D42A27DB-BD31-4B8C-83A1-F6EECF244321}">
                <p14:modId xmlns:p14="http://schemas.microsoft.com/office/powerpoint/2010/main" val="2538249932"/>
              </p:ext>
            </p:extLst>
          </p:nvPr>
        </p:nvGraphicFramePr>
        <p:xfrm>
          <a:off x="143708" y="712979"/>
          <a:ext cx="8806512" cy="5951220"/>
        </p:xfrm>
        <a:graphic>
          <a:graphicData uri="http://schemas.openxmlformats.org/drawingml/2006/table">
            <a:tbl>
              <a:tblPr firstRow="1" bandRow="1">
                <a:tableStyleId>{5C22544A-7EE6-4342-B048-85BDC9FD1C3A}</a:tableStyleId>
              </a:tblPr>
              <a:tblGrid>
                <a:gridCol w="1473145">
                  <a:extLst>
                    <a:ext uri="{9D8B030D-6E8A-4147-A177-3AD203B41FA5}">
                      <a16:colId xmlns:a16="http://schemas.microsoft.com/office/drawing/2014/main" val="527180136"/>
                    </a:ext>
                  </a:extLst>
                </a:gridCol>
                <a:gridCol w="7333367">
                  <a:extLst>
                    <a:ext uri="{9D8B030D-6E8A-4147-A177-3AD203B41FA5}">
                      <a16:colId xmlns:a16="http://schemas.microsoft.com/office/drawing/2014/main" val="1507480982"/>
                    </a:ext>
                  </a:extLst>
                </a:gridCol>
              </a:tblGrid>
              <a:tr h="146920">
                <a:tc gridSpan="2">
                  <a:txBody>
                    <a:bodyPr/>
                    <a:lstStyle/>
                    <a:p>
                      <a:endParaRPr lang="zh-TW" altLang="en-US" sz="8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14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439993"/>
                  </a:ext>
                </a:extLst>
              </a:tr>
              <a:tr h="800100">
                <a:tc>
                  <a:txBody>
                    <a:bodyPr/>
                    <a:lstStyle/>
                    <a:p>
                      <a:r>
                        <a:rPr lang="en-US" altLang="zh-TW" sz="1600" b="1" dirty="0">
                          <a:solidFill>
                            <a:schemeClr val="tx1"/>
                          </a:solidFill>
                          <a:effectLst>
                            <a:outerShdw blurRad="38100" dist="38100" dir="2700000" algn="tl">
                              <a:srgbClr val="000000">
                                <a:alpha val="43137"/>
                              </a:srgbClr>
                            </a:outerShdw>
                          </a:effectLst>
                        </a:rPr>
                        <a:t>4.1 </a:t>
                      </a:r>
                      <a:r>
                        <a:rPr lang="zh-TW" altLang="en-US" sz="1600" b="1" dirty="0">
                          <a:solidFill>
                            <a:schemeClr val="tx1"/>
                          </a:solidFill>
                          <a:effectLst>
                            <a:outerShdw blurRad="38100" dist="38100" dir="2700000" algn="tl">
                              <a:srgbClr val="000000">
                                <a:alpha val="43137"/>
                              </a:srgbClr>
                            </a:outerShdw>
                          </a:effectLst>
                        </a:rPr>
                        <a:t>瞭解組織及其背景</a:t>
                      </a:r>
                      <a:endParaRPr lang="en-US" altLang="zh-TW" sz="16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Understanding the organization and its context</a:t>
                      </a:r>
                      <a:endParaRPr lang="zh-TW" altLang="en-US" sz="1600" b="1" dirty="0">
                        <a:solidFill>
                          <a:schemeClr val="tx1"/>
                        </a:solidFill>
                        <a:effectLst>
                          <a:outerShdw blurRad="38100" dist="38100" dir="2700000" algn="tl">
                            <a:srgbClr val="000000">
                              <a:alpha val="43137"/>
                            </a:srgbClr>
                          </a:outerShdw>
                        </a:effectLst>
                      </a:endParaRPr>
                    </a:p>
                    <a:p>
                      <a:r>
                        <a:rPr lang="zh-TW" altLang="en-US" sz="1600" b="1" dirty="0">
                          <a:solidFill>
                            <a:schemeClr val="tx1"/>
                          </a:solidFill>
                          <a:effectLst>
                            <a:outerShdw blurRad="38100" dist="38100" dir="2700000" algn="tl">
                              <a:srgbClr val="000000">
                                <a:alpha val="43137"/>
                              </a:srgbClr>
                            </a:outerShdw>
                          </a:effectLst>
                        </a:rPr>
                        <a:t>組織應確定與其宗旨相關的外部和內部問題，並且影響其實現資訊安全管理系統預期結果的能力。</a:t>
                      </a:r>
                    </a:p>
                    <a:p>
                      <a:endParaRPr lang="en-US" altLang="zh-TW" sz="800" b="1" dirty="0">
                        <a:solidFill>
                          <a:schemeClr val="tx1"/>
                        </a:solidFill>
                        <a:effectLst>
                          <a:outerShdw blurRad="38100" dist="38100" dir="2700000" algn="tl">
                            <a:srgbClr val="000000">
                              <a:alpha val="43137"/>
                            </a:srgbClr>
                          </a:outerShdw>
                        </a:effectLst>
                      </a:endParaRPr>
                    </a:p>
                    <a:p>
                      <a:r>
                        <a:rPr lang="zh-TW" altLang="en-US" sz="1600" b="1" dirty="0">
                          <a:solidFill>
                            <a:schemeClr val="tx1"/>
                          </a:solidFill>
                          <a:effectLst>
                            <a:outerShdw blurRad="38100" dist="38100" dir="2700000" algn="tl">
                              <a:srgbClr val="000000">
                                <a:alpha val="43137"/>
                              </a:srgbClr>
                            </a:outerShdw>
                          </a:effectLst>
                        </a:rPr>
                        <a:t>注：確定這些問題是指建立組織的外部和內部環境在 </a:t>
                      </a:r>
                      <a:r>
                        <a:rPr lang="en-US" altLang="zh-TW" sz="1600" b="1" dirty="0">
                          <a:solidFill>
                            <a:schemeClr val="tx1"/>
                          </a:solidFill>
                          <a:effectLst>
                            <a:outerShdw blurRad="38100" dist="38100" dir="2700000" algn="tl">
                              <a:srgbClr val="000000">
                                <a:alpha val="43137"/>
                              </a:srgbClr>
                            </a:outerShdw>
                          </a:effectLst>
                        </a:rPr>
                        <a:t>ISO 31000:2018[5] </a:t>
                      </a:r>
                      <a:r>
                        <a:rPr lang="zh-TW" altLang="en-US" sz="1600" b="1" dirty="0">
                          <a:solidFill>
                            <a:schemeClr val="tx1"/>
                          </a:solidFill>
                          <a:effectLst>
                            <a:outerShdw blurRad="38100" dist="38100" dir="2700000" algn="tl">
                              <a:srgbClr val="000000">
                                <a:alpha val="43137"/>
                              </a:srgbClr>
                            </a:outerShdw>
                          </a:effectLst>
                        </a:rPr>
                        <a:t>的第 </a:t>
                      </a:r>
                      <a:r>
                        <a:rPr lang="en-US" altLang="zh-TW" sz="1600" b="1" dirty="0">
                          <a:solidFill>
                            <a:schemeClr val="tx1"/>
                          </a:solidFill>
                          <a:effectLst>
                            <a:outerShdw blurRad="38100" dist="38100" dir="2700000" algn="tl">
                              <a:srgbClr val="000000">
                                <a:alpha val="43137"/>
                              </a:srgbClr>
                            </a:outerShdw>
                          </a:effectLst>
                        </a:rPr>
                        <a:t>5.4.1 </a:t>
                      </a:r>
                      <a:r>
                        <a:rPr lang="zh-TW" altLang="en-US" sz="1600" b="1" dirty="0">
                          <a:solidFill>
                            <a:schemeClr val="tx1"/>
                          </a:solidFill>
                          <a:effectLst>
                            <a:outerShdw blurRad="38100" dist="38100" dir="2700000" algn="tl">
                              <a:srgbClr val="000000">
                                <a:alpha val="43137"/>
                              </a:srgbClr>
                            </a:outerShdw>
                          </a:effectLst>
                        </a:rPr>
                        <a:t>條中考慮。</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8346911"/>
                  </a:ext>
                </a:extLst>
              </a:tr>
              <a:tr h="1165860">
                <a:tc>
                  <a:txBody>
                    <a:bodyPr/>
                    <a:lstStyle/>
                    <a:p>
                      <a:r>
                        <a:rPr lang="en-US" altLang="zh-TW" sz="1600" b="1" dirty="0">
                          <a:solidFill>
                            <a:schemeClr val="tx1"/>
                          </a:solidFill>
                          <a:effectLst>
                            <a:outerShdw blurRad="38100" dist="38100" dir="2700000" algn="tl">
                              <a:srgbClr val="000000">
                                <a:alpha val="43137"/>
                              </a:srgbClr>
                            </a:outerShdw>
                          </a:effectLst>
                        </a:rPr>
                        <a:t>4.2 </a:t>
                      </a:r>
                      <a:r>
                        <a:rPr lang="zh-TW" altLang="en-US" sz="1600" b="1" dirty="0">
                          <a:solidFill>
                            <a:schemeClr val="tx1"/>
                          </a:solidFill>
                          <a:effectLst>
                            <a:outerShdw blurRad="38100" dist="38100" dir="2700000" algn="tl">
                              <a:srgbClr val="000000">
                                <a:alpha val="43137"/>
                              </a:srgbClr>
                            </a:outerShdw>
                          </a:effectLst>
                        </a:rPr>
                        <a:t>瞭解相關方的需求和期望</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b="1" dirty="0">
                          <a:solidFill>
                            <a:schemeClr val="tx1"/>
                          </a:solidFill>
                          <a:effectLst>
                            <a:outerShdw blurRad="38100" dist="38100" dir="2700000" algn="tl">
                              <a:srgbClr val="000000">
                                <a:alpha val="43137"/>
                              </a:srgbClr>
                            </a:outerShdw>
                          </a:effectLst>
                        </a:rPr>
                        <a:t>組織應確定：</a:t>
                      </a:r>
                    </a:p>
                    <a:p>
                      <a:r>
                        <a:rPr lang="en-US" altLang="zh-TW" sz="1600" b="1" dirty="0" smtClean="0">
                          <a:solidFill>
                            <a:schemeClr val="tx1"/>
                          </a:solidFill>
                          <a:effectLst>
                            <a:outerShdw blurRad="38100" dist="38100" dir="2700000" algn="tl">
                              <a:srgbClr val="000000">
                                <a:alpha val="43137"/>
                              </a:srgbClr>
                            </a:outerShdw>
                          </a:effectLst>
                        </a:rPr>
                        <a:t>a) </a:t>
                      </a:r>
                      <a:r>
                        <a:rPr lang="zh-TW" altLang="en-US" sz="1600" b="1" dirty="0" smtClean="0">
                          <a:solidFill>
                            <a:schemeClr val="tx1"/>
                          </a:solidFill>
                          <a:effectLst>
                            <a:outerShdw blurRad="38100" dist="38100" dir="2700000" algn="tl">
                              <a:srgbClr val="000000">
                                <a:alpha val="43137"/>
                              </a:srgbClr>
                            </a:outerShdw>
                          </a:effectLst>
                        </a:rPr>
                        <a:t>與</a:t>
                      </a:r>
                      <a:r>
                        <a:rPr lang="zh-TW" altLang="en-US" sz="1600" b="1" dirty="0">
                          <a:solidFill>
                            <a:schemeClr val="tx1"/>
                          </a:solidFill>
                          <a:effectLst>
                            <a:outerShdw blurRad="38100" dist="38100" dir="2700000" algn="tl">
                              <a:srgbClr val="000000">
                                <a:alpha val="43137"/>
                              </a:srgbClr>
                            </a:outerShdw>
                          </a:effectLst>
                        </a:rPr>
                        <a:t>資訊安全管理體系相關的相關方；</a:t>
                      </a:r>
                    </a:p>
                    <a:p>
                      <a:r>
                        <a:rPr lang="en-US" altLang="zh-TW" sz="1600" b="1" dirty="0">
                          <a:solidFill>
                            <a:schemeClr val="tx1"/>
                          </a:solidFill>
                          <a:effectLst>
                            <a:outerShdw blurRad="38100" dist="38100" dir="2700000" algn="tl">
                              <a:srgbClr val="000000">
                                <a:alpha val="43137"/>
                              </a:srgbClr>
                            </a:outerShdw>
                          </a:effectLst>
                        </a:rPr>
                        <a:t>b) </a:t>
                      </a:r>
                      <a:r>
                        <a:rPr lang="zh-TW" altLang="en-US" sz="1600" b="1" dirty="0">
                          <a:solidFill>
                            <a:schemeClr val="tx1"/>
                          </a:solidFill>
                          <a:effectLst>
                            <a:outerShdw blurRad="38100" dist="38100" dir="2700000" algn="tl">
                              <a:srgbClr val="000000">
                                <a:alpha val="43137"/>
                              </a:srgbClr>
                            </a:outerShdw>
                          </a:effectLst>
                        </a:rPr>
                        <a:t>這些相關方的相關要求；</a:t>
                      </a:r>
                    </a:p>
                    <a:p>
                      <a:r>
                        <a:rPr lang="en-US" altLang="zh-TW" sz="1600" b="1" dirty="0">
                          <a:solidFill>
                            <a:schemeClr val="tx1"/>
                          </a:solidFill>
                          <a:effectLst>
                            <a:outerShdw blurRad="38100" dist="38100" dir="2700000" algn="tl">
                              <a:srgbClr val="000000">
                                <a:alpha val="43137"/>
                              </a:srgbClr>
                            </a:outerShdw>
                          </a:effectLst>
                        </a:rPr>
                        <a:t>c) </a:t>
                      </a:r>
                      <a:r>
                        <a:rPr lang="zh-TW" altLang="en-US" sz="1600" b="1" dirty="0">
                          <a:solidFill>
                            <a:schemeClr val="tx1"/>
                          </a:solidFill>
                          <a:effectLst>
                            <a:outerShdw blurRad="38100" dist="38100" dir="2700000" algn="tl">
                              <a:srgbClr val="000000">
                                <a:alpha val="43137"/>
                              </a:srgbClr>
                            </a:outerShdw>
                          </a:effectLst>
                        </a:rPr>
                        <a:t>這些需求中的哪些將通過資訊安全管理得到解決系統。</a:t>
                      </a:r>
                    </a:p>
                    <a:p>
                      <a:endParaRPr lang="en-US" altLang="zh-TW" sz="1600" b="1" dirty="0">
                        <a:solidFill>
                          <a:schemeClr val="tx1"/>
                        </a:solidFill>
                        <a:effectLst>
                          <a:outerShdw blurRad="38100" dist="38100" dir="2700000" algn="tl">
                            <a:srgbClr val="000000">
                              <a:alpha val="43137"/>
                            </a:srgbClr>
                          </a:outerShdw>
                        </a:effectLst>
                      </a:endParaRPr>
                    </a:p>
                    <a:p>
                      <a:r>
                        <a:rPr lang="zh-TW" altLang="en-US" sz="1600" b="1" dirty="0">
                          <a:solidFill>
                            <a:schemeClr val="tx1"/>
                          </a:solidFill>
                          <a:effectLst>
                            <a:outerShdw blurRad="38100" dist="38100" dir="2700000" algn="tl">
                              <a:srgbClr val="000000">
                                <a:alpha val="43137"/>
                              </a:srgbClr>
                            </a:outerShdw>
                          </a:effectLst>
                        </a:rPr>
                        <a:t>注：相關方的要求可以包括法律法規要求和合同義務。</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4540920"/>
                  </a:ext>
                </a:extLst>
              </a:tr>
              <a:tr h="1714500">
                <a:tc>
                  <a:txBody>
                    <a:bodyPr/>
                    <a:lstStyle/>
                    <a:p>
                      <a:r>
                        <a:rPr lang="en-US" altLang="zh-TW" sz="1600" b="1" dirty="0">
                          <a:solidFill>
                            <a:schemeClr val="tx1"/>
                          </a:solidFill>
                          <a:effectLst>
                            <a:outerShdw blurRad="38100" dist="38100" dir="2700000" algn="tl">
                              <a:srgbClr val="000000">
                                <a:alpha val="43137"/>
                              </a:srgbClr>
                            </a:outerShdw>
                          </a:effectLst>
                        </a:rPr>
                        <a:t>4.3 </a:t>
                      </a:r>
                      <a:r>
                        <a:rPr lang="zh-TW" altLang="en-US" sz="1600" b="1" dirty="0">
                          <a:solidFill>
                            <a:schemeClr val="tx1"/>
                          </a:solidFill>
                          <a:effectLst>
                            <a:outerShdw blurRad="38100" dist="38100" dir="2700000" algn="tl">
                              <a:srgbClr val="000000">
                                <a:alpha val="43137"/>
                              </a:srgbClr>
                            </a:outerShdw>
                          </a:effectLst>
                        </a:rPr>
                        <a:t>確定資訊安全管理體系的範圍</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b="1" dirty="0">
                          <a:solidFill>
                            <a:schemeClr val="tx1"/>
                          </a:solidFill>
                          <a:effectLst>
                            <a:outerShdw blurRad="38100" dist="38100" dir="2700000" algn="tl">
                              <a:srgbClr val="000000">
                                <a:alpha val="43137"/>
                              </a:srgbClr>
                            </a:outerShdw>
                          </a:effectLst>
                        </a:rPr>
                        <a:t>組織應確定資訊安全的邊界和適用性</a:t>
                      </a:r>
                    </a:p>
                    <a:p>
                      <a:r>
                        <a:rPr lang="zh-TW" altLang="en-US" sz="1600" b="1" dirty="0">
                          <a:solidFill>
                            <a:schemeClr val="tx1"/>
                          </a:solidFill>
                          <a:effectLst>
                            <a:outerShdw blurRad="38100" dist="38100" dir="2700000" algn="tl">
                              <a:srgbClr val="000000">
                                <a:alpha val="43137"/>
                              </a:srgbClr>
                            </a:outerShdw>
                          </a:effectLst>
                        </a:rPr>
                        <a:t>管理體係來確定其範圍。</a:t>
                      </a:r>
                    </a:p>
                    <a:p>
                      <a:endParaRPr lang="en-US" altLang="zh-TW" sz="1600" b="1" dirty="0">
                        <a:solidFill>
                          <a:schemeClr val="tx1"/>
                        </a:solidFill>
                        <a:effectLst>
                          <a:outerShdw blurRad="38100" dist="38100" dir="2700000" algn="tl">
                            <a:srgbClr val="000000">
                              <a:alpha val="43137"/>
                            </a:srgbClr>
                          </a:outerShdw>
                        </a:effectLst>
                      </a:endParaRPr>
                    </a:p>
                    <a:p>
                      <a:r>
                        <a:rPr lang="zh-TW" altLang="en-US" sz="1600" b="1" dirty="0">
                          <a:solidFill>
                            <a:schemeClr val="tx1"/>
                          </a:solidFill>
                          <a:effectLst>
                            <a:outerShdw blurRad="38100" dist="38100" dir="2700000" algn="tl">
                              <a:srgbClr val="000000">
                                <a:alpha val="43137"/>
                              </a:srgbClr>
                            </a:outerShdw>
                          </a:effectLst>
                        </a:rPr>
                        <a:t>在確定該範圍時，組織應考慮：</a:t>
                      </a:r>
                    </a:p>
                    <a:p>
                      <a:r>
                        <a:rPr lang="en-US" altLang="zh-TW" sz="1600" b="1" dirty="0">
                          <a:solidFill>
                            <a:schemeClr val="tx1"/>
                          </a:solidFill>
                          <a:effectLst>
                            <a:outerShdw blurRad="38100" dist="38100" dir="2700000" algn="tl">
                              <a:srgbClr val="000000">
                                <a:alpha val="43137"/>
                              </a:srgbClr>
                            </a:outerShdw>
                          </a:effectLst>
                        </a:rPr>
                        <a:t>a) 4.1 </a:t>
                      </a:r>
                      <a:r>
                        <a:rPr lang="zh-TW" altLang="en-US" sz="1600" b="1" dirty="0">
                          <a:solidFill>
                            <a:schemeClr val="tx1"/>
                          </a:solidFill>
                          <a:effectLst>
                            <a:outerShdw blurRad="38100" dist="38100" dir="2700000" algn="tl">
                              <a:srgbClr val="000000">
                                <a:alpha val="43137"/>
                              </a:srgbClr>
                            </a:outerShdw>
                          </a:effectLst>
                        </a:rPr>
                        <a:t>中提到的外部和內部問題；</a:t>
                      </a:r>
                    </a:p>
                    <a:p>
                      <a:r>
                        <a:rPr lang="en-US" altLang="zh-TW" sz="1600" b="1" dirty="0">
                          <a:solidFill>
                            <a:schemeClr val="tx1"/>
                          </a:solidFill>
                          <a:effectLst>
                            <a:outerShdw blurRad="38100" dist="38100" dir="2700000" algn="tl">
                              <a:srgbClr val="000000">
                                <a:alpha val="43137"/>
                              </a:srgbClr>
                            </a:outerShdw>
                          </a:effectLst>
                        </a:rPr>
                        <a:t>b) 4.2 </a:t>
                      </a:r>
                      <a:r>
                        <a:rPr lang="zh-TW" altLang="en-US" sz="1600" b="1" dirty="0">
                          <a:solidFill>
                            <a:schemeClr val="tx1"/>
                          </a:solidFill>
                          <a:effectLst>
                            <a:outerShdw blurRad="38100" dist="38100" dir="2700000" algn="tl">
                              <a:srgbClr val="000000">
                                <a:alpha val="43137"/>
                              </a:srgbClr>
                            </a:outerShdw>
                          </a:effectLst>
                        </a:rPr>
                        <a:t>中提到的要求；</a:t>
                      </a:r>
                    </a:p>
                    <a:p>
                      <a:r>
                        <a:rPr lang="en-US" altLang="zh-TW" sz="1600" b="1" dirty="0">
                          <a:solidFill>
                            <a:schemeClr val="tx1"/>
                          </a:solidFill>
                          <a:effectLst>
                            <a:outerShdw blurRad="38100" dist="38100" dir="2700000" algn="tl">
                              <a:srgbClr val="000000">
                                <a:alpha val="43137"/>
                              </a:srgbClr>
                            </a:outerShdw>
                          </a:effectLst>
                        </a:rPr>
                        <a:t>c) </a:t>
                      </a:r>
                      <a:r>
                        <a:rPr lang="zh-TW" altLang="en-US" sz="1600" b="1" dirty="0">
                          <a:solidFill>
                            <a:schemeClr val="tx1"/>
                          </a:solidFill>
                          <a:effectLst>
                            <a:outerShdw blurRad="38100" dist="38100" dir="2700000" algn="tl">
                              <a:srgbClr val="000000">
                                <a:alpha val="43137"/>
                              </a:srgbClr>
                            </a:outerShdw>
                          </a:effectLst>
                        </a:rPr>
                        <a:t>組織執行的活動與組織執行的活動之間的介面和依賴關係由其他組織執行。</a:t>
                      </a:r>
                      <a:endParaRPr lang="en-US" altLang="zh-TW" sz="1600" b="1" dirty="0">
                        <a:solidFill>
                          <a:schemeClr val="tx1"/>
                        </a:solidFill>
                        <a:effectLst>
                          <a:outerShdw blurRad="38100" dist="38100" dir="2700000" algn="tl">
                            <a:srgbClr val="000000">
                              <a:alpha val="43137"/>
                            </a:srgbClr>
                          </a:outerShdw>
                        </a:effectLst>
                      </a:endParaRPr>
                    </a:p>
                    <a:p>
                      <a:endParaRPr lang="en-US" altLang="zh-TW" sz="1600" b="1" dirty="0">
                        <a:solidFill>
                          <a:schemeClr val="tx1"/>
                        </a:solidFill>
                        <a:effectLst>
                          <a:outerShdw blurRad="38100" dist="38100" dir="2700000" algn="tl">
                            <a:srgbClr val="000000">
                              <a:alpha val="43137"/>
                            </a:srgbClr>
                          </a:outerShdw>
                        </a:effectLst>
                      </a:endParaRPr>
                    </a:p>
                    <a:p>
                      <a:r>
                        <a:rPr lang="zh-TW" altLang="en-US" sz="1600" b="1" dirty="0">
                          <a:solidFill>
                            <a:schemeClr val="tx1"/>
                          </a:solidFill>
                          <a:effectLst>
                            <a:outerShdw blurRad="38100" dist="38100" dir="2700000" algn="tl">
                              <a:srgbClr val="000000">
                                <a:alpha val="43137"/>
                              </a:srgbClr>
                            </a:outerShdw>
                          </a:effectLst>
                        </a:rPr>
                        <a:t>範圍應作為檔化資訊提供。</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0939526"/>
                  </a:ext>
                </a:extLst>
              </a:tr>
              <a:tr h="4343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4.4 </a:t>
                      </a:r>
                      <a:r>
                        <a:rPr lang="zh-TW" altLang="en-US" sz="1600" b="1" dirty="0">
                          <a:solidFill>
                            <a:schemeClr val="tx1"/>
                          </a:solidFill>
                          <a:effectLst>
                            <a:outerShdw blurRad="38100" dist="38100" dir="2700000" algn="tl">
                              <a:srgbClr val="000000">
                                <a:alpha val="43137"/>
                              </a:srgbClr>
                            </a:outerShdw>
                          </a:effectLst>
                        </a:rPr>
                        <a:t>資訊安全管理</a:t>
                      </a:r>
                      <a:r>
                        <a:rPr lang="zh-TW" altLang="en-US" sz="1600" b="1" dirty="0" smtClean="0">
                          <a:solidFill>
                            <a:schemeClr val="tx1"/>
                          </a:solidFill>
                          <a:effectLst>
                            <a:outerShdw blurRad="38100" dist="38100" dir="2700000" algn="tl">
                              <a:srgbClr val="000000">
                                <a:alpha val="43137"/>
                              </a:srgbClr>
                            </a:outerShdw>
                          </a:effectLst>
                        </a:rPr>
                        <a:t>體系</a:t>
                      </a:r>
                      <a:endParaRPr lang="zh-TW" altLang="en-US" sz="16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b="1" dirty="0">
                          <a:solidFill>
                            <a:schemeClr val="tx1"/>
                          </a:solidFill>
                          <a:effectLst>
                            <a:outerShdw blurRad="38100" dist="38100" dir="2700000" algn="tl">
                              <a:srgbClr val="000000">
                                <a:alpha val="43137"/>
                              </a:srgbClr>
                            </a:outerShdw>
                          </a:effectLst>
                        </a:rPr>
                        <a:t>組織應建立、實施、保持並持續改進資訊安全管理體系，包括所需的過程及其相互作用，按照本檔的要求。</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054290"/>
                  </a:ext>
                </a:extLst>
              </a:tr>
            </a:tbl>
          </a:graphicData>
        </a:graphic>
      </p:graphicFrame>
      <p:sp>
        <p:nvSpPr>
          <p:cNvPr id="4" name="投影片編號版面配置區 3"/>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12</a:t>
            </a:fld>
            <a:endParaRPr lang="zh-TW" altLang="en-US" dirty="0"/>
          </a:p>
        </p:txBody>
      </p:sp>
    </p:spTree>
    <p:extLst>
      <p:ext uri="{BB962C8B-B14F-4D97-AF65-F5344CB8AC3E}">
        <p14:creationId xmlns:p14="http://schemas.microsoft.com/office/powerpoint/2010/main" val="4001836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1397" y="120177"/>
            <a:ext cx="7886700" cy="513636"/>
          </a:xfrm>
        </p:spPr>
        <p:txBody>
          <a:bodyPr>
            <a:normAutofit fontScale="90000"/>
          </a:bodyPr>
          <a:lstStyle/>
          <a:p>
            <a:r>
              <a:rPr lang="en-US" altLang="zh-TW" dirty="0"/>
              <a:t>5.Leadership</a:t>
            </a:r>
            <a:r>
              <a:rPr lang="zh-TW" altLang="en-US" dirty="0"/>
              <a:t>領導力</a:t>
            </a:r>
          </a:p>
        </p:txBody>
      </p:sp>
      <p:sp>
        <p:nvSpPr>
          <p:cNvPr id="5" name="矩形 4"/>
          <p:cNvSpPr/>
          <p:nvPr/>
        </p:nvSpPr>
        <p:spPr>
          <a:xfrm>
            <a:off x="222492" y="648614"/>
            <a:ext cx="6511368" cy="369332"/>
          </a:xfrm>
          <a:prstGeom prst="rect">
            <a:avLst/>
          </a:prstGeom>
        </p:spPr>
        <p:txBody>
          <a:bodyPr wrap="square">
            <a:spAutoFit/>
          </a:bodyPr>
          <a:lstStyle/>
          <a:p>
            <a:r>
              <a:rPr lang="en-US" altLang="zh-TW" b="1" dirty="0">
                <a:effectLst>
                  <a:outerShdw blurRad="38100" dist="38100" dir="2700000" algn="tl">
                    <a:srgbClr val="000000">
                      <a:alpha val="43137"/>
                    </a:srgbClr>
                  </a:outerShdw>
                </a:effectLst>
              </a:rPr>
              <a:t>5.1 </a:t>
            </a:r>
            <a:r>
              <a:rPr lang="zh-TW" altLang="en-US" b="1" dirty="0">
                <a:effectLst>
                  <a:outerShdw blurRad="38100" dist="38100" dir="2700000" algn="tl">
                    <a:srgbClr val="000000">
                      <a:alpha val="43137"/>
                    </a:srgbClr>
                  </a:outerShdw>
                </a:effectLst>
              </a:rPr>
              <a:t>領導力和</a:t>
            </a:r>
            <a:r>
              <a:rPr lang="zh-TW" altLang="en-US" b="1" dirty="0" smtClean="0">
                <a:effectLst>
                  <a:outerShdw blurRad="38100" dist="38100" dir="2700000" algn="tl">
                    <a:srgbClr val="000000">
                      <a:alpha val="43137"/>
                    </a:srgbClr>
                  </a:outerShdw>
                </a:effectLst>
              </a:rPr>
              <a:t>承諾  </a:t>
            </a:r>
            <a:r>
              <a:rPr lang="en-US" altLang="zh-TW" b="1" dirty="0" smtClean="0">
                <a:effectLst>
                  <a:outerShdw blurRad="38100" dist="38100" dir="2700000" algn="tl">
                    <a:srgbClr val="000000">
                      <a:alpha val="43137"/>
                    </a:srgbClr>
                  </a:outerShdw>
                </a:effectLst>
              </a:rPr>
              <a:t>|</a:t>
            </a:r>
            <a:r>
              <a:rPr lang="zh-TW" altLang="en-US" b="1" dirty="0">
                <a:effectLst>
                  <a:outerShdw blurRad="38100" dist="38100" dir="2700000" algn="tl">
                    <a:srgbClr val="000000">
                      <a:alpha val="43137"/>
                    </a:srgbClr>
                  </a:outerShdw>
                </a:effectLst>
              </a:rPr>
              <a:t> </a:t>
            </a:r>
            <a:r>
              <a:rPr lang="zh-TW" altLang="en-US" b="1" dirty="0" smtClean="0">
                <a:effectLst>
                  <a:outerShdw blurRad="38100" dist="38100" dir="2700000" algn="tl">
                    <a:srgbClr val="000000">
                      <a:alpha val="43137"/>
                    </a:srgbClr>
                  </a:outerShdw>
                </a:effectLst>
              </a:rPr>
              <a:t> </a:t>
            </a:r>
            <a:r>
              <a:rPr lang="en-US" altLang="zh-TW" b="1" dirty="0" smtClean="0">
                <a:effectLst>
                  <a:outerShdw blurRad="38100" dist="38100" dir="2700000" algn="tl">
                    <a:srgbClr val="000000">
                      <a:alpha val="43137"/>
                    </a:srgbClr>
                  </a:outerShdw>
                </a:effectLst>
              </a:rPr>
              <a:t>5.2 </a:t>
            </a:r>
            <a:r>
              <a:rPr lang="zh-TW" altLang="en-US" b="1" dirty="0" smtClean="0">
                <a:effectLst>
                  <a:outerShdw blurRad="38100" dist="38100" dir="2700000" algn="tl">
                    <a:srgbClr val="000000">
                      <a:alpha val="43137"/>
                    </a:srgbClr>
                  </a:outerShdw>
                </a:effectLst>
              </a:rPr>
              <a:t>政策  </a:t>
            </a:r>
            <a:r>
              <a:rPr lang="en-US" altLang="zh-TW" b="1" dirty="0" smtClean="0">
                <a:effectLst>
                  <a:outerShdw blurRad="38100" dist="38100" dir="2700000" algn="tl">
                    <a:srgbClr val="000000">
                      <a:alpha val="43137"/>
                    </a:srgbClr>
                  </a:outerShdw>
                </a:effectLst>
              </a:rPr>
              <a:t>|</a:t>
            </a:r>
            <a:r>
              <a:rPr lang="zh-TW" altLang="en-US" b="1" dirty="0">
                <a:effectLst>
                  <a:outerShdw blurRad="38100" dist="38100" dir="2700000" algn="tl">
                    <a:srgbClr val="000000">
                      <a:alpha val="43137"/>
                    </a:srgbClr>
                  </a:outerShdw>
                </a:effectLst>
              </a:rPr>
              <a:t> </a:t>
            </a:r>
            <a:r>
              <a:rPr lang="zh-TW" altLang="en-US" b="1" dirty="0" smtClean="0">
                <a:effectLst>
                  <a:outerShdw blurRad="38100" dist="38100" dir="2700000" algn="tl">
                    <a:srgbClr val="000000">
                      <a:alpha val="43137"/>
                    </a:srgbClr>
                  </a:outerShdw>
                </a:effectLst>
              </a:rPr>
              <a:t>  </a:t>
            </a:r>
            <a:r>
              <a:rPr lang="en-US" altLang="zh-TW" b="1" dirty="0" smtClean="0">
                <a:effectLst>
                  <a:outerShdw blurRad="38100" dist="38100" dir="2700000" algn="tl">
                    <a:srgbClr val="000000">
                      <a:alpha val="43137"/>
                    </a:srgbClr>
                  </a:outerShdw>
                </a:effectLst>
              </a:rPr>
              <a:t>5.3 </a:t>
            </a:r>
            <a:r>
              <a:rPr lang="zh-TW" altLang="en-US" b="1" dirty="0">
                <a:effectLst>
                  <a:outerShdw blurRad="38100" dist="38100" dir="2700000" algn="tl">
                    <a:srgbClr val="000000">
                      <a:alpha val="43137"/>
                    </a:srgbClr>
                  </a:outerShdw>
                </a:effectLst>
              </a:rPr>
              <a:t>組織角色、職責和</a:t>
            </a:r>
            <a:r>
              <a:rPr lang="zh-TW" altLang="en-US" b="1" dirty="0" smtClean="0">
                <a:effectLst>
                  <a:outerShdw blurRad="38100" dist="38100" dir="2700000" algn="tl">
                    <a:srgbClr val="000000">
                      <a:alpha val="43137"/>
                    </a:srgbClr>
                  </a:outerShdw>
                </a:effectLst>
              </a:rPr>
              <a:t>權限</a:t>
            </a:r>
            <a:endParaRPr lang="zh-TW" altLang="en-US" b="1" dirty="0">
              <a:effectLst>
                <a:outerShdw blurRad="38100" dist="38100" dir="2700000" algn="tl">
                  <a:srgbClr val="000000">
                    <a:alpha val="43137"/>
                  </a:srgbClr>
                </a:outerShdw>
              </a:effectLst>
            </a:endParaRPr>
          </a:p>
        </p:txBody>
      </p:sp>
      <p:sp>
        <p:nvSpPr>
          <p:cNvPr id="7" name="矩形 6"/>
          <p:cNvSpPr/>
          <p:nvPr/>
        </p:nvSpPr>
        <p:spPr>
          <a:xfrm>
            <a:off x="286485" y="1253952"/>
            <a:ext cx="8482066" cy="4339650"/>
          </a:xfrm>
          <a:prstGeom prst="rect">
            <a:avLst/>
          </a:prstGeom>
        </p:spPr>
        <p:txBody>
          <a:bodyPr wrap="square">
            <a:spAutoFit/>
          </a:bodyPr>
          <a:lstStyle/>
          <a:p>
            <a:r>
              <a:rPr lang="en-US" altLang="zh-TW" sz="2400" b="1" dirty="0">
                <a:effectLst>
                  <a:outerShdw blurRad="38100" dist="38100" dir="2700000" algn="tl">
                    <a:srgbClr val="000000">
                      <a:alpha val="43137"/>
                    </a:srgbClr>
                  </a:outerShdw>
                </a:effectLst>
              </a:rPr>
              <a:t>5.1 </a:t>
            </a:r>
            <a:r>
              <a:rPr lang="zh-TW" altLang="en-US" sz="2400" b="1" dirty="0">
                <a:effectLst>
                  <a:outerShdw blurRad="38100" dist="38100" dir="2700000" algn="tl">
                    <a:srgbClr val="000000">
                      <a:alpha val="43137"/>
                    </a:srgbClr>
                  </a:outerShdw>
                </a:effectLst>
              </a:rPr>
              <a:t>領導力和承諾 </a:t>
            </a:r>
            <a:endParaRPr lang="en-US" altLang="zh-TW" sz="2400" b="1" dirty="0" smtClean="0">
              <a:effectLst>
                <a:outerShdw blurRad="38100" dist="38100" dir="2700000" algn="tl">
                  <a:srgbClr val="000000">
                    <a:alpha val="43137"/>
                  </a:srgbClr>
                </a:outerShdw>
              </a:effectLst>
            </a:endParaRPr>
          </a:p>
          <a:p>
            <a:endParaRPr lang="en-US" altLang="zh-TW" b="1" dirty="0">
              <a:effectLst>
                <a:outerShdw blurRad="38100" dist="38100" dir="2700000" algn="tl">
                  <a:srgbClr val="000000">
                    <a:alpha val="43137"/>
                  </a:srgbClr>
                </a:outerShdw>
              </a:effectLst>
            </a:endParaRPr>
          </a:p>
          <a:p>
            <a:r>
              <a:rPr lang="zh-TW" altLang="en-US" b="1" dirty="0" smtClean="0">
                <a:effectLst>
                  <a:outerShdw blurRad="38100" dist="38100" dir="2700000" algn="tl">
                    <a:srgbClr val="000000">
                      <a:alpha val="43137"/>
                    </a:srgbClr>
                  </a:outerShdw>
                </a:effectLst>
              </a:rPr>
              <a:t>最高</a:t>
            </a:r>
            <a:r>
              <a:rPr lang="zh-TW" altLang="en-US" b="1" dirty="0">
                <a:effectLst>
                  <a:outerShdw blurRad="38100" dist="38100" dir="2700000" algn="tl">
                    <a:srgbClr val="000000">
                      <a:alpha val="43137"/>
                    </a:srgbClr>
                  </a:outerShdw>
                </a:effectLst>
              </a:rPr>
              <a:t>管理者應展示對</a:t>
            </a:r>
            <a:r>
              <a:rPr lang="zh-TW" altLang="en-US" b="1" dirty="0" smtClean="0">
                <a:effectLst>
                  <a:outerShdw blurRad="38100" dist="38100" dir="2700000" algn="tl">
                    <a:srgbClr val="000000">
                      <a:alpha val="43137"/>
                    </a:srgbClr>
                  </a:outerShdw>
                </a:effectLst>
              </a:rPr>
              <a:t>資訊</a:t>
            </a:r>
            <a:r>
              <a:rPr lang="zh-TW" altLang="en-US" b="1" dirty="0">
                <a:effectLst>
                  <a:outerShdw blurRad="38100" dist="38100" dir="2700000" algn="tl">
                    <a:srgbClr val="000000">
                      <a:alpha val="43137"/>
                    </a:srgbClr>
                  </a:outerShdw>
                </a:effectLst>
              </a:rPr>
              <a:t>安全管理系統</a:t>
            </a:r>
            <a:r>
              <a:rPr lang="zh-TW" altLang="en-US" b="1" dirty="0" smtClean="0">
                <a:effectLst>
                  <a:outerShdw blurRad="38100" dist="38100" dir="2700000" algn="tl">
                    <a:srgbClr val="000000">
                      <a:alpha val="43137"/>
                    </a:srgbClr>
                  </a:outerShdw>
                </a:effectLst>
              </a:rPr>
              <a:t>的</a:t>
            </a:r>
            <a:r>
              <a:rPr lang="zh-TW" altLang="en-US" b="1" dirty="0">
                <a:effectLst>
                  <a:outerShdw blurRad="38100" dist="38100" dir="2700000" algn="tl">
                    <a:srgbClr val="000000">
                      <a:alpha val="43137"/>
                    </a:srgbClr>
                  </a:outerShdw>
                </a:effectLst>
              </a:rPr>
              <a:t>領導和</a:t>
            </a:r>
            <a:r>
              <a:rPr lang="zh-TW" altLang="en-US" b="1" dirty="0" smtClean="0">
                <a:effectLst>
                  <a:outerShdw blurRad="38100" dist="38100" dir="2700000" algn="tl">
                    <a:srgbClr val="000000">
                      <a:alpha val="43137"/>
                    </a:srgbClr>
                  </a:outerShdw>
                </a:effectLst>
              </a:rPr>
              <a:t>承諾</a:t>
            </a:r>
            <a:endParaRPr lang="en-US" altLang="zh-TW" b="1" dirty="0">
              <a:effectLst>
                <a:outerShdw blurRad="38100" dist="38100" dir="2700000" algn="tl">
                  <a:srgbClr val="000000">
                    <a:alpha val="43137"/>
                  </a:srgbClr>
                </a:outerShdw>
              </a:effectLst>
            </a:endParaRPr>
          </a:p>
          <a:p>
            <a:pPr marL="342900" indent="-342900">
              <a:buFont typeface="+mj-lt"/>
              <a:buAutoNum type="arabicPeriod"/>
            </a:pPr>
            <a:r>
              <a:rPr lang="zh-TW" altLang="en-US" b="1" dirty="0">
                <a:effectLst>
                  <a:outerShdw blurRad="38100" dist="38100" dir="2700000" algn="tl">
                    <a:srgbClr val="000000">
                      <a:alpha val="43137"/>
                    </a:srgbClr>
                  </a:outerShdw>
                </a:effectLst>
              </a:rPr>
              <a:t>確保</a:t>
            </a:r>
            <a:r>
              <a:rPr lang="zh-TW" altLang="en-US" b="1" dirty="0" smtClean="0">
                <a:effectLst>
                  <a:outerShdw blurRad="38100" dist="38100" dir="2700000" algn="tl">
                    <a:srgbClr val="000000">
                      <a:alpha val="43137"/>
                    </a:srgbClr>
                  </a:outerShdw>
                </a:effectLst>
              </a:rPr>
              <a:t>建立</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a:effectLst>
                  <a:outerShdw blurRad="38100" dist="38100" dir="2700000" algn="tl">
                    <a:srgbClr val="000000">
                      <a:alpha val="43137"/>
                    </a:srgbClr>
                  </a:outerShdw>
                </a:effectLst>
              </a:rPr>
              <a:t>資訊安全方針</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和</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a:effectLst>
                  <a:outerShdw blurRad="38100" dist="38100" dir="2700000" algn="tl">
                    <a:srgbClr val="000000">
                      <a:alpha val="43137"/>
                    </a:srgbClr>
                  </a:outerShdw>
                </a:effectLst>
              </a:rPr>
              <a:t>資訊安全目標</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 並與</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組織戰略</a:t>
            </a:r>
            <a:r>
              <a:rPr lang="zh-TW" altLang="en-US" b="1" dirty="0">
                <a:effectLst>
                  <a:outerShdw blurRad="38100" dist="38100" dir="2700000" algn="tl">
                    <a:srgbClr val="000000">
                      <a:alpha val="43137"/>
                    </a:srgbClr>
                  </a:outerShdw>
                </a:effectLst>
              </a:rPr>
              <a:t>方向</a:t>
            </a:r>
            <a:r>
              <a:rPr lang="en-US" altLang="zh-TW"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相容</a:t>
            </a:r>
            <a:r>
              <a:rPr lang="zh-TW" altLang="en-US" b="1" dirty="0">
                <a:effectLst>
                  <a:outerShdw blurRad="38100" dist="38100" dir="2700000" algn="tl">
                    <a:srgbClr val="000000">
                      <a:alpha val="43137"/>
                    </a:srgbClr>
                  </a:outerShdw>
                </a:effectLst>
              </a:rPr>
              <a:t>；</a:t>
            </a:r>
          </a:p>
          <a:p>
            <a:pPr marL="342900" indent="-342900">
              <a:buFont typeface="+mj-lt"/>
              <a:buAutoNum type="arabicPeriod"/>
            </a:pPr>
            <a:r>
              <a:rPr lang="zh-TW" altLang="en-US" b="1" dirty="0">
                <a:effectLst>
                  <a:outerShdw blurRad="38100" dist="38100" dir="2700000" algn="tl">
                    <a:srgbClr val="000000">
                      <a:alpha val="43137"/>
                    </a:srgbClr>
                  </a:outerShdw>
                </a:effectLst>
              </a:rPr>
              <a:t>確保</a:t>
            </a:r>
            <a:r>
              <a:rPr lang="zh-TW" altLang="en-US" b="1" dirty="0" smtClean="0">
                <a:effectLst>
                  <a:outerShdw blurRad="38100" dist="38100" dir="2700000" algn="tl">
                    <a:srgbClr val="000000">
                      <a:alpha val="43137"/>
                    </a:srgbClr>
                  </a:outerShdw>
                </a:effectLst>
              </a:rPr>
              <a:t>將</a:t>
            </a:r>
            <a:r>
              <a:rPr lang="en-US" altLang="zh-TW" b="1" dirty="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資訊安全</a:t>
            </a:r>
            <a:r>
              <a:rPr lang="zh-TW" altLang="en-US" b="1" dirty="0">
                <a:effectLst>
                  <a:outerShdw blurRad="38100" dist="38100" dir="2700000" algn="tl">
                    <a:srgbClr val="000000">
                      <a:alpha val="43137"/>
                    </a:srgbClr>
                  </a:outerShdw>
                </a:effectLst>
              </a:rPr>
              <a:t>管理</a:t>
            </a:r>
            <a:r>
              <a:rPr lang="zh-TW" altLang="en-US" b="1" dirty="0" smtClean="0">
                <a:effectLst>
                  <a:outerShdw blurRad="38100" dist="38100" dir="2700000" algn="tl">
                    <a:srgbClr val="000000">
                      <a:alpha val="43137"/>
                    </a:srgbClr>
                  </a:outerShdw>
                </a:effectLst>
              </a:rPr>
              <a:t>體要求</a:t>
            </a:r>
            <a:r>
              <a:rPr lang="en-US" altLang="zh-TW" b="1" dirty="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effectLst>
                  <a:outerShdw blurRad="38100" dist="38100" dir="2700000" algn="tl">
                    <a:srgbClr val="000000">
                      <a:alpha val="43137"/>
                    </a:srgbClr>
                  </a:outerShdw>
                </a:effectLst>
              </a:rPr>
              <a:t>   整合到  組織</a:t>
            </a:r>
            <a:r>
              <a:rPr lang="zh-TW" altLang="en-US" b="1" dirty="0">
                <a:effectLst>
                  <a:outerShdw blurRad="38100" dist="38100" dir="2700000" algn="tl">
                    <a:srgbClr val="000000">
                      <a:alpha val="43137"/>
                    </a:srgbClr>
                  </a:outerShdw>
                </a:effectLst>
              </a:rPr>
              <a:t>的過程；</a:t>
            </a:r>
          </a:p>
          <a:p>
            <a:pPr marL="342900" indent="-342900">
              <a:buFont typeface="+mj-lt"/>
              <a:buAutoNum type="arabicPeriod"/>
            </a:pPr>
            <a:r>
              <a:rPr lang="zh-TW" altLang="en-US" b="1" dirty="0">
                <a:effectLst>
                  <a:outerShdw blurRad="38100" dist="38100" dir="2700000" algn="tl">
                    <a:srgbClr val="000000">
                      <a:alpha val="43137"/>
                    </a:srgbClr>
                  </a:outerShdw>
                </a:effectLst>
              </a:rPr>
              <a:t>確保資訊安全管理</a:t>
            </a:r>
            <a:r>
              <a:rPr lang="zh-TW" altLang="en-US" b="1" dirty="0" smtClean="0">
                <a:effectLst>
                  <a:outerShdw blurRad="38100" dist="38100" dir="2700000" algn="tl">
                    <a:srgbClr val="000000">
                      <a:alpha val="43137"/>
                    </a:srgbClr>
                  </a:outerShdw>
                </a:effectLst>
              </a:rPr>
              <a:t>體 所</a:t>
            </a:r>
            <a:r>
              <a:rPr lang="zh-TW" altLang="en-US" b="1" dirty="0">
                <a:effectLst>
                  <a:outerShdw blurRad="38100" dist="38100" dir="2700000" algn="tl">
                    <a:srgbClr val="000000">
                      <a:alpha val="43137"/>
                    </a:srgbClr>
                  </a:outerShdw>
                </a:effectLst>
              </a:rPr>
              <a:t>需的資源可用；</a:t>
            </a:r>
          </a:p>
          <a:p>
            <a:pPr marL="342900" indent="-342900">
              <a:buFont typeface="+mj-lt"/>
              <a:buAutoNum type="arabicPeriod"/>
            </a:pPr>
            <a:r>
              <a:rPr lang="zh-TW" altLang="en-US" b="1" dirty="0">
                <a:effectLst>
                  <a:outerShdw blurRad="38100" dist="38100" dir="2700000" algn="tl">
                    <a:srgbClr val="000000">
                      <a:alpha val="43137"/>
                    </a:srgbClr>
                  </a:outerShdw>
                </a:effectLst>
              </a:rPr>
              <a:t>傳達有效資訊安全管理和符合要求</a:t>
            </a:r>
            <a:r>
              <a:rPr lang="zh-TW" altLang="en-US" b="1" dirty="0" smtClean="0">
                <a:effectLst>
                  <a:outerShdw blurRad="38100" dist="38100" dir="2700000" algn="tl">
                    <a:srgbClr val="000000">
                      <a:alpha val="43137"/>
                    </a:srgbClr>
                  </a:outerShdw>
                </a:effectLst>
              </a:rPr>
              <a:t>的   重要性</a:t>
            </a:r>
            <a:endParaRPr lang="zh-TW" altLang="en-US" b="1" dirty="0">
              <a:effectLst>
                <a:outerShdw blurRad="38100" dist="38100" dir="2700000" algn="tl">
                  <a:srgbClr val="000000">
                    <a:alpha val="43137"/>
                  </a:srgbClr>
                </a:outerShdw>
              </a:effectLst>
            </a:endParaRPr>
          </a:p>
          <a:p>
            <a:endParaRPr lang="en-US" altLang="zh-TW" b="1" dirty="0">
              <a:effectLst>
                <a:outerShdw blurRad="38100" dist="38100" dir="2700000" algn="tl">
                  <a:srgbClr val="000000">
                    <a:alpha val="43137"/>
                  </a:srgbClr>
                </a:outerShdw>
              </a:effectLst>
            </a:endParaRPr>
          </a:p>
          <a:p>
            <a:r>
              <a:rPr lang="zh-TW" altLang="en-US" b="1" dirty="0">
                <a:effectLst>
                  <a:outerShdw blurRad="38100" dist="38100" dir="2700000" algn="tl">
                    <a:srgbClr val="000000">
                      <a:alpha val="43137"/>
                    </a:srgbClr>
                  </a:outerShdw>
                </a:effectLst>
              </a:rPr>
              <a:t>資訊安全管理體係要求；</a:t>
            </a:r>
          </a:p>
          <a:p>
            <a:pPr marL="342900" indent="-342900">
              <a:buFont typeface="+mj-lt"/>
              <a:buAutoNum type="arabicPeriod"/>
            </a:pPr>
            <a:r>
              <a:rPr lang="zh-TW" altLang="en-US" b="1" dirty="0">
                <a:effectLst>
                  <a:outerShdw blurRad="38100" dist="38100" dir="2700000" algn="tl">
                    <a:srgbClr val="000000">
                      <a:alpha val="43137"/>
                    </a:srgbClr>
                  </a:outerShdw>
                </a:effectLst>
              </a:rPr>
              <a:t>確保資訊安全管理體系實現其預期結果；</a:t>
            </a:r>
          </a:p>
          <a:p>
            <a:pPr marL="342900" indent="-342900">
              <a:buFont typeface="+mj-lt"/>
              <a:buAutoNum type="arabicPeriod"/>
            </a:pPr>
            <a:r>
              <a:rPr lang="zh-TW" altLang="en-US" b="1" dirty="0">
                <a:effectLst>
                  <a:outerShdw blurRad="38100" dist="38100" dir="2700000" algn="tl">
                    <a:srgbClr val="000000">
                      <a:alpha val="43137"/>
                    </a:srgbClr>
                  </a:outerShdw>
                </a:effectLst>
              </a:rPr>
              <a:t>指導和支持人員為資訊安全的有效性做出貢獻管理系統</a:t>
            </a:r>
            <a:r>
              <a:rPr lang="en-US" altLang="zh-TW" b="1" dirty="0">
                <a:effectLst>
                  <a:outerShdw blurRad="38100" dist="38100" dir="2700000" algn="tl">
                    <a:srgbClr val="000000">
                      <a:alpha val="43137"/>
                    </a:srgbClr>
                  </a:outerShdw>
                </a:effectLst>
              </a:rPr>
              <a:t>;</a:t>
            </a:r>
          </a:p>
          <a:p>
            <a:pPr marL="342900" indent="-342900">
              <a:buFont typeface="+mj-lt"/>
              <a:buAutoNum type="arabicPeriod"/>
            </a:pPr>
            <a:r>
              <a:rPr lang="zh-TW" altLang="en-US" b="1" dirty="0">
                <a:effectLst>
                  <a:outerShdw blurRad="38100" dist="38100" dir="2700000" algn="tl">
                    <a:srgbClr val="000000">
                      <a:alpha val="43137"/>
                    </a:srgbClr>
                  </a:outerShdw>
                </a:effectLst>
              </a:rPr>
              <a:t>促進持續改進</a:t>
            </a:r>
            <a:r>
              <a:rPr lang="zh-TW" altLang="en-US" b="1" dirty="0" smtClean="0">
                <a:effectLst>
                  <a:outerShdw blurRad="38100" dist="38100" dir="2700000" algn="tl">
                    <a:srgbClr val="000000">
                      <a:alpha val="43137"/>
                    </a:srgbClr>
                  </a:outerShdw>
                </a:effectLst>
              </a:rPr>
              <a:t>；</a:t>
            </a:r>
            <a:endParaRPr lang="zh-TW" altLang="en-US" b="1" dirty="0">
              <a:effectLst>
                <a:outerShdw blurRad="38100" dist="38100" dir="2700000" algn="tl">
                  <a:srgbClr val="000000">
                    <a:alpha val="43137"/>
                  </a:srgbClr>
                </a:outerShdw>
              </a:effectLst>
            </a:endParaRPr>
          </a:p>
          <a:p>
            <a:pPr marL="342900" indent="-342900">
              <a:buFont typeface="+mj-lt"/>
              <a:buAutoNum type="arabicPeriod"/>
            </a:pPr>
            <a:r>
              <a:rPr lang="zh-TW" altLang="en-US" b="1" dirty="0">
                <a:effectLst>
                  <a:outerShdw blurRad="38100" dist="38100" dir="2700000" algn="tl">
                    <a:srgbClr val="000000">
                      <a:alpha val="43137"/>
                    </a:srgbClr>
                  </a:outerShdw>
                </a:effectLst>
              </a:rPr>
              <a:t>支持其他相關管理</a:t>
            </a:r>
            <a:r>
              <a:rPr lang="zh-TW" altLang="en-US" b="1" dirty="0" smtClean="0">
                <a:effectLst>
                  <a:outerShdw blurRad="38100" dist="38100" dir="2700000" algn="tl">
                    <a:srgbClr val="000000">
                      <a:alpha val="43137"/>
                    </a:srgbClr>
                  </a:outerShdw>
                </a:effectLst>
              </a:rPr>
              <a:t>角色</a:t>
            </a:r>
            <a:r>
              <a:rPr lang="en-US" altLang="zh-TW" b="1" dirty="0" smtClean="0">
                <a:effectLst>
                  <a:outerShdw blurRad="38100" dist="38100" dir="2700000" algn="tl">
                    <a:srgbClr val="000000">
                      <a:alpha val="43137"/>
                    </a:srgbClr>
                  </a:outerShdw>
                </a:effectLst>
              </a:rPr>
              <a:t>(roles)</a:t>
            </a:r>
            <a:r>
              <a:rPr lang="zh-TW" altLang="en-US" b="1" dirty="0" smtClean="0">
                <a:effectLst>
                  <a:outerShdw blurRad="38100" dist="38100" dir="2700000" algn="tl">
                    <a:srgbClr val="000000">
                      <a:alpha val="43137"/>
                    </a:srgbClr>
                  </a:outerShdw>
                </a:effectLst>
              </a:rPr>
              <a:t>展示</a:t>
            </a:r>
            <a:r>
              <a:rPr lang="zh-TW" altLang="en-US" b="1" dirty="0">
                <a:effectLst>
                  <a:outerShdw blurRad="38100" dist="38100" dir="2700000" algn="tl">
                    <a:srgbClr val="000000">
                      <a:alpha val="43137"/>
                    </a:srgbClr>
                  </a:outerShdw>
                </a:effectLst>
              </a:rPr>
              <a:t>他們的領導力，因為這適用於他們責任範圍</a:t>
            </a:r>
            <a:r>
              <a:rPr lang="zh-TW" altLang="en-US" b="1" dirty="0" smtClean="0">
                <a:effectLst>
                  <a:outerShdw blurRad="38100" dist="38100" dir="2700000" algn="tl">
                    <a:srgbClr val="000000">
                      <a:alpha val="43137"/>
                    </a:srgbClr>
                  </a:outerShdw>
                </a:effectLst>
              </a:rPr>
              <a:t>。</a:t>
            </a:r>
            <a:endParaRPr lang="en-US" altLang="zh-TW" b="1" dirty="0" smtClean="0">
              <a:effectLst>
                <a:outerShdw blurRad="38100" dist="38100" dir="2700000" algn="tl">
                  <a:srgbClr val="000000">
                    <a:alpha val="43137"/>
                  </a:srgbClr>
                </a:outerShdw>
              </a:effectLst>
            </a:endParaRPr>
          </a:p>
          <a:p>
            <a:endParaRPr lang="zh-TW" altLang="en-US" b="1" dirty="0">
              <a:effectLst>
                <a:outerShdw blurRad="38100" dist="38100" dir="2700000" algn="tl">
                  <a:srgbClr val="000000">
                    <a:alpha val="43137"/>
                  </a:srgbClr>
                </a:outerShdw>
              </a:effectLst>
            </a:endParaRPr>
          </a:p>
          <a:p>
            <a:r>
              <a:rPr lang="zh-TW" altLang="en-US" b="1" dirty="0">
                <a:effectLst>
                  <a:outerShdw blurRad="38100" dist="38100" dir="2700000" algn="tl">
                    <a:srgbClr val="000000">
                      <a:alpha val="43137"/>
                    </a:srgbClr>
                  </a:outerShdw>
                </a:effectLst>
              </a:rPr>
              <a:t>注：本檔中提及的“業務”可以廣義地解釋為那些活動核心是組織存在的目的。</a:t>
            </a:r>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13</a:t>
            </a:fld>
            <a:endParaRPr lang="zh-TW" altLang="en-US" dirty="0"/>
          </a:p>
        </p:txBody>
      </p:sp>
    </p:spTree>
    <p:extLst>
      <p:ext uri="{BB962C8B-B14F-4D97-AF65-F5344CB8AC3E}">
        <p14:creationId xmlns:p14="http://schemas.microsoft.com/office/powerpoint/2010/main" val="156915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1397" y="120177"/>
            <a:ext cx="7886700" cy="513636"/>
          </a:xfrm>
        </p:spPr>
        <p:txBody>
          <a:bodyPr>
            <a:normAutofit fontScale="90000"/>
          </a:bodyPr>
          <a:lstStyle/>
          <a:p>
            <a:r>
              <a:rPr lang="en-US" altLang="zh-TW" dirty="0"/>
              <a:t>5.Leadership</a:t>
            </a:r>
            <a:r>
              <a:rPr lang="zh-TW" altLang="en-US" dirty="0"/>
              <a:t>領導力</a:t>
            </a:r>
          </a:p>
        </p:txBody>
      </p:sp>
      <p:sp>
        <p:nvSpPr>
          <p:cNvPr id="5" name="矩形 4"/>
          <p:cNvSpPr/>
          <p:nvPr/>
        </p:nvSpPr>
        <p:spPr>
          <a:xfrm>
            <a:off x="222492" y="648614"/>
            <a:ext cx="6511368" cy="369332"/>
          </a:xfrm>
          <a:prstGeom prst="rect">
            <a:avLst/>
          </a:prstGeom>
        </p:spPr>
        <p:txBody>
          <a:bodyPr wrap="square">
            <a:spAutoFit/>
          </a:bodyPr>
          <a:lstStyle/>
          <a:p>
            <a:r>
              <a:rPr lang="en-US" altLang="zh-TW" b="1" dirty="0">
                <a:effectLst>
                  <a:outerShdw blurRad="38100" dist="38100" dir="2700000" algn="tl">
                    <a:srgbClr val="000000">
                      <a:alpha val="43137"/>
                    </a:srgbClr>
                  </a:outerShdw>
                </a:effectLst>
              </a:rPr>
              <a:t>5.1 </a:t>
            </a:r>
            <a:r>
              <a:rPr lang="zh-TW" altLang="en-US" b="1" dirty="0">
                <a:effectLst>
                  <a:outerShdw blurRad="38100" dist="38100" dir="2700000" algn="tl">
                    <a:srgbClr val="000000">
                      <a:alpha val="43137"/>
                    </a:srgbClr>
                  </a:outerShdw>
                </a:effectLst>
              </a:rPr>
              <a:t>領導力和</a:t>
            </a:r>
            <a:r>
              <a:rPr lang="zh-TW" altLang="en-US" b="1" dirty="0" smtClean="0">
                <a:effectLst>
                  <a:outerShdw blurRad="38100" dist="38100" dir="2700000" algn="tl">
                    <a:srgbClr val="000000">
                      <a:alpha val="43137"/>
                    </a:srgbClr>
                  </a:outerShdw>
                </a:effectLst>
              </a:rPr>
              <a:t>承諾  </a:t>
            </a:r>
            <a:r>
              <a:rPr lang="en-US" altLang="zh-TW" b="1" dirty="0" smtClean="0">
                <a:effectLst>
                  <a:outerShdw blurRad="38100" dist="38100" dir="2700000" algn="tl">
                    <a:srgbClr val="000000">
                      <a:alpha val="43137"/>
                    </a:srgbClr>
                  </a:outerShdw>
                </a:effectLst>
              </a:rPr>
              <a:t>|</a:t>
            </a:r>
            <a:r>
              <a:rPr lang="zh-TW" altLang="en-US" b="1" dirty="0">
                <a:effectLst>
                  <a:outerShdw blurRad="38100" dist="38100" dir="2700000" algn="tl">
                    <a:srgbClr val="000000">
                      <a:alpha val="43137"/>
                    </a:srgbClr>
                  </a:outerShdw>
                </a:effectLst>
              </a:rPr>
              <a:t> </a:t>
            </a:r>
            <a:r>
              <a:rPr lang="zh-TW" altLang="en-US" b="1" dirty="0" smtClean="0">
                <a:effectLst>
                  <a:outerShdw blurRad="38100" dist="38100" dir="2700000" algn="tl">
                    <a:srgbClr val="000000">
                      <a:alpha val="43137"/>
                    </a:srgbClr>
                  </a:outerShdw>
                </a:effectLst>
              </a:rPr>
              <a:t> </a:t>
            </a:r>
            <a:r>
              <a:rPr lang="en-US" altLang="zh-TW" b="1" dirty="0" smtClean="0">
                <a:effectLst>
                  <a:outerShdw blurRad="38100" dist="38100" dir="2700000" algn="tl">
                    <a:srgbClr val="000000">
                      <a:alpha val="43137"/>
                    </a:srgbClr>
                  </a:outerShdw>
                </a:effectLst>
              </a:rPr>
              <a:t>5.2 </a:t>
            </a:r>
            <a:r>
              <a:rPr lang="zh-TW" altLang="en-US" b="1" dirty="0" smtClean="0">
                <a:effectLst>
                  <a:outerShdw blurRad="38100" dist="38100" dir="2700000" algn="tl">
                    <a:srgbClr val="000000">
                      <a:alpha val="43137"/>
                    </a:srgbClr>
                  </a:outerShdw>
                </a:effectLst>
              </a:rPr>
              <a:t>政策  </a:t>
            </a:r>
            <a:r>
              <a:rPr lang="en-US" altLang="zh-TW" b="1" dirty="0" smtClean="0">
                <a:effectLst>
                  <a:outerShdw blurRad="38100" dist="38100" dir="2700000" algn="tl">
                    <a:srgbClr val="000000">
                      <a:alpha val="43137"/>
                    </a:srgbClr>
                  </a:outerShdw>
                </a:effectLst>
              </a:rPr>
              <a:t>|</a:t>
            </a:r>
            <a:r>
              <a:rPr lang="zh-TW" altLang="en-US" b="1" dirty="0">
                <a:effectLst>
                  <a:outerShdw blurRad="38100" dist="38100" dir="2700000" algn="tl">
                    <a:srgbClr val="000000">
                      <a:alpha val="43137"/>
                    </a:srgbClr>
                  </a:outerShdw>
                </a:effectLst>
              </a:rPr>
              <a:t> </a:t>
            </a:r>
            <a:r>
              <a:rPr lang="zh-TW" altLang="en-US" b="1" dirty="0" smtClean="0">
                <a:effectLst>
                  <a:outerShdw blurRad="38100" dist="38100" dir="2700000" algn="tl">
                    <a:srgbClr val="000000">
                      <a:alpha val="43137"/>
                    </a:srgbClr>
                  </a:outerShdw>
                </a:effectLst>
              </a:rPr>
              <a:t>  </a:t>
            </a:r>
            <a:r>
              <a:rPr lang="en-US" altLang="zh-TW" b="1" dirty="0" smtClean="0">
                <a:effectLst>
                  <a:outerShdw blurRad="38100" dist="38100" dir="2700000" algn="tl">
                    <a:srgbClr val="000000">
                      <a:alpha val="43137"/>
                    </a:srgbClr>
                  </a:outerShdw>
                </a:effectLst>
              </a:rPr>
              <a:t>5.3 </a:t>
            </a:r>
            <a:r>
              <a:rPr lang="zh-TW" altLang="en-US" b="1" dirty="0">
                <a:effectLst>
                  <a:outerShdw blurRad="38100" dist="38100" dir="2700000" algn="tl">
                    <a:srgbClr val="000000">
                      <a:alpha val="43137"/>
                    </a:srgbClr>
                  </a:outerShdw>
                </a:effectLst>
              </a:rPr>
              <a:t>組織角色、職責和</a:t>
            </a:r>
            <a:r>
              <a:rPr lang="zh-TW" altLang="en-US" b="1" dirty="0" smtClean="0">
                <a:effectLst>
                  <a:outerShdw blurRad="38100" dist="38100" dir="2700000" algn="tl">
                    <a:srgbClr val="000000">
                      <a:alpha val="43137"/>
                    </a:srgbClr>
                  </a:outerShdw>
                </a:effectLst>
              </a:rPr>
              <a:t>權限</a:t>
            </a:r>
            <a:endParaRPr lang="zh-TW" altLang="en-US" b="1" dirty="0">
              <a:effectLst>
                <a:outerShdw blurRad="38100" dist="38100" dir="2700000" algn="tl">
                  <a:srgbClr val="000000">
                    <a:alpha val="43137"/>
                  </a:srgbClr>
                </a:outerShdw>
              </a:effectLst>
            </a:endParaRPr>
          </a:p>
        </p:txBody>
      </p:sp>
      <p:sp>
        <p:nvSpPr>
          <p:cNvPr id="7" name="矩形 6"/>
          <p:cNvSpPr/>
          <p:nvPr/>
        </p:nvSpPr>
        <p:spPr>
          <a:xfrm>
            <a:off x="290284" y="1032747"/>
            <a:ext cx="8431002" cy="3231654"/>
          </a:xfrm>
          <a:prstGeom prst="rect">
            <a:avLst/>
          </a:prstGeom>
        </p:spPr>
        <p:txBody>
          <a:bodyPr wrap="square">
            <a:spAutoFit/>
          </a:bodyPr>
          <a:lstStyle/>
          <a:p>
            <a:pPr lvl="0"/>
            <a:r>
              <a:rPr lang="en-US" altLang="zh-TW" sz="2400" b="1" dirty="0">
                <a:effectLst>
                  <a:outerShdw blurRad="38100" dist="38100" dir="2700000" algn="tl">
                    <a:srgbClr val="000000">
                      <a:alpha val="43137"/>
                    </a:srgbClr>
                  </a:outerShdw>
                </a:effectLst>
              </a:rPr>
              <a:t>5.2 </a:t>
            </a:r>
            <a:r>
              <a:rPr lang="zh-TW" altLang="en-US" sz="2400" b="1" dirty="0" smtClean="0">
                <a:effectLst>
                  <a:outerShdw blurRad="38100" dist="38100" dir="2700000" algn="tl">
                    <a:srgbClr val="000000">
                      <a:alpha val="43137"/>
                    </a:srgbClr>
                  </a:outerShdw>
                </a:effectLst>
              </a:rPr>
              <a:t>政策</a:t>
            </a:r>
            <a:r>
              <a:rPr lang="en-US" altLang="zh-TW" sz="2400" b="1" dirty="0" smtClean="0">
                <a:effectLst>
                  <a:outerShdw blurRad="38100" dist="38100" dir="2700000" algn="tl">
                    <a:srgbClr val="000000">
                      <a:alpha val="43137"/>
                    </a:srgbClr>
                  </a:outerShdw>
                </a:effectLst>
              </a:rPr>
              <a:t>(policy)</a:t>
            </a:r>
          </a:p>
          <a:p>
            <a:pPr lvl="1"/>
            <a:r>
              <a:rPr lang="en-US" altLang="zh-TW" b="1" dirty="0" smtClean="0">
                <a:solidFill>
                  <a:prstClr val="black"/>
                </a:solidFill>
                <a:effectLst>
                  <a:outerShdw blurRad="38100" dist="38100" dir="2700000" algn="tl">
                    <a:srgbClr val="000000">
                      <a:alpha val="43137"/>
                    </a:srgbClr>
                  </a:outerShdw>
                </a:effectLst>
              </a:rPr>
              <a:t>A.</a:t>
            </a:r>
            <a:r>
              <a:rPr lang="zh-TW" altLang="en-US" b="1" dirty="0" smtClean="0">
                <a:solidFill>
                  <a:prstClr val="black"/>
                </a:solidFill>
                <a:effectLst>
                  <a:outerShdw blurRad="38100" dist="38100" dir="2700000" algn="tl">
                    <a:srgbClr val="000000">
                      <a:alpha val="43137"/>
                    </a:srgbClr>
                  </a:outerShdw>
                </a:effectLst>
              </a:rPr>
              <a:t>最高</a:t>
            </a:r>
            <a:r>
              <a:rPr lang="zh-TW" altLang="en-US" b="1" dirty="0">
                <a:solidFill>
                  <a:prstClr val="black"/>
                </a:solidFill>
                <a:effectLst>
                  <a:outerShdw blurRad="38100" dist="38100" dir="2700000" algn="tl">
                    <a:srgbClr val="000000">
                      <a:alpha val="43137"/>
                    </a:srgbClr>
                  </a:outerShdw>
                </a:effectLst>
              </a:rPr>
              <a:t>管理層應</a:t>
            </a:r>
            <a:r>
              <a:rPr lang="zh-TW" altLang="en-US" b="1" dirty="0" smtClean="0">
                <a:solidFill>
                  <a:prstClr val="black"/>
                </a:solidFill>
                <a:effectLst>
                  <a:outerShdw blurRad="38100" dist="38100" dir="2700000" algn="tl">
                    <a:srgbClr val="000000">
                      <a:alpha val="43137"/>
                    </a:srgbClr>
                  </a:outerShdw>
                </a:effectLst>
              </a:rPr>
              <a:t>建立</a:t>
            </a:r>
            <a:r>
              <a:rPr lang="en-US" altLang="zh-TW" b="1" dirty="0" smtClean="0">
                <a:solidFill>
                  <a:prstClr val="black"/>
                </a:solidFill>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solidFill>
                  <a:prstClr val="black"/>
                </a:solidFill>
                <a:effectLst>
                  <a:outerShdw blurRad="38100" dist="38100" dir="2700000" algn="tl">
                    <a:srgbClr val="000000">
                      <a:alpha val="43137"/>
                    </a:srgbClr>
                  </a:outerShdw>
                </a:effectLst>
              </a:rPr>
              <a:t>資訊安全政策</a:t>
            </a:r>
            <a:r>
              <a:rPr lang="en-US" altLang="zh-TW" b="1" dirty="0" smtClean="0">
                <a:solidFill>
                  <a:prstClr val="black"/>
                </a:solidFill>
                <a:effectLst>
                  <a:outerShdw blurRad="38100" dist="38100" dir="2700000" algn="tl">
                    <a:srgbClr val="000000">
                      <a:alpha val="43137"/>
                    </a:srgbClr>
                  </a:outerShdw>
                </a:effectLst>
              </a:rPr>
              <a:t>(information security policy)</a:t>
            </a:r>
            <a:r>
              <a:rPr lang="en-US" altLang="zh-TW" b="1" dirty="0" smtClean="0">
                <a:solidFill>
                  <a:prstClr val="black"/>
                </a:solidFill>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b="1" dirty="0" smtClean="0">
                <a:solidFill>
                  <a:prstClr val="black"/>
                </a:solidFill>
                <a:effectLst>
                  <a:outerShdw blurRad="38100" dist="38100" dir="2700000" algn="tl">
                    <a:srgbClr val="000000">
                      <a:alpha val="43137"/>
                    </a:srgbClr>
                  </a:outerShdw>
                </a:effectLst>
              </a:rPr>
              <a:t>：</a:t>
            </a:r>
            <a:endParaRPr lang="zh-TW" altLang="en-US" b="1" dirty="0">
              <a:solidFill>
                <a:prstClr val="black"/>
              </a:solidFill>
              <a:effectLst>
                <a:outerShdw blurRad="38100" dist="38100" dir="2700000" algn="tl">
                  <a:srgbClr val="000000">
                    <a:alpha val="43137"/>
                  </a:srgbClr>
                </a:outerShdw>
              </a:effectLst>
            </a:endParaRPr>
          </a:p>
          <a:p>
            <a:pPr lvl="2"/>
            <a:r>
              <a:rPr lang="en-US" altLang="zh-TW" b="1" dirty="0">
                <a:solidFill>
                  <a:prstClr val="black"/>
                </a:solidFill>
                <a:effectLst>
                  <a:outerShdw blurRad="38100" dist="38100" dir="2700000" algn="tl">
                    <a:srgbClr val="000000">
                      <a:alpha val="43137"/>
                    </a:srgbClr>
                  </a:outerShdw>
                </a:effectLst>
              </a:rPr>
              <a:t>a) </a:t>
            </a:r>
            <a:r>
              <a:rPr lang="zh-TW" altLang="en-US" b="1" dirty="0">
                <a:solidFill>
                  <a:prstClr val="black"/>
                </a:solidFill>
                <a:effectLst>
                  <a:outerShdw blurRad="38100" dist="38100" dir="2700000" algn="tl">
                    <a:srgbClr val="000000">
                      <a:alpha val="43137"/>
                    </a:srgbClr>
                  </a:outerShdw>
                </a:effectLst>
              </a:rPr>
              <a:t>適合於組織的宗旨；</a:t>
            </a:r>
          </a:p>
          <a:p>
            <a:pPr lvl="2"/>
            <a:r>
              <a:rPr lang="en-US" altLang="zh-TW" b="1" dirty="0">
                <a:solidFill>
                  <a:prstClr val="black"/>
                </a:solidFill>
                <a:effectLst>
                  <a:outerShdw blurRad="38100" dist="38100" dir="2700000" algn="tl">
                    <a:srgbClr val="000000">
                      <a:alpha val="43137"/>
                    </a:srgbClr>
                  </a:outerShdw>
                </a:effectLst>
              </a:rPr>
              <a:t>b) </a:t>
            </a:r>
            <a:r>
              <a:rPr lang="zh-TW" altLang="en-US" b="1" dirty="0">
                <a:solidFill>
                  <a:prstClr val="black"/>
                </a:solidFill>
                <a:effectLst>
                  <a:outerShdw blurRad="38100" dist="38100" dir="2700000" algn="tl">
                    <a:srgbClr val="000000">
                      <a:alpha val="43137"/>
                    </a:srgbClr>
                  </a:outerShdw>
                </a:effectLst>
              </a:rPr>
              <a:t>包括資訊安全</a:t>
            </a:r>
            <a:r>
              <a:rPr lang="zh-TW" altLang="en-US" b="1" dirty="0" smtClean="0">
                <a:solidFill>
                  <a:prstClr val="black"/>
                </a:solidFill>
                <a:effectLst>
                  <a:outerShdw blurRad="38100" dist="38100" dir="2700000" algn="tl">
                    <a:srgbClr val="000000">
                      <a:alpha val="43137"/>
                    </a:srgbClr>
                  </a:outerShdw>
                </a:effectLst>
              </a:rPr>
              <a:t>目標或</a:t>
            </a:r>
            <a:r>
              <a:rPr lang="zh-TW" altLang="en-US" b="1" dirty="0">
                <a:solidFill>
                  <a:prstClr val="black"/>
                </a:solidFill>
                <a:effectLst>
                  <a:outerShdw blurRad="38100" dist="38100" dir="2700000" algn="tl">
                    <a:srgbClr val="000000">
                      <a:alpha val="43137"/>
                    </a:srgbClr>
                  </a:outerShdw>
                </a:effectLst>
              </a:rPr>
              <a:t>提供設置資訊</a:t>
            </a:r>
            <a:r>
              <a:rPr lang="zh-TW" altLang="en-US" b="1" dirty="0" smtClean="0">
                <a:solidFill>
                  <a:prstClr val="black"/>
                </a:solidFill>
                <a:effectLst>
                  <a:outerShdw blurRad="38100" dist="38100" dir="2700000" algn="tl">
                    <a:srgbClr val="000000">
                      <a:alpha val="43137"/>
                    </a:srgbClr>
                  </a:outerShdw>
                </a:effectLst>
              </a:rPr>
              <a:t>的 框架</a:t>
            </a:r>
            <a:endParaRPr lang="en-US" altLang="zh-TW" b="1" dirty="0">
              <a:solidFill>
                <a:prstClr val="black"/>
              </a:solidFill>
              <a:effectLst>
                <a:outerShdw blurRad="38100" dist="38100" dir="2700000" algn="tl">
                  <a:srgbClr val="000000">
                    <a:alpha val="43137"/>
                  </a:srgbClr>
                </a:outerShdw>
              </a:effectLst>
            </a:endParaRPr>
          </a:p>
          <a:p>
            <a:pPr lvl="1"/>
            <a:r>
              <a:rPr lang="zh-TW" altLang="en-US" b="1" dirty="0" smtClean="0">
                <a:solidFill>
                  <a:prstClr val="black"/>
                </a:solidFill>
                <a:effectLst>
                  <a:outerShdw blurRad="38100" dist="38100" dir="2700000" algn="tl">
                    <a:srgbClr val="000000">
                      <a:alpha val="43137"/>
                    </a:srgbClr>
                  </a:outerShdw>
                </a:effectLst>
              </a:rPr>
              <a:t>              資訊安全目標</a:t>
            </a:r>
            <a:r>
              <a:rPr lang="en-US" altLang="zh-TW" b="1" dirty="0" smtClean="0">
                <a:solidFill>
                  <a:prstClr val="black"/>
                </a:solidFill>
                <a:effectLst>
                  <a:outerShdw blurRad="38100" dist="38100" dir="2700000" algn="tl">
                    <a:srgbClr val="000000">
                      <a:alpha val="43137"/>
                    </a:srgbClr>
                  </a:outerShdw>
                </a:effectLst>
              </a:rPr>
              <a:t>(information </a:t>
            </a:r>
            <a:r>
              <a:rPr lang="en-US" altLang="zh-TW" b="1" dirty="0">
                <a:solidFill>
                  <a:prstClr val="black"/>
                </a:solidFill>
                <a:effectLst>
                  <a:outerShdw blurRad="38100" dist="38100" dir="2700000" algn="tl">
                    <a:srgbClr val="000000">
                      <a:alpha val="43137"/>
                    </a:srgbClr>
                  </a:outerShdw>
                </a:effectLst>
              </a:rPr>
              <a:t>security </a:t>
            </a:r>
            <a:r>
              <a:rPr lang="en-US" altLang="zh-TW" b="1" dirty="0" smtClean="0">
                <a:solidFill>
                  <a:prstClr val="black"/>
                </a:solidFill>
                <a:effectLst>
                  <a:outerShdw blurRad="38100" dist="38100" dir="2700000" algn="tl">
                    <a:srgbClr val="000000">
                      <a:alpha val="43137"/>
                    </a:srgbClr>
                  </a:outerShdw>
                </a:effectLst>
              </a:rPr>
              <a:t>objective)</a:t>
            </a:r>
            <a:r>
              <a:rPr lang="zh-TW" altLang="en-US" b="1" dirty="0" smtClean="0">
                <a:solidFill>
                  <a:prstClr val="black"/>
                </a:solidFill>
                <a:effectLst>
                  <a:outerShdw blurRad="38100" dist="38100" dir="2700000" algn="tl">
                    <a:srgbClr val="000000">
                      <a:alpha val="43137"/>
                    </a:srgbClr>
                  </a:outerShdw>
                </a:effectLst>
              </a:rPr>
              <a:t>；</a:t>
            </a:r>
          </a:p>
          <a:p>
            <a:pPr lvl="1"/>
            <a:r>
              <a:rPr lang="en-US" altLang="zh-TW" b="1" dirty="0" smtClean="0">
                <a:solidFill>
                  <a:prstClr val="black"/>
                </a:solidFill>
                <a:effectLst>
                  <a:outerShdw blurRad="38100" dist="38100" dir="2700000" algn="tl">
                    <a:srgbClr val="000000">
                      <a:alpha val="43137"/>
                    </a:srgbClr>
                  </a:outerShdw>
                </a:effectLst>
              </a:rPr>
              <a:t>              (1)</a:t>
            </a:r>
            <a:r>
              <a:rPr lang="zh-TW" altLang="en-US" b="1" dirty="0" smtClean="0">
                <a:solidFill>
                  <a:prstClr val="black"/>
                </a:solidFill>
                <a:effectLst>
                  <a:outerShdw blurRad="38100" dist="38100" dir="2700000" algn="tl">
                    <a:srgbClr val="000000">
                      <a:alpha val="43137"/>
                    </a:srgbClr>
                  </a:outerShdw>
                </a:effectLst>
              </a:rPr>
              <a:t>包括</a:t>
            </a:r>
            <a:r>
              <a:rPr lang="zh-TW" altLang="en-US" b="1" dirty="0">
                <a:solidFill>
                  <a:prstClr val="black"/>
                </a:solidFill>
                <a:effectLst>
                  <a:outerShdw blurRad="38100" dist="38100" dir="2700000" algn="tl">
                    <a:srgbClr val="000000">
                      <a:alpha val="43137"/>
                    </a:srgbClr>
                  </a:outerShdw>
                </a:effectLst>
              </a:rPr>
              <a:t>滿足與資訊安全相關的適用要求的承諾；</a:t>
            </a:r>
          </a:p>
          <a:p>
            <a:pPr lvl="1"/>
            <a:r>
              <a:rPr lang="en-US" altLang="zh-TW" b="1" dirty="0" smtClean="0">
                <a:solidFill>
                  <a:prstClr val="black"/>
                </a:solidFill>
                <a:effectLst>
                  <a:outerShdw blurRad="38100" dist="38100" dir="2700000" algn="tl">
                    <a:srgbClr val="000000">
                      <a:alpha val="43137"/>
                    </a:srgbClr>
                  </a:outerShdw>
                </a:effectLst>
              </a:rPr>
              <a:t>              (2)</a:t>
            </a:r>
            <a:r>
              <a:rPr lang="zh-TW" altLang="en-US" b="1" dirty="0" smtClean="0">
                <a:solidFill>
                  <a:prstClr val="black"/>
                </a:solidFill>
                <a:effectLst>
                  <a:outerShdw blurRad="38100" dist="38100" dir="2700000" algn="tl">
                    <a:srgbClr val="000000">
                      <a:alpha val="43137"/>
                    </a:srgbClr>
                  </a:outerShdw>
                </a:effectLst>
              </a:rPr>
              <a:t>包括</a:t>
            </a:r>
            <a:r>
              <a:rPr lang="zh-TW" altLang="en-US" b="1" dirty="0">
                <a:solidFill>
                  <a:prstClr val="black"/>
                </a:solidFill>
                <a:effectLst>
                  <a:outerShdw blurRad="38100" dist="38100" dir="2700000" algn="tl">
                    <a:srgbClr val="000000">
                      <a:alpha val="43137"/>
                    </a:srgbClr>
                  </a:outerShdw>
                </a:effectLst>
              </a:rPr>
              <a:t>持續改進資訊安全管理體系的承諾</a:t>
            </a:r>
            <a:r>
              <a:rPr lang="zh-TW" altLang="en-US" b="1" dirty="0" smtClean="0">
                <a:solidFill>
                  <a:prstClr val="black"/>
                </a:solidFill>
                <a:effectLst>
                  <a:outerShdw blurRad="38100" dist="38100" dir="2700000" algn="tl">
                    <a:srgbClr val="000000">
                      <a:alpha val="43137"/>
                    </a:srgbClr>
                  </a:outerShdw>
                </a:effectLst>
              </a:rPr>
              <a:t>。</a:t>
            </a:r>
            <a:endParaRPr lang="en-US" altLang="zh-TW" b="1" dirty="0">
              <a:solidFill>
                <a:prstClr val="black"/>
              </a:solidFill>
              <a:effectLst>
                <a:outerShdw blurRad="38100" dist="38100" dir="2700000" algn="tl">
                  <a:srgbClr val="000000">
                    <a:alpha val="43137"/>
                  </a:srgbClr>
                </a:outerShdw>
              </a:effectLst>
            </a:endParaRPr>
          </a:p>
          <a:p>
            <a:pPr lvl="1"/>
            <a:r>
              <a:rPr lang="en-US" altLang="zh-TW" b="1" dirty="0" smtClean="0">
                <a:solidFill>
                  <a:prstClr val="black"/>
                </a:solidFill>
                <a:effectLst>
                  <a:outerShdw blurRad="38100" dist="38100" dir="2700000" algn="tl">
                    <a:srgbClr val="000000">
                      <a:alpha val="43137"/>
                    </a:srgbClr>
                  </a:outerShdw>
                </a:effectLst>
              </a:rPr>
              <a:t>B.</a:t>
            </a:r>
            <a:r>
              <a:rPr lang="zh-TW" altLang="en-US" b="1" dirty="0" smtClean="0">
                <a:solidFill>
                  <a:prstClr val="black"/>
                </a:solidFill>
                <a:effectLst>
                  <a:outerShdw blurRad="38100" dist="38100" dir="2700000" algn="tl">
                    <a:srgbClr val="000000">
                      <a:alpha val="43137"/>
                    </a:srgbClr>
                  </a:outerShdw>
                </a:effectLst>
              </a:rPr>
              <a:t>資訊安全</a:t>
            </a:r>
            <a:r>
              <a:rPr lang="zh-TW" altLang="en-US" b="1" dirty="0">
                <a:solidFill>
                  <a:prstClr val="black"/>
                </a:solidFill>
                <a:effectLst>
                  <a:outerShdw blurRad="38100" dist="38100" dir="2700000" algn="tl">
                    <a:srgbClr val="000000">
                      <a:alpha val="43137"/>
                    </a:srgbClr>
                  </a:outerShdw>
                </a:effectLst>
              </a:rPr>
              <a:t>政策應：</a:t>
            </a:r>
          </a:p>
          <a:p>
            <a:pPr lvl="1"/>
            <a:r>
              <a:rPr lang="en-US" altLang="zh-TW" b="1" dirty="0" smtClean="0">
                <a:solidFill>
                  <a:prstClr val="black"/>
                </a:solidFill>
                <a:effectLst>
                  <a:outerShdw blurRad="38100" dist="38100" dir="2700000" algn="tl">
                    <a:srgbClr val="000000">
                      <a:alpha val="43137"/>
                    </a:srgbClr>
                  </a:outerShdw>
                </a:effectLst>
              </a:rPr>
              <a:t>(1)</a:t>
            </a:r>
            <a:r>
              <a:rPr lang="zh-TW" altLang="en-US" b="1" dirty="0" smtClean="0">
                <a:solidFill>
                  <a:prstClr val="black"/>
                </a:solidFill>
                <a:effectLst>
                  <a:outerShdw blurRad="38100" dist="38100" dir="2700000" algn="tl">
                    <a:srgbClr val="000000">
                      <a:alpha val="43137"/>
                    </a:srgbClr>
                  </a:outerShdw>
                </a:effectLst>
              </a:rPr>
              <a:t>可作為</a:t>
            </a:r>
            <a:r>
              <a:rPr lang="zh-TW" altLang="en-US" b="1" dirty="0">
                <a:solidFill>
                  <a:prstClr val="black"/>
                </a:solidFill>
                <a:effectLst>
                  <a:outerShdw blurRad="38100" dist="38100" dir="2700000" algn="tl">
                    <a:srgbClr val="000000">
                      <a:alpha val="43137"/>
                    </a:srgbClr>
                  </a:outerShdw>
                </a:effectLst>
              </a:rPr>
              <a:t>文件</a:t>
            </a:r>
            <a:r>
              <a:rPr lang="zh-TW" altLang="en-US" b="1" dirty="0" smtClean="0">
                <a:solidFill>
                  <a:prstClr val="black"/>
                </a:solidFill>
                <a:effectLst>
                  <a:outerShdw blurRad="38100" dist="38100" dir="2700000" algn="tl">
                    <a:srgbClr val="000000">
                      <a:alpha val="43137"/>
                    </a:srgbClr>
                  </a:outerShdw>
                </a:effectLst>
              </a:rPr>
              <a:t>化資訊</a:t>
            </a:r>
            <a:r>
              <a:rPr lang="en-US" altLang="zh-TW" b="1" dirty="0" smtClean="0">
                <a:solidFill>
                  <a:prstClr val="black"/>
                </a:solidFill>
                <a:effectLst>
                  <a:outerShdw blurRad="38100" dist="38100" dir="2700000" algn="tl">
                    <a:srgbClr val="000000">
                      <a:alpha val="43137"/>
                    </a:srgbClr>
                  </a:outerShdw>
                </a:effectLst>
              </a:rPr>
              <a:t>(documented information)</a:t>
            </a:r>
            <a:r>
              <a:rPr lang="zh-TW" altLang="en-US" b="1" dirty="0" smtClean="0">
                <a:solidFill>
                  <a:prstClr val="black"/>
                </a:solidFill>
                <a:effectLst>
                  <a:outerShdw blurRad="38100" dist="38100" dir="2700000" algn="tl">
                    <a:srgbClr val="000000">
                      <a:alpha val="43137"/>
                    </a:srgbClr>
                  </a:outerShdw>
                </a:effectLst>
              </a:rPr>
              <a:t>使用</a:t>
            </a:r>
            <a:r>
              <a:rPr lang="zh-TW" altLang="en-US" b="1" dirty="0">
                <a:solidFill>
                  <a:prstClr val="black"/>
                </a:solidFill>
                <a:effectLst>
                  <a:outerShdw blurRad="38100" dist="38100" dir="2700000" algn="tl">
                    <a:srgbClr val="000000">
                      <a:alpha val="43137"/>
                    </a:srgbClr>
                  </a:outerShdw>
                </a:effectLst>
              </a:rPr>
              <a:t>；    </a:t>
            </a:r>
            <a:endParaRPr lang="en-US" altLang="zh-TW" b="1" dirty="0" smtClean="0">
              <a:solidFill>
                <a:prstClr val="black"/>
              </a:solidFill>
              <a:effectLst>
                <a:outerShdw blurRad="38100" dist="38100" dir="2700000" algn="tl">
                  <a:srgbClr val="000000">
                    <a:alpha val="43137"/>
                  </a:srgbClr>
                </a:outerShdw>
              </a:effectLst>
            </a:endParaRPr>
          </a:p>
          <a:p>
            <a:pPr lvl="1"/>
            <a:r>
              <a:rPr lang="en-US" altLang="zh-TW" b="1" dirty="0" smtClean="0">
                <a:solidFill>
                  <a:prstClr val="black"/>
                </a:solidFill>
                <a:effectLst>
                  <a:outerShdw blurRad="38100" dist="38100" dir="2700000" algn="tl">
                    <a:srgbClr val="000000">
                      <a:alpha val="43137"/>
                    </a:srgbClr>
                  </a:outerShdw>
                </a:effectLst>
              </a:rPr>
              <a:t>(2)</a:t>
            </a:r>
            <a:r>
              <a:rPr lang="zh-TW" altLang="en-US" b="1" dirty="0" smtClean="0">
                <a:solidFill>
                  <a:prstClr val="black"/>
                </a:solidFill>
                <a:effectLst>
                  <a:outerShdw blurRad="38100" dist="38100" dir="2700000" algn="tl">
                    <a:srgbClr val="000000">
                      <a:alpha val="43137"/>
                    </a:srgbClr>
                  </a:outerShdw>
                </a:effectLst>
              </a:rPr>
              <a:t>在</a:t>
            </a:r>
            <a:r>
              <a:rPr lang="zh-TW" altLang="en-US" b="1" dirty="0">
                <a:solidFill>
                  <a:prstClr val="black"/>
                </a:solidFill>
                <a:effectLst>
                  <a:outerShdw blurRad="38100" dist="38100" dir="2700000" algn="tl">
                    <a:srgbClr val="000000">
                      <a:alpha val="43137"/>
                    </a:srgbClr>
                  </a:outerShdw>
                </a:effectLst>
              </a:rPr>
              <a:t>組織內溝通</a:t>
            </a:r>
            <a:r>
              <a:rPr lang="zh-TW" altLang="en-US" b="1" dirty="0" smtClean="0">
                <a:solidFill>
                  <a:prstClr val="black"/>
                </a:solidFill>
                <a:effectLst>
                  <a:outerShdw blurRad="38100" dist="38100" dir="2700000" algn="tl">
                    <a:srgbClr val="000000">
                      <a:alpha val="43137"/>
                    </a:srgbClr>
                  </a:outerShdw>
                </a:effectLst>
              </a:rPr>
              <a:t>；  </a:t>
            </a:r>
            <a:endParaRPr lang="en-US" altLang="zh-TW" b="1" dirty="0" smtClean="0">
              <a:solidFill>
                <a:prstClr val="black"/>
              </a:solidFill>
              <a:effectLst>
                <a:outerShdw blurRad="38100" dist="38100" dir="2700000" algn="tl">
                  <a:srgbClr val="000000">
                    <a:alpha val="43137"/>
                  </a:srgbClr>
                </a:outerShdw>
              </a:effectLst>
            </a:endParaRPr>
          </a:p>
          <a:p>
            <a:pPr lvl="1"/>
            <a:r>
              <a:rPr lang="en-US" altLang="zh-TW" b="1" dirty="0" smtClean="0">
                <a:solidFill>
                  <a:prstClr val="black"/>
                </a:solidFill>
                <a:effectLst>
                  <a:outerShdw blurRad="38100" dist="38100" dir="2700000" algn="tl">
                    <a:srgbClr val="000000">
                      <a:alpha val="43137"/>
                    </a:srgbClr>
                  </a:outerShdw>
                </a:effectLst>
              </a:rPr>
              <a:t>(3)</a:t>
            </a:r>
            <a:r>
              <a:rPr lang="zh-TW" altLang="en-US" b="1" dirty="0" smtClean="0">
                <a:solidFill>
                  <a:prstClr val="black"/>
                </a:solidFill>
                <a:effectLst>
                  <a:outerShdw blurRad="38100" dist="38100" dir="2700000" algn="tl">
                    <a:srgbClr val="000000">
                      <a:alpha val="43137"/>
                    </a:srgbClr>
                  </a:outerShdw>
                </a:effectLst>
              </a:rPr>
              <a:t>適當</a:t>
            </a:r>
            <a:r>
              <a:rPr lang="zh-TW" altLang="en-US" b="1" dirty="0">
                <a:solidFill>
                  <a:prstClr val="black"/>
                </a:solidFill>
                <a:effectLst>
                  <a:outerShdw blurRad="38100" dist="38100" dir="2700000" algn="tl">
                    <a:srgbClr val="000000">
                      <a:alpha val="43137"/>
                    </a:srgbClr>
                  </a:outerShdw>
                </a:effectLst>
              </a:rPr>
              <a:t>時，可供相關</a:t>
            </a:r>
            <a:r>
              <a:rPr lang="zh-TW" altLang="en-US" b="1" dirty="0" smtClean="0">
                <a:solidFill>
                  <a:prstClr val="black"/>
                </a:solidFill>
                <a:effectLst>
                  <a:outerShdw blurRad="38100" dist="38100" dir="2700000" algn="tl">
                    <a:srgbClr val="000000">
                      <a:alpha val="43137"/>
                    </a:srgbClr>
                  </a:outerShdw>
                </a:effectLst>
              </a:rPr>
              <a:t>方</a:t>
            </a:r>
            <a:r>
              <a:rPr lang="en-US" altLang="zh-TW" b="1" dirty="0" smtClean="0">
                <a:solidFill>
                  <a:prstClr val="black"/>
                </a:solidFill>
                <a:effectLst>
                  <a:outerShdw blurRad="38100" dist="38100" dir="2700000" algn="tl">
                    <a:srgbClr val="000000">
                      <a:alpha val="43137"/>
                    </a:srgbClr>
                  </a:outerShdw>
                </a:effectLst>
              </a:rPr>
              <a:t>(interested parties)</a:t>
            </a:r>
            <a:r>
              <a:rPr lang="zh-TW" altLang="en-US" b="1" dirty="0" smtClean="0">
                <a:solidFill>
                  <a:prstClr val="black"/>
                </a:solidFill>
                <a:effectLst>
                  <a:outerShdw blurRad="38100" dist="38100" dir="2700000" algn="tl">
                    <a:srgbClr val="000000">
                      <a:alpha val="43137"/>
                    </a:srgbClr>
                  </a:outerShdw>
                </a:effectLst>
              </a:rPr>
              <a:t>使用。</a:t>
            </a:r>
            <a:endParaRPr lang="zh-TW" altLang="en-US" b="1" dirty="0">
              <a:solidFill>
                <a:prstClr val="black"/>
              </a:solidFill>
              <a:effectLst>
                <a:outerShdw blurRad="38100" dist="38100" dir="2700000" algn="tl">
                  <a:srgbClr val="000000">
                    <a:alpha val="43137"/>
                  </a:srgbClr>
                </a:outerShdw>
              </a:effectLst>
            </a:endParaRPr>
          </a:p>
        </p:txBody>
      </p:sp>
      <p:sp>
        <p:nvSpPr>
          <p:cNvPr id="8" name="矩形 7"/>
          <p:cNvSpPr/>
          <p:nvPr/>
        </p:nvSpPr>
        <p:spPr>
          <a:xfrm>
            <a:off x="371635" y="4421747"/>
            <a:ext cx="8639142" cy="2431435"/>
          </a:xfrm>
          <a:prstGeom prst="rect">
            <a:avLst/>
          </a:prstGeom>
        </p:spPr>
        <p:txBody>
          <a:bodyPr wrap="square">
            <a:spAutoFit/>
          </a:bodyPr>
          <a:lstStyle/>
          <a:p>
            <a:r>
              <a:rPr lang="en-US" altLang="zh-TW" sz="2000" b="1" dirty="0">
                <a:effectLst>
                  <a:outerShdw blurRad="38100" dist="38100" dir="2700000" algn="tl">
                    <a:srgbClr val="000000">
                      <a:alpha val="43137"/>
                    </a:srgbClr>
                  </a:outerShdw>
                </a:effectLst>
              </a:rPr>
              <a:t>5.3 </a:t>
            </a:r>
            <a:r>
              <a:rPr lang="zh-TW" altLang="en-US" sz="2000" b="1" dirty="0">
                <a:effectLst>
                  <a:outerShdw blurRad="38100" dist="38100" dir="2700000" algn="tl">
                    <a:srgbClr val="000000">
                      <a:alpha val="43137"/>
                    </a:srgbClr>
                  </a:outerShdw>
                </a:effectLst>
              </a:rPr>
              <a:t>組織</a:t>
            </a:r>
            <a:r>
              <a:rPr lang="zh-TW" altLang="en-US" sz="2000" b="1" dirty="0" smtClean="0">
                <a:effectLst>
                  <a:outerShdw blurRad="38100" dist="38100" dir="2700000" algn="tl">
                    <a:srgbClr val="000000">
                      <a:alpha val="43137"/>
                    </a:srgbClr>
                  </a:outerShdw>
                </a:effectLst>
              </a:rPr>
              <a:t>角色</a:t>
            </a:r>
            <a:r>
              <a:rPr lang="en-US" altLang="zh-TW" sz="2000" b="1" dirty="0" smtClean="0">
                <a:effectLst>
                  <a:outerShdw blurRad="38100" dist="38100" dir="2700000" algn="tl">
                    <a:srgbClr val="000000">
                      <a:alpha val="43137"/>
                    </a:srgbClr>
                  </a:outerShdw>
                </a:effectLst>
              </a:rPr>
              <a:t>(roles)</a:t>
            </a:r>
            <a:r>
              <a:rPr lang="zh-TW" altLang="en-US" sz="2000" b="1" dirty="0" smtClean="0">
                <a:effectLst>
                  <a:outerShdw blurRad="38100" dist="38100" dir="2700000" algn="tl">
                    <a:srgbClr val="000000">
                      <a:alpha val="43137"/>
                    </a:srgbClr>
                  </a:outerShdw>
                </a:effectLst>
              </a:rPr>
              <a:t>、職責</a:t>
            </a:r>
            <a:r>
              <a:rPr lang="en-US" altLang="zh-TW" sz="2000" b="1" dirty="0" smtClean="0">
                <a:effectLst>
                  <a:outerShdw blurRad="38100" dist="38100" dir="2700000" algn="tl">
                    <a:srgbClr val="000000">
                      <a:alpha val="43137"/>
                    </a:srgbClr>
                  </a:outerShdw>
                </a:effectLst>
              </a:rPr>
              <a:t>(responsibility)</a:t>
            </a:r>
            <a:r>
              <a:rPr lang="zh-TW" altLang="en-US" sz="2000" b="1" dirty="0" smtClean="0">
                <a:effectLst>
                  <a:outerShdw blurRad="38100" dist="38100" dir="2700000" algn="tl">
                    <a:srgbClr val="000000">
                      <a:alpha val="43137"/>
                    </a:srgbClr>
                  </a:outerShdw>
                </a:effectLst>
              </a:rPr>
              <a:t>和權限</a:t>
            </a:r>
            <a:r>
              <a:rPr lang="en-US" altLang="zh-TW" sz="2000" b="1" dirty="0" smtClean="0">
                <a:effectLst>
                  <a:outerShdw blurRad="38100" dist="38100" dir="2700000" algn="tl">
                    <a:srgbClr val="000000">
                      <a:alpha val="43137"/>
                    </a:srgbClr>
                  </a:outerShdw>
                </a:effectLst>
              </a:rPr>
              <a:t>(</a:t>
            </a:r>
            <a:r>
              <a:rPr lang="en-US" altLang="zh-TW" sz="2000" b="1" dirty="0" err="1" smtClean="0">
                <a:effectLst>
                  <a:outerShdw blurRad="38100" dist="38100" dir="2700000" algn="tl">
                    <a:srgbClr val="000000">
                      <a:alpha val="43137"/>
                    </a:srgbClr>
                  </a:outerShdw>
                </a:effectLst>
              </a:rPr>
              <a:t>authories</a:t>
            </a:r>
            <a:r>
              <a:rPr lang="en-US" altLang="zh-TW" sz="2000" b="1" dirty="0" smtClean="0">
                <a:effectLst>
                  <a:outerShdw blurRad="38100" dist="38100" dir="2700000" algn="tl">
                    <a:srgbClr val="000000">
                      <a:alpha val="43137"/>
                    </a:srgbClr>
                  </a:outerShdw>
                </a:effectLst>
              </a:rPr>
              <a:t>)</a:t>
            </a:r>
          </a:p>
          <a:p>
            <a:pPr lvl="1"/>
            <a:r>
              <a:rPr lang="zh-TW" altLang="en-US" sz="1600" b="1" dirty="0">
                <a:effectLst>
                  <a:outerShdw blurRad="38100" dist="38100" dir="2700000" algn="tl">
                    <a:srgbClr val="000000">
                      <a:alpha val="43137"/>
                    </a:srgbClr>
                  </a:outerShdw>
                </a:effectLst>
              </a:rPr>
              <a:t>最高管理</a:t>
            </a:r>
            <a:r>
              <a:rPr lang="zh-TW" altLang="en-US" sz="1600" b="1" dirty="0" smtClean="0">
                <a:effectLst>
                  <a:outerShdw blurRad="38100" dist="38100" dir="2700000" algn="tl">
                    <a:srgbClr val="000000">
                      <a:alpha val="43137"/>
                    </a:srgbClr>
                  </a:outerShdw>
                </a:effectLst>
              </a:rPr>
              <a:t>者</a:t>
            </a:r>
            <a:r>
              <a:rPr lang="en-US" altLang="zh-TW" sz="1600" b="1" dirty="0" smtClean="0">
                <a:effectLst>
                  <a:outerShdw blurRad="38100" dist="38100" dir="2700000" algn="tl">
                    <a:srgbClr val="000000">
                      <a:alpha val="43137"/>
                    </a:srgbClr>
                  </a:outerShdw>
                </a:effectLst>
              </a:rPr>
              <a:t>(Top </a:t>
            </a:r>
            <a:r>
              <a:rPr lang="en-US" altLang="zh-TW" sz="1600" b="1" dirty="0" err="1" smtClean="0">
                <a:effectLst>
                  <a:outerShdw blurRad="38100" dist="38100" dir="2700000" algn="tl">
                    <a:srgbClr val="000000">
                      <a:alpha val="43137"/>
                    </a:srgbClr>
                  </a:outerShdw>
                </a:effectLst>
              </a:rPr>
              <a:t>managemer</a:t>
            </a:r>
            <a:r>
              <a:rPr lang="en-US" altLang="zh-TW" sz="1600" b="1" dirty="0" smtClean="0">
                <a:effectLst>
                  <a:outerShdw blurRad="38100" dist="38100" dir="2700000" algn="tl">
                    <a:srgbClr val="000000">
                      <a:alpha val="43137"/>
                    </a:srgbClr>
                  </a:outerShdw>
                </a:effectLst>
              </a:rPr>
              <a:t>)</a:t>
            </a:r>
            <a:r>
              <a:rPr lang="zh-TW" altLang="en-US" sz="1600" b="1" dirty="0" smtClean="0">
                <a:effectLst>
                  <a:outerShdw blurRad="38100" dist="38100" dir="2700000" algn="tl">
                    <a:srgbClr val="000000">
                      <a:alpha val="43137"/>
                    </a:srgbClr>
                  </a:outerShdw>
                </a:effectLst>
              </a:rPr>
              <a:t>應</a:t>
            </a:r>
            <a:r>
              <a:rPr lang="zh-TW" altLang="en-US" sz="1600" b="1" dirty="0">
                <a:effectLst>
                  <a:outerShdw blurRad="38100" dist="38100" dir="2700000" algn="tl">
                    <a:srgbClr val="000000">
                      <a:alpha val="43137"/>
                    </a:srgbClr>
                  </a:outerShdw>
                </a:effectLst>
              </a:rPr>
              <a:t>確保</a:t>
            </a:r>
            <a:r>
              <a:rPr lang="zh-TW" altLang="en-US" sz="1600" b="1" dirty="0" smtClean="0">
                <a:effectLst>
                  <a:outerShdw blurRad="38100" dist="38100" dir="2700000" algn="tl">
                    <a:srgbClr val="000000">
                      <a:alpha val="43137"/>
                    </a:srgbClr>
                  </a:outerShdw>
                </a:effectLst>
              </a:rPr>
              <a:t>資訊</a:t>
            </a:r>
            <a:r>
              <a:rPr lang="zh-TW" altLang="en-US" sz="1600" b="1" dirty="0">
                <a:effectLst>
                  <a:outerShdw blurRad="38100" dist="38100" dir="2700000" algn="tl">
                    <a:srgbClr val="000000">
                      <a:alpha val="43137"/>
                    </a:srgbClr>
                  </a:outerShdw>
                </a:effectLst>
              </a:rPr>
              <a:t>安全</a:t>
            </a:r>
            <a:r>
              <a:rPr lang="zh-TW" altLang="en-US" sz="1600" b="1" dirty="0" smtClean="0">
                <a:effectLst>
                  <a:outerShdw blurRad="38100" dist="38100" dir="2700000" algn="tl">
                    <a:srgbClr val="000000">
                      <a:alpha val="43137"/>
                    </a:srgbClr>
                  </a:outerShdw>
                </a:effectLst>
              </a:rPr>
              <a:t>相關</a:t>
            </a:r>
            <a:r>
              <a:rPr lang="zh-TW" altLang="en-US" sz="1600" b="1" dirty="0">
                <a:effectLst>
                  <a:outerShdw blurRad="38100" dist="38100" dir="2700000" algn="tl">
                    <a:srgbClr val="000000">
                      <a:alpha val="43137"/>
                    </a:srgbClr>
                  </a:outerShdw>
                </a:effectLst>
              </a:rPr>
              <a:t>角色的職責和</a:t>
            </a:r>
            <a:r>
              <a:rPr lang="zh-TW" altLang="en-US" sz="1600" b="1" dirty="0" smtClean="0">
                <a:effectLst>
                  <a:outerShdw blurRad="38100" dist="38100" dir="2700000" algn="tl">
                    <a:srgbClr val="000000">
                      <a:alpha val="43137"/>
                    </a:srgbClr>
                  </a:outerShdw>
                </a:effectLst>
              </a:rPr>
              <a:t>權限在</a:t>
            </a:r>
            <a:r>
              <a:rPr lang="zh-TW" altLang="en-US" sz="1600" b="1" dirty="0">
                <a:effectLst>
                  <a:outerShdw blurRad="38100" dist="38100" dir="2700000" algn="tl">
                    <a:srgbClr val="000000">
                      <a:alpha val="43137"/>
                    </a:srgbClr>
                  </a:outerShdw>
                </a:effectLst>
              </a:rPr>
              <a:t>組織</a:t>
            </a:r>
            <a:r>
              <a:rPr lang="zh-TW" altLang="en-US" sz="1600" b="1" dirty="0" smtClean="0">
                <a:effectLst>
                  <a:outerShdw blurRad="38100" dist="38100" dir="2700000" algn="tl">
                    <a:srgbClr val="000000">
                      <a:alpha val="43137"/>
                    </a:srgbClr>
                  </a:outerShdw>
                </a:effectLst>
              </a:rPr>
              <a:t>內指派和</a:t>
            </a:r>
            <a:r>
              <a:rPr lang="zh-TW" altLang="en-US" sz="1600" b="1" dirty="0">
                <a:effectLst>
                  <a:outerShdw blurRad="38100" dist="38100" dir="2700000" algn="tl">
                    <a:srgbClr val="000000">
                      <a:alpha val="43137"/>
                    </a:srgbClr>
                  </a:outerShdw>
                </a:effectLst>
              </a:rPr>
              <a:t>溝通</a:t>
            </a:r>
            <a:r>
              <a:rPr lang="zh-TW" altLang="en-US" sz="1600" b="1" dirty="0" smtClean="0">
                <a:effectLst>
                  <a:outerShdw blurRad="38100" dist="38100" dir="2700000" algn="tl">
                    <a:srgbClr val="000000">
                      <a:alpha val="43137"/>
                    </a:srgbClr>
                  </a:outerShdw>
                </a:effectLst>
              </a:rPr>
              <a:t>。</a:t>
            </a:r>
            <a:endParaRPr lang="en-US" altLang="zh-TW" sz="1600" b="1" dirty="0" smtClean="0">
              <a:effectLst>
                <a:outerShdw blurRad="38100" dist="38100" dir="2700000" algn="tl">
                  <a:srgbClr val="000000">
                    <a:alpha val="43137"/>
                  </a:srgbClr>
                </a:outerShdw>
              </a:effectLst>
            </a:endParaRPr>
          </a:p>
          <a:p>
            <a:pPr lvl="1"/>
            <a:endParaRPr lang="en-US" altLang="zh-TW" sz="2000" b="1" dirty="0">
              <a:effectLst>
                <a:outerShdw blurRad="38100" dist="38100" dir="2700000" algn="tl">
                  <a:srgbClr val="000000">
                    <a:alpha val="43137"/>
                  </a:srgbClr>
                </a:outerShdw>
              </a:effectLst>
            </a:endParaRPr>
          </a:p>
          <a:p>
            <a:pPr lvl="1"/>
            <a:r>
              <a:rPr lang="zh-TW" altLang="en-US" b="1" dirty="0" smtClean="0">
                <a:effectLst>
                  <a:outerShdw blurRad="38100" dist="38100" dir="2700000" algn="tl">
                    <a:srgbClr val="000000">
                      <a:alpha val="43137"/>
                    </a:srgbClr>
                  </a:outerShdw>
                </a:effectLst>
              </a:rPr>
              <a:t>最高</a:t>
            </a:r>
            <a:r>
              <a:rPr lang="zh-TW" altLang="en-US" b="1" dirty="0">
                <a:effectLst>
                  <a:outerShdw blurRad="38100" dist="38100" dir="2700000" algn="tl">
                    <a:srgbClr val="000000">
                      <a:alpha val="43137"/>
                    </a:srgbClr>
                  </a:outerShdw>
                </a:effectLst>
              </a:rPr>
              <a:t>管理者應分配以下職責和權限：</a:t>
            </a:r>
          </a:p>
          <a:p>
            <a:pPr lvl="1"/>
            <a:r>
              <a:rPr lang="en-US" altLang="zh-TW" b="1" dirty="0" smtClean="0">
                <a:effectLst>
                  <a:outerShdw blurRad="38100" dist="38100" dir="2700000" algn="tl">
                    <a:srgbClr val="000000">
                      <a:alpha val="43137"/>
                    </a:srgbClr>
                  </a:outerShdw>
                </a:effectLst>
              </a:rPr>
              <a:t>(1)</a:t>
            </a:r>
            <a:r>
              <a:rPr lang="zh-TW" altLang="en-US" b="1" dirty="0" smtClean="0">
                <a:effectLst>
                  <a:outerShdw blurRad="38100" dist="38100" dir="2700000" algn="tl">
                    <a:srgbClr val="000000">
                      <a:alpha val="43137"/>
                    </a:srgbClr>
                  </a:outerShdw>
                </a:effectLst>
              </a:rPr>
              <a:t>確保</a:t>
            </a:r>
            <a:r>
              <a:rPr lang="zh-TW" altLang="en-US" b="1" dirty="0">
                <a:effectLst>
                  <a:outerShdw blurRad="38100" dist="38100" dir="2700000" algn="tl">
                    <a:srgbClr val="000000">
                      <a:alpha val="43137"/>
                    </a:srgbClr>
                  </a:outerShdw>
                </a:effectLst>
              </a:rPr>
              <a:t>資訊安全管理體系符合本標準的要求文檔</a:t>
            </a:r>
            <a:r>
              <a:rPr lang="en-US" altLang="zh-TW" b="1" dirty="0">
                <a:effectLst>
                  <a:outerShdw blurRad="38100" dist="38100" dir="2700000" algn="tl">
                    <a:srgbClr val="000000">
                      <a:alpha val="43137"/>
                    </a:srgbClr>
                  </a:outerShdw>
                </a:effectLst>
              </a:rPr>
              <a:t>;</a:t>
            </a:r>
          </a:p>
          <a:p>
            <a:pPr lvl="1"/>
            <a:r>
              <a:rPr lang="en-US" altLang="zh-TW" b="1" dirty="0" smtClean="0">
                <a:effectLst>
                  <a:outerShdw blurRad="38100" dist="38100" dir="2700000" algn="tl">
                    <a:srgbClr val="000000">
                      <a:alpha val="43137"/>
                    </a:srgbClr>
                  </a:outerShdw>
                </a:effectLst>
              </a:rPr>
              <a:t>(2)</a:t>
            </a:r>
            <a:r>
              <a:rPr lang="zh-TW" altLang="en-US" b="1" dirty="0" smtClean="0">
                <a:effectLst>
                  <a:outerShdw blurRad="38100" dist="38100" dir="2700000" algn="tl">
                    <a:srgbClr val="000000">
                      <a:alpha val="43137"/>
                    </a:srgbClr>
                  </a:outerShdw>
                </a:effectLst>
              </a:rPr>
              <a:t>向</a:t>
            </a:r>
            <a:r>
              <a:rPr lang="zh-TW" altLang="en-US" b="1" dirty="0">
                <a:effectLst>
                  <a:outerShdw blurRad="38100" dist="38100" dir="2700000" algn="tl">
                    <a:srgbClr val="000000">
                      <a:alpha val="43137"/>
                    </a:srgbClr>
                  </a:outerShdw>
                </a:effectLst>
              </a:rPr>
              <a:t>最高管理層報告資訊安全管理體系的績效</a:t>
            </a:r>
            <a:r>
              <a:rPr lang="zh-TW" altLang="en-US" b="1" dirty="0" smtClean="0">
                <a:effectLst>
                  <a:outerShdw blurRad="38100" dist="38100" dir="2700000" algn="tl">
                    <a:srgbClr val="000000">
                      <a:alpha val="43137"/>
                    </a:srgbClr>
                  </a:outerShdw>
                </a:effectLst>
              </a:rPr>
              <a:t>。</a:t>
            </a:r>
            <a:endParaRPr lang="en-US" altLang="zh-TW" b="1" dirty="0" smtClean="0">
              <a:effectLst>
                <a:outerShdw blurRad="38100" dist="38100" dir="2700000" algn="tl">
                  <a:srgbClr val="000000">
                    <a:alpha val="43137"/>
                  </a:srgbClr>
                </a:outerShdw>
              </a:effectLst>
            </a:endParaRPr>
          </a:p>
          <a:p>
            <a:endParaRPr lang="zh-TW" altLang="en-US" sz="2000" b="1" dirty="0">
              <a:effectLst>
                <a:outerShdw blurRad="38100" dist="38100" dir="2700000" algn="tl">
                  <a:srgbClr val="000000">
                    <a:alpha val="43137"/>
                  </a:srgbClr>
                </a:outerShdw>
              </a:effectLst>
            </a:endParaRPr>
          </a:p>
          <a:p>
            <a:r>
              <a:rPr lang="zh-TW" altLang="en-US" sz="1600" b="1" dirty="0">
                <a:effectLst>
                  <a:outerShdw blurRad="38100" dist="38100" dir="2700000" algn="tl">
                    <a:srgbClr val="000000">
                      <a:alpha val="43137"/>
                    </a:srgbClr>
                  </a:outerShdw>
                </a:effectLst>
              </a:rPr>
              <a:t>注：最高管理者還可以分配職責和權限以報告組織的績效組織內的資訊安全管理體系</a:t>
            </a:r>
            <a:r>
              <a:rPr lang="zh-TW" altLang="en-US" sz="1600" b="1" dirty="0" smtClean="0">
                <a:effectLst>
                  <a:outerShdw blurRad="38100" dist="38100" dir="2700000" algn="tl">
                    <a:srgbClr val="000000">
                      <a:alpha val="43137"/>
                    </a:srgbClr>
                  </a:outerShdw>
                </a:effectLst>
              </a:rPr>
              <a:t>。</a:t>
            </a:r>
            <a:endParaRPr lang="zh-TW" altLang="en-US" sz="1600" b="1" dirty="0">
              <a:effectLst>
                <a:outerShdw blurRad="38100" dist="38100" dir="2700000" algn="tl">
                  <a:srgbClr val="000000">
                    <a:alpha val="43137"/>
                  </a:srgbClr>
                </a:outerShdw>
              </a:effectLst>
            </a:endParaRPr>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14</a:t>
            </a:fld>
            <a:endParaRPr lang="zh-TW" altLang="en-US" dirty="0"/>
          </a:p>
        </p:txBody>
      </p:sp>
    </p:spTree>
    <p:extLst>
      <p:ext uri="{BB962C8B-B14F-4D97-AF65-F5344CB8AC3E}">
        <p14:creationId xmlns:p14="http://schemas.microsoft.com/office/powerpoint/2010/main" val="1151174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1486793878"/>
              </p:ext>
            </p:extLst>
          </p:nvPr>
        </p:nvGraphicFramePr>
        <p:xfrm>
          <a:off x="57101" y="10789"/>
          <a:ext cx="8828800" cy="1851757"/>
        </p:xfrm>
        <a:graphic>
          <a:graphicData uri="http://schemas.openxmlformats.org/drawingml/2006/table">
            <a:tbl>
              <a:tblPr firstRow="1" bandRow="1">
                <a:tableStyleId>{5C22544A-7EE6-4342-B048-85BDC9FD1C3A}</a:tableStyleId>
              </a:tblPr>
              <a:tblGrid>
                <a:gridCol w="2978827">
                  <a:extLst>
                    <a:ext uri="{9D8B030D-6E8A-4147-A177-3AD203B41FA5}">
                      <a16:colId xmlns:a16="http://schemas.microsoft.com/office/drawing/2014/main" val="1101028330"/>
                    </a:ext>
                  </a:extLst>
                </a:gridCol>
                <a:gridCol w="5849973">
                  <a:extLst>
                    <a:ext uri="{9D8B030D-6E8A-4147-A177-3AD203B41FA5}">
                      <a16:colId xmlns:a16="http://schemas.microsoft.com/office/drawing/2014/main" val="2435479410"/>
                    </a:ext>
                  </a:extLst>
                </a:gridCol>
              </a:tblGrid>
              <a:tr h="3429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6.Planning</a:t>
                      </a:r>
                      <a:r>
                        <a:rPr lang="zh-TW" altLang="en-US" sz="1800" dirty="0"/>
                        <a:t>規劃</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163348"/>
                  </a:ext>
                </a:extLst>
              </a:tr>
              <a:tr h="685800">
                <a:tc>
                  <a:txBody>
                    <a:bodyPr/>
                    <a:lstStyle/>
                    <a:p>
                      <a:r>
                        <a:rPr lang="en-US" altLang="zh-TW" sz="1400" b="1" dirty="0">
                          <a:solidFill>
                            <a:schemeClr val="tx1"/>
                          </a:solidFill>
                          <a:effectLst>
                            <a:outerShdw blurRad="38100" dist="38100" dir="2700000" algn="tl">
                              <a:srgbClr val="000000">
                                <a:alpha val="43137"/>
                              </a:srgbClr>
                            </a:outerShdw>
                          </a:effectLst>
                        </a:rPr>
                        <a:t>6.1 </a:t>
                      </a:r>
                      <a:r>
                        <a:rPr lang="zh-TW" altLang="en-US" sz="1400" b="1" dirty="0">
                          <a:solidFill>
                            <a:schemeClr val="tx1"/>
                          </a:solidFill>
                          <a:effectLst>
                            <a:outerShdw blurRad="38100" dist="38100" dir="2700000" algn="tl">
                              <a:srgbClr val="000000">
                                <a:alpha val="43137"/>
                              </a:srgbClr>
                            </a:outerShdw>
                          </a:effectLst>
                        </a:rPr>
                        <a:t>應對</a:t>
                      </a:r>
                      <a:r>
                        <a:rPr lang="zh-TW" altLang="en-US" sz="1400" b="1" dirty="0" smtClean="0">
                          <a:solidFill>
                            <a:schemeClr val="tx1"/>
                          </a:solidFill>
                          <a:effectLst>
                            <a:outerShdw blurRad="38100" dist="38100" dir="2700000" algn="tl">
                              <a:srgbClr val="000000">
                                <a:alpha val="43137"/>
                              </a:srgbClr>
                            </a:outerShdw>
                          </a:effectLst>
                        </a:rPr>
                        <a:t>風險</a:t>
                      </a:r>
                      <a:r>
                        <a:rPr lang="en-US" altLang="zh-TW" sz="1400" b="1" dirty="0" smtClean="0">
                          <a:solidFill>
                            <a:schemeClr val="tx1"/>
                          </a:solidFill>
                          <a:effectLst>
                            <a:outerShdw blurRad="38100" dist="38100" dir="2700000" algn="tl">
                              <a:srgbClr val="000000">
                                <a:alpha val="43137"/>
                              </a:srgbClr>
                            </a:outerShdw>
                          </a:effectLst>
                        </a:rPr>
                        <a:t>(risk)</a:t>
                      </a:r>
                      <a:r>
                        <a:rPr lang="zh-TW" altLang="en-US" sz="1400" b="1" dirty="0" smtClean="0">
                          <a:solidFill>
                            <a:schemeClr val="tx1"/>
                          </a:solidFill>
                          <a:effectLst>
                            <a:outerShdw blurRad="38100" dist="38100" dir="2700000" algn="tl">
                              <a:srgbClr val="000000">
                                <a:alpha val="43137"/>
                              </a:srgbClr>
                            </a:outerShdw>
                          </a:effectLst>
                        </a:rPr>
                        <a:t>和機遇</a:t>
                      </a:r>
                      <a:r>
                        <a:rPr lang="en-US" altLang="zh-TW" sz="1400" b="1" dirty="0" smtClean="0">
                          <a:solidFill>
                            <a:schemeClr val="tx1"/>
                          </a:solidFill>
                          <a:effectLst>
                            <a:outerShdw blurRad="38100" dist="38100" dir="2700000" algn="tl">
                              <a:srgbClr val="000000">
                                <a:alpha val="43137"/>
                              </a:srgbClr>
                            </a:outerShdw>
                          </a:effectLst>
                        </a:rPr>
                        <a:t>(opportunities)</a:t>
                      </a:r>
                      <a:r>
                        <a:rPr lang="zh-TW" altLang="en-US" sz="1400" b="1" dirty="0" smtClean="0">
                          <a:solidFill>
                            <a:schemeClr val="tx1"/>
                          </a:solidFill>
                          <a:effectLst>
                            <a:outerShdw blurRad="38100" dist="38100" dir="2700000" algn="tl">
                              <a:srgbClr val="000000">
                                <a:alpha val="43137"/>
                              </a:srgbClr>
                            </a:outerShdw>
                          </a:effectLst>
                        </a:rPr>
                        <a:t>的 行動</a:t>
                      </a:r>
                      <a:r>
                        <a:rPr lang="en-US" altLang="zh-TW" sz="1400" b="1" dirty="0" smtClean="0">
                          <a:solidFill>
                            <a:schemeClr val="tx1"/>
                          </a:solidFill>
                          <a:effectLst>
                            <a:outerShdw blurRad="38100" dist="38100" dir="2700000" algn="tl">
                              <a:srgbClr val="000000">
                                <a:alpha val="43137"/>
                              </a:srgbClr>
                            </a:outerShdw>
                          </a:effectLst>
                        </a:rPr>
                        <a:t>(action)</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a:solidFill>
                            <a:schemeClr val="tx1"/>
                          </a:solidFill>
                          <a:effectLst>
                            <a:outerShdw blurRad="38100" dist="38100" dir="2700000" algn="tl">
                              <a:srgbClr val="000000">
                                <a:alpha val="43137"/>
                              </a:srgbClr>
                            </a:outerShdw>
                          </a:effectLst>
                        </a:rPr>
                        <a:t>6.1.1 </a:t>
                      </a:r>
                      <a:r>
                        <a:rPr lang="zh-TW" altLang="en-US" sz="1400" b="1" dirty="0" smtClean="0">
                          <a:solidFill>
                            <a:schemeClr val="tx1"/>
                          </a:solidFill>
                          <a:effectLst>
                            <a:outerShdw blurRad="38100" dist="38100" dir="2700000" algn="tl">
                              <a:srgbClr val="000000">
                                <a:alpha val="43137"/>
                              </a:srgbClr>
                            </a:outerShdw>
                          </a:effectLst>
                        </a:rPr>
                        <a:t>總則</a:t>
                      </a:r>
                      <a:r>
                        <a:rPr lang="en-US" altLang="zh-TW" sz="1400" b="1" dirty="0" smtClean="0">
                          <a:solidFill>
                            <a:schemeClr val="tx1"/>
                          </a:solidFill>
                          <a:effectLst>
                            <a:outerShdw blurRad="38100" dist="38100" dir="2700000" algn="tl">
                              <a:srgbClr val="000000">
                                <a:alpha val="43137"/>
                              </a:srgbClr>
                            </a:outerShdw>
                          </a:effectLst>
                        </a:rPr>
                        <a:t>(General)</a:t>
                      </a:r>
                      <a:endParaRPr lang="en-US" altLang="zh-TW" sz="1400" b="1" dirty="0">
                        <a:solidFill>
                          <a:schemeClr val="tx1"/>
                        </a:solidFill>
                        <a:effectLst>
                          <a:outerShdw blurRad="38100" dist="38100" dir="2700000" algn="tl">
                            <a:srgbClr val="000000">
                              <a:alpha val="43137"/>
                            </a:srgbClr>
                          </a:outerShdw>
                        </a:effectLst>
                      </a:endParaRPr>
                    </a:p>
                    <a:p>
                      <a:r>
                        <a:rPr lang="en-US" altLang="zh-TW" sz="1400" b="1" dirty="0">
                          <a:solidFill>
                            <a:schemeClr val="tx1"/>
                          </a:solidFill>
                          <a:effectLst>
                            <a:outerShdw blurRad="38100" dist="38100" dir="2700000" algn="tl">
                              <a:srgbClr val="000000">
                                <a:alpha val="43137"/>
                              </a:srgbClr>
                            </a:outerShdw>
                          </a:effectLst>
                        </a:rPr>
                        <a:t>6.1.2 </a:t>
                      </a:r>
                      <a:r>
                        <a:rPr lang="zh-TW" altLang="en-US" sz="1400" b="1" dirty="0">
                          <a:solidFill>
                            <a:schemeClr val="tx1"/>
                          </a:solidFill>
                          <a:effectLst>
                            <a:outerShdw blurRad="38100" dist="38100" dir="2700000" algn="tl">
                              <a:srgbClr val="000000">
                                <a:alpha val="43137"/>
                              </a:srgbClr>
                            </a:outerShdw>
                          </a:effectLst>
                        </a:rPr>
                        <a:t>資訊安全風險評估</a:t>
                      </a:r>
                      <a:r>
                        <a:rPr lang="en-US" altLang="zh-TW" sz="1400" b="1" dirty="0">
                          <a:solidFill>
                            <a:schemeClr val="tx1"/>
                          </a:solidFill>
                          <a:effectLst>
                            <a:outerShdw blurRad="38100" dist="38100" dir="2700000" algn="tl">
                              <a:srgbClr val="000000">
                                <a:alpha val="43137"/>
                              </a:srgbClr>
                            </a:outerShdw>
                          </a:effectLst>
                        </a:rPr>
                        <a:t>Information security risk assessment</a:t>
                      </a:r>
                    </a:p>
                    <a:p>
                      <a:r>
                        <a:rPr lang="en-US" altLang="zh-TW" sz="1400" b="1" dirty="0">
                          <a:solidFill>
                            <a:schemeClr val="tx1"/>
                          </a:solidFill>
                          <a:effectLst>
                            <a:outerShdw blurRad="38100" dist="38100" dir="2700000" algn="tl">
                              <a:srgbClr val="000000">
                                <a:alpha val="43137"/>
                              </a:srgbClr>
                            </a:outerShdw>
                          </a:effectLst>
                        </a:rPr>
                        <a:t>6.1.3 </a:t>
                      </a:r>
                      <a:r>
                        <a:rPr lang="zh-TW" altLang="en-US" sz="1400" b="1" dirty="0">
                          <a:solidFill>
                            <a:schemeClr val="tx1"/>
                          </a:solidFill>
                          <a:effectLst>
                            <a:outerShdw blurRad="38100" dist="38100" dir="2700000" algn="tl">
                              <a:srgbClr val="000000">
                                <a:alpha val="43137"/>
                              </a:srgbClr>
                            </a:outerShdw>
                          </a:effectLst>
                        </a:rPr>
                        <a:t>資訊安全風險處理</a:t>
                      </a:r>
                      <a:r>
                        <a:rPr lang="en-US" altLang="zh-TW" sz="1400" b="1" dirty="0">
                          <a:solidFill>
                            <a:schemeClr val="tx1"/>
                          </a:solidFill>
                          <a:effectLst>
                            <a:outerShdw blurRad="38100" dist="38100" dir="2700000" algn="tl">
                              <a:srgbClr val="000000">
                                <a:alpha val="43137"/>
                              </a:srgbClr>
                            </a:outerShdw>
                          </a:effectLst>
                        </a:rPr>
                        <a:t>Information security risk treatment</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126433"/>
                  </a:ext>
                </a:extLst>
              </a:tr>
              <a:tr h="396337">
                <a:tc gridSpan="2">
                  <a:txBody>
                    <a:bodyPr/>
                    <a:lstStyle/>
                    <a:p>
                      <a:r>
                        <a:rPr lang="en-US" altLang="zh-TW" sz="1800" b="1" dirty="0">
                          <a:solidFill>
                            <a:schemeClr val="tx1"/>
                          </a:solidFill>
                          <a:effectLst>
                            <a:outerShdw blurRad="38100" dist="38100" dir="2700000" algn="tl">
                              <a:srgbClr val="000000">
                                <a:alpha val="43137"/>
                              </a:srgbClr>
                            </a:outerShdw>
                          </a:effectLst>
                        </a:rPr>
                        <a:t>6.2 </a:t>
                      </a:r>
                      <a:r>
                        <a:rPr lang="zh-TW" altLang="en-US" sz="1800" b="1" dirty="0">
                          <a:solidFill>
                            <a:schemeClr val="tx1"/>
                          </a:solidFill>
                          <a:effectLst>
                            <a:outerShdw blurRad="38100" dist="38100" dir="2700000" algn="tl">
                              <a:srgbClr val="000000">
                                <a:alpha val="43137"/>
                              </a:srgbClr>
                            </a:outerShdw>
                          </a:effectLst>
                        </a:rPr>
                        <a:t>資訊安全目標和實現</a:t>
                      </a:r>
                      <a:r>
                        <a:rPr lang="zh-TW" altLang="en-US" sz="1800" b="1" dirty="0" smtClean="0">
                          <a:solidFill>
                            <a:schemeClr val="tx1"/>
                          </a:solidFill>
                          <a:effectLst>
                            <a:outerShdw blurRad="38100" dist="38100" dir="2700000" algn="tl">
                              <a:srgbClr val="000000">
                                <a:alpha val="43137"/>
                              </a:srgbClr>
                            </a:outerShdw>
                          </a:effectLst>
                        </a:rPr>
                        <a:t>計劃  </a:t>
                      </a:r>
                      <a:r>
                        <a:rPr lang="en-US" altLang="zh-TW" sz="1600" b="1" dirty="0" smtClean="0">
                          <a:solidFill>
                            <a:schemeClr val="tx1"/>
                          </a:solidFill>
                          <a:effectLst>
                            <a:outerShdw blurRad="38100" dist="38100" dir="2700000" algn="tl">
                              <a:srgbClr val="000000">
                                <a:alpha val="43137"/>
                              </a:srgbClr>
                            </a:outerShdw>
                          </a:effectLst>
                        </a:rPr>
                        <a:t>Information </a:t>
                      </a:r>
                      <a:r>
                        <a:rPr lang="en-US" altLang="zh-TW" sz="1600" b="1" dirty="0">
                          <a:solidFill>
                            <a:schemeClr val="tx1"/>
                          </a:solidFill>
                          <a:effectLst>
                            <a:outerShdw blurRad="38100" dist="38100" dir="2700000" algn="tl">
                              <a:srgbClr val="000000">
                                <a:alpha val="43137"/>
                              </a:srgbClr>
                            </a:outerShdw>
                          </a:effectLst>
                        </a:rPr>
                        <a:t>security objectives and planning to achieve them</a:t>
                      </a:r>
                      <a:endParaRPr lang="zh-TW" altLang="en-US" sz="16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250380"/>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tx1"/>
                          </a:solidFill>
                          <a:effectLst>
                            <a:outerShdw blurRad="38100" dist="38100" dir="2700000" algn="tl">
                              <a:srgbClr val="000000">
                                <a:alpha val="43137"/>
                              </a:srgbClr>
                            </a:outerShdw>
                          </a:effectLst>
                        </a:rPr>
                        <a:t>6.3 </a:t>
                      </a:r>
                      <a:r>
                        <a:rPr lang="zh-TW" altLang="en-US" sz="1400" b="1" dirty="0">
                          <a:solidFill>
                            <a:schemeClr val="tx1"/>
                          </a:solidFill>
                          <a:effectLst>
                            <a:outerShdw blurRad="38100" dist="38100" dir="2700000" algn="tl">
                              <a:srgbClr val="000000">
                                <a:alpha val="43137"/>
                              </a:srgbClr>
                            </a:outerShdw>
                          </a:effectLst>
                        </a:rPr>
                        <a:t>變更規劃</a:t>
                      </a:r>
                      <a:r>
                        <a:rPr lang="en-US" altLang="zh-TW" sz="1400" b="1" baseline="0" dirty="0">
                          <a:solidFill>
                            <a:schemeClr val="tx1"/>
                          </a:solidFill>
                          <a:effectLst>
                            <a:outerShdw blurRad="38100" dist="38100" dir="2700000" algn="tl">
                              <a:srgbClr val="000000">
                                <a:alpha val="43137"/>
                              </a:srgbClr>
                            </a:outerShdw>
                          </a:effectLst>
                        </a:rPr>
                        <a:t>  </a:t>
                      </a:r>
                      <a:r>
                        <a:rPr lang="en-US" altLang="zh-TW" sz="1400" b="1" dirty="0">
                          <a:solidFill>
                            <a:schemeClr val="tx1"/>
                          </a:solidFill>
                          <a:effectLst>
                            <a:outerShdw blurRad="38100" dist="38100" dir="2700000" algn="tl">
                              <a:srgbClr val="000000">
                                <a:alpha val="43137"/>
                              </a:srgbClr>
                            </a:outerShdw>
                          </a:effectLst>
                        </a:rPr>
                        <a:t>Planning of </a:t>
                      </a:r>
                      <a:r>
                        <a:rPr lang="en-US" altLang="zh-TW" sz="1400" b="1" u="sng" dirty="0">
                          <a:solidFill>
                            <a:schemeClr val="tx1"/>
                          </a:solidFill>
                          <a:effectLst>
                            <a:outerShdw blurRad="38100" dist="38100" dir="2700000" algn="tl">
                              <a:srgbClr val="000000">
                                <a:alpha val="43137"/>
                              </a:srgbClr>
                            </a:outerShdw>
                          </a:effectLst>
                        </a:rPr>
                        <a:t>changes</a:t>
                      </a:r>
                      <a:endParaRPr lang="zh-TW" altLang="en-US" sz="1400" b="1" u="sng"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solidFill>
                            <a:schemeClr val="tx1"/>
                          </a:solidFill>
                          <a:effectLst>
                            <a:outerShdw blurRad="38100" dist="38100" dir="2700000" algn="tl">
                              <a:srgbClr val="000000">
                                <a:alpha val="43137"/>
                              </a:srgbClr>
                            </a:outerShdw>
                          </a:effectLst>
                        </a:rPr>
                        <a:t>當組織確定需要對資訊安全管理系統進行變更時，變更應有計劃地進行</a:t>
                      </a:r>
                      <a:r>
                        <a:rPr lang="zh-TW" altLang="en-US" sz="1400" b="1" dirty="0" smtClean="0">
                          <a:solidFill>
                            <a:schemeClr val="tx1"/>
                          </a:solidFill>
                          <a:effectLst>
                            <a:outerShdw blurRad="38100" dist="38100" dir="2700000" algn="tl">
                              <a:srgbClr val="000000">
                                <a:alpha val="43137"/>
                              </a:srgbClr>
                            </a:outerShdw>
                          </a:effectLst>
                        </a:rPr>
                        <a:t>。</a:t>
                      </a:r>
                      <a:endParaRPr lang="en-US" altLang="zh-TW" sz="1400" b="1" dirty="0" smtClean="0">
                        <a:solidFill>
                          <a:schemeClr val="tx1"/>
                        </a:solidFill>
                        <a:effectLst>
                          <a:outerShdw blurRad="38100" dist="38100" dir="2700000" algn="tl">
                            <a:srgbClr val="000000">
                              <a:alpha val="43137"/>
                            </a:srgbClr>
                          </a:outerShdw>
                        </a:effectLst>
                      </a:endParaRPr>
                    </a:p>
                    <a:p>
                      <a:endParaRPr lang="zh-TW" altLang="en-US" sz="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5544419"/>
                  </a:ext>
                </a:extLst>
              </a:tr>
            </a:tbl>
          </a:graphicData>
        </a:graphic>
      </p:graphicFrame>
      <p:sp>
        <p:nvSpPr>
          <p:cNvPr id="4" name="標題 1"/>
          <p:cNvSpPr txBox="1">
            <a:spLocks/>
          </p:cNvSpPr>
          <p:nvPr/>
        </p:nvSpPr>
        <p:spPr>
          <a:xfrm>
            <a:off x="57101" y="2801557"/>
            <a:ext cx="7886700" cy="627936"/>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3300" dirty="0"/>
          </a:p>
        </p:txBody>
      </p:sp>
      <p:graphicFrame>
        <p:nvGraphicFramePr>
          <p:cNvPr id="5" name="表格 4"/>
          <p:cNvGraphicFramePr>
            <a:graphicFrameLocks noGrp="1"/>
          </p:cNvGraphicFramePr>
          <p:nvPr>
            <p:extLst>
              <p:ext uri="{D42A27DB-BD31-4B8C-83A1-F6EECF244321}">
                <p14:modId xmlns:p14="http://schemas.microsoft.com/office/powerpoint/2010/main" val="3338097501"/>
              </p:ext>
            </p:extLst>
          </p:nvPr>
        </p:nvGraphicFramePr>
        <p:xfrm>
          <a:off x="57101" y="1939380"/>
          <a:ext cx="8861805" cy="2666827"/>
        </p:xfrm>
        <a:graphic>
          <a:graphicData uri="http://schemas.openxmlformats.org/drawingml/2006/table">
            <a:tbl>
              <a:tblPr firstRow="1" bandRow="1">
                <a:tableStyleId>{5C22544A-7EE6-4342-B048-85BDC9FD1C3A}</a:tableStyleId>
              </a:tblPr>
              <a:tblGrid>
                <a:gridCol w="1776720">
                  <a:extLst>
                    <a:ext uri="{9D8B030D-6E8A-4147-A177-3AD203B41FA5}">
                      <a16:colId xmlns:a16="http://schemas.microsoft.com/office/drawing/2014/main" val="3862126778"/>
                    </a:ext>
                  </a:extLst>
                </a:gridCol>
                <a:gridCol w="7085085">
                  <a:extLst>
                    <a:ext uri="{9D8B030D-6E8A-4147-A177-3AD203B41FA5}">
                      <a16:colId xmlns:a16="http://schemas.microsoft.com/office/drawing/2014/main" val="4079278650"/>
                    </a:ext>
                  </a:extLst>
                </a:gridCol>
              </a:tblGrid>
              <a:tr h="3429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7. Support</a:t>
                      </a:r>
                      <a:r>
                        <a:rPr lang="zh-TW" altLang="en-US" sz="1800" dirty="0"/>
                        <a:t>支持</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710884885"/>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effectLst>
                            <a:outerShdw blurRad="38100" dist="38100" dir="2700000" algn="tl">
                              <a:srgbClr val="000000">
                                <a:alpha val="43137"/>
                              </a:srgbClr>
                            </a:outerShdw>
                          </a:effectLst>
                        </a:rPr>
                        <a:t>7.1 </a:t>
                      </a:r>
                      <a:r>
                        <a:rPr lang="zh-TW" altLang="en-US" sz="1400" b="1" dirty="0">
                          <a:effectLst>
                            <a:outerShdw blurRad="38100" dist="38100" dir="2700000" algn="tl">
                              <a:srgbClr val="000000">
                                <a:alpha val="43137"/>
                              </a:srgbClr>
                            </a:outerShdw>
                          </a:effectLst>
                        </a:rPr>
                        <a:t>資源</a:t>
                      </a:r>
                      <a:r>
                        <a:rPr lang="zh-TW" altLang="en-US" sz="1400" b="1" baseline="0"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Resources</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組織應確定並提供建立所需的資源，資訊安全管理的實施、維護和持續改進系統。</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3402992"/>
                  </a:ext>
                </a:extLst>
              </a:tr>
              <a:tr h="278130">
                <a:tc>
                  <a:txBody>
                    <a:bodyPr/>
                    <a:lstStyle/>
                    <a:p>
                      <a:r>
                        <a:rPr lang="en-US" altLang="zh-TW" sz="1400" b="1" dirty="0">
                          <a:effectLst>
                            <a:outerShdw blurRad="38100" dist="38100" dir="2700000" algn="tl">
                              <a:srgbClr val="000000">
                                <a:alpha val="43137"/>
                              </a:srgbClr>
                            </a:outerShdw>
                          </a:effectLst>
                        </a:rPr>
                        <a:t>7.2 </a:t>
                      </a:r>
                      <a:r>
                        <a:rPr lang="zh-TW" altLang="en-US" sz="1400" b="1" dirty="0">
                          <a:effectLst>
                            <a:outerShdw blurRad="38100" dist="38100" dir="2700000" algn="tl">
                              <a:srgbClr val="000000">
                                <a:alpha val="43137"/>
                              </a:srgbClr>
                            </a:outerShdw>
                          </a:effectLst>
                        </a:rPr>
                        <a:t>能力</a:t>
                      </a:r>
                      <a:r>
                        <a:rPr lang="en-US" altLang="zh-TW" sz="1400" b="1" dirty="0">
                          <a:effectLst>
                            <a:outerShdw blurRad="38100" dist="38100" dir="2700000" algn="tl">
                              <a:srgbClr val="000000">
                                <a:alpha val="43137"/>
                              </a:srgbClr>
                            </a:outerShdw>
                          </a:effectLst>
                        </a:rPr>
                        <a:t>Competence</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546525"/>
                  </a:ext>
                </a:extLst>
              </a:tr>
              <a:tr h="278130">
                <a:tc>
                  <a:txBody>
                    <a:bodyPr/>
                    <a:lstStyle/>
                    <a:p>
                      <a:r>
                        <a:rPr lang="en-US" altLang="zh-TW" sz="1400" b="1" dirty="0">
                          <a:effectLst>
                            <a:outerShdw blurRad="38100" dist="38100" dir="2700000" algn="tl">
                              <a:srgbClr val="000000">
                                <a:alpha val="43137"/>
                              </a:srgbClr>
                            </a:outerShdw>
                          </a:effectLst>
                        </a:rPr>
                        <a:t>7.3 </a:t>
                      </a:r>
                      <a:r>
                        <a:rPr lang="zh-TW" altLang="en-US" sz="1400" b="1" dirty="0">
                          <a:effectLst>
                            <a:outerShdw blurRad="38100" dist="38100" dir="2700000" algn="tl">
                              <a:srgbClr val="000000">
                                <a:alpha val="43137"/>
                              </a:srgbClr>
                            </a:outerShdw>
                          </a:effectLst>
                        </a:rPr>
                        <a:t>意識</a:t>
                      </a:r>
                      <a:r>
                        <a:rPr lang="en-US" altLang="zh-TW" sz="1400" b="1" baseline="0"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Awareness</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811783"/>
                  </a:ext>
                </a:extLst>
              </a:tr>
              <a:tr h="7694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effectLst>
                            <a:outerShdw blurRad="38100" dist="38100" dir="2700000" algn="tl">
                              <a:srgbClr val="000000">
                                <a:alpha val="43137"/>
                              </a:srgbClr>
                            </a:outerShdw>
                          </a:effectLst>
                        </a:rPr>
                        <a:t>7.4 </a:t>
                      </a:r>
                      <a:r>
                        <a:rPr lang="zh-TW" altLang="en-US" sz="1400" b="1" dirty="0">
                          <a:effectLst>
                            <a:outerShdw blurRad="38100" dist="38100" dir="2700000" algn="tl">
                              <a:srgbClr val="000000">
                                <a:alpha val="43137"/>
                              </a:srgbClr>
                            </a:outerShdw>
                          </a:effectLst>
                        </a:rPr>
                        <a:t>通訊</a:t>
                      </a:r>
                      <a:r>
                        <a:rPr lang="zh-TW" altLang="en-US" sz="1400" b="1" baseline="0"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Communication</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組織應確定與以下方面相關的內部和外部溝通的需要</a:t>
                      </a:r>
                    </a:p>
                    <a:p>
                      <a:endParaRPr lang="en-US" altLang="zh-TW" sz="1400" b="1" dirty="0" smtClean="0">
                        <a:effectLst>
                          <a:outerShdw blurRad="38100" dist="38100" dir="2700000" algn="tl">
                            <a:srgbClr val="000000">
                              <a:alpha val="43137"/>
                            </a:srgbClr>
                          </a:outerShdw>
                        </a:effectLst>
                      </a:endParaRPr>
                    </a:p>
                    <a:p>
                      <a:r>
                        <a:rPr lang="zh-TW" altLang="en-US" sz="1400" b="1" dirty="0" smtClean="0">
                          <a:effectLst>
                            <a:outerShdw blurRad="38100" dist="38100" dir="2700000" algn="tl">
                              <a:srgbClr val="000000">
                                <a:alpha val="43137"/>
                              </a:srgbClr>
                            </a:outerShdw>
                          </a:effectLst>
                        </a:rPr>
                        <a:t>資訊安全</a:t>
                      </a:r>
                      <a:r>
                        <a:rPr lang="zh-TW" altLang="en-US" sz="1400" b="1" dirty="0">
                          <a:effectLst>
                            <a:outerShdw blurRad="38100" dist="38100" dir="2700000" algn="tl">
                              <a:srgbClr val="000000">
                                <a:alpha val="43137"/>
                              </a:srgbClr>
                            </a:outerShdw>
                          </a:effectLst>
                        </a:rPr>
                        <a:t>管理體系包括</a:t>
                      </a:r>
                      <a:r>
                        <a:rPr lang="zh-TW" altLang="en-US" sz="1400" b="1" dirty="0" smtClean="0">
                          <a:effectLst>
                            <a:outerShdw blurRad="38100" dist="38100" dir="2700000" algn="tl">
                              <a:srgbClr val="000000">
                                <a:alpha val="43137"/>
                              </a:srgbClr>
                            </a:outerShdw>
                          </a:effectLst>
                        </a:rPr>
                        <a:t>：</a:t>
                      </a:r>
                      <a:r>
                        <a:rPr lang="en-US" altLang="zh-TW" sz="1400" b="1" dirty="0" smtClean="0">
                          <a:effectLst>
                            <a:outerShdw blurRad="38100" dist="38100" dir="2700000" algn="tl">
                              <a:srgbClr val="000000">
                                <a:alpha val="43137"/>
                              </a:srgbClr>
                            </a:outerShdw>
                          </a:effectLst>
                        </a:rPr>
                        <a:t>(1)</a:t>
                      </a:r>
                      <a:r>
                        <a:rPr lang="zh-TW" altLang="en-US" sz="1400" b="1" dirty="0" smtClean="0">
                          <a:effectLst>
                            <a:outerShdw blurRad="38100" dist="38100" dir="2700000" algn="tl">
                              <a:srgbClr val="000000">
                                <a:alpha val="43137"/>
                              </a:srgbClr>
                            </a:outerShdw>
                          </a:effectLst>
                        </a:rPr>
                        <a:t>關於</a:t>
                      </a:r>
                      <a:r>
                        <a:rPr lang="zh-TW" altLang="en-US" sz="1400" b="1" dirty="0">
                          <a:effectLst>
                            <a:outerShdw blurRad="38100" dist="38100" dir="2700000" algn="tl">
                              <a:srgbClr val="000000">
                                <a:alpha val="43137"/>
                              </a:srgbClr>
                            </a:outerShdw>
                          </a:effectLst>
                        </a:rPr>
                        <a:t>溝通的內容</a:t>
                      </a:r>
                      <a:r>
                        <a:rPr lang="zh-TW" altLang="en-US" sz="1400" b="1" dirty="0" smtClean="0">
                          <a:effectLst>
                            <a:outerShdw blurRad="38100" dist="38100" dir="2700000" algn="tl">
                              <a:srgbClr val="000000">
                                <a:alpha val="43137"/>
                              </a:srgbClr>
                            </a:outerShdw>
                          </a:effectLst>
                        </a:rPr>
                        <a:t>；  </a:t>
                      </a:r>
                      <a:r>
                        <a:rPr lang="en-US" altLang="zh-TW" sz="1400" b="1" dirty="0" smtClean="0">
                          <a:effectLst>
                            <a:outerShdw blurRad="38100" dist="38100" dir="2700000" algn="tl">
                              <a:srgbClr val="000000">
                                <a:alpha val="43137"/>
                              </a:srgbClr>
                            </a:outerShdw>
                          </a:effectLst>
                        </a:rPr>
                        <a:t>(2)</a:t>
                      </a:r>
                      <a:r>
                        <a:rPr lang="zh-TW" altLang="en-US" sz="1400" b="1" dirty="0" smtClean="0">
                          <a:effectLst>
                            <a:outerShdw blurRad="38100" dist="38100" dir="2700000" algn="tl">
                              <a:srgbClr val="000000">
                                <a:alpha val="43137"/>
                              </a:srgbClr>
                            </a:outerShdw>
                          </a:effectLst>
                        </a:rPr>
                        <a:t>何時</a:t>
                      </a:r>
                      <a:r>
                        <a:rPr lang="zh-TW" altLang="en-US" sz="1400" b="1" dirty="0">
                          <a:effectLst>
                            <a:outerShdw blurRad="38100" dist="38100" dir="2700000" algn="tl">
                              <a:srgbClr val="000000">
                                <a:alpha val="43137"/>
                              </a:srgbClr>
                            </a:outerShdw>
                          </a:effectLst>
                        </a:rPr>
                        <a:t>溝通</a:t>
                      </a:r>
                      <a:r>
                        <a:rPr lang="zh-TW" altLang="en-US" sz="1400" b="1" dirty="0" smtClean="0">
                          <a:effectLst>
                            <a:outerShdw blurRad="38100" dist="38100" dir="2700000" algn="tl">
                              <a:srgbClr val="000000">
                                <a:alpha val="43137"/>
                              </a:srgbClr>
                            </a:outerShdw>
                          </a:effectLst>
                        </a:rPr>
                        <a:t>； </a:t>
                      </a:r>
                      <a:r>
                        <a:rPr lang="en-US" altLang="zh-TW" sz="1400" b="1" dirty="0" smtClean="0">
                          <a:effectLst>
                            <a:outerShdw blurRad="38100" dist="38100" dir="2700000" algn="tl">
                              <a:srgbClr val="000000">
                                <a:alpha val="43137"/>
                              </a:srgbClr>
                            </a:outerShdw>
                          </a:effectLst>
                        </a:rPr>
                        <a:t>(3)</a:t>
                      </a:r>
                      <a:r>
                        <a:rPr lang="zh-TW" altLang="en-US" sz="1400" b="1" dirty="0" smtClean="0">
                          <a:effectLst>
                            <a:outerShdw blurRad="38100" dist="38100" dir="2700000" algn="tl">
                              <a:srgbClr val="000000">
                                <a:alpha val="43137"/>
                              </a:srgbClr>
                            </a:outerShdw>
                          </a:effectLst>
                        </a:rPr>
                        <a:t>與</a:t>
                      </a:r>
                      <a:r>
                        <a:rPr lang="zh-TW" altLang="en-US" sz="1400" b="1" dirty="0">
                          <a:effectLst>
                            <a:outerShdw blurRad="38100" dist="38100" dir="2700000" algn="tl">
                              <a:srgbClr val="000000">
                                <a:alpha val="43137"/>
                              </a:srgbClr>
                            </a:outerShdw>
                          </a:effectLst>
                        </a:rPr>
                        <a:t>誰溝通；   </a:t>
                      </a:r>
                      <a:r>
                        <a:rPr lang="en-US" altLang="zh-TW" sz="1400" b="1" dirty="0" smtClean="0">
                          <a:effectLst>
                            <a:outerShdw blurRad="38100" dist="38100" dir="2700000" algn="tl">
                              <a:srgbClr val="000000">
                                <a:alpha val="43137"/>
                              </a:srgbClr>
                            </a:outerShdw>
                          </a:effectLst>
                        </a:rPr>
                        <a:t>(4)</a:t>
                      </a:r>
                      <a:r>
                        <a:rPr lang="zh-TW" altLang="en-US" sz="1400" b="1" dirty="0" smtClean="0">
                          <a:effectLst>
                            <a:outerShdw blurRad="38100" dist="38100" dir="2700000" algn="tl">
                              <a:srgbClr val="000000">
                                <a:alpha val="43137"/>
                              </a:srgbClr>
                            </a:outerShdw>
                          </a:effectLst>
                        </a:rPr>
                        <a:t>如何</a:t>
                      </a:r>
                      <a:r>
                        <a:rPr lang="zh-TW" altLang="en-US" sz="1400" b="1" dirty="0">
                          <a:effectLst>
                            <a:outerShdw blurRad="38100" dist="38100" dir="2700000" algn="tl">
                              <a:srgbClr val="000000">
                                <a:alpha val="43137"/>
                              </a:srgbClr>
                            </a:outerShdw>
                          </a:effectLst>
                        </a:rPr>
                        <a:t>溝通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5282701"/>
                  </a:ext>
                </a:extLst>
              </a:tr>
              <a:tr h="685800">
                <a:tc>
                  <a:txBody>
                    <a:bodyPr/>
                    <a:lstStyle/>
                    <a:p>
                      <a:r>
                        <a:rPr lang="en-US" altLang="zh-TW" sz="1400" b="1" dirty="0">
                          <a:solidFill>
                            <a:srgbClr val="C00000"/>
                          </a:solidFill>
                          <a:effectLst>
                            <a:outerShdw blurRad="38100" dist="38100" dir="2700000" algn="tl">
                              <a:srgbClr val="000000">
                                <a:alpha val="43137"/>
                              </a:srgbClr>
                            </a:outerShdw>
                          </a:effectLst>
                        </a:rPr>
                        <a:t>7.5 </a:t>
                      </a:r>
                      <a:r>
                        <a:rPr lang="zh-TW" altLang="en-US" sz="1400" b="1" dirty="0">
                          <a:solidFill>
                            <a:srgbClr val="C00000"/>
                          </a:solidFill>
                          <a:effectLst>
                            <a:outerShdw blurRad="38100" dist="38100" dir="2700000" algn="tl">
                              <a:srgbClr val="000000">
                                <a:alpha val="43137"/>
                              </a:srgbClr>
                            </a:outerShdw>
                          </a:effectLst>
                        </a:rPr>
                        <a:t>文件</a:t>
                      </a:r>
                      <a:r>
                        <a:rPr lang="zh-TW" altLang="en-US" sz="1400" b="1" dirty="0" smtClean="0">
                          <a:solidFill>
                            <a:srgbClr val="C00000"/>
                          </a:solidFill>
                          <a:effectLst>
                            <a:outerShdw blurRad="38100" dist="38100" dir="2700000" algn="tl">
                              <a:srgbClr val="000000">
                                <a:alpha val="43137"/>
                              </a:srgbClr>
                            </a:outerShdw>
                          </a:effectLst>
                        </a:rPr>
                        <a:t>化資訊</a:t>
                      </a:r>
                      <a:endParaRPr lang="en-US" altLang="zh-TW" sz="1400" b="1" dirty="0">
                        <a:solidFill>
                          <a:srgbClr val="C00000"/>
                        </a:solidFill>
                        <a:effectLst>
                          <a:outerShdw blurRad="38100" dist="38100" dir="2700000" algn="tl">
                            <a:srgbClr val="000000">
                              <a:alpha val="43137"/>
                            </a:srgbClr>
                          </a:outerShdw>
                        </a:effectLst>
                      </a:endParaRPr>
                    </a:p>
                    <a:p>
                      <a:r>
                        <a:rPr lang="en-US" altLang="zh-TW" sz="1400" b="1" dirty="0">
                          <a:solidFill>
                            <a:srgbClr val="C00000"/>
                          </a:solidFill>
                          <a:effectLst>
                            <a:outerShdw blurRad="38100" dist="38100" dir="2700000" algn="tl">
                              <a:srgbClr val="000000">
                                <a:alpha val="43137"/>
                              </a:srgbClr>
                            </a:outerShdw>
                          </a:effectLst>
                        </a:rPr>
                        <a:t>Documented information</a:t>
                      </a:r>
                      <a:endParaRPr lang="zh-TW" altLang="en-US" sz="1400" b="1" dirty="0">
                        <a:solidFill>
                          <a:srgbClr val="C0000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a:effectLst>
                            <a:outerShdw blurRad="38100" dist="38100" dir="2700000" algn="tl">
                              <a:srgbClr val="000000">
                                <a:alpha val="43137"/>
                              </a:srgbClr>
                            </a:outerShdw>
                          </a:effectLst>
                        </a:rPr>
                        <a:t>7.5.1 </a:t>
                      </a:r>
                      <a:r>
                        <a:rPr lang="zh-TW" altLang="en-US" sz="1400" b="1" dirty="0">
                          <a:effectLst>
                            <a:outerShdw blurRad="38100" dist="38100" dir="2700000" algn="tl">
                              <a:srgbClr val="000000">
                                <a:alpha val="43137"/>
                              </a:srgbClr>
                            </a:outerShdw>
                          </a:effectLst>
                        </a:rPr>
                        <a:t>總則</a:t>
                      </a:r>
                      <a:endParaRPr lang="en-US" altLang="zh-TW" sz="1400" b="1" dirty="0">
                        <a:effectLst>
                          <a:outerShdw blurRad="38100" dist="38100" dir="2700000" algn="tl">
                            <a:srgbClr val="000000">
                              <a:alpha val="43137"/>
                            </a:srgbClr>
                          </a:outerShdw>
                        </a:effectLst>
                      </a:endParaRPr>
                    </a:p>
                    <a:p>
                      <a:r>
                        <a:rPr lang="en-US" altLang="zh-TW" sz="1400" b="1" dirty="0">
                          <a:effectLst>
                            <a:outerShdw blurRad="38100" dist="38100" dir="2700000" algn="tl">
                              <a:srgbClr val="000000">
                                <a:alpha val="43137"/>
                              </a:srgbClr>
                            </a:outerShdw>
                          </a:effectLst>
                        </a:rPr>
                        <a:t>7.5.2 </a:t>
                      </a:r>
                      <a:r>
                        <a:rPr lang="zh-TW" altLang="en-US" sz="1400" b="1" dirty="0">
                          <a:effectLst>
                            <a:outerShdw blurRad="38100" dist="38100" dir="2700000" algn="tl">
                              <a:srgbClr val="000000">
                                <a:alpha val="43137"/>
                              </a:srgbClr>
                            </a:outerShdw>
                          </a:effectLst>
                        </a:rPr>
                        <a:t>建立和更新</a:t>
                      </a:r>
                      <a:r>
                        <a:rPr lang="en-US" altLang="zh-TW" sz="1400" b="1" dirty="0">
                          <a:effectLst>
                            <a:outerShdw blurRad="38100" dist="38100" dir="2700000" algn="tl">
                              <a:srgbClr val="000000">
                                <a:alpha val="43137"/>
                              </a:srgbClr>
                            </a:outerShdw>
                          </a:effectLst>
                        </a:rPr>
                        <a:t>Creating and updating</a:t>
                      </a:r>
                    </a:p>
                    <a:p>
                      <a:r>
                        <a:rPr lang="en-US" altLang="zh-TW" sz="1400" b="1" dirty="0">
                          <a:effectLst>
                            <a:outerShdw blurRad="38100" dist="38100" dir="2700000" algn="tl">
                              <a:srgbClr val="000000">
                                <a:alpha val="43137"/>
                              </a:srgbClr>
                            </a:outerShdw>
                          </a:effectLst>
                        </a:rPr>
                        <a:t>7.5.3 </a:t>
                      </a:r>
                      <a:r>
                        <a:rPr lang="zh-TW" altLang="en-US" sz="1400" b="1" dirty="0">
                          <a:effectLst>
                            <a:outerShdw blurRad="38100" dist="38100" dir="2700000" algn="tl">
                              <a:srgbClr val="000000">
                                <a:alpha val="43137"/>
                              </a:srgbClr>
                            </a:outerShdw>
                          </a:effectLst>
                        </a:rPr>
                        <a:t>文件化資訊的控制</a:t>
                      </a:r>
                      <a:r>
                        <a:rPr lang="en-US" altLang="zh-TW" sz="1400" b="1" dirty="0">
                          <a:effectLst>
                            <a:outerShdw blurRad="38100" dist="38100" dir="2700000" algn="tl">
                              <a:srgbClr val="000000">
                                <a:alpha val="43137"/>
                              </a:srgbClr>
                            </a:outerShdw>
                          </a:effectLst>
                        </a:rPr>
                        <a:t>Control of documented information</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1336315"/>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978310220"/>
              </p:ext>
            </p:extLst>
          </p:nvPr>
        </p:nvGraphicFramePr>
        <p:xfrm>
          <a:off x="114629" y="4759192"/>
          <a:ext cx="8713744" cy="1962284"/>
        </p:xfrm>
        <a:graphic>
          <a:graphicData uri="http://schemas.openxmlformats.org/drawingml/2006/table">
            <a:tbl>
              <a:tblPr firstRow="1" bandRow="1">
                <a:tableStyleId>{5C22544A-7EE6-4342-B048-85BDC9FD1C3A}</a:tableStyleId>
              </a:tblPr>
              <a:tblGrid>
                <a:gridCol w="2928278">
                  <a:extLst>
                    <a:ext uri="{9D8B030D-6E8A-4147-A177-3AD203B41FA5}">
                      <a16:colId xmlns:a16="http://schemas.microsoft.com/office/drawing/2014/main" val="2105120824"/>
                    </a:ext>
                  </a:extLst>
                </a:gridCol>
                <a:gridCol w="5785466">
                  <a:extLst>
                    <a:ext uri="{9D8B030D-6E8A-4147-A177-3AD203B41FA5}">
                      <a16:colId xmlns:a16="http://schemas.microsoft.com/office/drawing/2014/main" val="733532998"/>
                    </a:ext>
                  </a:extLst>
                </a:gridCol>
              </a:tblGrid>
              <a:tr h="27813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8. Operation </a:t>
                      </a:r>
                      <a:r>
                        <a:rPr lang="zh-TW" altLang="en-US" sz="1800" dirty="0" smtClean="0"/>
                        <a:t>營運</a:t>
                      </a:r>
                      <a:r>
                        <a:rPr lang="en-US" altLang="zh-TW" sz="1800" dirty="0" smtClean="0"/>
                        <a:t>|</a:t>
                      </a:r>
                      <a:r>
                        <a:rPr lang="zh-TW" altLang="en-US" sz="1800" dirty="0" smtClean="0"/>
                        <a:t> 運作</a:t>
                      </a:r>
                      <a:r>
                        <a:rPr lang="en-US" altLang="zh-TW" sz="1800" dirty="0" smtClean="0"/>
                        <a:t>|</a:t>
                      </a:r>
                      <a:r>
                        <a:rPr lang="zh-TW" altLang="en-US" sz="1800" dirty="0" smtClean="0"/>
                        <a:t> 操作</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14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7876331"/>
                  </a:ext>
                </a:extLst>
              </a:tr>
              <a:tr h="384035">
                <a:tc gridSpan="2">
                  <a:txBody>
                    <a:bodyPr/>
                    <a:lstStyle/>
                    <a:p>
                      <a:r>
                        <a:rPr lang="en-US" altLang="zh-TW" sz="1400" b="1" dirty="0">
                          <a:effectLst>
                            <a:outerShdw blurRad="38100" dist="38100" dir="2700000" algn="tl">
                              <a:srgbClr val="000000">
                                <a:alpha val="43137"/>
                              </a:srgbClr>
                            </a:outerShdw>
                          </a:effectLst>
                        </a:rPr>
                        <a:t>8.1 </a:t>
                      </a:r>
                      <a:r>
                        <a:rPr lang="zh-TW" altLang="en-US" sz="1400" b="1" dirty="0">
                          <a:effectLst>
                            <a:outerShdw blurRad="38100" dist="38100" dir="2700000" algn="tl">
                              <a:srgbClr val="000000">
                                <a:alpha val="43137"/>
                              </a:srgbClr>
                            </a:outerShdw>
                          </a:effectLst>
                        </a:rPr>
                        <a:t>運行計劃和</a:t>
                      </a:r>
                      <a:r>
                        <a:rPr lang="zh-TW" altLang="en-US" sz="1400" b="1" dirty="0" smtClean="0">
                          <a:effectLst>
                            <a:outerShdw blurRad="38100" dist="38100" dir="2700000" algn="tl">
                              <a:srgbClr val="000000">
                                <a:alpha val="43137"/>
                              </a:srgbClr>
                            </a:outerShdw>
                          </a:effectLst>
                        </a:rPr>
                        <a:t>控制</a:t>
                      </a:r>
                      <a:r>
                        <a:rPr lang="en-US" altLang="zh-TW" sz="1400" b="1" baseline="0" dirty="0" smtClean="0">
                          <a:effectLst>
                            <a:outerShdw blurRad="38100" dist="38100" dir="2700000" algn="tl">
                              <a:srgbClr val="000000">
                                <a:alpha val="43137"/>
                              </a:srgbClr>
                            </a:outerShdw>
                          </a:effectLst>
                        </a:rPr>
                        <a:t>   </a:t>
                      </a:r>
                      <a:r>
                        <a:rPr lang="en-US" altLang="zh-TW" sz="1400" b="1" dirty="0" smtClean="0">
                          <a:effectLst>
                            <a:outerShdw blurRad="38100" dist="38100" dir="2700000" algn="tl">
                              <a:srgbClr val="000000">
                                <a:alpha val="43137"/>
                              </a:srgbClr>
                            </a:outerShdw>
                          </a:effectLst>
                        </a:rPr>
                        <a:t>Operational </a:t>
                      </a:r>
                      <a:r>
                        <a:rPr lang="en-US" altLang="zh-TW" sz="1400" b="1" dirty="0">
                          <a:solidFill>
                            <a:srgbClr val="C00000"/>
                          </a:solidFill>
                          <a:effectLst>
                            <a:outerShdw blurRad="38100" dist="38100" dir="2700000" algn="tl">
                              <a:srgbClr val="000000">
                                <a:alpha val="43137"/>
                              </a:srgbClr>
                            </a:outerShdw>
                          </a:effectLst>
                        </a:rPr>
                        <a:t>planning</a:t>
                      </a:r>
                      <a:r>
                        <a:rPr lang="en-US" altLang="zh-TW" sz="1400" b="1" dirty="0">
                          <a:effectLst>
                            <a:outerShdw blurRad="38100" dist="38100" dir="2700000" algn="tl">
                              <a:srgbClr val="000000">
                                <a:alpha val="43137"/>
                              </a:srgbClr>
                            </a:outerShdw>
                          </a:effectLst>
                        </a:rPr>
                        <a:t> and </a:t>
                      </a:r>
                      <a:r>
                        <a:rPr lang="en-US" altLang="zh-TW" sz="1400" b="1" u="none" dirty="0">
                          <a:solidFill>
                            <a:srgbClr val="C00000"/>
                          </a:solidFill>
                          <a:effectLst>
                            <a:outerShdw blurRad="38100" dist="38100" dir="2700000" algn="tl">
                              <a:srgbClr val="000000">
                                <a:alpha val="43137"/>
                              </a:srgbClr>
                            </a:outerShdw>
                          </a:effectLst>
                        </a:rPr>
                        <a:t>control</a:t>
                      </a:r>
                      <a:endParaRPr lang="zh-TW" altLang="en-US" sz="1400" b="1" u="none" dirty="0">
                        <a:solidFill>
                          <a:srgbClr val="C0000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0392486"/>
                  </a:ext>
                </a:extLst>
              </a:tr>
              <a:tr h="685800">
                <a:tc>
                  <a:txBody>
                    <a:bodyPr/>
                    <a:lstStyle/>
                    <a:p>
                      <a:r>
                        <a:rPr lang="en-US" altLang="zh-TW" sz="1400" b="1" dirty="0">
                          <a:effectLst>
                            <a:outerShdw blurRad="38100" dist="38100" dir="2700000" algn="tl">
                              <a:srgbClr val="000000">
                                <a:alpha val="43137"/>
                              </a:srgbClr>
                            </a:outerShdw>
                          </a:effectLst>
                        </a:rPr>
                        <a:t>8.2 </a:t>
                      </a:r>
                      <a:r>
                        <a:rPr lang="zh-TW" altLang="en-US" sz="1400" b="1" dirty="0">
                          <a:effectLst>
                            <a:outerShdw blurRad="38100" dist="38100" dir="2700000" algn="tl">
                              <a:srgbClr val="000000">
                                <a:alpha val="43137"/>
                              </a:srgbClr>
                            </a:outerShdw>
                          </a:effectLst>
                        </a:rPr>
                        <a:t>資訊安全風險評估</a:t>
                      </a:r>
                      <a:endParaRPr lang="en-US" altLang="zh-TW" sz="1400" b="1" dirty="0">
                        <a:effectLst>
                          <a:outerShdw blurRad="38100" dist="38100" dir="2700000" algn="tl">
                            <a:srgbClr val="000000">
                              <a:alpha val="43137"/>
                            </a:srgbClr>
                          </a:outerShdw>
                        </a:effectLst>
                      </a:endParaRPr>
                    </a:p>
                    <a:p>
                      <a:r>
                        <a:rPr lang="en-US" altLang="zh-TW" sz="1400" b="1" dirty="0">
                          <a:effectLst>
                            <a:outerShdw blurRad="38100" dist="38100" dir="2700000" algn="tl">
                              <a:srgbClr val="000000">
                                <a:alpha val="43137"/>
                              </a:srgbClr>
                            </a:outerShdw>
                          </a:effectLst>
                        </a:rPr>
                        <a:t>Information </a:t>
                      </a:r>
                      <a:r>
                        <a:rPr lang="en-US" altLang="zh-TW" sz="1400" b="1" dirty="0">
                          <a:solidFill>
                            <a:srgbClr val="C00000"/>
                          </a:solidFill>
                          <a:effectLst>
                            <a:outerShdw blurRad="38100" dist="38100" dir="2700000" algn="tl">
                              <a:srgbClr val="000000">
                                <a:alpha val="43137"/>
                              </a:srgbClr>
                            </a:outerShdw>
                          </a:effectLst>
                        </a:rPr>
                        <a:t>security risk assessment</a:t>
                      </a:r>
                      <a:endParaRPr lang="zh-TW" altLang="en-US" sz="1400" b="1" dirty="0">
                        <a:solidFill>
                          <a:srgbClr val="C0000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smtClean="0">
                          <a:effectLst>
                            <a:outerShdw blurRad="38100" dist="38100" dir="2700000" algn="tl">
                              <a:srgbClr val="000000">
                                <a:alpha val="43137"/>
                              </a:srgbClr>
                            </a:outerShdw>
                          </a:effectLst>
                        </a:rPr>
                        <a:t>組織應按計劃的時間間隔或在考慮到 </a:t>
                      </a:r>
                      <a:r>
                        <a:rPr lang="en-US" altLang="zh-TW" sz="1400"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en-US" altLang="zh-TW" sz="1400" b="1" dirty="0" smtClean="0">
                          <a:effectLst>
                            <a:outerShdw blurRad="38100" dist="38100" dir="2700000" algn="tl">
                              <a:srgbClr val="000000">
                                <a:alpha val="43137"/>
                              </a:srgbClr>
                            </a:outerShdw>
                          </a:effectLst>
                        </a:rPr>
                        <a:t>6.1.2 </a:t>
                      </a:r>
                      <a:r>
                        <a:rPr lang="en-US" altLang="zh-TW" sz="1400" b="1" dirty="0" smtClean="0"/>
                        <a:t>Planning</a:t>
                      </a:r>
                      <a:r>
                        <a:rPr lang="zh-TW" altLang="en-US" sz="1400" b="1" dirty="0" smtClean="0"/>
                        <a:t>規劃</a:t>
                      </a:r>
                      <a:r>
                        <a:rPr lang="en-US" altLang="zh-TW" sz="1400" b="1" dirty="0" smtClean="0">
                          <a:effectLst>
                            <a:outerShdw blurRad="38100" dist="38100" dir="2700000" algn="tl">
                              <a:srgbClr val="000000">
                                <a:alpha val="43137"/>
                              </a:srgbClr>
                            </a:outerShdw>
                          </a:effectLst>
                          <a:latin typeface="SimSun" panose="02010600030101010101" pitchFamily="2" charset="-122"/>
                          <a:ea typeface="SimSun" panose="02010600030101010101" pitchFamily="2" charset="-122"/>
                        </a:rPr>
                        <a:t>】</a:t>
                      </a:r>
                      <a:r>
                        <a:rPr lang="zh-TW" altLang="en-US" sz="1400" b="1" dirty="0" smtClean="0">
                          <a:effectLst>
                            <a:outerShdw blurRad="38100" dist="38100" dir="2700000" algn="tl">
                              <a:srgbClr val="000000">
                                <a:alpha val="43137"/>
                              </a:srgbClr>
                            </a:outerShdw>
                          </a:effectLst>
                        </a:rPr>
                        <a:t>中確定的標準，提議或發生重大變化。</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smtClean="0">
                          <a:effectLst>
                            <a:outerShdw blurRad="38100" dist="38100" dir="2700000" algn="tl">
                              <a:srgbClr val="000000">
                                <a:alpha val="43137"/>
                              </a:srgbClr>
                            </a:outerShdw>
                          </a:effectLst>
                        </a:rPr>
                        <a:t>組織</a:t>
                      </a:r>
                      <a:r>
                        <a:rPr lang="zh-TW" altLang="en-US" sz="1400" b="1" dirty="0">
                          <a:effectLst>
                            <a:outerShdw blurRad="38100" dist="38100" dir="2700000" algn="tl">
                              <a:srgbClr val="000000">
                                <a:alpha val="43137"/>
                              </a:srgbClr>
                            </a:outerShdw>
                          </a:effectLst>
                        </a:rPr>
                        <a:t>應保留資訊安全</a:t>
                      </a:r>
                      <a:r>
                        <a:rPr lang="zh-TW" altLang="en-US" sz="1400" b="1" dirty="0" smtClean="0">
                          <a:effectLst>
                            <a:outerShdw blurRad="38100" dist="38100" dir="2700000" algn="tl">
                              <a:srgbClr val="000000">
                                <a:alpha val="43137"/>
                              </a:srgbClr>
                            </a:outerShdw>
                          </a:effectLst>
                        </a:rPr>
                        <a:t>風險評估結果的</a:t>
                      </a:r>
                      <a:r>
                        <a:rPr lang="zh-TW" altLang="en-US" sz="1400" b="1" dirty="0" smtClean="0">
                          <a:solidFill>
                            <a:srgbClr val="C00000"/>
                          </a:solidFill>
                          <a:effectLst>
                            <a:outerShdw blurRad="38100" dist="38100" dir="2700000" algn="tl">
                              <a:srgbClr val="000000">
                                <a:alpha val="43137"/>
                              </a:srgbClr>
                            </a:outerShdw>
                          </a:effectLst>
                        </a:rPr>
                        <a:t>文件化資訊</a:t>
                      </a:r>
                      <a:r>
                        <a:rPr lang="en-US" altLang="zh-TW" sz="1400" b="1" baseline="0" dirty="0" smtClean="0">
                          <a:solidFill>
                            <a:srgbClr val="C00000"/>
                          </a:solidFill>
                          <a:effectLst>
                            <a:outerShdw blurRad="38100" dist="38100" dir="2700000" algn="tl">
                              <a:srgbClr val="000000">
                                <a:alpha val="43137"/>
                              </a:srgbClr>
                            </a:outerShdw>
                          </a:effectLst>
                        </a:rPr>
                        <a:t> </a:t>
                      </a:r>
                      <a:r>
                        <a:rPr lang="zh-TW" altLang="en-US" sz="1400" b="1" dirty="0" smtClean="0">
                          <a:effectLst>
                            <a:outerShdw blurRad="38100" dist="38100" dir="2700000" algn="tl">
                              <a:srgbClr val="000000">
                                <a:alpha val="43137"/>
                              </a:srgbClr>
                            </a:outerShdw>
                          </a:effectLst>
                        </a:rPr>
                        <a:t>。</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0253455"/>
                  </a:ext>
                </a:extLst>
              </a:tr>
              <a:tr h="526689">
                <a:tc>
                  <a:txBody>
                    <a:bodyPr/>
                    <a:lstStyle/>
                    <a:p>
                      <a:r>
                        <a:rPr lang="en-US" altLang="zh-TW" sz="1400" b="1" dirty="0">
                          <a:effectLst>
                            <a:outerShdw blurRad="38100" dist="38100" dir="2700000" algn="tl">
                              <a:srgbClr val="000000">
                                <a:alpha val="43137"/>
                              </a:srgbClr>
                            </a:outerShdw>
                          </a:effectLst>
                        </a:rPr>
                        <a:t>8.3 </a:t>
                      </a:r>
                      <a:r>
                        <a:rPr lang="zh-TW" altLang="en-US" sz="1400" b="1" dirty="0">
                          <a:effectLst>
                            <a:outerShdw blurRad="38100" dist="38100" dir="2700000" algn="tl">
                              <a:srgbClr val="000000">
                                <a:alpha val="43137"/>
                              </a:srgbClr>
                            </a:outerShdw>
                          </a:effectLst>
                        </a:rPr>
                        <a:t>資訊安全風險處理</a:t>
                      </a:r>
                      <a:endParaRPr lang="en-US" altLang="zh-TW" sz="1400" b="1" dirty="0">
                        <a:effectLst>
                          <a:outerShdw blurRad="38100" dist="38100" dir="2700000" algn="tl">
                            <a:srgbClr val="000000">
                              <a:alpha val="43137"/>
                            </a:srgbClr>
                          </a:outerShdw>
                        </a:effectLst>
                      </a:endParaRPr>
                    </a:p>
                    <a:p>
                      <a:r>
                        <a:rPr lang="en-US" altLang="zh-TW" sz="1400" b="1" dirty="0">
                          <a:effectLst>
                            <a:outerShdw blurRad="38100" dist="38100" dir="2700000" algn="tl">
                              <a:srgbClr val="000000">
                                <a:alpha val="43137"/>
                              </a:srgbClr>
                            </a:outerShdw>
                          </a:effectLst>
                        </a:rPr>
                        <a:t>Information </a:t>
                      </a:r>
                      <a:r>
                        <a:rPr lang="en-US" altLang="zh-TW" sz="1400" b="1" dirty="0">
                          <a:solidFill>
                            <a:srgbClr val="C00000"/>
                          </a:solidFill>
                          <a:effectLst>
                            <a:outerShdw blurRad="38100" dist="38100" dir="2700000" algn="tl">
                              <a:srgbClr val="000000">
                                <a:alpha val="43137"/>
                              </a:srgbClr>
                            </a:outerShdw>
                          </a:effectLst>
                        </a:rPr>
                        <a:t>security risk treatment</a:t>
                      </a:r>
                      <a:endParaRPr lang="zh-TW" altLang="en-US" sz="1400" b="1" dirty="0">
                        <a:solidFill>
                          <a:srgbClr val="C0000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組織應實施資訊安全風險處理計劃。</a:t>
                      </a:r>
                    </a:p>
                    <a:p>
                      <a:r>
                        <a:rPr lang="zh-TW" altLang="en-US" sz="1400" b="1" dirty="0">
                          <a:effectLst>
                            <a:outerShdw blurRad="38100" dist="38100" dir="2700000" algn="tl">
                              <a:srgbClr val="000000">
                                <a:alpha val="43137"/>
                              </a:srgbClr>
                            </a:outerShdw>
                          </a:effectLst>
                        </a:rPr>
                        <a:t>組織應保留資訊安全</a:t>
                      </a:r>
                      <a:r>
                        <a:rPr lang="zh-TW" altLang="en-US" sz="1400" b="1" dirty="0" smtClean="0">
                          <a:effectLst>
                            <a:outerShdw blurRad="38100" dist="38100" dir="2700000" algn="tl">
                              <a:srgbClr val="000000">
                                <a:alpha val="43137"/>
                              </a:srgbClr>
                            </a:outerShdw>
                          </a:effectLst>
                        </a:rPr>
                        <a:t>風險處理結果的</a:t>
                      </a:r>
                      <a:r>
                        <a:rPr lang="zh-TW" altLang="en-US" sz="1400" b="1" dirty="0" smtClean="0">
                          <a:solidFill>
                            <a:srgbClr val="C00000"/>
                          </a:solidFill>
                          <a:effectLst>
                            <a:outerShdw blurRad="38100" dist="38100" dir="2700000" algn="tl">
                              <a:srgbClr val="000000">
                                <a:alpha val="43137"/>
                              </a:srgbClr>
                            </a:outerShdw>
                          </a:effectLst>
                        </a:rPr>
                        <a:t>文件化資訊</a:t>
                      </a:r>
                      <a:r>
                        <a:rPr lang="zh-TW" altLang="en-US" sz="1400" b="1" dirty="0" smtClean="0">
                          <a:effectLst>
                            <a:outerShdw blurRad="38100" dist="38100" dir="2700000" algn="tl">
                              <a:srgbClr val="000000">
                                <a:alpha val="43137"/>
                              </a:srgbClr>
                            </a:outerShdw>
                          </a:effectLst>
                        </a:rPr>
                        <a:t>。</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85225969"/>
                  </a:ext>
                </a:extLst>
              </a:tr>
            </a:tbl>
          </a:graphicData>
        </a:graphic>
      </p:graphicFrame>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15</a:t>
            </a:fld>
            <a:endParaRPr lang="zh-TW" altLang="en-US" dirty="0"/>
          </a:p>
        </p:txBody>
      </p:sp>
    </p:spTree>
    <p:extLst>
      <p:ext uri="{BB962C8B-B14F-4D97-AF65-F5344CB8AC3E}">
        <p14:creationId xmlns:p14="http://schemas.microsoft.com/office/powerpoint/2010/main" val="3357683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2324142214"/>
              </p:ext>
            </p:extLst>
          </p:nvPr>
        </p:nvGraphicFramePr>
        <p:xfrm>
          <a:off x="190424" y="203295"/>
          <a:ext cx="8744533" cy="1940701"/>
        </p:xfrm>
        <a:graphic>
          <a:graphicData uri="http://schemas.openxmlformats.org/drawingml/2006/table">
            <a:tbl>
              <a:tblPr firstRow="1" bandRow="1">
                <a:tableStyleId>{5C22544A-7EE6-4342-B048-85BDC9FD1C3A}</a:tableStyleId>
              </a:tblPr>
              <a:tblGrid>
                <a:gridCol w="3739679">
                  <a:extLst>
                    <a:ext uri="{9D8B030D-6E8A-4147-A177-3AD203B41FA5}">
                      <a16:colId xmlns:a16="http://schemas.microsoft.com/office/drawing/2014/main" val="2570969173"/>
                    </a:ext>
                  </a:extLst>
                </a:gridCol>
                <a:gridCol w="5004854">
                  <a:extLst>
                    <a:ext uri="{9D8B030D-6E8A-4147-A177-3AD203B41FA5}">
                      <a16:colId xmlns:a16="http://schemas.microsoft.com/office/drawing/2014/main" val="3441987507"/>
                    </a:ext>
                  </a:extLst>
                </a:gridCol>
              </a:tblGrid>
              <a:tr h="16002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000" dirty="0" smtClean="0"/>
                        <a:t>9. Performance evaluation </a:t>
                      </a:r>
                      <a:r>
                        <a:rPr lang="zh-TW" altLang="en-US" sz="2000" dirty="0" smtClean="0"/>
                        <a:t>績效評估</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980414879"/>
                  </a:ext>
                </a:extLst>
              </a:tr>
              <a:tr h="363361">
                <a:tc gridSpan="2">
                  <a:txBody>
                    <a:bodyPr/>
                    <a:lstStyle/>
                    <a:p>
                      <a:r>
                        <a:rPr lang="en-US" altLang="zh-TW" sz="1400" b="1" dirty="0">
                          <a:solidFill>
                            <a:schemeClr val="tx1"/>
                          </a:solidFill>
                          <a:effectLst>
                            <a:outerShdw blurRad="38100" dist="38100" dir="2700000" algn="tl">
                              <a:srgbClr val="000000">
                                <a:alpha val="43137"/>
                              </a:srgbClr>
                            </a:outerShdw>
                          </a:effectLst>
                        </a:rPr>
                        <a:t>9.1 </a:t>
                      </a:r>
                      <a:r>
                        <a:rPr lang="zh-TW" altLang="en-US" sz="1400" b="1" dirty="0">
                          <a:solidFill>
                            <a:schemeClr val="tx1"/>
                          </a:solidFill>
                          <a:effectLst>
                            <a:outerShdw blurRad="38100" dist="38100" dir="2700000" algn="tl">
                              <a:srgbClr val="000000">
                                <a:alpha val="43137"/>
                              </a:srgbClr>
                            </a:outerShdw>
                          </a:effectLst>
                        </a:rPr>
                        <a:t>監視、測量、分析和</a:t>
                      </a:r>
                      <a:r>
                        <a:rPr lang="zh-TW" altLang="en-US" sz="1400" b="1" dirty="0" smtClean="0">
                          <a:solidFill>
                            <a:schemeClr val="tx1"/>
                          </a:solidFill>
                          <a:effectLst>
                            <a:outerShdw blurRad="38100" dist="38100" dir="2700000" algn="tl">
                              <a:srgbClr val="000000">
                                <a:alpha val="43137"/>
                              </a:srgbClr>
                            </a:outerShdw>
                          </a:effectLst>
                        </a:rPr>
                        <a:t>評價</a:t>
                      </a:r>
                      <a:r>
                        <a:rPr lang="en-US" altLang="zh-TW" sz="1400" b="1" baseline="0" dirty="0" smtClean="0">
                          <a:solidFill>
                            <a:schemeClr val="tx1"/>
                          </a:solidFill>
                          <a:effectLst>
                            <a:outerShdw blurRad="38100" dist="38100" dir="2700000" algn="tl">
                              <a:srgbClr val="000000">
                                <a:alpha val="43137"/>
                              </a:srgbClr>
                            </a:outerShdw>
                          </a:effectLst>
                        </a:rPr>
                        <a:t>  </a:t>
                      </a:r>
                      <a:r>
                        <a:rPr lang="en-US" altLang="zh-TW" sz="1400" b="1" dirty="0" smtClean="0">
                          <a:solidFill>
                            <a:schemeClr val="tx1"/>
                          </a:solidFill>
                          <a:effectLst>
                            <a:outerShdw blurRad="38100" dist="38100" dir="2700000" algn="tl">
                              <a:srgbClr val="000000">
                                <a:alpha val="43137"/>
                              </a:srgbClr>
                            </a:outerShdw>
                          </a:effectLst>
                        </a:rPr>
                        <a:t>Monitoring</a:t>
                      </a:r>
                      <a:r>
                        <a:rPr lang="en-US" altLang="zh-TW" sz="1400" b="1" dirty="0">
                          <a:solidFill>
                            <a:schemeClr val="tx1"/>
                          </a:solidFill>
                          <a:effectLst>
                            <a:outerShdw blurRad="38100" dist="38100" dir="2700000" algn="tl">
                              <a:srgbClr val="000000">
                                <a:alpha val="43137"/>
                              </a:srgbClr>
                            </a:outerShdw>
                          </a:effectLst>
                        </a:rPr>
                        <a:t>, measurement, analysis and evaluation</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3225799"/>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9.2 </a:t>
                      </a:r>
                      <a:r>
                        <a:rPr lang="zh-TW" altLang="en-US" sz="1800" b="1" dirty="0">
                          <a:solidFill>
                            <a:schemeClr val="tx1"/>
                          </a:solidFill>
                          <a:effectLst>
                            <a:outerShdw blurRad="38100" dist="38100" dir="2700000" algn="tl">
                              <a:srgbClr val="000000">
                                <a:alpha val="43137"/>
                              </a:srgbClr>
                            </a:outerShdw>
                          </a:effectLst>
                        </a:rPr>
                        <a:t>內部</a:t>
                      </a:r>
                      <a:r>
                        <a:rPr lang="zh-TW" altLang="en-US" sz="1800" b="1" dirty="0" smtClean="0">
                          <a:solidFill>
                            <a:schemeClr val="tx1"/>
                          </a:solidFill>
                          <a:effectLst>
                            <a:outerShdw blurRad="38100" dist="38100" dir="2700000" algn="tl">
                              <a:srgbClr val="000000">
                                <a:alpha val="43137"/>
                              </a:srgbClr>
                            </a:outerShdw>
                          </a:effectLst>
                        </a:rPr>
                        <a:t>稽核</a:t>
                      </a:r>
                      <a:r>
                        <a:rPr lang="en-US" altLang="zh-TW" sz="1800" b="1" dirty="0" smtClean="0">
                          <a:solidFill>
                            <a:schemeClr val="tx1"/>
                          </a:solidFill>
                          <a:effectLst>
                            <a:outerShdw blurRad="38100" dist="38100" dir="2700000" algn="tl">
                              <a:srgbClr val="000000">
                                <a:alpha val="43137"/>
                              </a:srgbClr>
                            </a:outerShdw>
                          </a:effectLst>
                        </a:rPr>
                        <a:t>(Internal audit)</a:t>
                      </a: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a:solidFill>
                            <a:schemeClr val="tx1"/>
                          </a:solidFill>
                          <a:effectLst>
                            <a:outerShdw blurRad="38100" dist="38100" dir="2700000" algn="tl">
                              <a:srgbClr val="000000">
                                <a:alpha val="43137"/>
                              </a:srgbClr>
                            </a:outerShdw>
                          </a:effectLst>
                        </a:rPr>
                        <a:t>9.2.1 </a:t>
                      </a:r>
                      <a:r>
                        <a:rPr lang="zh-TW" altLang="en-US" sz="1400" b="1" dirty="0">
                          <a:solidFill>
                            <a:schemeClr val="tx1"/>
                          </a:solidFill>
                          <a:effectLst>
                            <a:outerShdw blurRad="38100" dist="38100" dir="2700000" algn="tl">
                              <a:srgbClr val="000000">
                                <a:alpha val="43137"/>
                              </a:srgbClr>
                            </a:outerShdw>
                          </a:effectLst>
                        </a:rPr>
                        <a:t>總則</a:t>
                      </a:r>
                      <a:endParaRPr lang="en-US" altLang="zh-TW" sz="1400" b="1" dirty="0">
                        <a:solidFill>
                          <a:schemeClr val="tx1"/>
                        </a:solidFill>
                        <a:effectLst>
                          <a:outerShdw blurRad="38100" dist="38100" dir="2700000" algn="tl">
                            <a:srgbClr val="000000">
                              <a:alpha val="43137"/>
                            </a:srgbClr>
                          </a:outerShdw>
                        </a:effectLst>
                      </a:endParaRPr>
                    </a:p>
                    <a:p>
                      <a:r>
                        <a:rPr lang="en-US" altLang="zh-TW" sz="1400" b="1" dirty="0">
                          <a:solidFill>
                            <a:schemeClr val="tx1"/>
                          </a:solidFill>
                          <a:effectLst>
                            <a:outerShdw blurRad="38100" dist="38100" dir="2700000" algn="tl">
                              <a:srgbClr val="000000">
                                <a:alpha val="43137"/>
                              </a:srgbClr>
                            </a:outerShdw>
                          </a:effectLst>
                        </a:rPr>
                        <a:t>9.2.2 </a:t>
                      </a:r>
                      <a:r>
                        <a:rPr lang="zh-TW" altLang="en-US" sz="1400" b="1" dirty="0">
                          <a:solidFill>
                            <a:schemeClr val="tx1"/>
                          </a:solidFill>
                          <a:effectLst>
                            <a:outerShdw blurRad="38100" dist="38100" dir="2700000" algn="tl">
                              <a:srgbClr val="000000">
                                <a:alpha val="43137"/>
                              </a:srgbClr>
                            </a:outerShdw>
                          </a:effectLst>
                        </a:rPr>
                        <a:t>內部稽核</a:t>
                      </a:r>
                      <a:r>
                        <a:rPr lang="zh-TW" altLang="en-US" sz="1400" b="1" dirty="0" smtClean="0">
                          <a:solidFill>
                            <a:schemeClr val="tx1"/>
                          </a:solidFill>
                          <a:effectLst>
                            <a:outerShdw blurRad="38100" dist="38100" dir="2700000" algn="tl">
                              <a:srgbClr val="000000">
                                <a:alpha val="43137"/>
                              </a:srgbClr>
                            </a:outerShdw>
                          </a:effectLst>
                        </a:rPr>
                        <a:t>程序</a:t>
                      </a:r>
                      <a:r>
                        <a:rPr lang="en-US" altLang="zh-TW" sz="1400" b="1" dirty="0" smtClean="0">
                          <a:solidFill>
                            <a:schemeClr val="tx1"/>
                          </a:solidFill>
                          <a:effectLst>
                            <a:outerShdw blurRad="38100" dist="38100" dir="2700000" algn="tl">
                              <a:srgbClr val="000000">
                                <a:alpha val="43137"/>
                              </a:srgbClr>
                            </a:outerShdw>
                          </a:effectLst>
                        </a:rPr>
                        <a:t>(Internal </a:t>
                      </a:r>
                      <a:r>
                        <a:rPr lang="en-US" altLang="zh-TW" sz="1400" b="1" dirty="0">
                          <a:solidFill>
                            <a:schemeClr val="tx1"/>
                          </a:solidFill>
                          <a:effectLst>
                            <a:outerShdw blurRad="38100" dist="38100" dir="2700000" algn="tl">
                              <a:srgbClr val="000000">
                                <a:alpha val="43137"/>
                              </a:srgbClr>
                            </a:outerShdw>
                          </a:effectLst>
                        </a:rPr>
                        <a:t>audit </a:t>
                      </a:r>
                      <a:r>
                        <a:rPr lang="en-US" altLang="zh-TW" sz="1400" b="1" dirty="0" err="1" smtClean="0">
                          <a:solidFill>
                            <a:schemeClr val="tx1"/>
                          </a:solidFill>
                          <a:effectLst>
                            <a:outerShdw blurRad="38100" dist="38100" dir="2700000" algn="tl">
                              <a:srgbClr val="000000">
                                <a:alpha val="43137"/>
                              </a:srgbClr>
                            </a:outerShdw>
                          </a:effectLst>
                        </a:rPr>
                        <a:t>programme</a:t>
                      </a:r>
                      <a:r>
                        <a:rPr lang="en-US" altLang="zh-TW" sz="1400" b="1" dirty="0" smtClean="0">
                          <a:solidFill>
                            <a:schemeClr val="tx1"/>
                          </a:solidFill>
                          <a:effectLst>
                            <a:outerShdw blurRad="38100" dist="38100" dir="2700000" algn="tl">
                              <a:srgbClr val="000000">
                                <a:alpha val="43137"/>
                              </a:srgbClr>
                            </a:outerShdw>
                          </a:effectLst>
                        </a:rPr>
                        <a:t>)</a:t>
                      </a:r>
                      <a:endParaRPr lang="en-US" altLang="zh-TW"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9671262"/>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9.3 </a:t>
                      </a:r>
                      <a:r>
                        <a:rPr lang="zh-TW" altLang="en-US" sz="1800" b="1" dirty="0">
                          <a:solidFill>
                            <a:schemeClr val="tx1"/>
                          </a:solidFill>
                          <a:effectLst>
                            <a:outerShdw blurRad="38100" dist="38100" dir="2700000" algn="tl">
                              <a:srgbClr val="000000">
                                <a:alpha val="43137"/>
                              </a:srgbClr>
                            </a:outerShdw>
                          </a:effectLst>
                        </a:rPr>
                        <a:t>管理</a:t>
                      </a:r>
                      <a:r>
                        <a:rPr lang="zh-TW" altLang="en-US" sz="1800" b="1" dirty="0" smtClean="0">
                          <a:solidFill>
                            <a:schemeClr val="tx1"/>
                          </a:solidFill>
                          <a:effectLst>
                            <a:outerShdw blurRad="38100" dist="38100" dir="2700000" algn="tl">
                              <a:srgbClr val="000000">
                                <a:alpha val="43137"/>
                              </a:srgbClr>
                            </a:outerShdw>
                          </a:effectLst>
                        </a:rPr>
                        <a:t>評審</a:t>
                      </a:r>
                      <a:r>
                        <a:rPr lang="en-US" altLang="zh-TW" sz="1800" b="1" dirty="0" smtClean="0">
                          <a:solidFill>
                            <a:schemeClr val="tx1"/>
                          </a:solidFill>
                          <a:effectLst>
                            <a:outerShdw blurRad="38100" dist="38100" dir="2700000" algn="tl">
                              <a:srgbClr val="000000">
                                <a:alpha val="43137"/>
                              </a:srgbClr>
                            </a:outerShdw>
                          </a:effectLst>
                        </a:rPr>
                        <a:t>(Management review)</a:t>
                      </a:r>
                      <a:endParaRPr lang="zh-TW" altLang="en-US" sz="1800" b="1" dirty="0">
                        <a:solidFill>
                          <a:schemeClr val="tx1"/>
                        </a:solidFill>
                        <a:effectLst>
                          <a:outerShdw blurRad="38100" dist="38100" dir="2700000" algn="tl">
                            <a:srgbClr val="000000">
                              <a:alpha val="43137"/>
                            </a:srgbClr>
                          </a:outerShdw>
                        </a:effectLst>
                      </a:endParaRPr>
                    </a:p>
                    <a:p>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a:solidFill>
                            <a:schemeClr val="tx1"/>
                          </a:solidFill>
                          <a:effectLst>
                            <a:outerShdw blurRad="38100" dist="38100" dir="2700000" algn="tl">
                              <a:srgbClr val="000000">
                                <a:alpha val="43137"/>
                              </a:srgbClr>
                            </a:outerShdw>
                          </a:effectLst>
                        </a:rPr>
                        <a:t>9.3.1 </a:t>
                      </a:r>
                      <a:r>
                        <a:rPr lang="zh-TW" altLang="en-US" sz="1400" b="1" dirty="0">
                          <a:solidFill>
                            <a:schemeClr val="tx1"/>
                          </a:solidFill>
                          <a:effectLst>
                            <a:outerShdw blurRad="38100" dist="38100" dir="2700000" algn="tl">
                              <a:srgbClr val="000000">
                                <a:alpha val="43137"/>
                              </a:srgbClr>
                            </a:outerShdw>
                          </a:effectLst>
                        </a:rPr>
                        <a:t>總則</a:t>
                      </a:r>
                      <a:endParaRPr lang="en-US" altLang="zh-TW" sz="1400" b="1" dirty="0">
                        <a:solidFill>
                          <a:schemeClr val="tx1"/>
                        </a:solidFill>
                        <a:effectLst>
                          <a:outerShdw blurRad="38100" dist="38100" dir="2700000" algn="tl">
                            <a:srgbClr val="000000">
                              <a:alpha val="43137"/>
                            </a:srgbClr>
                          </a:outerShdw>
                        </a:effectLst>
                      </a:endParaRPr>
                    </a:p>
                    <a:p>
                      <a:r>
                        <a:rPr lang="en-US" altLang="zh-TW" sz="1400" b="1" dirty="0">
                          <a:solidFill>
                            <a:schemeClr val="tx1"/>
                          </a:solidFill>
                          <a:effectLst>
                            <a:outerShdw blurRad="38100" dist="38100" dir="2700000" algn="tl">
                              <a:srgbClr val="000000">
                                <a:alpha val="43137"/>
                              </a:srgbClr>
                            </a:outerShdw>
                          </a:effectLst>
                        </a:rPr>
                        <a:t>9.3.2 </a:t>
                      </a:r>
                      <a:r>
                        <a:rPr lang="zh-TW" altLang="en-US" sz="1400" b="1" dirty="0">
                          <a:solidFill>
                            <a:schemeClr val="tx1"/>
                          </a:solidFill>
                          <a:effectLst>
                            <a:outerShdw blurRad="38100" dist="38100" dir="2700000" algn="tl">
                              <a:srgbClr val="000000">
                                <a:alpha val="43137"/>
                              </a:srgbClr>
                            </a:outerShdw>
                          </a:effectLst>
                        </a:rPr>
                        <a:t>管理階層 審查 輸入  </a:t>
                      </a:r>
                      <a:r>
                        <a:rPr lang="en-US" altLang="zh-TW" sz="1400" b="1" dirty="0">
                          <a:solidFill>
                            <a:schemeClr val="tx1"/>
                          </a:solidFill>
                          <a:effectLst>
                            <a:outerShdw blurRad="38100" dist="38100" dir="2700000" algn="tl">
                              <a:srgbClr val="000000">
                                <a:alpha val="43137"/>
                              </a:srgbClr>
                            </a:outerShdw>
                          </a:effectLst>
                        </a:rPr>
                        <a:t>Management review inputs</a:t>
                      </a:r>
                      <a:r>
                        <a:rPr lang="zh-TW" altLang="en-US" sz="1400" b="1" dirty="0">
                          <a:solidFill>
                            <a:schemeClr val="tx1"/>
                          </a:solidFill>
                          <a:effectLst>
                            <a:outerShdw blurRad="38100" dist="38100" dir="2700000" algn="tl">
                              <a:srgbClr val="000000">
                                <a:alpha val="43137"/>
                              </a:srgbClr>
                            </a:outerShdw>
                          </a:effectLst>
                        </a:rPr>
                        <a:t> </a:t>
                      </a:r>
                      <a:endParaRPr lang="en-US" altLang="zh-TW" sz="1400" b="1" dirty="0">
                        <a:solidFill>
                          <a:schemeClr val="tx1"/>
                        </a:solidFill>
                        <a:effectLst>
                          <a:outerShdw blurRad="38100" dist="38100" dir="2700000" algn="tl">
                            <a:srgbClr val="000000">
                              <a:alpha val="43137"/>
                            </a:srgbClr>
                          </a:outerShdw>
                        </a:effectLst>
                      </a:endParaRPr>
                    </a:p>
                    <a:p>
                      <a:r>
                        <a:rPr lang="en-US" altLang="zh-TW" sz="1400" b="1" dirty="0">
                          <a:solidFill>
                            <a:schemeClr val="tx1"/>
                          </a:solidFill>
                          <a:effectLst>
                            <a:outerShdw blurRad="38100" dist="38100" dir="2700000" algn="tl">
                              <a:srgbClr val="000000">
                                <a:alpha val="43137"/>
                              </a:srgbClr>
                            </a:outerShdw>
                          </a:effectLst>
                        </a:rPr>
                        <a:t>9.3.3</a:t>
                      </a:r>
                      <a:r>
                        <a:rPr lang="zh-TW" altLang="en-US" sz="1400" b="1" dirty="0">
                          <a:solidFill>
                            <a:schemeClr val="tx1"/>
                          </a:solidFill>
                          <a:effectLst>
                            <a:outerShdw blurRad="38100" dist="38100" dir="2700000" algn="tl">
                              <a:srgbClr val="000000">
                                <a:alpha val="43137"/>
                              </a:srgbClr>
                            </a:outerShdw>
                          </a:effectLst>
                        </a:rPr>
                        <a:t> 管理階層 審查 結果  </a:t>
                      </a:r>
                      <a:r>
                        <a:rPr lang="en-US" altLang="zh-TW" sz="1400" b="1" dirty="0">
                          <a:solidFill>
                            <a:schemeClr val="tx1"/>
                          </a:solidFill>
                          <a:effectLst>
                            <a:outerShdw blurRad="38100" dist="38100" dir="2700000" algn="tl">
                              <a:srgbClr val="000000">
                                <a:alpha val="43137"/>
                              </a:srgbClr>
                            </a:outerShdw>
                          </a:effectLst>
                        </a:rPr>
                        <a:t>Management review results</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0917032"/>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432921661"/>
              </p:ext>
            </p:extLst>
          </p:nvPr>
        </p:nvGraphicFramePr>
        <p:xfrm>
          <a:off x="3123084" y="3363352"/>
          <a:ext cx="5942710" cy="3268980"/>
        </p:xfrm>
        <a:graphic>
          <a:graphicData uri="http://schemas.openxmlformats.org/drawingml/2006/table">
            <a:tbl>
              <a:tblPr firstRow="1" bandRow="1">
                <a:tableStyleId>{5C22544A-7EE6-4342-B048-85BDC9FD1C3A}</a:tableStyleId>
              </a:tblPr>
              <a:tblGrid>
                <a:gridCol w="5942710">
                  <a:extLst>
                    <a:ext uri="{9D8B030D-6E8A-4147-A177-3AD203B41FA5}">
                      <a16:colId xmlns:a16="http://schemas.microsoft.com/office/drawing/2014/main" val="547921673"/>
                    </a:ext>
                  </a:extLst>
                </a:gridCol>
              </a:tblGrid>
              <a:tr h="160020">
                <a:tc>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2869596"/>
                  </a:ext>
                </a:extLst>
              </a:tr>
              <a:tr h="754380">
                <a:tc>
                  <a:txBody>
                    <a:bodyPr/>
                    <a:lstStyle/>
                    <a:p>
                      <a:r>
                        <a:rPr lang="en-US" altLang="zh-TW" sz="2400" b="1" dirty="0"/>
                        <a:t>10.2 </a:t>
                      </a:r>
                      <a:r>
                        <a:rPr lang="zh-TW" altLang="en-US" sz="2400" b="1" dirty="0">
                          <a:solidFill>
                            <a:srgbClr val="FF0000"/>
                          </a:solidFill>
                          <a:effectLst>
                            <a:outerShdw blurRad="38100" dist="38100" dir="2700000" algn="tl">
                              <a:srgbClr val="000000">
                                <a:alpha val="43137"/>
                              </a:srgbClr>
                            </a:outerShdw>
                          </a:effectLst>
                        </a:rPr>
                        <a:t>不符合</a:t>
                      </a:r>
                      <a:r>
                        <a:rPr lang="zh-TW" altLang="en-US" sz="2400" b="1" dirty="0"/>
                        <a:t>和</a:t>
                      </a:r>
                      <a:r>
                        <a:rPr lang="zh-TW" altLang="en-US" sz="2400" b="1" dirty="0">
                          <a:solidFill>
                            <a:srgbClr val="7030A0"/>
                          </a:solidFill>
                          <a:effectLst>
                            <a:outerShdw blurRad="38100" dist="38100" dir="2700000" algn="tl">
                              <a:srgbClr val="000000">
                                <a:alpha val="43137"/>
                              </a:srgbClr>
                            </a:outerShdw>
                          </a:effectLst>
                        </a:rPr>
                        <a:t>糾正措施</a:t>
                      </a:r>
                      <a:endParaRPr lang="en-US" altLang="zh-TW" sz="2400" b="1" dirty="0">
                        <a:solidFill>
                          <a:srgbClr val="7030A0"/>
                        </a:solidFill>
                        <a:effectLst>
                          <a:outerShdw blurRad="38100" dist="38100" dir="2700000" algn="tl">
                            <a:srgbClr val="000000">
                              <a:alpha val="43137"/>
                            </a:srgbClr>
                          </a:outerShdw>
                        </a:effectLst>
                      </a:endParaRPr>
                    </a:p>
                    <a:p>
                      <a:r>
                        <a:rPr lang="en-US" altLang="zh-TW" sz="1500" b="1" dirty="0">
                          <a:solidFill>
                            <a:srgbClr val="FF0000"/>
                          </a:solidFill>
                          <a:effectLst>
                            <a:outerShdw blurRad="38100" dist="38100" dir="2700000" algn="tl">
                              <a:srgbClr val="000000">
                                <a:alpha val="43137"/>
                              </a:srgbClr>
                            </a:outerShdw>
                          </a:effectLst>
                        </a:rPr>
                        <a:t>Nonconformity </a:t>
                      </a:r>
                      <a:r>
                        <a:rPr lang="en-US" altLang="zh-TW" sz="1500" b="1" dirty="0"/>
                        <a:t>and </a:t>
                      </a:r>
                      <a:r>
                        <a:rPr lang="en-US" altLang="zh-TW" sz="1500" b="1" dirty="0">
                          <a:solidFill>
                            <a:srgbClr val="7030A0"/>
                          </a:solidFill>
                          <a:effectLst>
                            <a:outerShdw blurRad="38100" dist="38100" dir="2700000" algn="tl">
                              <a:srgbClr val="000000">
                                <a:alpha val="43137"/>
                              </a:srgbClr>
                            </a:outerShdw>
                          </a:effectLst>
                        </a:rPr>
                        <a:t>corrective action</a:t>
                      </a:r>
                      <a:endParaRPr lang="zh-TW" altLang="en-US" sz="1500" b="1" dirty="0">
                        <a:solidFill>
                          <a:srgbClr val="7030A0"/>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8972154"/>
                  </a:ext>
                </a:extLst>
              </a:tr>
              <a:tr h="2125980">
                <a:tc>
                  <a:txBody>
                    <a:bodyPr/>
                    <a:lstStyle/>
                    <a:p>
                      <a:r>
                        <a:rPr lang="en-US" altLang="zh-TW" sz="1500" b="1" dirty="0"/>
                        <a:t>When a </a:t>
                      </a:r>
                      <a:r>
                        <a:rPr lang="en-US" altLang="zh-TW" sz="1500" b="1" dirty="0">
                          <a:effectLst>
                            <a:outerShdw blurRad="38100" dist="38100" dir="2700000" algn="tl">
                              <a:srgbClr val="000000">
                                <a:alpha val="43137"/>
                              </a:srgbClr>
                            </a:outerShdw>
                          </a:effectLst>
                        </a:rPr>
                        <a:t>nonconformity</a:t>
                      </a:r>
                      <a:r>
                        <a:rPr lang="en-US" altLang="zh-TW" sz="1500" b="1" dirty="0"/>
                        <a:t> occurs, the organization shall: </a:t>
                      </a:r>
                    </a:p>
                    <a:p>
                      <a:r>
                        <a:rPr lang="zh-TW" altLang="en-US" sz="1500" b="1" dirty="0"/>
                        <a:t>該幹何事</a:t>
                      </a:r>
                      <a:r>
                        <a:rPr lang="en-US" altLang="zh-TW" sz="1500" b="1" dirty="0"/>
                        <a:t>?</a:t>
                      </a:r>
                    </a:p>
                    <a:p>
                      <a:endParaRPr lang="en-US" altLang="zh-TW" sz="1500" b="1" dirty="0"/>
                    </a:p>
                    <a:p>
                      <a:r>
                        <a:rPr lang="en-US" altLang="zh-TW" sz="1500" b="1" dirty="0">
                          <a:effectLst>
                            <a:outerShdw blurRad="38100" dist="38100" dir="2700000" algn="tl">
                              <a:srgbClr val="000000">
                                <a:alpha val="43137"/>
                              </a:srgbClr>
                            </a:outerShdw>
                          </a:effectLst>
                        </a:rPr>
                        <a:t>Corrective actions </a:t>
                      </a:r>
                      <a:r>
                        <a:rPr lang="en-US" altLang="zh-TW" sz="1500" b="1" dirty="0"/>
                        <a:t>shall be appropriate to the effects of the nonconformities encountered.</a:t>
                      </a:r>
                      <a:r>
                        <a:rPr lang="zh-TW" altLang="en-US" sz="1500" b="1" dirty="0"/>
                        <a:t>   </a:t>
                      </a:r>
                      <a:r>
                        <a:rPr lang="zh-TW" altLang="en-US" sz="1500" b="1" dirty="0">
                          <a:solidFill>
                            <a:srgbClr val="C00000"/>
                          </a:solidFill>
                          <a:effectLst>
                            <a:outerShdw blurRad="38100" dist="38100" dir="2700000" algn="tl">
                              <a:srgbClr val="000000">
                                <a:alpha val="43137"/>
                              </a:srgbClr>
                            </a:outerShdw>
                          </a:effectLst>
                        </a:rPr>
                        <a:t>糾正措施 </a:t>
                      </a:r>
                      <a:r>
                        <a:rPr lang="zh-TW" altLang="en-US" sz="1500" b="1" dirty="0"/>
                        <a:t>應與遇到的不合格的影響相適應</a:t>
                      </a:r>
                      <a:endParaRPr lang="en-US" altLang="zh-TW" sz="1500" b="1" dirty="0"/>
                    </a:p>
                    <a:p>
                      <a:endParaRPr lang="en-US" altLang="zh-TW" sz="1500" b="1" dirty="0"/>
                    </a:p>
                    <a:p>
                      <a:r>
                        <a:rPr lang="en-US" altLang="zh-TW" sz="1500" b="1" dirty="0">
                          <a:solidFill>
                            <a:srgbClr val="FF0000"/>
                          </a:solidFill>
                          <a:effectLst>
                            <a:outerShdw blurRad="38100" dist="38100" dir="2700000" algn="tl">
                              <a:srgbClr val="000000">
                                <a:alpha val="43137"/>
                              </a:srgbClr>
                            </a:outerShdw>
                          </a:effectLst>
                        </a:rPr>
                        <a:t>Documented information </a:t>
                      </a:r>
                      <a:r>
                        <a:rPr lang="en-US" altLang="zh-TW" sz="1500" b="1" dirty="0"/>
                        <a:t>shall be available as evidence of:</a:t>
                      </a:r>
                    </a:p>
                    <a:p>
                      <a:r>
                        <a:rPr lang="en-US" altLang="zh-TW" sz="1500" b="1" dirty="0"/>
                        <a:t>1) The nature of the nonconformities and any subsequent actions taken,</a:t>
                      </a:r>
                    </a:p>
                    <a:p>
                      <a:r>
                        <a:rPr lang="en-US" altLang="zh-TW" sz="1500" b="1" dirty="0"/>
                        <a:t>2) the results of any corrective action.</a:t>
                      </a:r>
                      <a:endParaRPr lang="zh-TW" altLang="en-US" sz="15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5170658"/>
                  </a:ext>
                </a:extLst>
              </a:tr>
            </a:tbl>
          </a:graphicData>
        </a:graphic>
      </p:graphicFrame>
      <p:sp>
        <p:nvSpPr>
          <p:cNvPr id="7" name="矩形 6"/>
          <p:cNvSpPr/>
          <p:nvPr/>
        </p:nvSpPr>
        <p:spPr>
          <a:xfrm>
            <a:off x="6619994" y="2586206"/>
            <a:ext cx="2578270" cy="369332"/>
          </a:xfrm>
          <a:prstGeom prst="rect">
            <a:avLst/>
          </a:prstGeom>
        </p:spPr>
        <p:txBody>
          <a:bodyPr wrap="none">
            <a:spAutoFit/>
          </a:bodyPr>
          <a:lstStyle/>
          <a:p>
            <a:r>
              <a:rPr lang="en-US" altLang="zh-TW" b="1" dirty="0">
                <a:effectLst>
                  <a:outerShdw blurRad="38100" dist="38100" dir="2700000" algn="tl">
                    <a:srgbClr val="000000">
                      <a:alpha val="43137"/>
                    </a:srgbClr>
                  </a:outerShdw>
                </a:effectLst>
              </a:rPr>
              <a:t>Conformity management</a:t>
            </a:r>
            <a:endParaRPr lang="zh-TW" altLang="en-US" b="1" dirty="0">
              <a:effectLst>
                <a:outerShdw blurRad="38100" dist="38100" dir="2700000" algn="tl">
                  <a:srgbClr val="000000">
                    <a:alpha val="43137"/>
                  </a:srgbClr>
                </a:outerShdw>
              </a:effectLst>
            </a:endParaRPr>
          </a:p>
        </p:txBody>
      </p:sp>
      <p:graphicFrame>
        <p:nvGraphicFramePr>
          <p:cNvPr id="8" name="表格 7"/>
          <p:cNvGraphicFramePr>
            <a:graphicFrameLocks noGrp="1"/>
          </p:cNvGraphicFramePr>
          <p:nvPr>
            <p:extLst>
              <p:ext uri="{D42A27DB-BD31-4B8C-83A1-F6EECF244321}">
                <p14:modId xmlns:p14="http://schemas.microsoft.com/office/powerpoint/2010/main" val="3464397543"/>
              </p:ext>
            </p:extLst>
          </p:nvPr>
        </p:nvGraphicFramePr>
        <p:xfrm>
          <a:off x="104018" y="3363352"/>
          <a:ext cx="2929733" cy="3040380"/>
        </p:xfrm>
        <a:graphic>
          <a:graphicData uri="http://schemas.openxmlformats.org/drawingml/2006/table">
            <a:tbl>
              <a:tblPr firstRow="1" bandRow="1">
                <a:tableStyleId>{5C22544A-7EE6-4342-B048-85BDC9FD1C3A}</a:tableStyleId>
              </a:tblPr>
              <a:tblGrid>
                <a:gridCol w="2929733">
                  <a:extLst>
                    <a:ext uri="{9D8B030D-6E8A-4147-A177-3AD203B41FA5}">
                      <a16:colId xmlns:a16="http://schemas.microsoft.com/office/drawing/2014/main" val="2460636505"/>
                    </a:ext>
                  </a:extLst>
                </a:gridCol>
              </a:tblGrid>
              <a:tr h="160020">
                <a:tc>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2869596"/>
                  </a:ext>
                </a:extLst>
              </a:tr>
              <a:tr h="754380">
                <a:tc>
                  <a:txBody>
                    <a:bodyPr/>
                    <a:lstStyle/>
                    <a:p>
                      <a:r>
                        <a:rPr lang="en-US" altLang="zh-TW" sz="2000" b="1" dirty="0"/>
                        <a:t>10.1 </a:t>
                      </a:r>
                      <a:r>
                        <a:rPr lang="zh-TW" altLang="en-US" sz="2000" b="1" dirty="0"/>
                        <a:t>持續改進</a:t>
                      </a:r>
                      <a:endParaRPr lang="en-US" altLang="zh-TW" sz="2000" b="1" dirty="0"/>
                    </a:p>
                    <a:p>
                      <a:r>
                        <a:rPr lang="en-US" altLang="zh-TW" sz="1500" b="1" dirty="0"/>
                        <a:t>Continual improvement</a:t>
                      </a:r>
                      <a:endParaRPr lang="zh-TW" altLang="en-US" sz="15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8972154"/>
                  </a:ext>
                </a:extLst>
              </a:tr>
              <a:tr h="2125980">
                <a:tc>
                  <a:txBody>
                    <a:bodyPr/>
                    <a:lstStyle/>
                    <a:p>
                      <a:r>
                        <a:rPr lang="zh-TW" altLang="en-US" sz="2000" b="1" dirty="0"/>
                        <a:t>組織應持續改進</a:t>
                      </a:r>
                      <a:r>
                        <a:rPr lang="en-US" altLang="zh-TW" sz="2000" b="1" dirty="0"/>
                        <a:t>ISMS</a:t>
                      </a:r>
                      <a:r>
                        <a:rPr lang="zh-TW" altLang="en-US" sz="2000" b="1" dirty="0"/>
                        <a:t>的 </a:t>
                      </a:r>
                      <a:r>
                        <a:rPr lang="zh-TW" altLang="en-US" sz="2000" b="1" dirty="0">
                          <a:solidFill>
                            <a:srgbClr val="C00000"/>
                          </a:solidFill>
                          <a:effectLst>
                            <a:outerShdw blurRad="38100" dist="38100" dir="2700000" algn="tl">
                              <a:srgbClr val="000000">
                                <a:alpha val="43137"/>
                              </a:srgbClr>
                            </a:outerShdw>
                          </a:effectLst>
                        </a:rPr>
                        <a:t>適宜性</a:t>
                      </a:r>
                      <a:r>
                        <a:rPr lang="en-US" altLang="zh-TW" sz="2000" b="1" dirty="0">
                          <a:solidFill>
                            <a:srgbClr val="C00000"/>
                          </a:solidFill>
                          <a:effectLst>
                            <a:outerShdw blurRad="38100" dist="38100" dir="2700000" algn="tl">
                              <a:srgbClr val="000000">
                                <a:alpha val="43137"/>
                              </a:srgbClr>
                            </a:outerShdw>
                          </a:effectLst>
                        </a:rPr>
                        <a:t>(suitability)</a:t>
                      </a:r>
                      <a:r>
                        <a:rPr lang="zh-TW" altLang="en-US" sz="2000" b="1" dirty="0"/>
                        <a:t>、 </a:t>
                      </a:r>
                      <a:r>
                        <a:rPr lang="zh-TW" altLang="en-US" sz="2000" b="1" dirty="0">
                          <a:effectLst>
                            <a:outerShdw blurRad="38100" dist="38100" dir="2700000" algn="tl">
                              <a:srgbClr val="000000">
                                <a:alpha val="43137"/>
                              </a:srgbClr>
                            </a:outerShdw>
                          </a:effectLst>
                        </a:rPr>
                        <a:t>充分性</a:t>
                      </a:r>
                      <a:r>
                        <a:rPr lang="en-US" altLang="zh-TW" sz="2000" b="1" dirty="0">
                          <a:effectLst>
                            <a:outerShdw blurRad="38100" dist="38100" dir="2700000" algn="tl">
                              <a:srgbClr val="000000">
                                <a:alpha val="43137"/>
                              </a:srgbClr>
                            </a:outerShdw>
                          </a:effectLst>
                        </a:rPr>
                        <a:t>(adequacy )</a:t>
                      </a:r>
                      <a:r>
                        <a:rPr lang="zh-TW" altLang="en-US" sz="2000" b="1" dirty="0">
                          <a:effectLst>
                            <a:outerShdw blurRad="38100" dist="38100" dir="2700000" algn="tl">
                              <a:srgbClr val="000000">
                                <a:alpha val="43137"/>
                              </a:srgbClr>
                            </a:outerShdw>
                          </a:effectLst>
                        </a:rPr>
                        <a:t> </a:t>
                      </a:r>
                      <a:r>
                        <a:rPr lang="zh-TW" altLang="en-US" sz="2000" b="1" dirty="0"/>
                        <a:t>和 </a:t>
                      </a:r>
                      <a:r>
                        <a:rPr lang="zh-TW" altLang="en-US" sz="2000" b="1" dirty="0">
                          <a:effectLst>
                            <a:outerShdw blurRad="38100" dist="38100" dir="2700000" algn="tl">
                              <a:srgbClr val="000000">
                                <a:alpha val="43137"/>
                              </a:srgbClr>
                            </a:outerShdw>
                          </a:effectLst>
                        </a:rPr>
                        <a:t>有效性</a:t>
                      </a:r>
                      <a:r>
                        <a:rPr lang="en-US" altLang="zh-TW" sz="2000" b="1" dirty="0">
                          <a:effectLst>
                            <a:outerShdw blurRad="38100" dist="38100" dir="2700000" algn="tl">
                              <a:srgbClr val="000000">
                                <a:alpha val="43137"/>
                              </a:srgbClr>
                            </a:outerShdw>
                          </a:effectLst>
                        </a:rPr>
                        <a:t>(effectiveness)</a:t>
                      </a:r>
                      <a:r>
                        <a:rPr lang="zh-TW" altLang="en-US" sz="2000" b="1" dirty="0"/>
                        <a:t>。</a:t>
                      </a:r>
                      <a:endParaRPr lang="en-US" altLang="zh-TW" sz="2000" b="1" dirty="0"/>
                    </a:p>
                    <a:p>
                      <a:endParaRPr lang="en-US" altLang="zh-TW" sz="15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5170658"/>
                  </a:ext>
                </a:extLst>
              </a:tr>
            </a:tbl>
          </a:graphicData>
        </a:graphic>
      </p:graphicFrame>
      <p:sp>
        <p:nvSpPr>
          <p:cNvPr id="9" name="標題 1"/>
          <p:cNvSpPr>
            <a:spLocks noGrp="1"/>
          </p:cNvSpPr>
          <p:nvPr>
            <p:ph type="title"/>
          </p:nvPr>
        </p:nvSpPr>
        <p:spPr>
          <a:xfrm>
            <a:off x="55573" y="2695411"/>
            <a:ext cx="5123034" cy="667941"/>
          </a:xfrm>
        </p:spPr>
        <p:txBody>
          <a:bodyPr>
            <a:normAutofit/>
          </a:bodyPr>
          <a:lstStyle/>
          <a:p>
            <a:r>
              <a:rPr lang="en-US" altLang="zh-TW" sz="2800" b="1" dirty="0" smtClean="0">
                <a:effectLst>
                  <a:outerShdw blurRad="38100" dist="38100" dir="2700000" algn="tl">
                    <a:srgbClr val="000000">
                      <a:alpha val="43137"/>
                    </a:srgbClr>
                  </a:outerShdw>
                </a:effectLst>
              </a:rPr>
              <a:t>10.Improvement</a:t>
            </a:r>
            <a:r>
              <a:rPr lang="zh-TW" altLang="en-US" sz="2800" b="1" dirty="0" smtClean="0">
                <a:effectLst>
                  <a:outerShdw blurRad="38100" dist="38100" dir="2700000" algn="tl">
                    <a:srgbClr val="000000">
                      <a:alpha val="43137"/>
                    </a:srgbClr>
                  </a:outerShdw>
                </a:effectLst>
              </a:rPr>
              <a:t>改進</a:t>
            </a:r>
            <a:endParaRPr lang="zh-TW" altLang="en-US" sz="2800" b="1" dirty="0">
              <a:effectLst>
                <a:outerShdw blurRad="38100" dist="38100" dir="2700000" algn="tl">
                  <a:srgbClr val="000000">
                    <a:alpha val="43137"/>
                  </a:srgbClr>
                </a:outerShdw>
              </a:effectLst>
            </a:endParaRPr>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16</a:t>
            </a:fld>
            <a:endParaRPr lang="zh-TW" altLang="en-US" dirty="0"/>
          </a:p>
        </p:txBody>
      </p:sp>
    </p:spTree>
    <p:extLst>
      <p:ext uri="{BB962C8B-B14F-4D97-AF65-F5344CB8AC3E}">
        <p14:creationId xmlns:p14="http://schemas.microsoft.com/office/powerpoint/2010/main" val="1296664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3906" y="-45588"/>
            <a:ext cx="7886700" cy="723683"/>
          </a:xfrm>
        </p:spPr>
        <p:txBody>
          <a:bodyPr/>
          <a:lstStyle/>
          <a:p>
            <a:r>
              <a:rPr lang="en-US" altLang="zh-TW" b="1" dirty="0">
                <a:effectLst>
                  <a:outerShdw blurRad="38100" dist="38100" dir="2700000" algn="tl">
                    <a:srgbClr val="000000">
                      <a:alpha val="43137"/>
                    </a:srgbClr>
                  </a:outerShdw>
                </a:effectLst>
              </a:rPr>
              <a:t>Internal audit</a:t>
            </a:r>
            <a:r>
              <a:rPr lang="zh-TW" altLang="en-US" b="1" dirty="0"/>
              <a:t>內部稽核</a:t>
            </a:r>
            <a:r>
              <a:rPr lang="en-US" altLang="zh-TW" b="1" dirty="0"/>
              <a:t>(9.2)</a:t>
            </a:r>
            <a:endParaRPr lang="zh-TW" altLang="en-US" dirty="0"/>
          </a:p>
        </p:txBody>
      </p:sp>
      <p:sp>
        <p:nvSpPr>
          <p:cNvPr id="3" name="內容版面配置區 2"/>
          <p:cNvSpPr>
            <a:spLocks noGrp="1"/>
          </p:cNvSpPr>
          <p:nvPr>
            <p:ph idx="1"/>
          </p:nvPr>
        </p:nvSpPr>
        <p:spPr>
          <a:xfrm>
            <a:off x="2127885" y="1635921"/>
            <a:ext cx="7886700" cy="4125515"/>
          </a:xfrm>
        </p:spPr>
        <p:txBody>
          <a:bodyPr>
            <a:noAutofit/>
          </a:bodyPr>
          <a:lstStyle/>
          <a:p>
            <a:pPr marL="0" indent="0">
              <a:buNone/>
            </a:pPr>
            <a:endParaRPr lang="zh-TW" altLang="en-US" sz="1200" dirty="0"/>
          </a:p>
          <a:p>
            <a:pPr marL="0" indent="0">
              <a:buNone/>
            </a:pPr>
            <a:r>
              <a:rPr lang="zh-TW" altLang="en-US" sz="1200" dirty="0"/>
              <a:t>。</a:t>
            </a:r>
          </a:p>
        </p:txBody>
      </p:sp>
      <p:graphicFrame>
        <p:nvGraphicFramePr>
          <p:cNvPr id="5" name="表格 4"/>
          <p:cNvGraphicFramePr>
            <a:graphicFrameLocks noGrp="1"/>
          </p:cNvGraphicFramePr>
          <p:nvPr>
            <p:extLst>
              <p:ext uri="{D42A27DB-BD31-4B8C-83A1-F6EECF244321}">
                <p14:modId xmlns:p14="http://schemas.microsoft.com/office/powerpoint/2010/main" val="1643777652"/>
              </p:ext>
            </p:extLst>
          </p:nvPr>
        </p:nvGraphicFramePr>
        <p:xfrm>
          <a:off x="193906" y="858444"/>
          <a:ext cx="8466773" cy="5074920"/>
        </p:xfrm>
        <a:graphic>
          <a:graphicData uri="http://schemas.openxmlformats.org/drawingml/2006/table">
            <a:tbl>
              <a:tblPr firstRow="1" bandRow="1">
                <a:tableStyleId>{5C22544A-7EE6-4342-B048-85BDC9FD1C3A}</a:tableStyleId>
              </a:tblPr>
              <a:tblGrid>
                <a:gridCol w="1311593">
                  <a:extLst>
                    <a:ext uri="{9D8B030D-6E8A-4147-A177-3AD203B41FA5}">
                      <a16:colId xmlns:a16="http://schemas.microsoft.com/office/drawing/2014/main" val="828467782"/>
                    </a:ext>
                  </a:extLst>
                </a:gridCol>
                <a:gridCol w="7155180">
                  <a:extLst>
                    <a:ext uri="{9D8B030D-6E8A-4147-A177-3AD203B41FA5}">
                      <a16:colId xmlns:a16="http://schemas.microsoft.com/office/drawing/2014/main" val="2506432133"/>
                    </a:ext>
                  </a:extLst>
                </a:gridCol>
              </a:tblGrid>
              <a:tr h="14401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9.2.1 </a:t>
                      </a:r>
                      <a:r>
                        <a:rPr lang="zh-TW" altLang="en-US" sz="1800" b="1" dirty="0">
                          <a:solidFill>
                            <a:schemeClr val="tx1"/>
                          </a:solidFill>
                          <a:effectLst>
                            <a:outerShdw blurRad="38100" dist="38100" dir="2700000" algn="tl">
                              <a:srgbClr val="000000">
                                <a:alpha val="43137"/>
                              </a:srgbClr>
                            </a:outerShdw>
                          </a:effectLst>
                        </a:rPr>
                        <a:t>總則</a:t>
                      </a:r>
                      <a:endParaRPr lang="en-US" altLang="zh-TW" sz="1800" b="1"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General</a:t>
                      </a:r>
                      <a:endParaRPr lang="zh-TW" altLang="en-US" sz="1800" b="1" dirty="0">
                        <a:solidFill>
                          <a:schemeClr val="tx1"/>
                        </a:solidFill>
                        <a:effectLst>
                          <a:outerShdw blurRad="38100" dist="38100" dir="2700000" algn="tl">
                            <a:srgbClr val="000000">
                              <a:alpha val="43137"/>
                            </a:srgbClr>
                          </a:outerShdw>
                        </a:effectLst>
                      </a:endParaRPr>
                    </a:p>
                    <a:p>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None/>
                      </a:pPr>
                      <a:r>
                        <a:rPr lang="zh-TW" altLang="en-US" sz="1800" b="1" dirty="0">
                          <a:solidFill>
                            <a:schemeClr val="tx1"/>
                          </a:solidFill>
                          <a:effectLst>
                            <a:outerShdw blurRad="38100" dist="38100" dir="2700000" algn="tl">
                              <a:srgbClr val="000000">
                                <a:alpha val="43137"/>
                              </a:srgbClr>
                            </a:outerShdw>
                          </a:effectLst>
                        </a:rPr>
                        <a:t>組織應按計劃的時間間隔進行內部稽核，以提供有關</a:t>
                      </a:r>
                      <a:r>
                        <a:rPr lang="zh-TW" altLang="en-US" sz="1800" b="1" dirty="0" smtClean="0">
                          <a:solidFill>
                            <a:schemeClr val="tx1"/>
                          </a:solidFill>
                          <a:effectLst>
                            <a:outerShdw blurRad="38100" dist="38100" dir="2700000" algn="tl">
                              <a:srgbClr val="000000">
                                <a:alpha val="43137"/>
                              </a:srgbClr>
                            </a:outerShdw>
                          </a:effectLst>
                        </a:rPr>
                        <a:t>是否資訊安全</a:t>
                      </a:r>
                      <a:r>
                        <a:rPr lang="zh-TW" altLang="en-US" sz="1800" b="1" dirty="0">
                          <a:solidFill>
                            <a:schemeClr val="tx1"/>
                          </a:solidFill>
                          <a:effectLst>
                            <a:outerShdw blurRad="38100" dist="38100" dir="2700000" algn="tl">
                              <a:srgbClr val="000000">
                                <a:alpha val="43137"/>
                              </a:srgbClr>
                            </a:outerShdw>
                          </a:effectLst>
                        </a:rPr>
                        <a:t>管理體系：</a:t>
                      </a:r>
                    </a:p>
                    <a:p>
                      <a:pPr marL="0" indent="0">
                        <a:buNone/>
                      </a:pPr>
                      <a:r>
                        <a:rPr lang="en-US" altLang="zh-TW" sz="1800" b="1" dirty="0" smtClean="0">
                          <a:solidFill>
                            <a:schemeClr val="tx1"/>
                          </a:solidFill>
                          <a:effectLst>
                            <a:outerShdw blurRad="38100" dist="38100" dir="2700000" algn="tl">
                              <a:srgbClr val="000000">
                                <a:alpha val="43137"/>
                              </a:srgbClr>
                            </a:outerShdw>
                          </a:effectLst>
                        </a:rPr>
                        <a:t>(A)</a:t>
                      </a:r>
                      <a:r>
                        <a:rPr lang="zh-TW" altLang="en-US" sz="1800" b="1" dirty="0" smtClean="0">
                          <a:solidFill>
                            <a:schemeClr val="tx1"/>
                          </a:solidFill>
                          <a:effectLst>
                            <a:outerShdw blurRad="38100" dist="38100" dir="2700000" algn="tl">
                              <a:srgbClr val="000000">
                                <a:alpha val="43137"/>
                              </a:srgbClr>
                            </a:outerShdw>
                          </a:effectLst>
                        </a:rPr>
                        <a:t>符合</a:t>
                      </a:r>
                      <a:endParaRPr lang="zh-TW" altLang="en-US" sz="1800" b="1" dirty="0">
                        <a:solidFill>
                          <a:schemeClr val="tx1"/>
                        </a:solidFill>
                        <a:effectLst>
                          <a:outerShdw blurRad="38100" dist="38100" dir="2700000" algn="tl">
                            <a:srgbClr val="000000">
                              <a:alpha val="43137"/>
                            </a:srgbClr>
                          </a:outerShdw>
                        </a:effectLst>
                      </a:endParaRPr>
                    </a:p>
                    <a:p>
                      <a:pPr marL="457200" lvl="1" indent="0">
                        <a:buNone/>
                      </a:pPr>
                      <a:r>
                        <a:rPr lang="en-US" altLang="zh-TW" sz="1800" b="1" dirty="0">
                          <a:solidFill>
                            <a:schemeClr val="tx1"/>
                          </a:solidFill>
                          <a:effectLst>
                            <a:outerShdw blurRad="38100" dist="38100" dir="2700000" algn="tl">
                              <a:srgbClr val="000000">
                                <a:alpha val="43137"/>
                              </a:srgbClr>
                            </a:outerShdw>
                          </a:effectLst>
                        </a:rPr>
                        <a:t>1) </a:t>
                      </a:r>
                      <a:r>
                        <a:rPr lang="zh-TW" altLang="en-US" sz="1800" b="1" dirty="0">
                          <a:solidFill>
                            <a:schemeClr val="tx1"/>
                          </a:solidFill>
                          <a:effectLst>
                            <a:outerShdw blurRad="38100" dist="38100" dir="2700000" algn="tl">
                              <a:srgbClr val="000000">
                                <a:alpha val="43137"/>
                              </a:srgbClr>
                            </a:outerShdw>
                          </a:effectLst>
                        </a:rPr>
                        <a:t>組織自身對其資訊安全管理體系的要求；</a:t>
                      </a:r>
                    </a:p>
                    <a:p>
                      <a:pPr marL="457200" lvl="1" indent="0">
                        <a:buNone/>
                      </a:pPr>
                      <a:r>
                        <a:rPr lang="en-US" altLang="zh-TW" sz="1800" b="1" dirty="0">
                          <a:solidFill>
                            <a:schemeClr val="tx1"/>
                          </a:solidFill>
                          <a:effectLst>
                            <a:outerShdw blurRad="38100" dist="38100" dir="2700000" algn="tl">
                              <a:srgbClr val="000000">
                                <a:alpha val="43137"/>
                              </a:srgbClr>
                            </a:outerShdw>
                          </a:effectLst>
                        </a:rPr>
                        <a:t>2)</a:t>
                      </a:r>
                      <a:r>
                        <a:rPr lang="zh-TW" altLang="en-US" sz="1800" b="1" dirty="0">
                          <a:solidFill>
                            <a:schemeClr val="tx1"/>
                          </a:solidFill>
                          <a:effectLst>
                            <a:outerShdw blurRad="38100" dist="38100" dir="2700000" algn="tl">
                              <a:srgbClr val="000000">
                                <a:alpha val="43137"/>
                              </a:srgbClr>
                            </a:outerShdw>
                          </a:effectLst>
                        </a:rPr>
                        <a:t>本檔的要求；</a:t>
                      </a:r>
                    </a:p>
                    <a:p>
                      <a:pPr marL="0" indent="0">
                        <a:buNone/>
                      </a:pPr>
                      <a:r>
                        <a:rPr lang="en-US" altLang="zh-TW" sz="1800" b="1" dirty="0" smtClean="0">
                          <a:solidFill>
                            <a:schemeClr val="tx1"/>
                          </a:solidFill>
                          <a:effectLst>
                            <a:outerShdw blurRad="38100" dist="38100" dir="2700000" algn="tl">
                              <a:srgbClr val="000000">
                                <a:alpha val="43137"/>
                              </a:srgbClr>
                            </a:outerShdw>
                          </a:effectLst>
                        </a:rPr>
                        <a:t>(B)</a:t>
                      </a:r>
                      <a:r>
                        <a:rPr lang="zh-TW" altLang="en-US" sz="1800" b="1" dirty="0" smtClean="0">
                          <a:solidFill>
                            <a:schemeClr val="tx1"/>
                          </a:solidFill>
                          <a:effectLst>
                            <a:outerShdw blurRad="38100" dist="38100" dir="2700000" algn="tl">
                              <a:srgbClr val="000000">
                                <a:alpha val="43137"/>
                              </a:srgbClr>
                            </a:outerShdw>
                          </a:effectLst>
                        </a:rPr>
                        <a:t>得到</a:t>
                      </a:r>
                      <a:r>
                        <a:rPr lang="zh-TW" altLang="en-US" sz="1800" b="1" dirty="0">
                          <a:solidFill>
                            <a:schemeClr val="tx1"/>
                          </a:solidFill>
                          <a:effectLst>
                            <a:outerShdw blurRad="38100" dist="38100" dir="2700000" algn="tl">
                              <a:srgbClr val="000000">
                                <a:alpha val="43137"/>
                              </a:srgbClr>
                            </a:outerShdw>
                          </a:effectLst>
                        </a:rPr>
                        <a:t>有效實施和維護</a:t>
                      </a:r>
                      <a:r>
                        <a:rPr lang="zh-TW" altLang="en-US" sz="1800" b="1" dirty="0" smtClean="0">
                          <a:solidFill>
                            <a:schemeClr val="tx1"/>
                          </a:solidFill>
                          <a:effectLst>
                            <a:outerShdw blurRad="38100" dist="38100" dir="2700000" algn="tl">
                              <a:srgbClr val="000000">
                                <a:alpha val="43137"/>
                              </a:srgbClr>
                            </a:outerShdw>
                          </a:effectLst>
                        </a:rPr>
                        <a:t>。</a:t>
                      </a:r>
                      <a:endParaRPr lang="en-US" altLang="zh-TW" sz="1800" b="1" dirty="0" smtClean="0">
                        <a:solidFill>
                          <a:schemeClr val="tx1"/>
                        </a:solidFill>
                        <a:effectLst>
                          <a:outerShdw blurRad="38100" dist="38100" dir="2700000" algn="tl">
                            <a:srgbClr val="000000">
                              <a:alpha val="43137"/>
                            </a:srgbClr>
                          </a:outerShdw>
                        </a:effectLst>
                      </a:endParaRPr>
                    </a:p>
                    <a:p>
                      <a:pPr marL="0" indent="0">
                        <a:buNone/>
                      </a:pP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5442752"/>
                  </a:ext>
                </a:extLst>
              </a:tr>
              <a:tr h="2583180">
                <a:tc>
                  <a:txBody>
                    <a:bodyPr/>
                    <a:lstStyle/>
                    <a:p>
                      <a:pPr marL="0" indent="0">
                        <a:buNone/>
                      </a:pPr>
                      <a:r>
                        <a:rPr lang="en-US" altLang="zh-TW" sz="1800" b="1" dirty="0">
                          <a:solidFill>
                            <a:schemeClr val="tx1"/>
                          </a:solidFill>
                          <a:effectLst>
                            <a:outerShdw blurRad="38100" dist="38100" dir="2700000" algn="tl">
                              <a:srgbClr val="000000">
                                <a:alpha val="43137"/>
                              </a:srgbClr>
                            </a:outerShdw>
                          </a:effectLst>
                        </a:rPr>
                        <a:t>9.2.2 </a:t>
                      </a:r>
                      <a:r>
                        <a:rPr lang="zh-TW" altLang="en-US" sz="1800" b="1" dirty="0">
                          <a:solidFill>
                            <a:schemeClr val="tx1"/>
                          </a:solidFill>
                          <a:effectLst>
                            <a:outerShdw blurRad="38100" dist="38100" dir="2700000" algn="tl">
                              <a:srgbClr val="000000">
                                <a:alpha val="43137"/>
                              </a:srgbClr>
                            </a:outerShdw>
                          </a:effectLst>
                        </a:rPr>
                        <a:t>內部稽核</a:t>
                      </a:r>
                      <a:r>
                        <a:rPr lang="zh-TW" altLang="en-US" sz="1800" b="1" dirty="0" smtClean="0">
                          <a:solidFill>
                            <a:schemeClr val="tx1"/>
                          </a:solidFill>
                          <a:effectLst>
                            <a:outerShdw blurRad="38100" dist="38100" dir="2700000" algn="tl">
                              <a:srgbClr val="000000">
                                <a:alpha val="43137"/>
                              </a:srgbClr>
                            </a:outerShdw>
                          </a:effectLst>
                        </a:rPr>
                        <a:t>程序</a:t>
                      </a:r>
                      <a:endParaRPr lang="en-US" altLang="zh-TW" sz="1800" b="1"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effectLst>
                            <a:outerShdw blurRad="38100" dist="38100" dir="2700000" algn="tl">
                              <a:srgbClr val="000000">
                                <a:alpha val="43137"/>
                              </a:srgbClr>
                            </a:outerShdw>
                          </a:effectLst>
                        </a:rPr>
                        <a:t>Internal audit </a:t>
                      </a:r>
                      <a:r>
                        <a:rPr lang="en-US" altLang="zh-TW" sz="1800" b="1" dirty="0" err="1">
                          <a:solidFill>
                            <a:schemeClr val="tx1"/>
                          </a:solidFill>
                          <a:effectLst>
                            <a:outerShdw blurRad="38100" dist="38100" dir="2700000" algn="tl">
                              <a:srgbClr val="000000">
                                <a:alpha val="43137"/>
                              </a:srgbClr>
                            </a:outerShdw>
                          </a:effectLst>
                        </a:rPr>
                        <a:t>programme</a:t>
                      </a:r>
                      <a:endParaRPr lang="en-US" altLang="zh-TW" sz="1800" b="1" dirty="0">
                        <a:solidFill>
                          <a:schemeClr val="tx1"/>
                        </a:solidFill>
                        <a:effectLst>
                          <a:outerShdw blurRad="38100" dist="38100" dir="2700000" algn="tl">
                            <a:srgbClr val="000000">
                              <a:alpha val="43137"/>
                            </a:srgbClr>
                          </a:outerShdw>
                        </a:effectLst>
                      </a:endParaRPr>
                    </a:p>
                    <a:p>
                      <a:pPr marL="0" indent="0">
                        <a:buNone/>
                      </a:pPr>
                      <a:endParaRPr lang="zh-TW" altLang="en-US" sz="1800" b="1" dirty="0">
                        <a:solidFill>
                          <a:schemeClr val="tx1"/>
                        </a:solidFill>
                        <a:effectLst>
                          <a:outerShdw blurRad="38100" dist="38100" dir="2700000" algn="tl">
                            <a:srgbClr val="000000">
                              <a:alpha val="43137"/>
                            </a:srgbClr>
                          </a:outerShdw>
                        </a:effectLst>
                      </a:endParaRPr>
                    </a:p>
                    <a:p>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None/>
                      </a:pPr>
                      <a:r>
                        <a:rPr lang="zh-TW" altLang="en-US" sz="1800" b="1" dirty="0">
                          <a:solidFill>
                            <a:schemeClr val="tx1"/>
                          </a:solidFill>
                          <a:effectLst>
                            <a:outerShdw blurRad="38100" dist="38100" dir="2700000" algn="tl">
                              <a:srgbClr val="000000">
                                <a:alpha val="43137"/>
                              </a:srgbClr>
                            </a:outerShdw>
                          </a:effectLst>
                        </a:rPr>
                        <a:t>組織應策劃、建立、實施和保持稽核方案，包括頻率、方法、職責、規劃要求和報告。</a:t>
                      </a:r>
                      <a:endParaRPr lang="en-US" altLang="zh-TW" sz="1800" b="1" dirty="0">
                        <a:solidFill>
                          <a:schemeClr val="tx1"/>
                        </a:solidFill>
                        <a:effectLst>
                          <a:outerShdw blurRad="38100" dist="38100" dir="2700000" algn="tl">
                            <a:srgbClr val="000000">
                              <a:alpha val="43137"/>
                            </a:srgbClr>
                          </a:outerShdw>
                        </a:effectLst>
                      </a:endParaRPr>
                    </a:p>
                    <a:p>
                      <a:pPr marL="0" indent="0">
                        <a:buNone/>
                      </a:pPr>
                      <a:endParaRPr lang="zh-TW" altLang="en-US" sz="1800" b="1" dirty="0">
                        <a:solidFill>
                          <a:schemeClr val="tx1"/>
                        </a:solidFill>
                        <a:effectLst>
                          <a:outerShdw blurRad="38100" dist="38100" dir="2700000" algn="tl">
                            <a:srgbClr val="000000">
                              <a:alpha val="43137"/>
                            </a:srgbClr>
                          </a:outerShdw>
                        </a:effectLst>
                      </a:endParaRPr>
                    </a:p>
                    <a:p>
                      <a:pPr marL="0" indent="0">
                        <a:buNone/>
                      </a:pPr>
                      <a:r>
                        <a:rPr lang="zh-TW" altLang="en-US" sz="1800" b="1" dirty="0">
                          <a:solidFill>
                            <a:schemeClr val="tx1"/>
                          </a:solidFill>
                          <a:effectLst>
                            <a:outerShdw blurRad="38100" dist="38100" dir="2700000" algn="tl">
                              <a:srgbClr val="000000">
                                <a:alpha val="43137"/>
                              </a:srgbClr>
                            </a:outerShdw>
                          </a:effectLst>
                        </a:rPr>
                        <a:t>在建立內部稽核方案時，組織應考慮以下方面的重要性：</a:t>
                      </a:r>
                    </a:p>
                    <a:p>
                      <a:pPr marL="285750" indent="-285750">
                        <a:buFont typeface="Wingdings" panose="05000000000000000000" pitchFamily="2" charset="2"/>
                        <a:buChar char="n"/>
                      </a:pPr>
                      <a:r>
                        <a:rPr lang="zh-TW" altLang="en-US" sz="1800" b="1" dirty="0">
                          <a:solidFill>
                            <a:schemeClr val="tx1"/>
                          </a:solidFill>
                          <a:effectLst>
                            <a:outerShdw blurRad="38100" dist="38100" dir="2700000" algn="tl">
                              <a:srgbClr val="000000">
                                <a:alpha val="43137"/>
                              </a:srgbClr>
                            </a:outerShdw>
                          </a:effectLst>
                        </a:rPr>
                        <a:t>有關的過程和以前稽核的結果</a:t>
                      </a:r>
                      <a:r>
                        <a:rPr lang="zh-TW" altLang="en-US" sz="1800" b="1" dirty="0" smtClean="0">
                          <a:solidFill>
                            <a:schemeClr val="tx1"/>
                          </a:solidFill>
                          <a:effectLst>
                            <a:outerShdw blurRad="38100" dist="38100" dir="2700000" algn="tl">
                              <a:srgbClr val="000000">
                                <a:alpha val="43137"/>
                              </a:srgbClr>
                            </a:outerShdw>
                          </a:effectLst>
                        </a:rPr>
                        <a:t>。</a:t>
                      </a:r>
                      <a:endParaRPr lang="en-US" altLang="zh-TW" sz="1800" b="1" dirty="0">
                        <a:solidFill>
                          <a:schemeClr val="tx1"/>
                        </a:solidFill>
                        <a:effectLst>
                          <a:outerShdw blurRad="38100" dist="38100" dir="2700000" algn="tl">
                            <a:srgbClr val="000000">
                              <a:alpha val="43137"/>
                            </a:srgbClr>
                          </a:outerShdw>
                        </a:effectLst>
                      </a:endParaRPr>
                    </a:p>
                    <a:p>
                      <a:pPr marL="285750" indent="-285750">
                        <a:buFont typeface="Wingdings" panose="05000000000000000000" pitchFamily="2" charset="2"/>
                        <a:buChar char="n"/>
                      </a:pPr>
                      <a:r>
                        <a:rPr lang="zh-TW" altLang="en-US" sz="1800" b="1" dirty="0">
                          <a:solidFill>
                            <a:schemeClr val="tx1"/>
                          </a:solidFill>
                          <a:effectLst>
                            <a:outerShdw blurRad="38100" dist="38100" dir="2700000" algn="tl">
                              <a:srgbClr val="000000">
                                <a:alpha val="43137"/>
                              </a:srgbClr>
                            </a:outerShdw>
                          </a:effectLst>
                        </a:rPr>
                        <a:t>組織應：</a:t>
                      </a:r>
                    </a:p>
                    <a:p>
                      <a:pPr marL="457200" lvl="1" indent="0">
                        <a:buNone/>
                      </a:pPr>
                      <a:r>
                        <a:rPr lang="en-US" altLang="zh-TW" sz="1800" b="1" dirty="0">
                          <a:solidFill>
                            <a:schemeClr val="tx1"/>
                          </a:solidFill>
                          <a:effectLst>
                            <a:outerShdw blurRad="38100" dist="38100" dir="2700000" algn="tl">
                              <a:srgbClr val="000000">
                                <a:alpha val="43137"/>
                              </a:srgbClr>
                            </a:outerShdw>
                          </a:effectLst>
                        </a:rPr>
                        <a:t>a) </a:t>
                      </a:r>
                      <a:r>
                        <a:rPr lang="zh-TW" altLang="en-US" sz="1800" b="1" dirty="0">
                          <a:solidFill>
                            <a:schemeClr val="tx1"/>
                          </a:solidFill>
                          <a:effectLst>
                            <a:outerShdw blurRad="38100" dist="38100" dir="2700000" algn="tl">
                              <a:srgbClr val="000000">
                                <a:alpha val="43137"/>
                              </a:srgbClr>
                            </a:outerShdw>
                          </a:effectLst>
                        </a:rPr>
                        <a:t>規定每次稽核的稽核准則和範圍；</a:t>
                      </a:r>
                    </a:p>
                    <a:p>
                      <a:pPr marL="457200" lvl="1" indent="0">
                        <a:buNone/>
                      </a:pPr>
                      <a:r>
                        <a:rPr lang="en-US" altLang="zh-TW" sz="1800" b="1" dirty="0">
                          <a:solidFill>
                            <a:schemeClr val="tx1"/>
                          </a:solidFill>
                          <a:effectLst>
                            <a:outerShdw blurRad="38100" dist="38100" dir="2700000" algn="tl">
                              <a:srgbClr val="000000">
                                <a:alpha val="43137"/>
                              </a:srgbClr>
                            </a:outerShdw>
                          </a:effectLst>
                        </a:rPr>
                        <a:t>b) </a:t>
                      </a:r>
                      <a:r>
                        <a:rPr lang="zh-TW" altLang="en-US" sz="1800" b="1" dirty="0">
                          <a:solidFill>
                            <a:schemeClr val="tx1"/>
                          </a:solidFill>
                          <a:effectLst>
                            <a:outerShdw blurRad="38100" dist="38100" dir="2700000" algn="tl">
                              <a:srgbClr val="000000">
                                <a:alpha val="43137"/>
                              </a:srgbClr>
                            </a:outerShdw>
                          </a:effectLst>
                        </a:rPr>
                        <a:t>選擇稽核員並進行稽核以確保稽核過程的客觀性和公正性；</a:t>
                      </a:r>
                    </a:p>
                    <a:p>
                      <a:pPr marL="457200" lvl="1" indent="0">
                        <a:buNone/>
                      </a:pPr>
                      <a:r>
                        <a:rPr lang="en-US" altLang="zh-TW" sz="1800" b="1" dirty="0">
                          <a:solidFill>
                            <a:schemeClr val="tx1"/>
                          </a:solidFill>
                          <a:effectLst>
                            <a:outerShdw blurRad="38100" dist="38100" dir="2700000" algn="tl">
                              <a:srgbClr val="000000">
                                <a:alpha val="43137"/>
                              </a:srgbClr>
                            </a:outerShdw>
                          </a:effectLst>
                        </a:rPr>
                        <a:t>c) </a:t>
                      </a:r>
                      <a:r>
                        <a:rPr lang="zh-TW" altLang="en-US" sz="1800" b="1" dirty="0">
                          <a:solidFill>
                            <a:schemeClr val="tx1"/>
                          </a:solidFill>
                          <a:effectLst>
                            <a:outerShdw blurRad="38100" dist="38100" dir="2700000" algn="tl">
                              <a:srgbClr val="000000">
                                <a:alpha val="43137"/>
                              </a:srgbClr>
                            </a:outerShdw>
                          </a:effectLst>
                        </a:rPr>
                        <a:t>確保將稽核結果報告給相關管理人員</a:t>
                      </a:r>
                      <a:r>
                        <a:rPr lang="zh-TW" altLang="en-US" sz="1800" b="1" dirty="0" smtClean="0">
                          <a:solidFill>
                            <a:schemeClr val="tx1"/>
                          </a:solidFill>
                          <a:effectLst>
                            <a:outerShdw blurRad="38100" dist="38100" dir="2700000" algn="tl">
                              <a:srgbClr val="000000">
                                <a:alpha val="43137"/>
                              </a:srgbClr>
                            </a:outerShdw>
                          </a:effectLst>
                        </a:rPr>
                        <a:t>；</a:t>
                      </a:r>
                      <a:endParaRPr lang="en-US" altLang="zh-TW" sz="1800" b="1" dirty="0" smtClean="0">
                        <a:solidFill>
                          <a:schemeClr val="tx1"/>
                        </a:solidFill>
                        <a:effectLst>
                          <a:outerShdw blurRad="38100" dist="38100" dir="2700000" algn="tl">
                            <a:srgbClr val="000000">
                              <a:alpha val="43137"/>
                            </a:srgbClr>
                          </a:outerShdw>
                        </a:effectLst>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altLang="zh-TW" sz="1800" b="1" dirty="0" smtClean="0">
                        <a:solidFill>
                          <a:schemeClr val="tx1"/>
                        </a:solidFill>
                        <a:effectLst>
                          <a:outerShdw blurRad="38100" dist="38100" dir="2700000" algn="tl">
                            <a:srgbClr val="000000">
                              <a:alpha val="43137"/>
                            </a:srgbClr>
                          </a:outerShdw>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dirty="0" smtClean="0">
                          <a:solidFill>
                            <a:schemeClr val="tx1"/>
                          </a:solidFill>
                          <a:effectLst>
                            <a:outerShdw blurRad="38100" dist="38100" dir="2700000" algn="tl">
                              <a:srgbClr val="000000">
                                <a:alpha val="43137"/>
                              </a:srgbClr>
                            </a:outerShdw>
                          </a:effectLst>
                        </a:rPr>
                        <a:t>應提供</a:t>
                      </a:r>
                      <a:r>
                        <a:rPr lang="zh-TW" altLang="en-US" sz="1800" b="1" dirty="0" smtClean="0">
                          <a:solidFill>
                            <a:srgbClr val="C00000"/>
                          </a:solidFill>
                          <a:effectLst>
                            <a:outerShdw blurRad="38100" dist="38100" dir="2700000" algn="tl">
                              <a:srgbClr val="000000">
                                <a:alpha val="43137"/>
                              </a:srgbClr>
                            </a:outerShdw>
                          </a:effectLst>
                        </a:rPr>
                        <a:t>文件化資訊</a:t>
                      </a:r>
                      <a:r>
                        <a:rPr lang="zh-TW" altLang="en-US" sz="1800" b="1" dirty="0" smtClean="0">
                          <a:solidFill>
                            <a:schemeClr val="tx1"/>
                          </a:solidFill>
                          <a:effectLst>
                            <a:outerShdw blurRad="38100" dist="38100" dir="2700000" algn="tl">
                              <a:srgbClr val="000000">
                                <a:alpha val="43137"/>
                              </a:srgbClr>
                            </a:outerShdw>
                          </a:effectLst>
                        </a:rPr>
                        <a:t>作為</a:t>
                      </a:r>
                      <a:r>
                        <a:rPr lang="zh-TW" altLang="en-US" sz="1800" b="1" dirty="0">
                          <a:solidFill>
                            <a:schemeClr val="tx1"/>
                          </a:solidFill>
                          <a:effectLst>
                            <a:outerShdw blurRad="38100" dist="38100" dir="2700000" algn="tl">
                              <a:srgbClr val="000000">
                                <a:alpha val="43137"/>
                              </a:srgbClr>
                            </a:outerShdw>
                          </a:effectLst>
                        </a:rPr>
                        <a:t>稽核方案實施的證據及稽核結果</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8413950"/>
                  </a:ext>
                </a:extLst>
              </a:tr>
            </a:tbl>
          </a:graphicData>
        </a:graphic>
      </p:graphicFrame>
      <p:sp>
        <p:nvSpPr>
          <p:cNvPr id="4" name="投影片編號版面配置區 3"/>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17</a:t>
            </a:fld>
            <a:endParaRPr lang="zh-TW" altLang="en-US" dirty="0"/>
          </a:p>
        </p:txBody>
      </p:sp>
    </p:spTree>
    <p:extLst>
      <p:ext uri="{BB962C8B-B14F-4D97-AF65-F5344CB8AC3E}">
        <p14:creationId xmlns:p14="http://schemas.microsoft.com/office/powerpoint/2010/main" val="3279632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74545" y="4232940"/>
            <a:ext cx="5010156" cy="715581"/>
          </a:xfrm>
          <a:prstGeom prst="rect">
            <a:avLst/>
          </a:prstGeom>
        </p:spPr>
        <p:txBody>
          <a:bodyPr wrap="square">
            <a:spAutoFit/>
          </a:bodyPr>
          <a:lstStyle/>
          <a:p>
            <a:endParaRPr lang="en-US" altLang="zh-TW" sz="1350" dirty="0"/>
          </a:p>
          <a:p>
            <a:endParaRPr lang="en-US" altLang="zh-TW" sz="1350" dirty="0"/>
          </a:p>
          <a:p>
            <a:endParaRPr lang="en-US" altLang="zh-TW" sz="1350" dirty="0"/>
          </a:p>
        </p:txBody>
      </p:sp>
      <p:sp>
        <p:nvSpPr>
          <p:cNvPr id="4" name="矩形 3"/>
          <p:cNvSpPr/>
          <p:nvPr/>
        </p:nvSpPr>
        <p:spPr>
          <a:xfrm>
            <a:off x="281641" y="0"/>
            <a:ext cx="2031325" cy="646331"/>
          </a:xfrm>
          <a:prstGeom prst="rect">
            <a:avLst/>
          </a:prstGeom>
        </p:spPr>
        <p:txBody>
          <a:bodyPr wrap="none">
            <a:spAutoFit/>
          </a:bodyPr>
          <a:lstStyle/>
          <a:p>
            <a:r>
              <a:rPr lang="zh-TW" altLang="en-US" sz="3600" dirty="0"/>
              <a:t>資安稽核</a:t>
            </a:r>
          </a:p>
        </p:txBody>
      </p:sp>
      <p:graphicFrame>
        <p:nvGraphicFramePr>
          <p:cNvPr id="6" name="表格 5"/>
          <p:cNvGraphicFramePr>
            <a:graphicFrameLocks noGrp="1"/>
          </p:cNvGraphicFramePr>
          <p:nvPr>
            <p:extLst>
              <p:ext uri="{D42A27DB-BD31-4B8C-83A1-F6EECF244321}">
                <p14:modId xmlns:p14="http://schemas.microsoft.com/office/powerpoint/2010/main" val="322922421"/>
              </p:ext>
            </p:extLst>
          </p:nvPr>
        </p:nvGraphicFramePr>
        <p:xfrm>
          <a:off x="360380" y="2346988"/>
          <a:ext cx="8238613" cy="3710943"/>
        </p:xfrm>
        <a:graphic>
          <a:graphicData uri="http://schemas.openxmlformats.org/drawingml/2006/table">
            <a:tbl>
              <a:tblPr firstRow="1" bandRow="1">
                <a:tableStyleId>{5C22544A-7EE6-4342-B048-85BDC9FD1C3A}</a:tableStyleId>
              </a:tblPr>
              <a:tblGrid>
                <a:gridCol w="1145427">
                  <a:extLst>
                    <a:ext uri="{9D8B030D-6E8A-4147-A177-3AD203B41FA5}">
                      <a16:colId xmlns:a16="http://schemas.microsoft.com/office/drawing/2014/main" val="1708114074"/>
                    </a:ext>
                  </a:extLst>
                </a:gridCol>
                <a:gridCol w="7093186">
                  <a:extLst>
                    <a:ext uri="{9D8B030D-6E8A-4147-A177-3AD203B41FA5}">
                      <a16:colId xmlns:a16="http://schemas.microsoft.com/office/drawing/2014/main" val="3513513826"/>
                    </a:ext>
                  </a:extLst>
                </a:gridCol>
              </a:tblGrid>
              <a:tr h="160020">
                <a:tc gridSpan="2">
                  <a:txBody>
                    <a:bodyPr/>
                    <a:lstStyle/>
                    <a:p>
                      <a:r>
                        <a:rPr lang="zh-TW" altLang="en-US" sz="2000" dirty="0" smtClean="0">
                          <a:solidFill>
                            <a:schemeClr val="tx1"/>
                          </a:solidFill>
                        </a:rPr>
                        <a:t>稽核類型</a:t>
                      </a:r>
                      <a:endParaRPr lang="zh-TW" altLang="en-US" sz="2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sz="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2012527"/>
                  </a:ext>
                </a:extLst>
              </a:tr>
              <a:tr h="914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rgbClr val="FF0000"/>
                          </a:solidFill>
                          <a:effectLst>
                            <a:outerShdw blurRad="38100" dist="38100" dir="2700000" algn="tl">
                              <a:srgbClr val="000000">
                                <a:alpha val="43137"/>
                              </a:srgbClr>
                            </a:outerShdw>
                          </a:effectLst>
                        </a:rPr>
                        <a:t>內部稽核</a:t>
                      </a:r>
                      <a:r>
                        <a:rPr lang="en-US" altLang="zh-TW" sz="1800" b="1" dirty="0">
                          <a:solidFill>
                            <a:srgbClr val="FF0000"/>
                          </a:solidFill>
                          <a:effectLst>
                            <a:outerShdw blurRad="38100" dist="38100" dir="2700000" algn="tl">
                              <a:srgbClr val="000000">
                                <a:alpha val="43137"/>
                              </a:srgbClr>
                            </a:outerShdw>
                          </a:effectLst>
                        </a:rPr>
                        <a:t>(Internal audit)</a:t>
                      </a:r>
                      <a:endParaRPr lang="en-US" altLang="zh-TW" sz="1800" b="1" dirty="0"/>
                    </a:p>
                    <a:p>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TW" sz="1800" b="1" dirty="0"/>
                        <a:t>First Party</a:t>
                      </a:r>
                      <a:r>
                        <a:rPr lang="zh-TW" altLang="en-US" sz="1800" b="1" dirty="0"/>
                        <a:t>（第一方稽核）</a:t>
                      </a:r>
                      <a:endParaRPr lang="en-US" altLang="zh-TW" sz="1800" b="1" dirty="0"/>
                    </a:p>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zh-TW" altLang="en-US" sz="1800" b="1" dirty="0">
                          <a:solidFill>
                            <a:srgbClr val="FF0000"/>
                          </a:solidFill>
                          <a:effectLst>
                            <a:outerShdw blurRad="38100" dist="38100" dir="2700000" algn="tl">
                              <a:srgbClr val="000000">
                                <a:alpha val="43137"/>
                              </a:srgbClr>
                            </a:outerShdw>
                          </a:effectLst>
                        </a:rPr>
                        <a:t>內部稽核</a:t>
                      </a:r>
                      <a:r>
                        <a:rPr lang="zh-TW" altLang="en-US" sz="1800" b="1" dirty="0"/>
                        <a:t>由</a:t>
                      </a:r>
                      <a:r>
                        <a:rPr lang="zh-TW" altLang="en-US" sz="1800" b="1" dirty="0">
                          <a:solidFill>
                            <a:srgbClr val="FF0000"/>
                          </a:solidFill>
                          <a:effectLst>
                            <a:outerShdw blurRad="38100" dist="38100" dir="2700000" algn="tl">
                              <a:srgbClr val="000000">
                                <a:alpha val="43137"/>
                              </a:srgbClr>
                            </a:outerShdw>
                          </a:effectLst>
                        </a:rPr>
                        <a:t>組織內部</a:t>
                      </a:r>
                      <a:r>
                        <a:rPr lang="zh-TW" altLang="en-US" sz="1800" b="1" dirty="0"/>
                        <a:t>所發起的稽核活動</a:t>
                      </a:r>
                    </a:p>
                    <a:p>
                      <a:pPr marL="342900" indent="-342900">
                        <a:buFont typeface="Wingdings" panose="05000000000000000000" pitchFamily="2" charset="2"/>
                        <a:buChar char="ü"/>
                      </a:pPr>
                      <a:r>
                        <a:rPr lang="zh-TW" altLang="en-US" sz="1800" b="1" dirty="0"/>
                        <a:t>確保管理制度的維護、發展與改善符合目標</a:t>
                      </a:r>
                      <a:endParaRPr lang="en-US" altLang="zh-TW"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2103095"/>
                  </a:ext>
                </a:extLst>
              </a:tr>
              <a:tr h="1005843">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rgbClr val="FF0000"/>
                          </a:solidFill>
                          <a:effectLst>
                            <a:outerShdw blurRad="38100" dist="38100" dir="2700000" algn="tl">
                              <a:srgbClr val="000000">
                                <a:alpha val="43137"/>
                              </a:srgbClr>
                            </a:outerShdw>
                          </a:effectLst>
                        </a:rPr>
                        <a:t>外部稽核</a:t>
                      </a:r>
                      <a:r>
                        <a:rPr lang="en-US" altLang="zh-TW" sz="1800" b="1" dirty="0">
                          <a:solidFill>
                            <a:srgbClr val="FF0000"/>
                          </a:solidFill>
                          <a:effectLst>
                            <a:outerShdw blurRad="38100" dist="38100" dir="2700000" algn="tl">
                              <a:srgbClr val="000000">
                                <a:alpha val="43137"/>
                              </a:srgbClr>
                            </a:outerShdw>
                          </a:effectLst>
                        </a:rPr>
                        <a:t>(External audit)</a:t>
                      </a:r>
                    </a:p>
                    <a:p>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t>Second party</a:t>
                      </a:r>
                      <a:r>
                        <a:rPr lang="zh-TW" altLang="en-US" sz="1800" b="1" dirty="0"/>
                        <a:t> </a:t>
                      </a:r>
                      <a:r>
                        <a:rPr lang="zh-TW" altLang="en-US" sz="1800" b="1" dirty="0">
                          <a:solidFill>
                            <a:srgbClr val="FF0000"/>
                          </a:solidFill>
                          <a:effectLst>
                            <a:outerShdw blurRad="38100" dist="38100" dir="2700000" algn="tl">
                              <a:srgbClr val="000000">
                                <a:alpha val="43137"/>
                              </a:srgbClr>
                            </a:outerShdw>
                          </a:effectLst>
                        </a:rPr>
                        <a:t>第二方稽核</a:t>
                      </a:r>
                      <a:endParaRPr lang="en-US" altLang="zh-TW" sz="1800" b="1" dirty="0"/>
                    </a:p>
                    <a:p>
                      <a:pPr marL="285750" indent="-285750">
                        <a:buFont typeface="Wingdings" panose="05000000000000000000" pitchFamily="2" charset="2"/>
                        <a:buChar char="ü"/>
                      </a:pPr>
                      <a:r>
                        <a:rPr lang="zh-TW" altLang="en-US" sz="1800" b="1" dirty="0"/>
                        <a:t>組織對其 供應商 或 外包商 所進行之稽核</a:t>
                      </a:r>
                    </a:p>
                    <a:p>
                      <a:pPr marL="285750" indent="-285750">
                        <a:buFont typeface="Wingdings" panose="05000000000000000000" pitchFamily="2" charset="2"/>
                        <a:buChar char="ü"/>
                      </a:pPr>
                      <a:r>
                        <a:rPr lang="zh-TW" altLang="en-US" sz="1800" b="1" dirty="0"/>
                        <a:t>評估供應商與外包商是否符合合約要求或規定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5983768"/>
                  </a:ext>
                </a:extLst>
              </a:tr>
              <a:tr h="891540">
                <a:tc vMerge="1">
                  <a:txBody>
                    <a:bodyPr/>
                    <a:lstStyle/>
                    <a:p>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t>Third party</a:t>
                      </a:r>
                      <a:r>
                        <a:rPr lang="zh-TW" altLang="en-US" sz="1800" b="1" dirty="0"/>
                        <a:t>  獨立稽核</a:t>
                      </a:r>
                    </a:p>
                    <a:p>
                      <a:pPr marL="285750" indent="-285750">
                        <a:buFont typeface="Wingdings" panose="05000000000000000000" pitchFamily="2" charset="2"/>
                        <a:buChar char="ü"/>
                      </a:pPr>
                      <a:r>
                        <a:rPr lang="zh-TW" altLang="en-US" sz="1800" b="1" dirty="0"/>
                        <a:t>由獨立的機構對組織進行稽核</a:t>
                      </a:r>
                    </a:p>
                    <a:p>
                      <a:pPr marL="285750" indent="-285750">
                        <a:buFont typeface="Wingdings" panose="05000000000000000000" pitchFamily="2" charset="2"/>
                        <a:buChar char="ü"/>
                      </a:pPr>
                      <a:r>
                        <a:rPr lang="zh-TW" altLang="en-US" sz="1800" b="1" dirty="0"/>
                        <a:t>決定組織是否符合標準，建立、施行並維護文件化之管理制度</a:t>
                      </a:r>
                      <a:endParaRPr lang="en-US" altLang="zh-TW" sz="1800" b="1" dirty="0"/>
                    </a:p>
                    <a:p>
                      <a:pPr marL="285750" indent="-285750">
                        <a:buFont typeface="Wingdings" panose="05000000000000000000" pitchFamily="2" charset="2"/>
                        <a:buChar char="ü"/>
                      </a:pPr>
                      <a:r>
                        <a:rPr lang="en-US" altLang="zh-TW" sz="1800" b="1" dirty="0"/>
                        <a:t>ISO 27001:2022</a:t>
                      </a:r>
                      <a:r>
                        <a:rPr lang="zh-TW" altLang="en-US" sz="1800" b="1" dirty="0"/>
                        <a:t> 稽核</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8273769"/>
                  </a:ext>
                </a:extLst>
              </a:tr>
            </a:tbl>
          </a:graphicData>
        </a:graphic>
      </p:graphicFrame>
      <p:sp>
        <p:nvSpPr>
          <p:cNvPr id="5" name="矩形 4"/>
          <p:cNvSpPr/>
          <p:nvPr/>
        </p:nvSpPr>
        <p:spPr>
          <a:xfrm>
            <a:off x="341450" y="646331"/>
            <a:ext cx="8366545" cy="1477328"/>
          </a:xfrm>
          <a:prstGeom prst="rect">
            <a:avLst/>
          </a:prstGeom>
        </p:spPr>
        <p:txBody>
          <a:bodyPr wrap="square">
            <a:spAutoFit/>
          </a:bodyPr>
          <a:lstStyle/>
          <a:p>
            <a:r>
              <a:rPr lang="en-US" altLang="zh-TW" b="1" dirty="0">
                <a:effectLst>
                  <a:outerShdw blurRad="38100" dist="38100" dir="2700000" algn="tl">
                    <a:srgbClr val="000000">
                      <a:alpha val="43137"/>
                    </a:srgbClr>
                  </a:outerShdw>
                </a:effectLst>
              </a:rPr>
              <a:t>ISO 19011</a:t>
            </a:r>
            <a:r>
              <a:rPr lang="zh-TW" altLang="en-US" b="1" dirty="0">
                <a:effectLst>
                  <a:outerShdw blurRad="38100" dist="38100" dir="2700000" algn="tl">
                    <a:srgbClr val="000000">
                      <a:alpha val="43137"/>
                    </a:srgbClr>
                  </a:outerShdw>
                </a:effectLst>
              </a:rPr>
              <a:t>中稽核之定義：</a:t>
            </a:r>
          </a:p>
          <a:p>
            <a:r>
              <a:rPr lang="en-US" altLang="zh-TW" b="1" dirty="0">
                <a:effectLst>
                  <a:outerShdw blurRad="38100" dist="38100" dir="2700000" algn="tl">
                    <a:srgbClr val="000000">
                      <a:alpha val="43137"/>
                    </a:srgbClr>
                  </a:outerShdw>
                </a:effectLst>
              </a:rPr>
              <a:t>Systematic, independent and documented process for obtaining audit evidence and evaluating it objectively to determine the extent to which audit criteria are fulfilled.</a:t>
            </a:r>
          </a:p>
          <a:p>
            <a:r>
              <a:rPr lang="zh-TW" altLang="en-US" b="1" dirty="0">
                <a:effectLst>
                  <a:outerShdw blurRad="38100" dist="38100" dir="2700000" algn="tl">
                    <a:srgbClr val="000000">
                      <a:alpha val="43137"/>
                    </a:srgbClr>
                  </a:outerShdw>
                </a:effectLst>
              </a:rPr>
              <a:t>透過系統化、獨立性及檔化的流程取得稽核證據，並透過客觀地評估，以鑑別其稽核準則所涵蓋的範圍是否達成。</a:t>
            </a:r>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18</a:t>
            </a:fld>
            <a:endParaRPr lang="zh-TW" altLang="en-US" dirty="0"/>
          </a:p>
        </p:txBody>
      </p:sp>
    </p:spTree>
    <p:extLst>
      <p:ext uri="{BB962C8B-B14F-4D97-AF65-F5344CB8AC3E}">
        <p14:creationId xmlns:p14="http://schemas.microsoft.com/office/powerpoint/2010/main" val="225280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9062" y="854731"/>
            <a:ext cx="8590926" cy="477085"/>
          </a:xfrm>
        </p:spPr>
        <p:txBody>
          <a:bodyPr>
            <a:normAutofit fontScale="90000"/>
          </a:bodyPr>
          <a:lstStyle/>
          <a:p>
            <a:r>
              <a:rPr lang="zh-TW" altLang="en-US" b="1" dirty="0">
                <a:effectLst>
                  <a:outerShdw blurRad="38100" dist="38100" dir="2700000" algn="tl">
                    <a:srgbClr val="000000">
                      <a:alpha val="43137"/>
                    </a:srgbClr>
                  </a:outerShdw>
                </a:effectLst>
              </a:rPr>
              <a:t>附錄 </a:t>
            </a:r>
            <a:r>
              <a:rPr lang="en-US" altLang="zh-TW" b="1" dirty="0">
                <a:effectLst>
                  <a:outerShdw blurRad="38100" dist="38100" dir="2700000" algn="tl">
                    <a:srgbClr val="000000">
                      <a:alpha val="43137"/>
                    </a:srgbClr>
                  </a:outerShdw>
                </a:effectLst>
              </a:rPr>
              <a:t>A</a:t>
            </a:r>
            <a:r>
              <a:rPr lang="zh-TW" altLang="en-US" b="1" dirty="0">
                <a:effectLst>
                  <a:outerShdw blurRad="38100" dist="38100" dir="2700000" algn="tl">
                    <a:srgbClr val="000000">
                      <a:alpha val="43137"/>
                    </a:srgbClr>
                  </a:outerShdw>
                </a:effectLst>
              </a:rPr>
              <a:t> 資訊安全控制項參考 </a:t>
            </a:r>
            <a:r>
              <a:rPr lang="en-US" altLang="zh-TW" sz="2000" b="1" dirty="0">
                <a:effectLst>
                  <a:outerShdw blurRad="38100" dist="38100" dir="2700000" algn="tl">
                    <a:srgbClr val="000000">
                      <a:alpha val="43137"/>
                    </a:srgbClr>
                  </a:outerShdw>
                </a:effectLst>
              </a:rPr>
              <a:t>Information security controls reference</a:t>
            </a:r>
            <a:endParaRPr lang="zh-TW" altLang="en-US" sz="2000" b="1" dirty="0">
              <a:effectLst>
                <a:outerShdw blurRad="38100" dist="38100" dir="2700000" algn="tl">
                  <a:srgbClr val="000000">
                    <a:alpha val="43137"/>
                  </a:srgbClr>
                </a:outerShdw>
              </a:effectLst>
            </a:endParaRPr>
          </a:p>
        </p:txBody>
      </p:sp>
      <p:sp>
        <p:nvSpPr>
          <p:cNvPr id="3" name="內容版面配置區 2"/>
          <p:cNvSpPr>
            <a:spLocks noGrp="1"/>
          </p:cNvSpPr>
          <p:nvPr>
            <p:ph idx="1"/>
          </p:nvPr>
        </p:nvSpPr>
        <p:spPr/>
        <p:txBody>
          <a:bodyPr/>
          <a:lstStyle/>
          <a:p>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200350517"/>
              </p:ext>
            </p:extLst>
          </p:nvPr>
        </p:nvGraphicFramePr>
        <p:xfrm>
          <a:off x="119062" y="1559451"/>
          <a:ext cx="8939212" cy="4680896"/>
        </p:xfrm>
        <a:graphic>
          <a:graphicData uri="http://schemas.openxmlformats.org/drawingml/2006/table">
            <a:tbl>
              <a:tblPr firstRow="1" bandRow="1">
                <a:tableStyleId>{5C22544A-7EE6-4342-B048-85BDC9FD1C3A}</a:tableStyleId>
              </a:tblPr>
              <a:tblGrid>
                <a:gridCol w="3320535">
                  <a:extLst>
                    <a:ext uri="{9D8B030D-6E8A-4147-A177-3AD203B41FA5}">
                      <a16:colId xmlns:a16="http://schemas.microsoft.com/office/drawing/2014/main" val="3003477835"/>
                    </a:ext>
                  </a:extLst>
                </a:gridCol>
                <a:gridCol w="5618677">
                  <a:extLst>
                    <a:ext uri="{9D8B030D-6E8A-4147-A177-3AD203B41FA5}">
                      <a16:colId xmlns:a16="http://schemas.microsoft.com/office/drawing/2014/main" val="3866619322"/>
                    </a:ext>
                  </a:extLst>
                </a:gridCol>
              </a:tblGrid>
              <a:tr h="794696">
                <a:tc>
                  <a:txBody>
                    <a:bodyPr/>
                    <a:lstStyle/>
                    <a:p>
                      <a:r>
                        <a:rPr lang="en-US" altLang="zh-TW" sz="1500" dirty="0"/>
                        <a:t>4 </a:t>
                      </a:r>
                      <a:r>
                        <a:rPr lang="zh-TW" altLang="en-US" sz="1500" dirty="0"/>
                        <a:t>大關鍵領域</a:t>
                      </a:r>
                      <a:endParaRPr lang="en-US" altLang="zh-TW" sz="1500" dirty="0"/>
                    </a:p>
                    <a:p>
                      <a:r>
                        <a:rPr lang="en-US" altLang="zh-TW" sz="1500" dirty="0"/>
                        <a:t>(2013</a:t>
                      </a:r>
                      <a:r>
                        <a:rPr lang="zh-TW" altLang="en-US" sz="1500" dirty="0"/>
                        <a:t>版</a:t>
                      </a:r>
                      <a:r>
                        <a:rPr lang="en-US" altLang="zh-TW" sz="1500" dirty="0"/>
                        <a:t>:14 </a:t>
                      </a:r>
                      <a:r>
                        <a:rPr lang="zh-TW" altLang="en-US" sz="1500" dirty="0"/>
                        <a:t>個</a:t>
                      </a:r>
                      <a:r>
                        <a:rPr lang="en-US" altLang="zh-TW" sz="150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dirty="0"/>
                        <a:t>(2022</a:t>
                      </a:r>
                      <a:r>
                        <a:rPr lang="zh-TW" altLang="en-US" sz="1500" dirty="0"/>
                        <a:t>版</a:t>
                      </a:r>
                      <a:r>
                        <a:rPr lang="en-US" altLang="zh-TW" sz="1500" dirty="0"/>
                        <a:t>:4 </a:t>
                      </a:r>
                      <a:r>
                        <a:rPr lang="zh-TW" altLang="en-US" sz="1500" dirty="0"/>
                        <a:t>個</a:t>
                      </a:r>
                      <a:r>
                        <a:rPr lang="en-US" altLang="zh-TW" sz="1500" dirty="0"/>
                        <a:t>)</a:t>
                      </a:r>
                      <a:endParaRPr lang="zh-TW" altLang="en-US" sz="1500" dirty="0"/>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zh-TW" altLang="en-US" sz="1500" baseline="0" dirty="0"/>
                        <a:t>控制措施</a:t>
                      </a:r>
                      <a:r>
                        <a:rPr lang="en-US" altLang="zh-TW" sz="1500" baseline="0" dirty="0"/>
                        <a:t>:</a:t>
                      </a:r>
                      <a:r>
                        <a:rPr lang="zh-TW" altLang="en-US" sz="1500" baseline="0" dirty="0"/>
                        <a:t>  從 </a:t>
                      </a:r>
                      <a:r>
                        <a:rPr lang="en-US" altLang="zh-TW" sz="1500" baseline="0" dirty="0"/>
                        <a:t>114 </a:t>
                      </a:r>
                      <a:r>
                        <a:rPr lang="zh-TW" altLang="en-US" sz="1500" baseline="0" dirty="0"/>
                        <a:t>項減少到 </a:t>
                      </a:r>
                      <a:r>
                        <a:rPr lang="en-US" altLang="zh-TW" sz="1500" baseline="0" dirty="0"/>
                        <a:t>93 </a:t>
                      </a:r>
                      <a:r>
                        <a:rPr lang="zh-TW" altLang="en-US" sz="1500" baseline="0" dirty="0"/>
                        <a:t>項        </a:t>
                      </a:r>
                      <a:endParaRPr lang="en-US" altLang="zh-TW" sz="1500" baseline="0" dirty="0"/>
                    </a:p>
                    <a:p>
                      <a:r>
                        <a:rPr lang="zh-TW" altLang="en-US" sz="1500" baseline="0" dirty="0"/>
                        <a:t>部分控制措施被合併，另一些被刪除，還有一些做更新</a:t>
                      </a:r>
                      <a:endParaRPr lang="en-US" altLang="zh-TW" sz="1500" baseline="0" dirty="0"/>
                    </a:p>
                    <a:p>
                      <a:r>
                        <a:rPr lang="zh-TW" altLang="en-US" sz="1500" baseline="0" dirty="0"/>
                        <a:t>引入了底下</a:t>
                      </a:r>
                      <a:r>
                        <a:rPr lang="en-US" altLang="zh-TW" sz="1500" baseline="0" dirty="0"/>
                        <a:t>11 </a:t>
                      </a:r>
                      <a:r>
                        <a:rPr lang="zh-TW" altLang="en-US" sz="1500" baseline="0" dirty="0"/>
                        <a:t>新的控制措施</a:t>
                      </a:r>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9373322"/>
                  </a:ext>
                </a:extLst>
              </a:tr>
              <a:tr h="754380">
                <a:tc>
                  <a:txBody>
                    <a:bodyPr/>
                    <a:lstStyle/>
                    <a:p>
                      <a:r>
                        <a:rPr lang="zh-TW" altLang="en-US" sz="1800" b="1" dirty="0">
                          <a:effectLst>
                            <a:outerShdw blurRad="38100" dist="38100" dir="2700000" algn="tl">
                              <a:srgbClr val="000000">
                                <a:alpha val="43137"/>
                              </a:srgbClr>
                            </a:outerShdw>
                          </a:effectLst>
                        </a:rPr>
                        <a:t> </a:t>
                      </a:r>
                      <a:r>
                        <a:rPr lang="en-US" altLang="zh-TW" sz="1800" b="1" dirty="0">
                          <a:effectLst>
                            <a:outerShdw blurRad="38100" dist="38100" dir="2700000" algn="tl">
                              <a:srgbClr val="000000">
                                <a:alpha val="43137"/>
                              </a:srgbClr>
                            </a:outerShdw>
                          </a:effectLst>
                        </a:rPr>
                        <a:t>5 </a:t>
                      </a:r>
                      <a:r>
                        <a:rPr lang="zh-TW" altLang="en-US" sz="1800" b="1" dirty="0">
                          <a:effectLst>
                            <a:outerShdw blurRad="38100" dist="38100" dir="2700000" algn="tl">
                              <a:srgbClr val="000000">
                                <a:alpha val="43137"/>
                              </a:srgbClr>
                            </a:outerShdw>
                          </a:effectLst>
                        </a:rPr>
                        <a:t> 組織控制措施 </a:t>
                      </a:r>
                      <a:r>
                        <a:rPr lang="en-US" altLang="zh-TW" sz="1800" b="1" dirty="0">
                          <a:effectLst>
                            <a:outerShdw blurRad="38100" dist="38100" dir="2700000" algn="tl">
                              <a:srgbClr val="000000">
                                <a:alpha val="43137"/>
                              </a:srgbClr>
                            </a:outerShdw>
                          </a:effectLst>
                        </a:rPr>
                        <a:t>(37)</a:t>
                      </a:r>
                    </a:p>
                    <a:p>
                      <a:r>
                        <a:rPr lang="en-US" altLang="zh-TW" sz="1800" b="1" dirty="0">
                          <a:effectLst>
                            <a:outerShdw blurRad="38100" dist="38100" dir="2700000" algn="tl">
                              <a:srgbClr val="000000">
                                <a:alpha val="43137"/>
                              </a:srgbClr>
                            </a:outerShdw>
                          </a:effectLst>
                        </a:rPr>
                        <a:t> Organizational controls</a:t>
                      </a:r>
                    </a:p>
                    <a:p>
                      <a:r>
                        <a:rPr lang="en-US" altLang="zh-TW" sz="1800" b="1" dirty="0">
                          <a:effectLst>
                            <a:outerShdw blurRad="38100" dist="38100" dir="2700000" algn="tl">
                              <a:srgbClr val="000000">
                                <a:alpha val="43137"/>
                              </a:srgbClr>
                            </a:outerShdw>
                          </a:effectLst>
                        </a:rPr>
                        <a:t>(5.1-5.37)</a:t>
                      </a:r>
                      <a:endParaRPr lang="zh-TW" altLang="en-US"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altLang="zh-TW" sz="1500" b="1" dirty="0">
                          <a:effectLst>
                            <a:outerShdw blurRad="38100" dist="38100" dir="2700000" algn="tl">
                              <a:srgbClr val="000000">
                                <a:alpha val="43137"/>
                              </a:srgbClr>
                            </a:outerShdw>
                          </a:effectLst>
                        </a:rPr>
                        <a:t>5.4 Threat intelligence (</a:t>
                      </a:r>
                      <a:r>
                        <a:rPr lang="zh-TW" altLang="en-US" sz="1500" b="1" dirty="0">
                          <a:effectLst>
                            <a:outerShdw blurRad="38100" dist="38100" dir="2700000" algn="tl">
                              <a:srgbClr val="000000">
                                <a:alpha val="43137"/>
                              </a:srgbClr>
                            </a:outerShdw>
                          </a:effectLst>
                        </a:rPr>
                        <a:t>威脅情資</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5.23 Information security for use of cloud services (</a:t>
                      </a:r>
                      <a:r>
                        <a:rPr lang="zh-TW" altLang="en-US" sz="1500" b="1" dirty="0">
                          <a:effectLst>
                            <a:outerShdw blurRad="38100" dist="38100" dir="2700000" algn="tl">
                              <a:srgbClr val="000000">
                                <a:alpha val="43137"/>
                              </a:srgbClr>
                            </a:outerShdw>
                          </a:effectLst>
                        </a:rPr>
                        <a:t>雲服務的資訊安全</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5.30 ICT readiness for business continuity (</a:t>
                      </a:r>
                      <a:r>
                        <a:rPr lang="zh-TW" altLang="en-US" sz="1500" b="1" dirty="0">
                          <a:effectLst>
                            <a:outerShdw blurRad="38100" dist="38100" dir="2700000" algn="tl">
                              <a:srgbClr val="000000">
                                <a:alpha val="43137"/>
                              </a:srgbClr>
                            </a:outerShdw>
                          </a:effectLst>
                        </a:rPr>
                        <a:t>資通訊技術營運持續整備</a:t>
                      </a:r>
                      <a:r>
                        <a:rPr lang="en-US" altLang="zh-TW" sz="1500" b="1" dirty="0">
                          <a:effectLst>
                            <a:outerShdw blurRad="38100" dist="38100" dir="2700000" algn="tl">
                              <a:srgbClr val="000000">
                                <a:alpha val="43137"/>
                              </a:srgbClr>
                            </a:outerShdw>
                          </a:effectLst>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6703063"/>
                  </a:ext>
                </a:extLst>
              </a:tr>
              <a:tr h="525780">
                <a:tc>
                  <a:txBody>
                    <a:bodyPr/>
                    <a:lstStyle/>
                    <a:p>
                      <a:r>
                        <a:rPr lang="en-US" altLang="zh-TW" sz="1800" b="1" dirty="0">
                          <a:effectLst>
                            <a:outerShdw blurRad="38100" dist="38100" dir="2700000" algn="tl">
                              <a:srgbClr val="000000">
                                <a:alpha val="43137"/>
                              </a:srgbClr>
                            </a:outerShdw>
                          </a:effectLst>
                        </a:rPr>
                        <a:t>6</a:t>
                      </a:r>
                      <a:r>
                        <a:rPr lang="zh-TW" altLang="en-US" sz="1800" b="1" dirty="0">
                          <a:effectLst>
                            <a:outerShdw blurRad="38100" dist="38100" dir="2700000" algn="tl">
                              <a:srgbClr val="000000">
                                <a:alpha val="43137"/>
                              </a:srgbClr>
                            </a:outerShdw>
                          </a:effectLst>
                        </a:rPr>
                        <a:t> 人員控制措施 </a:t>
                      </a:r>
                      <a:r>
                        <a:rPr lang="en-US" altLang="zh-TW" sz="1800" b="1" dirty="0">
                          <a:effectLst>
                            <a:outerShdw blurRad="38100" dist="38100" dir="2700000" algn="tl">
                              <a:srgbClr val="000000">
                                <a:alpha val="43137"/>
                              </a:srgbClr>
                            </a:outerShdw>
                          </a:effectLst>
                        </a:rPr>
                        <a:t>(8) </a:t>
                      </a:r>
                    </a:p>
                    <a:p>
                      <a:r>
                        <a:rPr lang="en-US" altLang="zh-TW" sz="1800" b="1" dirty="0">
                          <a:effectLst>
                            <a:outerShdw blurRad="38100" dist="38100" dir="2700000" algn="tl">
                              <a:srgbClr val="000000">
                                <a:alpha val="43137"/>
                              </a:srgbClr>
                            </a:outerShdw>
                          </a:effectLst>
                        </a:rPr>
                        <a:t>  People controls</a:t>
                      </a:r>
                      <a:r>
                        <a:rPr lang="zh-TW" altLang="en-US" sz="1800" b="1" dirty="0">
                          <a:effectLst>
                            <a:outerShdw blurRad="38100" dist="38100" dir="2700000" algn="tl">
                              <a:srgbClr val="000000">
                                <a:alpha val="43137"/>
                              </a:srgbClr>
                            </a:outerShdw>
                          </a:effectLst>
                        </a:rPr>
                        <a:t> </a:t>
                      </a:r>
                      <a:r>
                        <a:rPr lang="en-US" altLang="zh-TW" sz="1800" b="1" dirty="0">
                          <a:effectLst>
                            <a:outerShdw blurRad="38100" dist="38100" dir="2700000" algn="tl">
                              <a:srgbClr val="000000">
                                <a:alpha val="43137"/>
                              </a:srgbClr>
                            </a:outerShdw>
                          </a:effectLst>
                        </a:rPr>
                        <a:t>(6.1-6.8)</a:t>
                      </a:r>
                      <a:endParaRPr lang="zh-TW" altLang="en-US"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15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9870826"/>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a:t>
                      </a:r>
                      <a:r>
                        <a:rPr lang="zh-TW" altLang="en-US" sz="1800" b="1" dirty="0">
                          <a:effectLst>
                            <a:outerShdw blurRad="38100" dist="38100" dir="2700000" algn="tl">
                              <a:srgbClr val="000000">
                                <a:alpha val="43137"/>
                              </a:srgbClr>
                            </a:outerShdw>
                          </a:effectLst>
                        </a:rPr>
                        <a:t> 實體環境控制措施 </a:t>
                      </a:r>
                      <a:r>
                        <a:rPr lang="en-US" altLang="zh-TW" sz="1800" b="1" dirty="0">
                          <a:effectLst>
                            <a:outerShdw blurRad="38100" dist="38100" dir="2700000" algn="tl">
                              <a:srgbClr val="000000">
                                <a:alpha val="43137"/>
                              </a:srgbClr>
                            </a:outerShdw>
                          </a:effectLst>
                        </a:rPr>
                        <a:t>(14)</a:t>
                      </a:r>
                      <a:r>
                        <a:rPr lang="zh-TW" altLang="en-US" sz="1800" b="1" dirty="0">
                          <a:effectLst>
                            <a:outerShdw blurRad="38100" dist="38100" dir="2700000" algn="tl">
                              <a:srgbClr val="000000">
                                <a:alpha val="43137"/>
                              </a:srgbClr>
                            </a:outerShdw>
                          </a:effectLst>
                        </a:rPr>
                        <a:t>  </a:t>
                      </a:r>
                      <a:endParaRPr lang="en-US" altLang="zh-TW" sz="1800" b="1" dirty="0">
                        <a:effectLst>
                          <a:outerShdw blurRad="38100" dist="38100" dir="2700000" algn="tl">
                            <a:srgbClr val="000000">
                              <a:alpha val="43137"/>
                            </a:srgbClr>
                          </a:outerShdw>
                        </a:effectLst>
                      </a:endParaRPr>
                    </a:p>
                    <a:p>
                      <a:r>
                        <a:rPr lang="en-US" altLang="zh-TW" sz="1800" b="1" dirty="0">
                          <a:effectLst>
                            <a:outerShdw blurRad="38100" dist="38100" dir="2700000" algn="tl">
                              <a:srgbClr val="000000">
                                <a:alpha val="43137"/>
                              </a:srgbClr>
                            </a:outerShdw>
                          </a:effectLst>
                        </a:rPr>
                        <a:t>Physical controls</a:t>
                      </a:r>
                      <a:r>
                        <a:rPr lang="zh-TW" altLang="en-US" sz="1800" b="1" dirty="0">
                          <a:effectLst>
                            <a:outerShdw blurRad="38100" dist="38100" dir="2700000" algn="tl">
                              <a:srgbClr val="000000">
                                <a:alpha val="43137"/>
                              </a:srgbClr>
                            </a:outerShdw>
                          </a:effectLst>
                        </a:rPr>
                        <a:t>  </a:t>
                      </a:r>
                      <a:r>
                        <a:rPr lang="en-US" altLang="zh-TW" sz="1800" b="1" dirty="0">
                          <a:effectLst>
                            <a:outerShdw blurRad="38100" dist="38100" dir="2700000" algn="tl">
                              <a:srgbClr val="000000">
                                <a:alpha val="43137"/>
                              </a:srgbClr>
                            </a:outerShdw>
                          </a:effectLst>
                        </a:rPr>
                        <a:t>(7.1-7.14)</a:t>
                      </a:r>
                      <a:endParaRPr lang="zh-TW" altLang="en-US"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500" b="1" dirty="0">
                          <a:effectLst>
                            <a:outerShdw blurRad="38100" dist="38100" dir="2700000" algn="tl">
                              <a:srgbClr val="000000">
                                <a:alpha val="43137"/>
                              </a:srgbClr>
                            </a:outerShdw>
                          </a:effectLst>
                        </a:rPr>
                        <a:t>7.4 Physical security monitoring(</a:t>
                      </a:r>
                      <a:r>
                        <a:rPr lang="zh-TW" altLang="en-US" sz="1500" b="1" dirty="0">
                          <a:effectLst>
                            <a:outerShdw blurRad="38100" dist="38100" dir="2700000" algn="tl">
                              <a:srgbClr val="000000">
                                <a:alpha val="43137"/>
                              </a:srgbClr>
                            </a:outerShdw>
                          </a:effectLst>
                        </a:rPr>
                        <a:t>實體安全監視</a:t>
                      </a:r>
                      <a:r>
                        <a:rPr lang="en-US" altLang="zh-TW" sz="1500" b="1" dirty="0">
                          <a:effectLst>
                            <a:outerShdw blurRad="38100" dist="38100" dir="2700000" algn="tl">
                              <a:srgbClr val="000000">
                                <a:alpha val="43137"/>
                              </a:srgbClr>
                            </a:outerShdw>
                          </a:effectLst>
                        </a:rPr>
                        <a:t>)</a:t>
                      </a:r>
                    </a:p>
                    <a:p>
                      <a:endParaRPr lang="zh-TW" altLang="en-US" sz="15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5050458"/>
                  </a:ext>
                </a:extLst>
              </a:tr>
              <a:tr h="1668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8</a:t>
                      </a:r>
                      <a:r>
                        <a:rPr lang="zh-TW" altLang="en-US" sz="1800" b="1" dirty="0">
                          <a:effectLst>
                            <a:outerShdw blurRad="38100" dist="38100" dir="2700000" algn="tl">
                              <a:srgbClr val="000000">
                                <a:alpha val="43137"/>
                              </a:srgbClr>
                            </a:outerShdw>
                          </a:effectLst>
                        </a:rPr>
                        <a:t> 技術控制措施 </a:t>
                      </a:r>
                      <a:r>
                        <a:rPr lang="en-US" altLang="zh-TW" sz="1800" b="1" dirty="0">
                          <a:effectLst>
                            <a:outerShdw blurRad="38100" dist="38100" dir="2700000" algn="tl">
                              <a:srgbClr val="000000">
                                <a:alpha val="43137"/>
                              </a:srgbClr>
                            </a:outerShdw>
                          </a:effectLst>
                        </a:rPr>
                        <a:t>(34)</a:t>
                      </a:r>
                      <a:endParaRPr lang="zh-TW" altLang="en-US" sz="18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  Technological controls</a:t>
                      </a:r>
                      <a:r>
                        <a:rPr lang="zh-TW" altLang="en-US" sz="1800" b="1" dirty="0">
                          <a:effectLst>
                            <a:outerShdw blurRad="38100" dist="38100" dir="2700000" algn="tl">
                              <a:srgbClr val="000000">
                                <a:alpha val="43137"/>
                              </a:srgbClr>
                            </a:outerShdw>
                          </a:effectLst>
                        </a:rPr>
                        <a:t> </a:t>
                      </a:r>
                      <a:r>
                        <a:rPr lang="en-US" altLang="zh-TW" sz="1800" b="1" dirty="0">
                          <a:effectLst>
                            <a:outerShdw blurRad="38100" dist="38100" dir="2700000" algn="tl">
                              <a:srgbClr val="000000">
                                <a:alpha val="43137"/>
                              </a:srgbClr>
                            </a:outerShdw>
                          </a:effectLst>
                        </a:rPr>
                        <a:t>(8.1-8.34)</a:t>
                      </a:r>
                      <a:endParaRPr lang="zh-TW" altLang="en-US"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altLang="zh-TW" sz="1500" b="1" dirty="0">
                          <a:effectLst>
                            <a:outerShdw blurRad="38100" dist="38100" dir="2700000" algn="tl">
                              <a:srgbClr val="000000">
                                <a:alpha val="43137"/>
                              </a:srgbClr>
                            </a:outerShdw>
                          </a:effectLst>
                        </a:rPr>
                        <a:t>8.9 Configuration management (</a:t>
                      </a:r>
                      <a:r>
                        <a:rPr lang="zh-TW" altLang="en-US" sz="1500" b="1" dirty="0">
                          <a:effectLst>
                            <a:outerShdw blurRad="38100" dist="38100" dir="2700000" algn="tl">
                              <a:srgbClr val="000000">
                                <a:alpha val="43137"/>
                              </a:srgbClr>
                            </a:outerShdw>
                          </a:effectLst>
                        </a:rPr>
                        <a:t>組態管理</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8.10 Information deletion (</a:t>
                      </a:r>
                      <a:r>
                        <a:rPr lang="zh-TW" altLang="en-US" sz="1500" b="1" dirty="0">
                          <a:effectLst>
                            <a:outerShdw blurRad="38100" dist="38100" dir="2700000" algn="tl">
                              <a:srgbClr val="000000">
                                <a:alpha val="43137"/>
                              </a:srgbClr>
                            </a:outerShdw>
                          </a:effectLst>
                        </a:rPr>
                        <a:t>資訊刪除</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8.11 Data masking (</a:t>
                      </a:r>
                      <a:r>
                        <a:rPr lang="zh-TW" altLang="en-US" sz="1500" b="1" dirty="0">
                          <a:effectLst>
                            <a:outerShdw blurRad="38100" dist="38100" dir="2700000" algn="tl">
                              <a:srgbClr val="000000">
                                <a:alpha val="43137"/>
                              </a:srgbClr>
                            </a:outerShdw>
                          </a:effectLst>
                        </a:rPr>
                        <a:t>資料遮罩</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8.12 Data leakage prevention (</a:t>
                      </a:r>
                      <a:r>
                        <a:rPr lang="zh-TW" altLang="en-US" sz="1500" b="1" dirty="0">
                          <a:effectLst>
                            <a:outerShdw blurRad="38100" dist="38100" dir="2700000" algn="tl">
                              <a:srgbClr val="000000">
                                <a:alpha val="43137"/>
                              </a:srgbClr>
                            </a:outerShdw>
                          </a:effectLst>
                        </a:rPr>
                        <a:t>資料外洩防護</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8.16 Monitoring activities (</a:t>
                      </a:r>
                      <a:r>
                        <a:rPr lang="zh-TW" altLang="en-US" sz="1500" b="1" dirty="0">
                          <a:effectLst>
                            <a:outerShdw blurRad="38100" dist="38100" dir="2700000" algn="tl">
                              <a:srgbClr val="000000">
                                <a:alpha val="43137"/>
                              </a:srgbClr>
                            </a:outerShdw>
                          </a:effectLst>
                        </a:rPr>
                        <a:t>監視活動</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8.23 Web filtering (</a:t>
                      </a:r>
                      <a:r>
                        <a:rPr lang="zh-TW" altLang="en-US" sz="1500" b="1" dirty="0">
                          <a:effectLst>
                            <a:outerShdw blurRad="38100" dist="38100" dir="2700000" algn="tl">
                              <a:srgbClr val="000000">
                                <a:alpha val="43137"/>
                              </a:srgbClr>
                            </a:outerShdw>
                          </a:effectLst>
                        </a:rPr>
                        <a:t>網站過濾</a:t>
                      </a:r>
                      <a:r>
                        <a:rPr lang="en-US" altLang="zh-TW" sz="1500" b="1" dirty="0">
                          <a:effectLst>
                            <a:outerShdw blurRad="38100" dist="38100" dir="2700000" algn="tl">
                              <a:srgbClr val="000000">
                                <a:alpha val="43137"/>
                              </a:srgbClr>
                            </a:outerShdw>
                          </a:effectLst>
                        </a:rPr>
                        <a:t>)</a:t>
                      </a:r>
                    </a:p>
                    <a:p>
                      <a:pPr marL="0" indent="0">
                        <a:buNone/>
                      </a:pPr>
                      <a:r>
                        <a:rPr lang="en-US" altLang="zh-TW" sz="1500" b="1" dirty="0">
                          <a:effectLst>
                            <a:outerShdw blurRad="38100" dist="38100" dir="2700000" algn="tl">
                              <a:srgbClr val="000000">
                                <a:alpha val="43137"/>
                              </a:srgbClr>
                            </a:outerShdw>
                          </a:effectLst>
                        </a:rPr>
                        <a:t>8.28 Secure coding (</a:t>
                      </a:r>
                      <a:r>
                        <a:rPr lang="zh-TW" altLang="en-US" sz="1500" b="1" dirty="0">
                          <a:effectLst>
                            <a:outerShdw blurRad="38100" dist="38100" dir="2700000" algn="tl">
                              <a:srgbClr val="000000">
                                <a:alpha val="43137"/>
                              </a:srgbClr>
                            </a:outerShdw>
                          </a:effectLst>
                        </a:rPr>
                        <a:t>安全程式碼撰寫</a:t>
                      </a:r>
                      <a:r>
                        <a:rPr lang="en-US" altLang="zh-TW" sz="1500" b="1" dirty="0">
                          <a:effectLst>
                            <a:outerShdw blurRad="38100" dist="38100" dir="2700000" algn="tl">
                              <a:srgbClr val="000000">
                                <a:alpha val="43137"/>
                              </a:srgbClr>
                            </a:outerShdw>
                          </a:effectLst>
                        </a:rPr>
                        <a:t>)</a:t>
                      </a:r>
                      <a:endParaRPr lang="zh-TW" altLang="en-US" sz="15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0229417"/>
                  </a:ext>
                </a:extLst>
              </a:tr>
            </a:tbl>
          </a:graphicData>
        </a:graphic>
      </p:graphicFrame>
      <p:sp>
        <p:nvSpPr>
          <p:cNvPr id="6" name="矩形 5"/>
          <p:cNvSpPr/>
          <p:nvPr/>
        </p:nvSpPr>
        <p:spPr>
          <a:xfrm>
            <a:off x="5407916" y="629977"/>
            <a:ext cx="3568356" cy="323165"/>
          </a:xfrm>
          <a:prstGeom prst="rect">
            <a:avLst/>
          </a:prstGeom>
          <a:solidFill>
            <a:schemeClr val="accent6">
              <a:lumMod val="20000"/>
              <a:lumOff val="80000"/>
            </a:schemeClr>
          </a:solidFill>
        </p:spPr>
        <p:txBody>
          <a:bodyPr wrap="square">
            <a:spAutoFit/>
          </a:bodyPr>
          <a:lstStyle/>
          <a:p>
            <a:r>
              <a:rPr lang="en-US" altLang="zh-TW" sz="750" b="1" dirty="0"/>
              <a:t>ISO 27002:2022 </a:t>
            </a:r>
            <a:r>
              <a:rPr lang="zh-TW" altLang="en-US" sz="750" b="1" dirty="0"/>
              <a:t>改版重點解析 </a:t>
            </a:r>
            <a:r>
              <a:rPr lang="en-US" altLang="zh-TW" sz="750" b="1" dirty="0"/>
              <a:t>/</a:t>
            </a:r>
            <a:r>
              <a:rPr lang="zh-TW" altLang="en-US" sz="750" b="1" dirty="0"/>
              <a:t>上篇 </a:t>
            </a:r>
            <a:r>
              <a:rPr lang="en-US" altLang="zh-TW" sz="750" b="1" dirty="0"/>
              <a:t>https://cybersecurenews.com.tw/policy-008/</a:t>
            </a:r>
            <a:endParaRPr lang="zh-TW" altLang="en-US" sz="750" b="1" dirty="0"/>
          </a:p>
          <a:p>
            <a:r>
              <a:rPr lang="en-US" altLang="zh-TW" sz="750" b="1" dirty="0"/>
              <a:t>ISO 27002:2022 </a:t>
            </a:r>
            <a:r>
              <a:rPr lang="zh-TW" altLang="en-US" sz="750" b="1" dirty="0"/>
              <a:t>改版重點解析 </a:t>
            </a:r>
            <a:r>
              <a:rPr lang="en-US" altLang="zh-TW" sz="750" b="1" dirty="0"/>
              <a:t>/</a:t>
            </a:r>
            <a:r>
              <a:rPr lang="zh-TW" altLang="en-US" sz="750" b="1" dirty="0"/>
              <a:t>下篇  </a:t>
            </a:r>
            <a:r>
              <a:rPr lang="en-US" altLang="zh-TW" sz="750" b="1" dirty="0"/>
              <a:t>https://cybersecurenews.com.tw/policy-009/</a:t>
            </a:r>
            <a:endParaRPr lang="zh-TW" altLang="en-US" sz="750" b="1" dirty="0"/>
          </a:p>
        </p:txBody>
      </p:sp>
      <p:sp>
        <p:nvSpPr>
          <p:cNvPr id="7" name="矩形 6"/>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8" name="投影片編號版面配置區 7"/>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19</a:t>
            </a:fld>
            <a:endParaRPr lang="zh-TW" altLang="en-US" dirty="0"/>
          </a:p>
        </p:txBody>
      </p:sp>
    </p:spTree>
    <p:extLst>
      <p:ext uri="{BB962C8B-B14F-4D97-AF65-F5344CB8AC3E}">
        <p14:creationId xmlns:p14="http://schemas.microsoft.com/office/powerpoint/2010/main" val="10561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3FEAB-AFF4-68B2-A1CF-56155FB5D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19EDE1-3306-B4B0-0FBF-1CD2CBBE0B18}"/>
              </a:ext>
            </a:extLst>
          </p:cNvPr>
          <p:cNvSpPr/>
          <p:nvPr/>
        </p:nvSpPr>
        <p:spPr>
          <a:xfrm rot="-5400000" flipH="1">
            <a:off x="6895038" y="-326782"/>
            <a:ext cx="1940038" cy="2557885"/>
          </a:xfrm>
          <a:custGeom>
            <a:avLst/>
            <a:gdLst/>
            <a:ahLst/>
            <a:cxnLst/>
            <a:rect l="l" t="t" r="r" b="b"/>
            <a:pathLst>
              <a:path w="2069374" h="2728411">
                <a:moveTo>
                  <a:pt x="2069375" y="0"/>
                </a:moveTo>
                <a:lnTo>
                  <a:pt x="0" y="0"/>
                </a:lnTo>
                <a:lnTo>
                  <a:pt x="0" y="2728411"/>
                </a:lnTo>
                <a:lnTo>
                  <a:pt x="2069375" y="2728411"/>
                </a:lnTo>
                <a:lnTo>
                  <a:pt x="2069375"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sz="1688"/>
          </a:p>
        </p:txBody>
      </p:sp>
      <p:sp>
        <p:nvSpPr>
          <p:cNvPr id="3" name="TextBox 3">
            <a:extLst>
              <a:ext uri="{FF2B5EF4-FFF2-40B4-BE49-F238E27FC236}">
                <a16:creationId xmlns:a16="http://schemas.microsoft.com/office/drawing/2014/main" id="{91C0ED18-8045-4877-1486-F16703ED1358}"/>
              </a:ext>
            </a:extLst>
          </p:cNvPr>
          <p:cNvSpPr txBox="1"/>
          <p:nvPr/>
        </p:nvSpPr>
        <p:spPr>
          <a:xfrm>
            <a:off x="185314" y="261040"/>
            <a:ext cx="6982496" cy="666849"/>
          </a:xfrm>
          <a:prstGeom prst="rect">
            <a:avLst/>
          </a:prstGeom>
        </p:spPr>
        <p:txBody>
          <a:bodyPr wrap="square" lIns="0" tIns="0" rIns="0" bIns="0" rtlCol="0" anchor="t">
            <a:spAutoFit/>
          </a:bodyPr>
          <a:lstStyle/>
          <a:p>
            <a:pPr>
              <a:lnSpc>
                <a:spcPts val="5216"/>
              </a:lnSpc>
            </a:pPr>
            <a:r>
              <a:rPr lang="zh-TW" altLang="en-US" sz="3000" b="1" dirty="0">
                <a:solidFill>
                  <a:srgbClr val="262262"/>
                </a:solidFill>
                <a:latin typeface="標楷體" panose="03000509000000000000" pitchFamily="65" charset="-120"/>
                <a:ea typeface="標楷體" panose="03000509000000000000" pitchFamily="65" charset="-120"/>
                <a:cs typeface="Oswald Bold"/>
                <a:sym typeface="Oswald Bold"/>
              </a:rPr>
              <a:t>安全</a:t>
            </a:r>
            <a:r>
              <a:rPr lang="zh-TW" altLang="en-US" sz="3000" b="1" dirty="0">
                <a:solidFill>
                  <a:srgbClr val="FF0000"/>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cs typeface="Oswald Bold"/>
                <a:sym typeface="Oswald Bold"/>
              </a:rPr>
              <a:t>控制</a:t>
            </a:r>
            <a:r>
              <a:rPr lang="zh-TW" altLang="en-US" sz="3000" b="1" dirty="0">
                <a:solidFill>
                  <a:srgbClr val="262262"/>
                </a:solidFill>
                <a:latin typeface="標楷體" panose="03000509000000000000" pitchFamily="65" charset="-120"/>
                <a:ea typeface="標楷體" panose="03000509000000000000" pitchFamily="65" charset="-120"/>
                <a:cs typeface="Oswald Bold"/>
                <a:sym typeface="Oswald Bold"/>
              </a:rPr>
              <a:t>措施 </a:t>
            </a:r>
            <a:r>
              <a:rPr lang="en-US" altLang="zh-TW" sz="3000" b="1" dirty="0">
                <a:solidFill>
                  <a:srgbClr val="262262"/>
                </a:solidFill>
                <a:latin typeface="標楷體" panose="03000509000000000000" pitchFamily="65" charset="-120"/>
                <a:ea typeface="標楷體" panose="03000509000000000000" pitchFamily="65" charset="-120"/>
                <a:cs typeface="Oswald Bold"/>
                <a:sym typeface="Oswald Bold"/>
              </a:rPr>
              <a:t>| Security </a:t>
            </a:r>
            <a:r>
              <a:rPr lang="en-US" altLang="zh-TW" sz="3000" b="1" dirty="0">
                <a:solidFill>
                  <a:srgbClr val="FF0000"/>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cs typeface="Oswald Bold"/>
                <a:sym typeface="Oswald Bold"/>
              </a:rPr>
              <a:t>Controls</a:t>
            </a:r>
            <a:endParaRPr lang="en-US" sz="3000" b="1" dirty="0">
              <a:solidFill>
                <a:srgbClr val="FF0000"/>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cs typeface="Oswald Bold"/>
              <a:sym typeface="Oswald Bold"/>
            </a:endParaRPr>
          </a:p>
        </p:txBody>
      </p:sp>
      <p:sp>
        <p:nvSpPr>
          <p:cNvPr id="4" name="AutoShape 4">
            <a:extLst>
              <a:ext uri="{FF2B5EF4-FFF2-40B4-BE49-F238E27FC236}">
                <a16:creationId xmlns:a16="http://schemas.microsoft.com/office/drawing/2014/main" id="{09658DC1-9BC5-46A2-DC9D-19342408A0EC}"/>
              </a:ext>
            </a:extLst>
          </p:cNvPr>
          <p:cNvSpPr/>
          <p:nvPr/>
        </p:nvSpPr>
        <p:spPr>
          <a:xfrm>
            <a:off x="205074" y="934300"/>
            <a:ext cx="6982496" cy="0"/>
          </a:xfrm>
          <a:prstGeom prst="line">
            <a:avLst/>
          </a:prstGeom>
          <a:ln w="38100" cap="flat">
            <a:solidFill>
              <a:srgbClr val="1B75BC"/>
            </a:solidFill>
            <a:prstDash val="solid"/>
            <a:headEnd type="none" w="sm" len="sm"/>
            <a:tailEnd type="none" w="sm" len="sm"/>
          </a:ln>
        </p:spPr>
        <p:txBody>
          <a:bodyPr/>
          <a:lstStyle/>
          <a:p>
            <a:endParaRPr lang="en-US" sz="1688"/>
          </a:p>
        </p:txBody>
      </p:sp>
      <p:sp>
        <p:nvSpPr>
          <p:cNvPr id="5" name="TextBox 4">
            <a:extLst>
              <a:ext uri="{FF2B5EF4-FFF2-40B4-BE49-F238E27FC236}">
                <a16:creationId xmlns:a16="http://schemas.microsoft.com/office/drawing/2014/main" id="{DCEEE569-2155-47F9-BA56-6C8D0311983E}"/>
              </a:ext>
            </a:extLst>
          </p:cNvPr>
          <p:cNvSpPr txBox="1"/>
          <p:nvPr/>
        </p:nvSpPr>
        <p:spPr>
          <a:xfrm>
            <a:off x="240889" y="2938499"/>
            <a:ext cx="7643813" cy="333425"/>
          </a:xfrm>
          <a:prstGeom prst="rect">
            <a:avLst/>
          </a:prstGeom>
          <a:solidFill>
            <a:srgbClr val="FFFF00"/>
          </a:solidFill>
        </p:spPr>
        <p:txBody>
          <a:bodyPr wrap="square" lIns="0" tIns="0" rIns="0" bIns="0" rtlCol="0" anchor="t">
            <a:spAutoFit/>
          </a:bodyPr>
          <a:lstStyle/>
          <a:p>
            <a:pPr algn="just">
              <a:lnSpc>
                <a:spcPts val="2625"/>
              </a:lnSpc>
            </a:pPr>
            <a:r>
              <a:rPr lang="zh-TW" altLang="en-US" sz="3000" dirty="0"/>
              <a:t> </a:t>
            </a:r>
            <a:r>
              <a:rPr lang="en-US" altLang="zh-TW" sz="3000" dirty="0"/>
              <a:t>Security Control Frameworks</a:t>
            </a:r>
            <a:r>
              <a:rPr lang="zh-TW" altLang="en-US" sz="3000" dirty="0"/>
              <a:t>  安全控制架構 </a:t>
            </a:r>
            <a:r>
              <a:rPr lang="en-US" altLang="zh-TW" sz="3000" dirty="0">
                <a:solidFill>
                  <a:srgbClr val="000000"/>
                </a:solidFill>
                <a:latin typeface="Poppins"/>
                <a:ea typeface="Poppins"/>
                <a:cs typeface="Poppins"/>
                <a:sym typeface="Poppins"/>
              </a:rPr>
              <a:t> </a:t>
            </a:r>
            <a:endParaRPr lang="en-US" sz="3000" dirty="0">
              <a:solidFill>
                <a:srgbClr val="000000"/>
              </a:solidFill>
              <a:latin typeface="Poppins"/>
              <a:ea typeface="Poppins"/>
              <a:cs typeface="Poppins"/>
              <a:sym typeface="Poppins"/>
            </a:endParaRPr>
          </a:p>
        </p:txBody>
      </p:sp>
      <p:sp>
        <p:nvSpPr>
          <p:cNvPr id="7" name="文字方塊 6">
            <a:extLst>
              <a:ext uri="{FF2B5EF4-FFF2-40B4-BE49-F238E27FC236}">
                <a16:creationId xmlns:a16="http://schemas.microsoft.com/office/drawing/2014/main" id="{FA3C5CF4-3F2C-3E29-5AD0-F76EF5C9B64F}"/>
              </a:ext>
            </a:extLst>
          </p:cNvPr>
          <p:cNvSpPr txBox="1"/>
          <p:nvPr/>
        </p:nvSpPr>
        <p:spPr>
          <a:xfrm>
            <a:off x="500062" y="2321473"/>
            <a:ext cx="4599214" cy="323165"/>
          </a:xfrm>
          <a:prstGeom prst="rect">
            <a:avLst/>
          </a:prstGeom>
          <a:noFill/>
        </p:spPr>
        <p:txBody>
          <a:bodyPr wrap="square">
            <a:spAutoFit/>
          </a:bodyPr>
          <a:lstStyle/>
          <a:p>
            <a:r>
              <a:rPr lang="zh-TW" altLang="en-US" sz="1500" dirty="0"/>
              <a:t>資料來源</a:t>
            </a:r>
            <a:r>
              <a:rPr lang="en-US" altLang="zh-TW" sz="1500" dirty="0"/>
              <a:t>:</a:t>
            </a:r>
            <a:r>
              <a:rPr lang="zh-TW" altLang="en-US" sz="1500" dirty="0"/>
              <a:t> </a:t>
            </a:r>
            <a:r>
              <a:rPr lang="en-US" sz="1500" dirty="0"/>
              <a:t>CNS 27002:2023</a:t>
            </a:r>
          </a:p>
        </p:txBody>
      </p:sp>
      <p:sp>
        <p:nvSpPr>
          <p:cNvPr id="9" name="文字方塊 8">
            <a:extLst>
              <a:ext uri="{FF2B5EF4-FFF2-40B4-BE49-F238E27FC236}">
                <a16:creationId xmlns:a16="http://schemas.microsoft.com/office/drawing/2014/main" id="{A72610B2-BED4-0657-A811-3A9C6BB77886}"/>
              </a:ext>
            </a:extLst>
          </p:cNvPr>
          <p:cNvSpPr txBox="1"/>
          <p:nvPr/>
        </p:nvSpPr>
        <p:spPr>
          <a:xfrm>
            <a:off x="240890" y="1087986"/>
            <a:ext cx="7256009" cy="1217834"/>
          </a:xfrm>
          <a:prstGeom prst="rect">
            <a:avLst/>
          </a:prstGeom>
          <a:noFill/>
          <a:ln w="28575">
            <a:solidFill>
              <a:srgbClr val="002060"/>
            </a:solidFill>
          </a:ln>
        </p:spPr>
        <p:txBody>
          <a:bodyPr wrap="square">
            <a:spAutoFit/>
          </a:bodyPr>
          <a:lstStyle/>
          <a:p>
            <a:r>
              <a:rPr lang="zh-TW" altLang="en-US" sz="2250" b="1" dirty="0"/>
              <a:t>控制措施</a:t>
            </a:r>
            <a:r>
              <a:rPr lang="zh-TW" altLang="en-US" sz="2250" dirty="0"/>
              <a:t>係定義為</a:t>
            </a:r>
            <a:r>
              <a:rPr lang="zh-TW" altLang="en-US" sz="2250" dirty="0">
                <a:solidFill>
                  <a:srgbClr val="FF0000"/>
                </a:solidFill>
              </a:rPr>
              <a:t>修改</a:t>
            </a:r>
            <a:r>
              <a:rPr lang="zh-TW" altLang="en-US" sz="2250" dirty="0"/>
              <a:t>或</a:t>
            </a:r>
            <a:r>
              <a:rPr lang="zh-TW" altLang="en-US" sz="2250" dirty="0">
                <a:solidFill>
                  <a:srgbClr val="FF0000"/>
                </a:solidFill>
              </a:rPr>
              <a:t>維持</a:t>
            </a:r>
            <a:r>
              <a:rPr lang="zh-TW" altLang="en-US" sz="2250" dirty="0"/>
              <a:t>風險之</a:t>
            </a:r>
            <a:r>
              <a:rPr lang="zh-TW" altLang="en-US" sz="2250" b="1" dirty="0">
                <a:solidFill>
                  <a:schemeClr val="accent2">
                    <a:lumMod val="50000"/>
                  </a:schemeClr>
                </a:solidFill>
                <a:effectLst>
                  <a:outerShdw blurRad="38100" dist="38100" dir="2700000" algn="tl">
                    <a:srgbClr val="000000">
                      <a:alpha val="43137"/>
                    </a:srgbClr>
                  </a:outerShdw>
                </a:effectLst>
              </a:rPr>
              <a:t>措施</a:t>
            </a:r>
            <a:r>
              <a:rPr lang="zh-TW" altLang="en-US" sz="2250" dirty="0"/>
              <a:t>。</a:t>
            </a:r>
            <a:endParaRPr lang="en-US" altLang="zh-TW" sz="2250" dirty="0"/>
          </a:p>
          <a:p>
            <a:endParaRPr lang="en-US" altLang="zh-TW" sz="1688" dirty="0"/>
          </a:p>
          <a:p>
            <a:pPr marL="267891" indent="-267891">
              <a:buFont typeface="Wingdings" panose="05000000000000000000" pitchFamily="2" charset="2"/>
              <a:buChar char="ü"/>
            </a:pPr>
            <a:r>
              <a:rPr lang="zh-TW" altLang="en-US" sz="1688" dirty="0"/>
              <a:t>某些控制措施係</a:t>
            </a:r>
            <a:r>
              <a:rPr lang="zh-TW" altLang="en-US" sz="1688" b="1" dirty="0">
                <a:solidFill>
                  <a:srgbClr val="002060"/>
                </a:solidFill>
                <a:effectLst>
                  <a:outerShdw blurRad="38100" dist="38100" dir="2700000" algn="tl">
                    <a:srgbClr val="000000">
                      <a:alpha val="43137"/>
                    </a:srgbClr>
                  </a:outerShdw>
                </a:effectLst>
              </a:rPr>
              <a:t>修改</a:t>
            </a:r>
            <a:r>
              <a:rPr lang="zh-TW" altLang="en-US" sz="1688" dirty="0"/>
              <a:t>風險的控制措施</a:t>
            </a:r>
            <a:r>
              <a:rPr lang="en-US" altLang="zh-TW" sz="1688" dirty="0"/>
              <a:t>,</a:t>
            </a:r>
            <a:r>
              <a:rPr lang="zh-TW" altLang="en-US" sz="1688" dirty="0"/>
              <a:t>而其他則係</a:t>
            </a:r>
            <a:r>
              <a:rPr lang="zh-TW" altLang="en-US" sz="1688" b="1" dirty="0">
                <a:solidFill>
                  <a:srgbClr val="002060"/>
                </a:solidFill>
                <a:effectLst>
                  <a:outerShdw blurRad="38100" dist="38100" dir="2700000" algn="tl">
                    <a:srgbClr val="000000">
                      <a:alpha val="43137"/>
                    </a:srgbClr>
                  </a:outerShdw>
                </a:effectLst>
              </a:rPr>
              <a:t>維持</a:t>
            </a:r>
            <a:r>
              <a:rPr lang="zh-TW" altLang="en-US" sz="1688" dirty="0"/>
              <a:t>風險。</a:t>
            </a:r>
            <a:endParaRPr lang="en-US" altLang="zh-TW" sz="1688" dirty="0"/>
          </a:p>
          <a:p>
            <a:pPr marL="267891" indent="-267891">
              <a:buFont typeface="Wingdings" panose="05000000000000000000" pitchFamily="2" charset="2"/>
              <a:buChar char="ü"/>
            </a:pPr>
            <a:r>
              <a:rPr lang="zh-TW" altLang="en-US" sz="1688" dirty="0"/>
              <a:t>範例</a:t>
            </a:r>
            <a:r>
              <a:rPr lang="en-US" altLang="zh-TW" sz="1688" dirty="0"/>
              <a:t>:</a:t>
            </a:r>
            <a:r>
              <a:rPr lang="zh-TW" altLang="en-US" sz="1688" b="1" dirty="0">
                <a:solidFill>
                  <a:srgbClr val="002060"/>
                </a:solidFill>
                <a:effectLst>
                  <a:outerShdw blurRad="38100" dist="38100" dir="2700000" algn="tl">
                    <a:srgbClr val="000000">
                      <a:alpha val="43137"/>
                    </a:srgbClr>
                  </a:outerShdw>
                </a:effectLst>
              </a:rPr>
              <a:t>資訊安全政策</a:t>
            </a:r>
            <a:r>
              <a:rPr lang="zh-TW" altLang="en-US" sz="1688" dirty="0"/>
              <a:t>僅能維持風險</a:t>
            </a:r>
            <a:r>
              <a:rPr lang="en-US" altLang="zh-TW" sz="1688" dirty="0"/>
              <a:t>,</a:t>
            </a:r>
            <a:r>
              <a:rPr lang="zh-TW" altLang="en-US" sz="1688" dirty="0"/>
              <a:t>而遵循資訊安全政策可修改風險。</a:t>
            </a:r>
            <a:endParaRPr lang="en-US" sz="1688" dirty="0"/>
          </a:p>
        </p:txBody>
      </p:sp>
      <p:sp>
        <p:nvSpPr>
          <p:cNvPr id="11" name="文字方塊 10">
            <a:extLst>
              <a:ext uri="{FF2B5EF4-FFF2-40B4-BE49-F238E27FC236}">
                <a16:creationId xmlns:a16="http://schemas.microsoft.com/office/drawing/2014/main" id="{A8E97FD5-CC5A-8A85-ED96-1889E19F4286}"/>
              </a:ext>
            </a:extLst>
          </p:cNvPr>
          <p:cNvSpPr txBox="1"/>
          <p:nvPr/>
        </p:nvSpPr>
        <p:spPr>
          <a:xfrm>
            <a:off x="357188" y="3594778"/>
            <a:ext cx="8286750" cy="3035446"/>
          </a:xfrm>
          <a:prstGeom prst="rect">
            <a:avLst/>
          </a:prstGeom>
          <a:noFill/>
        </p:spPr>
        <p:txBody>
          <a:bodyPr wrap="square">
            <a:spAutoFit/>
          </a:bodyPr>
          <a:lstStyle/>
          <a:p>
            <a:pPr marL="321469" indent="-321469">
              <a:buFont typeface="Wingdings" panose="05000000000000000000" pitchFamily="2" charset="2"/>
              <a:buChar char="ü"/>
            </a:pPr>
            <a:r>
              <a:rPr lang="en-US" altLang="zh-TW" sz="1875" dirty="0"/>
              <a:t>ISO</a:t>
            </a:r>
            <a:r>
              <a:rPr lang="zh-TW" altLang="en-US" sz="1875" dirty="0"/>
              <a:t>國際標準</a:t>
            </a:r>
            <a:r>
              <a:rPr lang="en-US" altLang="zh-TW" sz="1875" dirty="0"/>
              <a:t>:ISO</a:t>
            </a:r>
            <a:r>
              <a:rPr lang="zh-TW" altLang="en-US" sz="1875" dirty="0"/>
              <a:t> </a:t>
            </a:r>
            <a:r>
              <a:rPr lang="en-US" altLang="zh-TW" sz="1875" dirty="0"/>
              <a:t>27001/27002:2022</a:t>
            </a:r>
          </a:p>
          <a:p>
            <a:pPr marL="321469" indent="-321469">
              <a:buFont typeface="Wingdings" panose="05000000000000000000" pitchFamily="2" charset="2"/>
              <a:buChar char="ü"/>
            </a:pPr>
            <a:r>
              <a:rPr lang="zh-TW" altLang="en-US" sz="1875" dirty="0"/>
              <a:t>美國標準</a:t>
            </a:r>
            <a:r>
              <a:rPr lang="en-US" altLang="zh-TW" sz="1875" dirty="0"/>
              <a:t>:</a:t>
            </a:r>
            <a:r>
              <a:rPr lang="en-US" sz="1875" dirty="0"/>
              <a:t>NIST SP 800-53 | 53A | 53 B</a:t>
            </a:r>
          </a:p>
          <a:p>
            <a:pPr marL="750094" lvl="1" indent="-321469">
              <a:buFont typeface="Wingdings" panose="05000000000000000000" pitchFamily="2" charset="2"/>
              <a:buChar char="v"/>
            </a:pPr>
            <a:r>
              <a:rPr lang="en-US" sz="1500" dirty="0"/>
              <a:t>NIST SP 800-53 Rev. 5 </a:t>
            </a:r>
            <a:r>
              <a:rPr lang="zh-TW" altLang="en-US" sz="1500" dirty="0"/>
              <a:t> </a:t>
            </a:r>
            <a:r>
              <a:rPr lang="en-US" sz="1500" dirty="0"/>
              <a:t>Security and Privacy Controls for Information Systems and Organizations</a:t>
            </a:r>
          </a:p>
          <a:p>
            <a:pPr marL="750094" lvl="1" indent="-321469">
              <a:buFont typeface="Wingdings" panose="05000000000000000000" pitchFamily="2" charset="2"/>
              <a:buChar char="v"/>
            </a:pPr>
            <a:r>
              <a:rPr lang="en-US" sz="1500" dirty="0"/>
              <a:t>NIST SP 800-53B Control Baselines</a:t>
            </a:r>
            <a:r>
              <a:rPr lang="en-US" altLang="zh-TW" sz="1500" dirty="0"/>
              <a:t>(</a:t>
            </a:r>
            <a:r>
              <a:rPr lang="zh-TW" altLang="en-US" sz="1500" dirty="0">
                <a:solidFill>
                  <a:srgbClr val="231816"/>
                </a:solidFill>
                <a:latin typeface="Noto Sans TC"/>
              </a:rPr>
              <a:t>基準</a:t>
            </a:r>
            <a:r>
              <a:rPr lang="en-US" altLang="zh-TW" sz="1500" dirty="0"/>
              <a:t>)</a:t>
            </a:r>
            <a:r>
              <a:rPr lang="en-US" sz="1500" dirty="0"/>
              <a:t> for Information Systems and Organizations</a:t>
            </a:r>
          </a:p>
          <a:p>
            <a:pPr marL="750094" lvl="1" indent="-321469">
              <a:buFont typeface="Wingdings" panose="05000000000000000000" pitchFamily="2" charset="2"/>
              <a:buChar char="v"/>
            </a:pPr>
            <a:r>
              <a:rPr lang="en-US" sz="1500" dirty="0"/>
              <a:t>NIST SP 800-53A Rev. 5 Assessing Security and Privacy Controls in Information Systems and Organizations</a:t>
            </a:r>
          </a:p>
          <a:p>
            <a:pPr marL="321469" indent="-321469">
              <a:buFont typeface="Wingdings" panose="05000000000000000000" pitchFamily="2" charset="2"/>
              <a:buChar char="ü"/>
            </a:pPr>
            <a:r>
              <a:rPr lang="en-US" sz="1875" dirty="0"/>
              <a:t>Center for Internet Security (CIS)CIS Controls</a:t>
            </a:r>
          </a:p>
          <a:p>
            <a:pPr marL="321469" indent="-321469">
              <a:buFont typeface="Wingdings" panose="05000000000000000000" pitchFamily="2" charset="2"/>
              <a:buChar char="ü"/>
            </a:pPr>
            <a:r>
              <a:rPr lang="en-US" sz="1875" dirty="0"/>
              <a:t>COBIT (Control Objectives for Information and Related Technologies)framework</a:t>
            </a:r>
          </a:p>
          <a:p>
            <a:pPr marL="321469" indent="-321469">
              <a:buFont typeface="Wingdings" panose="05000000000000000000" pitchFamily="2" charset="2"/>
              <a:buChar char="ü"/>
            </a:pPr>
            <a:r>
              <a:rPr lang="zh-TW" altLang="en-US" sz="1875" dirty="0">
                <a:solidFill>
                  <a:srgbClr val="231816"/>
                </a:solidFill>
                <a:latin typeface="Noto Sans TC"/>
              </a:rPr>
              <a:t>我國</a:t>
            </a:r>
            <a:r>
              <a:rPr lang="en-US" altLang="zh-TW" sz="1875" dirty="0">
                <a:solidFill>
                  <a:srgbClr val="231816"/>
                </a:solidFill>
                <a:latin typeface="Noto Sans TC"/>
              </a:rPr>
              <a:t>:</a:t>
            </a:r>
          </a:p>
          <a:p>
            <a:pPr marL="750094" lvl="1" indent="-321469">
              <a:buFont typeface="Wingdings" panose="05000000000000000000" pitchFamily="2" charset="2"/>
              <a:buChar char="q"/>
            </a:pPr>
            <a:r>
              <a:rPr lang="zh-TW" altLang="en-US" sz="1875" dirty="0">
                <a:solidFill>
                  <a:srgbClr val="231816"/>
                </a:solidFill>
                <a:latin typeface="Noto Sans TC"/>
              </a:rPr>
              <a:t>安全控制措施參考指引</a:t>
            </a:r>
            <a:r>
              <a:rPr lang="en-US" altLang="zh-TW" sz="1875" dirty="0">
                <a:solidFill>
                  <a:srgbClr val="231816"/>
                </a:solidFill>
                <a:latin typeface="Noto Sans TC"/>
              </a:rPr>
              <a:t>v4.1_1121127</a:t>
            </a:r>
          </a:p>
          <a:p>
            <a:pPr marL="750094" lvl="1" indent="-321469">
              <a:buFont typeface="Wingdings" panose="05000000000000000000" pitchFamily="2" charset="2"/>
              <a:buChar char="q"/>
            </a:pPr>
            <a:r>
              <a:rPr lang="zh-TW" altLang="en-US" sz="1875" dirty="0">
                <a:solidFill>
                  <a:srgbClr val="231816"/>
                </a:solidFill>
                <a:latin typeface="Noto Sans TC"/>
              </a:rPr>
              <a:t>資通系統防護基準驗證實務</a:t>
            </a:r>
            <a:r>
              <a:rPr lang="en-US" altLang="zh-TW" sz="1875" dirty="0">
                <a:solidFill>
                  <a:srgbClr val="231816"/>
                </a:solidFill>
                <a:latin typeface="Noto Sans TC"/>
              </a:rPr>
              <a:t>(V1.1)_1110928</a:t>
            </a:r>
            <a:endParaRPr lang="en-US" sz="1875" dirty="0"/>
          </a:p>
        </p:txBody>
      </p:sp>
      <p:sp>
        <p:nvSpPr>
          <p:cNvPr id="13" name="文字方塊 12">
            <a:extLst>
              <a:ext uri="{FF2B5EF4-FFF2-40B4-BE49-F238E27FC236}">
                <a16:creationId xmlns:a16="http://schemas.microsoft.com/office/drawing/2014/main" id="{508D75B0-85AD-8E51-8A49-F40BDA603D6C}"/>
              </a:ext>
            </a:extLst>
          </p:cNvPr>
          <p:cNvSpPr txBox="1"/>
          <p:nvPr/>
        </p:nvSpPr>
        <p:spPr>
          <a:xfrm>
            <a:off x="1692174" y="1417026"/>
            <a:ext cx="4594324" cy="352084"/>
          </a:xfrm>
          <a:prstGeom prst="rect">
            <a:avLst/>
          </a:prstGeom>
          <a:noFill/>
        </p:spPr>
        <p:txBody>
          <a:bodyPr wrap="square">
            <a:spAutoFit/>
          </a:bodyPr>
          <a:lstStyle/>
          <a:p>
            <a:r>
              <a:rPr lang="en-US" sz="1688" b="1" dirty="0">
                <a:solidFill>
                  <a:schemeClr val="accent2">
                    <a:lumMod val="50000"/>
                  </a:schemeClr>
                </a:solidFill>
                <a:effectLst>
                  <a:outerShdw blurRad="38100" dist="38100" dir="2700000" algn="tl">
                    <a:srgbClr val="000000">
                      <a:alpha val="43137"/>
                    </a:srgbClr>
                  </a:outerShdw>
                </a:effectLst>
              </a:rPr>
              <a:t>measure</a:t>
            </a:r>
            <a:r>
              <a:rPr lang="en-US" sz="1688" dirty="0"/>
              <a:t> that maintains and/or modifies risk</a:t>
            </a:r>
          </a:p>
        </p:txBody>
      </p:sp>
      <p:sp>
        <p:nvSpPr>
          <p:cNvPr id="6" name="投影片編號版面配置區 5">
            <a:extLst>
              <a:ext uri="{FF2B5EF4-FFF2-40B4-BE49-F238E27FC236}">
                <a16:creationId xmlns:a16="http://schemas.microsoft.com/office/drawing/2014/main" id="{D9CE1E8A-9591-F147-CCF9-5CB21F426394}"/>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4037918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845349574"/>
              </p:ext>
            </p:extLst>
          </p:nvPr>
        </p:nvGraphicFramePr>
        <p:xfrm>
          <a:off x="104409" y="781823"/>
          <a:ext cx="8930054" cy="5989320"/>
        </p:xfrm>
        <a:graphic>
          <a:graphicData uri="http://schemas.openxmlformats.org/drawingml/2006/table">
            <a:tbl>
              <a:tblPr firstRow="1" bandRow="1">
                <a:tableStyleId>{5C22544A-7EE6-4342-B048-85BDC9FD1C3A}</a:tableStyleId>
              </a:tblPr>
              <a:tblGrid>
                <a:gridCol w="1332844">
                  <a:extLst>
                    <a:ext uri="{9D8B030D-6E8A-4147-A177-3AD203B41FA5}">
                      <a16:colId xmlns:a16="http://schemas.microsoft.com/office/drawing/2014/main" val="161264640"/>
                    </a:ext>
                  </a:extLst>
                </a:gridCol>
                <a:gridCol w="7597210">
                  <a:extLst>
                    <a:ext uri="{9D8B030D-6E8A-4147-A177-3AD203B41FA5}">
                      <a16:colId xmlns:a16="http://schemas.microsoft.com/office/drawing/2014/main" val="3593441472"/>
                    </a:ext>
                  </a:extLst>
                </a:gridCol>
              </a:tblGrid>
              <a:tr h="296079">
                <a:tc gridSpan="2">
                  <a:txBody>
                    <a:bodyPr/>
                    <a:lstStyle/>
                    <a:p>
                      <a:r>
                        <a:rPr lang="zh-TW" altLang="en-US" sz="1600" dirty="0"/>
                        <a:t>五大屬性</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9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935477"/>
                  </a:ext>
                </a:extLst>
              </a:tr>
              <a:tr h="1097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控制措施類型</a:t>
                      </a:r>
                      <a:r>
                        <a:rPr lang="en-US" altLang="zh-TW" sz="1400" b="1" i="0" kern="1200" dirty="0">
                          <a:solidFill>
                            <a:schemeClr val="dk1"/>
                          </a:solidFill>
                          <a:effectLst>
                            <a:outerShdw blurRad="38100" dist="38100" dir="2700000" algn="tl">
                              <a:srgbClr val="000000">
                                <a:alpha val="43137"/>
                              </a:srgbClr>
                            </a:outerShdw>
                          </a:effectLst>
                          <a:latin typeface="+mn-lt"/>
                          <a:ea typeface="+mn-ea"/>
                          <a:cs typeface="+mn-cs"/>
                        </a:rPr>
                        <a:t>Control type</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用來由</a:t>
                      </a:r>
                      <a:r>
                        <a:rPr lang="zh-TW" altLang="en-US" sz="1400" b="1" dirty="0">
                          <a:solidFill>
                            <a:srgbClr val="C00000"/>
                          </a:solidFill>
                          <a:effectLst>
                            <a:outerShdw blurRad="38100" dist="38100" dir="2700000" algn="tl">
                              <a:srgbClr val="000000">
                                <a:alpha val="43137"/>
                              </a:srgbClr>
                            </a:outerShdw>
                          </a:effectLst>
                        </a:rPr>
                        <a:t>控制措施何時</a:t>
                      </a:r>
                      <a:r>
                        <a:rPr lang="zh-TW" altLang="en-US" sz="1400" b="1" dirty="0">
                          <a:effectLst>
                            <a:outerShdw blurRad="38100" dist="38100" dir="2700000" algn="tl">
                              <a:srgbClr val="000000">
                                <a:alpha val="43137"/>
                              </a:srgbClr>
                            </a:outerShdw>
                          </a:effectLst>
                        </a:rPr>
                        <a:t>及</a:t>
                      </a:r>
                      <a:r>
                        <a:rPr lang="zh-TW" altLang="en-US" sz="1400" b="1" dirty="0">
                          <a:solidFill>
                            <a:srgbClr val="C00000"/>
                          </a:solidFill>
                          <a:effectLst>
                            <a:outerShdw blurRad="38100" dist="38100" dir="2700000" algn="tl">
                              <a:srgbClr val="000000">
                                <a:alpha val="43137"/>
                              </a:srgbClr>
                            </a:outerShdw>
                          </a:effectLst>
                        </a:rPr>
                        <a:t>如何修改關於資訊安全事故發生之風險</a:t>
                      </a:r>
                      <a:r>
                        <a:rPr lang="zh-TW" altLang="en-US" sz="1400" b="1" dirty="0">
                          <a:effectLst>
                            <a:outerShdw blurRad="38100" dist="38100" dir="2700000" algn="tl">
                              <a:srgbClr val="000000">
                                <a:alpha val="43137"/>
                              </a:srgbClr>
                            </a:outerShdw>
                          </a:effectLst>
                        </a:rPr>
                        <a:t>的角度</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檢視控制措施。</a:t>
                      </a:r>
                      <a:endParaRPr lang="en-US" altLang="zh-TW" sz="1400" b="1" dirty="0">
                        <a:effectLst>
                          <a:outerShdw blurRad="38100" dist="38100" dir="2700000" algn="tl">
                            <a:srgbClr val="000000">
                              <a:alpha val="43137"/>
                            </a:srgbClr>
                          </a:outerShdw>
                        </a:effectLst>
                      </a:endParaRPr>
                    </a:p>
                    <a:p>
                      <a:r>
                        <a:rPr lang="zh-TW" altLang="en-US" sz="1400" b="1" dirty="0">
                          <a:effectLst>
                            <a:outerShdw blurRad="38100" dist="38100" dir="2700000" algn="tl">
                              <a:srgbClr val="000000">
                                <a:alpha val="43137"/>
                              </a:srgbClr>
                            </a:outerShdw>
                          </a:effectLst>
                        </a:rPr>
                        <a:t>屬性值 </a:t>
                      </a:r>
                      <a:r>
                        <a:rPr lang="en-US" altLang="zh-TW" sz="1400" b="1" dirty="0">
                          <a:effectLst>
                            <a:outerShdw blurRad="38100" dist="38100" dir="2700000" algn="tl">
                              <a:srgbClr val="000000">
                                <a:alpha val="43137"/>
                              </a:srgbClr>
                            </a:outerShdw>
                          </a:effectLst>
                        </a:rPr>
                        <a:t>== &gt; </a:t>
                      </a:r>
                    </a:p>
                    <a:p>
                      <a:r>
                        <a:rPr lang="en-US" altLang="zh-TW" sz="1400" b="1" dirty="0">
                          <a:effectLst>
                            <a:outerShdw blurRad="38100" dist="38100" dir="2700000" algn="tl">
                              <a:srgbClr val="000000">
                                <a:alpha val="43137"/>
                              </a:srgbClr>
                            </a:outerShdw>
                          </a:effectLst>
                        </a:rPr>
                        <a:t>Preventive(</a:t>
                      </a:r>
                      <a:r>
                        <a:rPr lang="zh-TW" altLang="en-US" sz="1400" b="1" dirty="0">
                          <a:effectLst>
                            <a:outerShdw blurRad="38100" dist="38100" dir="2700000" algn="tl">
                              <a:srgbClr val="000000">
                                <a:alpha val="43137"/>
                              </a:srgbClr>
                            </a:outerShdw>
                          </a:effectLst>
                        </a:rPr>
                        <a:t>旨在防止資訊安全事故發生之控制措施 </a:t>
                      </a:r>
                      <a:r>
                        <a:rPr lang="en-US" altLang="zh-TW" sz="1400" b="1" dirty="0">
                          <a:effectLst>
                            <a:outerShdw blurRad="38100" dist="38100" dir="2700000" algn="tl">
                              <a:srgbClr val="000000">
                                <a:alpha val="43137"/>
                              </a:srgbClr>
                            </a:outerShdw>
                          </a:effectLst>
                        </a:rPr>
                        <a:t>)</a:t>
                      </a:r>
                    </a:p>
                    <a:p>
                      <a:r>
                        <a:rPr lang="en-US" altLang="zh-TW" sz="1400" b="1" dirty="0">
                          <a:effectLst>
                            <a:outerShdw blurRad="38100" dist="38100" dir="2700000" algn="tl">
                              <a:srgbClr val="000000">
                                <a:alpha val="43137"/>
                              </a:srgbClr>
                            </a:outerShdw>
                          </a:effectLst>
                        </a:rPr>
                        <a:t>Detective (</a:t>
                      </a:r>
                      <a:r>
                        <a:rPr lang="zh-TW" altLang="en-US" sz="1400" b="1" dirty="0">
                          <a:effectLst>
                            <a:outerShdw blurRad="38100" dist="38100" dir="2700000" algn="tl">
                              <a:srgbClr val="000000">
                                <a:alpha val="43137"/>
                              </a:srgbClr>
                            </a:outerShdw>
                          </a:effectLst>
                        </a:rPr>
                        <a:t>於資訊安全事故發生時採取 之控制措施 </a:t>
                      </a:r>
                      <a:r>
                        <a:rPr lang="en-US" altLang="zh-TW" sz="1400" b="1" dirty="0">
                          <a:effectLst>
                            <a:outerShdw blurRad="38100" dist="38100" dir="2700000" algn="tl">
                              <a:srgbClr val="000000">
                                <a:alpha val="43137"/>
                              </a:srgbClr>
                            </a:outerShdw>
                          </a:effectLst>
                        </a:rPr>
                        <a:t>)</a:t>
                      </a:r>
                    </a:p>
                    <a:p>
                      <a:r>
                        <a:rPr lang="en-US" altLang="zh-TW" sz="1400" b="1" dirty="0">
                          <a:effectLst>
                            <a:outerShdw blurRad="38100" dist="38100" dir="2700000" algn="tl">
                              <a:srgbClr val="000000">
                                <a:alpha val="43137"/>
                              </a:srgbClr>
                            </a:outerShdw>
                          </a:effectLst>
                        </a:rPr>
                        <a:t>Corrective (</a:t>
                      </a:r>
                      <a:r>
                        <a:rPr lang="zh-TW" altLang="en-US" sz="1400" b="1" dirty="0">
                          <a:effectLst>
                            <a:outerShdw blurRad="38100" dist="38100" dir="2700000" algn="tl">
                              <a:srgbClr val="000000">
                                <a:alpha val="43137"/>
                              </a:srgbClr>
                            </a:outerShdw>
                          </a:effectLst>
                        </a:rPr>
                        <a:t>於資訊安全事故發生後採取行之控制措施 </a:t>
                      </a:r>
                      <a:r>
                        <a:rPr lang="en-US" altLang="zh-TW" sz="1400" b="1" dirty="0" smtClean="0">
                          <a:effectLst>
                            <a:outerShdw blurRad="38100" dist="38100" dir="2700000" algn="tl">
                              <a:srgbClr val="000000">
                                <a:alpha val="43137"/>
                              </a:srgbClr>
                            </a:outerShdw>
                          </a:effectLst>
                        </a:rPr>
                        <a:t>)</a:t>
                      </a:r>
                    </a:p>
                    <a:p>
                      <a:endParaRPr lang="zh-TW" altLang="en-US" sz="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2834150"/>
                  </a:ext>
                </a:extLst>
              </a:tr>
              <a:tr h="5943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資訊安全性質</a:t>
                      </a:r>
                    </a:p>
                    <a:p>
                      <a:r>
                        <a:rPr lang="en-US" altLang="zh-TW" sz="1100" b="1" dirty="0">
                          <a:effectLst>
                            <a:outerShdw blurRad="38100" dist="38100" dir="2700000" algn="tl">
                              <a:srgbClr val="000000">
                                <a:alpha val="43137"/>
                              </a:srgbClr>
                            </a:outerShdw>
                          </a:effectLst>
                        </a:rPr>
                        <a:t>Information Security Properties </a:t>
                      </a:r>
                      <a:endParaRPr lang="zh-TW" altLang="en-US" sz="11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用來從</a:t>
                      </a:r>
                      <a:r>
                        <a:rPr lang="zh-TW" altLang="en-US" sz="1400" b="1" dirty="0">
                          <a:solidFill>
                            <a:srgbClr val="C00000"/>
                          </a:solidFill>
                          <a:effectLst>
                            <a:outerShdw blurRad="38100" dist="38100" dir="2700000" algn="tl">
                              <a:srgbClr val="000000">
                                <a:alpha val="43137"/>
                              </a:srgbClr>
                            </a:outerShdw>
                          </a:effectLst>
                        </a:rPr>
                        <a:t>控制措施將有助於保留資訊之哪些特性</a:t>
                      </a:r>
                      <a:r>
                        <a:rPr lang="zh-TW" altLang="en-US" sz="1400" b="1" dirty="0">
                          <a:effectLst>
                            <a:outerShdw blurRad="38100" dist="38100" dir="2700000" algn="tl">
                              <a:srgbClr val="000000">
                                <a:alpha val="43137"/>
                              </a:srgbClr>
                            </a:outerShdw>
                          </a:effectLst>
                        </a:rPr>
                        <a:t>的角度</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檢視控制措施。</a:t>
                      </a:r>
                      <a:endParaRPr lang="en-US" altLang="zh-TW" sz="1400" b="1" dirty="0">
                        <a:effectLst>
                          <a:outerShdw blurRad="38100" dist="38100" dir="2700000" algn="tl">
                            <a:srgbClr val="000000">
                              <a:alpha val="43137"/>
                            </a:srgbClr>
                          </a:outerShdw>
                        </a:effectLst>
                      </a:endParaRPr>
                    </a:p>
                    <a:p>
                      <a:r>
                        <a:rPr lang="zh-TW" altLang="en-US" sz="1400" b="1" dirty="0">
                          <a:effectLst>
                            <a:outerShdw blurRad="38100" dist="38100" dir="2700000" algn="tl">
                              <a:srgbClr val="000000">
                                <a:alpha val="43137"/>
                              </a:srgbClr>
                            </a:outerShdw>
                          </a:effectLst>
                        </a:rPr>
                        <a:t>屬性值</a:t>
                      </a:r>
                      <a:r>
                        <a:rPr lang="en-US" altLang="zh-TW" sz="1400" b="1" dirty="0">
                          <a:effectLst>
                            <a:outerShdw blurRad="38100" dist="38100" dir="2700000" algn="tl">
                              <a:srgbClr val="000000">
                                <a:alpha val="43137"/>
                              </a:srgbClr>
                            </a:outerShdw>
                          </a:effectLst>
                        </a:rPr>
                        <a:t>== &gt; Confidentiality</a:t>
                      </a:r>
                      <a:r>
                        <a:rPr lang="zh-TW" altLang="en-US" sz="1400" b="1" dirty="0">
                          <a:effectLst>
                            <a:outerShdw blurRad="38100" dist="38100" dir="2700000" algn="tl">
                              <a:srgbClr val="000000">
                                <a:alpha val="43137"/>
                              </a:srgbClr>
                            </a:outerShdw>
                          </a:effectLst>
                        </a:rPr>
                        <a:t>、</a:t>
                      </a:r>
                      <a:r>
                        <a:rPr lang="en-US" altLang="zh-TW" sz="1400" b="1" dirty="0">
                          <a:effectLst>
                            <a:outerShdw blurRad="38100" dist="38100" dir="2700000" algn="tl">
                              <a:srgbClr val="000000">
                                <a:alpha val="43137"/>
                              </a:srgbClr>
                            </a:outerShdw>
                          </a:effectLst>
                        </a:rPr>
                        <a:t>Integrity </a:t>
                      </a:r>
                      <a:r>
                        <a:rPr lang="zh-TW" altLang="en-US" sz="1400" b="1" dirty="0">
                          <a:effectLst>
                            <a:outerShdw blurRad="38100" dist="38100" dir="2700000" algn="tl">
                              <a:srgbClr val="000000">
                                <a:alpha val="43137"/>
                              </a:srgbClr>
                            </a:outerShdw>
                          </a:effectLst>
                        </a:rPr>
                        <a:t>及 </a:t>
                      </a:r>
                      <a:r>
                        <a:rPr lang="en-US" altLang="zh-TW" sz="1400" b="1" dirty="0">
                          <a:effectLst>
                            <a:outerShdw blurRad="38100" dist="38100" dir="2700000" algn="tl">
                              <a:srgbClr val="000000">
                                <a:alpha val="43137"/>
                              </a:srgbClr>
                            </a:outerShdw>
                          </a:effectLst>
                        </a:rPr>
                        <a:t>Availability</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3074992"/>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網宇安全概念</a:t>
                      </a:r>
                      <a:endParaRPr lang="en-US" altLang="zh-TW" sz="14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outerShdw blurRad="38100" dist="38100" dir="2700000" algn="tl">
                              <a:srgbClr val="000000">
                                <a:alpha val="43137"/>
                              </a:srgbClr>
                            </a:outerShdw>
                          </a:effectLst>
                          <a:latin typeface="+mn-lt"/>
                          <a:ea typeface="+mn-ea"/>
                          <a:cs typeface="+mn-cs"/>
                        </a:rPr>
                        <a:t>Cybersecurity Concepts</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用來從</a:t>
                      </a:r>
                      <a:r>
                        <a:rPr lang="zh-TW" altLang="en-US" sz="1400" b="1" dirty="0">
                          <a:solidFill>
                            <a:srgbClr val="C00000"/>
                          </a:solidFill>
                          <a:effectLst>
                            <a:outerShdw blurRad="38100" dist="38100" dir="2700000" algn="tl">
                              <a:srgbClr val="000000">
                                <a:alpha val="43137"/>
                              </a:srgbClr>
                            </a:outerShdw>
                          </a:effectLst>
                        </a:rPr>
                        <a:t>控制措施與 </a:t>
                      </a:r>
                      <a:r>
                        <a:rPr lang="en-US" altLang="zh-TW" sz="1400" b="1" dirty="0">
                          <a:solidFill>
                            <a:srgbClr val="C00000"/>
                          </a:solidFill>
                          <a:effectLst>
                            <a:outerShdw blurRad="38100" dist="38100" dir="2700000" algn="tl">
                              <a:srgbClr val="000000">
                                <a:alpha val="43137"/>
                              </a:srgbClr>
                            </a:outerShdw>
                          </a:effectLst>
                        </a:rPr>
                        <a:t>ISO/IEC TS 27110 </a:t>
                      </a:r>
                      <a:r>
                        <a:rPr lang="zh-TW" altLang="en-US" sz="1400" b="1" dirty="0">
                          <a:solidFill>
                            <a:srgbClr val="C00000"/>
                          </a:solidFill>
                          <a:effectLst>
                            <a:outerShdw blurRad="38100" dist="38100" dir="2700000" algn="tl">
                              <a:srgbClr val="000000">
                                <a:alpha val="43137"/>
                              </a:srgbClr>
                            </a:outerShdw>
                          </a:effectLst>
                        </a:rPr>
                        <a:t>中描述 之 網宇安全框架中定義的 網宇安全概念之關聯關係</a:t>
                      </a:r>
                      <a:r>
                        <a:rPr lang="zh-TW" altLang="en-US" sz="1400" b="1" dirty="0">
                          <a:effectLst>
                            <a:outerShdw blurRad="38100" dist="38100" dir="2700000" algn="tl">
                              <a:srgbClr val="000000">
                                <a:alpha val="43137"/>
                              </a:srgbClr>
                            </a:outerShdw>
                          </a:effectLst>
                        </a:rPr>
                        <a:t>的角度</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檢視控制措施 。</a:t>
                      </a:r>
                    </a:p>
                    <a:p>
                      <a:r>
                        <a:rPr lang="zh-TW" altLang="en-US" sz="1400" b="1" dirty="0">
                          <a:effectLst>
                            <a:outerShdw blurRad="38100" dist="38100" dir="2700000" algn="tl">
                              <a:srgbClr val="000000">
                                <a:alpha val="43137"/>
                              </a:srgbClr>
                            </a:outerShdw>
                          </a:effectLst>
                        </a:rPr>
                        <a:t>屬性值 </a:t>
                      </a:r>
                      <a:r>
                        <a:rPr lang="en-US" altLang="zh-TW" sz="1400" b="1" dirty="0">
                          <a:effectLst>
                            <a:outerShdw blurRad="38100" dist="38100" dir="2700000" algn="tl">
                              <a:srgbClr val="000000">
                                <a:alpha val="43137"/>
                              </a:srgbClr>
                            </a:outerShdw>
                          </a:effectLst>
                        </a:rPr>
                        <a:t>==</a:t>
                      </a:r>
                      <a:r>
                        <a:rPr lang="en-US" altLang="zh-TW" sz="1400" b="1" baseline="0" dirty="0">
                          <a:effectLst>
                            <a:outerShdw blurRad="38100" dist="38100" dir="2700000" algn="tl">
                              <a:srgbClr val="000000">
                                <a:alpha val="43137"/>
                              </a:srgbClr>
                            </a:outerShdw>
                          </a:effectLst>
                        </a:rPr>
                        <a:t> &gt;</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Identify</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Protect</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Detect</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Respond </a:t>
                      </a:r>
                      <a:r>
                        <a:rPr lang="zh-TW" altLang="en-US" sz="1400" b="1" dirty="0">
                          <a:effectLst>
                            <a:outerShdw blurRad="38100" dist="38100" dir="2700000" algn="tl">
                              <a:srgbClr val="000000">
                                <a:alpha val="43137"/>
                              </a:srgbClr>
                            </a:outerShdw>
                          </a:effectLst>
                        </a:rPr>
                        <a:t>及 </a:t>
                      </a:r>
                      <a:r>
                        <a:rPr lang="en-US" altLang="zh-TW" sz="1400" b="1" dirty="0" smtClean="0">
                          <a:effectLst>
                            <a:outerShdw blurRad="38100" dist="38100" dir="2700000" algn="tl">
                              <a:srgbClr val="000000">
                                <a:alpha val="43137"/>
                              </a:srgbClr>
                            </a:outerShdw>
                          </a:effectLst>
                        </a:rPr>
                        <a:t>Recover</a:t>
                      </a:r>
                    </a:p>
                    <a:p>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218821"/>
                  </a:ext>
                </a:extLst>
              </a:tr>
              <a:tr h="8915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運作能力</a:t>
                      </a:r>
                      <a:endParaRPr lang="en-US" altLang="zh-TW" sz="14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outerShdw blurRad="38100" dist="38100" dir="2700000" algn="tl">
                              <a:srgbClr val="000000">
                                <a:alpha val="43137"/>
                              </a:srgbClr>
                            </a:outerShdw>
                          </a:effectLst>
                          <a:latin typeface="+mn-lt"/>
                          <a:ea typeface="+mn-ea"/>
                          <a:cs typeface="+mn-cs"/>
                        </a:rPr>
                        <a:t>Operational </a:t>
                      </a:r>
                      <a:r>
                        <a:rPr lang="en-US" altLang="zh-TW" sz="1400" b="1" i="0" kern="1200" dirty="0" err="1">
                          <a:solidFill>
                            <a:schemeClr val="dk1"/>
                          </a:solidFill>
                          <a:effectLst>
                            <a:outerShdw blurRad="38100" dist="38100" dir="2700000" algn="tl">
                              <a:srgbClr val="000000">
                                <a:alpha val="43137"/>
                              </a:srgbClr>
                            </a:outerShdw>
                          </a:effectLst>
                          <a:latin typeface="+mn-lt"/>
                          <a:ea typeface="+mn-ea"/>
                          <a:cs typeface="+mn-cs"/>
                        </a:rPr>
                        <a:t>Capabilitie</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用來從</a:t>
                      </a:r>
                      <a:r>
                        <a:rPr lang="zh-TW" altLang="en-US" sz="1400" b="1" dirty="0">
                          <a:solidFill>
                            <a:srgbClr val="C00000"/>
                          </a:solidFill>
                          <a:effectLst>
                            <a:outerShdw blurRad="38100" dist="38100" dir="2700000" algn="tl">
                              <a:srgbClr val="000000">
                                <a:alpha val="43137"/>
                              </a:srgbClr>
                            </a:outerShdw>
                          </a:effectLst>
                        </a:rPr>
                        <a:t>專業人員之資訊安全能</a:t>
                      </a:r>
                      <a:r>
                        <a:rPr lang="zh-TW" altLang="en-US" sz="1400" b="1" dirty="0">
                          <a:effectLst>
                            <a:outerShdw blurRad="38100" dist="38100" dir="2700000" algn="tl">
                              <a:srgbClr val="000000">
                                <a:alpha val="43137"/>
                              </a:srgbClr>
                            </a:outerShdw>
                          </a:effectLst>
                        </a:rPr>
                        <a:t>力角度</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檢視控制措施運作能力</a:t>
                      </a:r>
                      <a:endParaRPr lang="en-US" altLang="zh-TW" sz="14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屬性值  </a:t>
                      </a:r>
                      <a:r>
                        <a:rPr lang="en-US" altLang="zh-TW" sz="1400" b="1" dirty="0">
                          <a:effectLst>
                            <a:outerShdw blurRad="38100" dist="38100" dir="2700000" algn="tl">
                              <a:srgbClr val="000000">
                                <a:alpha val="43137"/>
                              </a:srgbClr>
                            </a:outerShdw>
                          </a:effectLst>
                        </a:rPr>
                        <a:t>== </a:t>
                      </a:r>
                      <a:r>
                        <a:rPr lang="en-US" altLang="zh-TW" sz="900" b="1" dirty="0">
                          <a:effectLst>
                            <a:outerShdw blurRad="38100" dist="38100" dir="2700000" algn="tl">
                              <a:srgbClr val="000000">
                                <a:alpha val="43137"/>
                              </a:srgbClr>
                            </a:outerShdw>
                          </a:effectLst>
                        </a:rPr>
                        <a:t>&gt;</a:t>
                      </a:r>
                      <a:r>
                        <a:rPr lang="zh-TW" altLang="en-US" sz="900" b="1" dirty="0">
                          <a:effectLst>
                            <a:outerShdw blurRad="38100" dist="38100" dir="2700000" algn="tl">
                              <a:srgbClr val="000000">
                                <a:alpha val="43137"/>
                              </a:srgbClr>
                            </a:outerShdw>
                          </a:effectLst>
                        </a:rPr>
                        <a:t> </a:t>
                      </a:r>
                      <a:r>
                        <a:rPr lang="en-US" altLang="zh-TW" sz="900" b="1" dirty="0">
                          <a:effectLst>
                            <a:outerShdw blurRad="38100" dist="38100" dir="2700000" algn="tl">
                              <a:srgbClr val="000000">
                                <a:alpha val="43137"/>
                              </a:srgbClr>
                            </a:outerShdw>
                          </a:effectLst>
                        </a:rPr>
                        <a:t>Governance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Asset_management</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Information_protection</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Human_resource_security</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Physical_security</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System_and_network_security</a:t>
                      </a:r>
                      <a:r>
                        <a:rPr lang="en-US" altLang="zh-TW"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Application_security</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Secure_configuration</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Identity_and_access_management</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a:t>
                      </a:r>
                      <a:r>
                        <a:rPr lang="en-US" altLang="zh-TW" sz="900" b="1" dirty="0" err="1">
                          <a:effectLst>
                            <a:outerShdw blurRad="38100" dist="38100" dir="2700000" algn="tl">
                              <a:srgbClr val="000000">
                                <a:alpha val="43137"/>
                              </a:srgbClr>
                            </a:outerShdw>
                          </a:effectLst>
                        </a:rPr>
                        <a:t>Threat_and_vulnerability_management</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a:effectLst>
                            <a:outerShdw blurRad="38100" dist="38100" dir="2700000" algn="tl">
                              <a:srgbClr val="000000">
                                <a:alpha val="43137"/>
                              </a:srgbClr>
                            </a:outerShdw>
                          </a:effectLst>
                        </a:rPr>
                        <a:t>Continuity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Supplier_relationships_security</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 </a:t>
                      </a:r>
                      <a:r>
                        <a:rPr lang="en-US" altLang="zh-TW" sz="900" b="1" dirty="0" err="1">
                          <a:effectLst>
                            <a:outerShdw blurRad="38100" dist="38100" dir="2700000" algn="tl">
                              <a:srgbClr val="000000">
                                <a:alpha val="43137"/>
                              </a:srgbClr>
                            </a:outerShdw>
                          </a:effectLst>
                        </a:rPr>
                        <a:t>Legal_and_compliance</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a:t>
                      </a:r>
                      <a:r>
                        <a:rPr lang="en-US" altLang="zh-TW" sz="900" b="1" dirty="0" err="1">
                          <a:effectLst>
                            <a:outerShdw blurRad="38100" dist="38100" dir="2700000" algn="tl">
                              <a:srgbClr val="000000">
                                <a:alpha val="43137"/>
                              </a:srgbClr>
                            </a:outerShdw>
                          </a:effectLst>
                        </a:rPr>
                        <a:t>Information_security_event_management</a:t>
                      </a:r>
                      <a:r>
                        <a:rPr lang="en-US" altLang="zh-TW" sz="900" b="1" dirty="0">
                          <a:effectLst>
                            <a:outerShdw blurRad="38100" dist="38100" dir="2700000" algn="tl">
                              <a:srgbClr val="000000">
                                <a:alpha val="43137"/>
                              </a:srgbClr>
                            </a:outerShdw>
                          </a:effectLst>
                        </a:rPr>
                        <a:t> </a:t>
                      </a:r>
                      <a:r>
                        <a:rPr lang="zh-TW" altLang="en-US" sz="900" b="1" dirty="0">
                          <a:effectLst>
                            <a:outerShdw blurRad="38100" dist="38100" dir="2700000" algn="tl">
                              <a:srgbClr val="000000">
                                <a:alpha val="43137"/>
                              </a:srgbClr>
                            </a:outerShdw>
                          </a:effectLst>
                        </a:rPr>
                        <a:t>及</a:t>
                      </a:r>
                      <a:r>
                        <a:rPr lang="en-US" altLang="zh-TW" sz="900" b="1" dirty="0" err="1" smtClean="0">
                          <a:effectLst>
                            <a:outerShdw blurRad="38100" dist="38100" dir="2700000" algn="tl">
                              <a:srgbClr val="000000">
                                <a:alpha val="43137"/>
                              </a:srgbClr>
                            </a:outerShdw>
                          </a:effectLst>
                        </a:rPr>
                        <a:t>Information_security_assurance</a:t>
                      </a:r>
                      <a:endParaRPr lang="en-US" altLang="zh-TW" sz="900" b="1" dirty="0" smtClean="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9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225234"/>
                  </a:ext>
                </a:extLst>
              </a:tr>
              <a:tr h="15773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安全領域</a:t>
                      </a:r>
                      <a:endParaRPr lang="en-US" altLang="zh-TW" sz="14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outerShdw blurRad="38100" dist="38100" dir="2700000" algn="tl">
                              <a:srgbClr val="000000">
                                <a:alpha val="43137"/>
                              </a:srgbClr>
                            </a:outerShdw>
                          </a:effectLst>
                          <a:latin typeface="+mn-lt"/>
                          <a:ea typeface="+mn-ea"/>
                          <a:cs typeface="+mn-cs"/>
                        </a:rPr>
                        <a:t>Security Domains</a:t>
                      </a:r>
                      <a:endParaRPr lang="zh-TW" altLang="en-US" sz="14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effectLst>
                            <a:outerShdw blurRad="38100" dist="38100" dir="2700000" algn="tl">
                              <a:srgbClr val="000000">
                                <a:alpha val="43137"/>
                              </a:srgbClr>
                            </a:outerShdw>
                          </a:effectLst>
                        </a:rPr>
                        <a:t>用來從</a:t>
                      </a:r>
                      <a:r>
                        <a:rPr lang="en-US" altLang="zh-TW" sz="1400" b="1" dirty="0">
                          <a:effectLst>
                            <a:outerShdw blurRad="38100" dist="38100" dir="2700000" algn="tl">
                              <a:srgbClr val="000000">
                                <a:alpha val="43137"/>
                              </a:srgbClr>
                            </a:outerShdw>
                          </a:effectLst>
                        </a:rPr>
                        <a:t>4 </a:t>
                      </a:r>
                      <a:r>
                        <a:rPr lang="zh-TW" altLang="en-US" sz="1400" b="1" dirty="0">
                          <a:effectLst>
                            <a:outerShdw blurRad="38100" dist="38100" dir="2700000" algn="tl">
                              <a:srgbClr val="000000">
                                <a:alpha val="43137"/>
                              </a:srgbClr>
                            </a:outerShdw>
                          </a:effectLst>
                        </a:rPr>
                        <a:t>個資訊安全領域之角度</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檢視控制措施</a:t>
                      </a:r>
                      <a:r>
                        <a:rPr lang="en-US" altLang="zh-TW" sz="1400" b="1" dirty="0">
                          <a:effectLst>
                            <a:outerShdw blurRad="38100" dist="38100" dir="2700000" algn="tl">
                              <a:srgbClr val="000000">
                                <a:alpha val="43137"/>
                              </a:srgbClr>
                            </a:outerShdw>
                          </a:effectLst>
                        </a:rPr>
                        <a:t>:</a:t>
                      </a:r>
                    </a:p>
                    <a:p>
                      <a:pPr marL="0" indent="0">
                        <a:buFont typeface="+mj-lt"/>
                        <a:buNone/>
                      </a:pPr>
                      <a:endParaRPr lang="en-US" altLang="zh-TW" sz="800" b="1" dirty="0" smtClean="0">
                        <a:effectLst>
                          <a:outerShdw blurRad="38100" dist="38100" dir="2700000" algn="tl">
                            <a:srgbClr val="000000">
                              <a:alpha val="43137"/>
                            </a:srgbClr>
                          </a:outerShdw>
                        </a:effectLst>
                      </a:endParaRPr>
                    </a:p>
                    <a:p>
                      <a:pPr marL="0" indent="0">
                        <a:buFont typeface="+mj-lt"/>
                        <a:buNone/>
                      </a:pPr>
                      <a:r>
                        <a:rPr lang="en-US" altLang="zh-TW" sz="1200" b="1" dirty="0" smtClean="0">
                          <a:effectLst>
                            <a:outerShdw blurRad="38100" dist="38100" dir="2700000" algn="tl">
                              <a:srgbClr val="000000">
                                <a:alpha val="43137"/>
                              </a:srgbClr>
                            </a:outerShdw>
                          </a:effectLst>
                        </a:rPr>
                        <a:t>1</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治理及生態</a:t>
                      </a:r>
                      <a:r>
                        <a:rPr lang="zh-TW" altLang="en-US" sz="1200" b="1" dirty="0" smtClean="0">
                          <a:effectLst>
                            <a:outerShdw blurRad="38100" dist="38100" dir="2700000" algn="tl">
                              <a:srgbClr val="000000">
                                <a:alpha val="43137"/>
                              </a:srgbClr>
                            </a:outerShdw>
                          </a:effectLst>
                        </a:rPr>
                        <a:t>系統</a:t>
                      </a:r>
                      <a:r>
                        <a:rPr lang="en-US" altLang="zh-TW" sz="1200" b="1" dirty="0" smtClean="0">
                          <a:effectLst>
                            <a:outerShdw blurRad="38100" dist="38100" dir="2700000" algn="tl">
                              <a:srgbClr val="000000">
                                <a:alpha val="43137"/>
                              </a:srgbClr>
                            </a:outerShdw>
                          </a:effectLst>
                        </a:rPr>
                        <a:t>(</a:t>
                      </a:r>
                      <a:r>
                        <a:rPr lang="en-US" altLang="zh-TW" sz="1200" b="1" dirty="0" err="1" smtClean="0">
                          <a:effectLst>
                            <a:outerShdw blurRad="38100" dist="38100" dir="2700000" algn="tl">
                              <a:srgbClr val="000000">
                                <a:alpha val="43137"/>
                              </a:srgbClr>
                            </a:outerShdw>
                          </a:effectLst>
                        </a:rPr>
                        <a:t>Governance_and_Ecosystem</a:t>
                      </a:r>
                      <a:r>
                        <a:rPr lang="en-US" altLang="zh-TW" sz="1200" b="1" dirty="0" smtClean="0">
                          <a:effectLst>
                            <a:outerShdw blurRad="38100" dist="38100" dir="2700000" algn="tl">
                              <a:srgbClr val="000000">
                                <a:alpha val="43137"/>
                              </a:srgbClr>
                            </a:outerShdw>
                          </a:effectLst>
                        </a:rPr>
                        <a:t>)==</a:t>
                      </a:r>
                      <a:r>
                        <a:rPr lang="en-US" altLang="zh-TW" sz="1200" b="1" baseline="0" dirty="0" smtClean="0">
                          <a:effectLst>
                            <a:outerShdw blurRad="38100" dist="38100" dir="2700000" algn="tl">
                              <a:srgbClr val="000000">
                                <a:alpha val="43137"/>
                              </a:srgbClr>
                            </a:outerShdw>
                          </a:effectLst>
                        </a:rPr>
                        <a:t> </a:t>
                      </a:r>
                      <a:r>
                        <a:rPr lang="en-US" altLang="zh-TW" sz="1200" b="1" baseline="0" dirty="0">
                          <a:effectLst>
                            <a:outerShdw blurRad="38100" dist="38100" dir="2700000" algn="tl">
                              <a:srgbClr val="000000">
                                <a:alpha val="43137"/>
                              </a:srgbClr>
                            </a:outerShdw>
                          </a:effectLst>
                        </a:rPr>
                        <a:t>&gt; </a:t>
                      </a:r>
                      <a:r>
                        <a:rPr lang="zh-TW" altLang="en-US" sz="1200" b="1" dirty="0">
                          <a:effectLst>
                            <a:outerShdw blurRad="38100" dist="38100" dir="2700000" algn="tl">
                              <a:srgbClr val="000000">
                                <a:alpha val="43137"/>
                              </a:srgbClr>
                            </a:outerShdw>
                          </a:effectLst>
                        </a:rPr>
                        <a:t>包 括</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資訊系統安全治理及風險管理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及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生態系統網宇安全管理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包括內部及外部利害相關者 </a:t>
                      </a:r>
                      <a:r>
                        <a:rPr lang="en-US" altLang="zh-TW" sz="1200" b="1" dirty="0">
                          <a:effectLst>
                            <a:outerShdw blurRad="38100" dist="38100" dir="2700000" algn="tl">
                              <a:srgbClr val="000000">
                                <a:alpha val="43137"/>
                              </a:srgbClr>
                            </a:outerShdw>
                          </a:effectLst>
                        </a:rPr>
                        <a:t>);</a:t>
                      </a:r>
                    </a:p>
                    <a:p>
                      <a:pPr marL="0" indent="0">
                        <a:buFont typeface="+mj-lt"/>
                        <a:buNone/>
                      </a:pPr>
                      <a:r>
                        <a:rPr lang="en-US" altLang="zh-TW" sz="1200" b="1" dirty="0">
                          <a:effectLst>
                            <a:outerShdw blurRad="38100" dist="38100" dir="2700000" algn="tl">
                              <a:srgbClr val="000000">
                                <a:alpha val="43137"/>
                              </a:srgbClr>
                            </a:outerShdw>
                          </a:effectLst>
                        </a:rPr>
                        <a:t>2.</a:t>
                      </a:r>
                      <a:r>
                        <a:rPr lang="zh-TW" altLang="en-US" sz="1200" b="1" dirty="0" smtClean="0">
                          <a:effectLst>
                            <a:outerShdw blurRad="38100" dist="38100" dir="2700000" algn="tl">
                              <a:srgbClr val="000000">
                                <a:alpha val="43137"/>
                              </a:srgbClr>
                            </a:outerShdw>
                          </a:effectLst>
                        </a:rPr>
                        <a:t>保護</a:t>
                      </a:r>
                      <a:r>
                        <a:rPr lang="en-US" altLang="zh-TW" sz="1200" b="1" dirty="0" smtClean="0">
                          <a:effectLst>
                            <a:outerShdw blurRad="38100" dist="38100" dir="2700000" algn="tl">
                              <a:srgbClr val="000000">
                                <a:alpha val="43137"/>
                              </a:srgbClr>
                            </a:outerShdw>
                          </a:effectLst>
                        </a:rPr>
                        <a:t>(Protection) ==</a:t>
                      </a:r>
                      <a:r>
                        <a:rPr lang="en-US" altLang="zh-TW" sz="1200" b="1" baseline="0" dirty="0" smtClean="0">
                          <a:effectLst>
                            <a:outerShdw blurRad="38100" dist="38100" dir="2700000" algn="tl">
                              <a:srgbClr val="000000">
                                <a:alpha val="43137"/>
                              </a:srgbClr>
                            </a:outerShdw>
                          </a:effectLst>
                        </a:rPr>
                        <a:t> </a:t>
                      </a:r>
                      <a:r>
                        <a:rPr lang="en-US" altLang="zh-TW" sz="1200" b="1" baseline="0" dirty="0">
                          <a:effectLst>
                            <a:outerShdw blurRad="38100" dist="38100" dir="2700000" algn="tl">
                              <a:srgbClr val="000000">
                                <a:alpha val="43137"/>
                              </a:srgbClr>
                            </a:outerShdw>
                          </a:effectLst>
                        </a:rPr>
                        <a:t>&gt; </a:t>
                      </a:r>
                      <a:r>
                        <a:rPr lang="zh-TW" altLang="en-US" sz="1200" b="1" dirty="0">
                          <a:effectLst>
                            <a:outerShdw blurRad="38100" dist="38100" dir="2700000" algn="tl">
                              <a:srgbClr val="000000">
                                <a:alpha val="43137"/>
                              </a:srgbClr>
                            </a:outerShdw>
                          </a:effectLst>
                        </a:rPr>
                        <a:t> </a:t>
                      </a:r>
                      <a:r>
                        <a:rPr lang="en-US" altLang="zh-TW" sz="1200" b="1" baseline="0"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包 括</a:t>
                      </a:r>
                      <a:r>
                        <a:rPr lang="en-US" altLang="zh-TW" sz="1200" b="1" dirty="0">
                          <a:effectLst>
                            <a:outerShdw blurRad="38100" dist="38100" dir="2700000" algn="tl">
                              <a:srgbClr val="000000">
                                <a:alpha val="43137"/>
                              </a:srgbClr>
                            </a:outerShdw>
                          </a:effectLst>
                        </a:rPr>
                        <a:t>〝 IT </a:t>
                      </a:r>
                      <a:r>
                        <a:rPr lang="zh-TW" altLang="en-US" sz="1200" b="1" dirty="0">
                          <a:effectLst>
                            <a:outerShdw blurRad="38100" dist="38100" dir="2700000" algn="tl">
                              <a:srgbClr val="000000">
                                <a:alpha val="43137"/>
                              </a:srgbClr>
                            </a:outerShdw>
                          </a:effectLst>
                        </a:rPr>
                        <a:t>安全架構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a:t>
                      </a:r>
                      <a:r>
                        <a:rPr lang="en-US" altLang="zh-TW" sz="1200" b="1" dirty="0">
                          <a:effectLst>
                            <a:outerShdw blurRad="38100" dist="38100" dir="2700000" algn="tl">
                              <a:srgbClr val="000000">
                                <a:alpha val="43137"/>
                              </a:srgbClr>
                            </a:outerShdw>
                          </a:effectLst>
                        </a:rPr>
                        <a:t>〝 IT </a:t>
                      </a:r>
                      <a:r>
                        <a:rPr lang="zh-TW" altLang="en-US" sz="1200" b="1" dirty="0">
                          <a:effectLst>
                            <a:outerShdw blurRad="38100" dist="38100" dir="2700000" algn="tl">
                              <a:srgbClr val="000000">
                                <a:alpha val="43137"/>
                              </a:srgbClr>
                            </a:outerShdw>
                          </a:effectLst>
                        </a:rPr>
                        <a:t>安全管理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身分識別與存取管理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a:t>
                      </a:r>
                      <a:r>
                        <a:rPr lang="en-US" altLang="zh-TW" sz="1200" b="1" dirty="0">
                          <a:effectLst>
                            <a:outerShdw blurRad="38100" dist="38100" dir="2700000" algn="tl">
                              <a:srgbClr val="000000">
                                <a:alpha val="43137"/>
                              </a:srgbClr>
                            </a:outerShdw>
                          </a:effectLst>
                        </a:rPr>
                        <a:t>〝 IT </a:t>
                      </a:r>
                      <a:r>
                        <a:rPr lang="zh-TW" altLang="en-US" sz="1200" b="1" dirty="0">
                          <a:effectLst>
                            <a:outerShdw blurRad="38100" dist="38100" dir="2700000" algn="tl">
                              <a:srgbClr val="000000">
                                <a:alpha val="43137"/>
                              </a:srgbClr>
                            </a:outerShdw>
                          </a:effectLst>
                        </a:rPr>
                        <a:t>安全維護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及</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實體及環境安全 </a:t>
                      </a:r>
                      <a:r>
                        <a:rPr lang="en-US" altLang="zh-TW" sz="1200" b="1" dirty="0">
                          <a:effectLst>
                            <a:outerShdw blurRad="38100" dist="38100" dir="2700000" algn="tl">
                              <a:srgbClr val="000000">
                                <a:alpha val="43137"/>
                              </a:srgbClr>
                            </a:outerShdw>
                          </a:effectLst>
                        </a:rPr>
                        <a:t>〞;</a:t>
                      </a:r>
                    </a:p>
                    <a:p>
                      <a:pPr marL="0" indent="0">
                        <a:buFont typeface="+mj-lt"/>
                        <a:buNone/>
                      </a:pPr>
                      <a:r>
                        <a:rPr lang="en-US" altLang="zh-TW" sz="1200" b="1" dirty="0">
                          <a:effectLst>
                            <a:outerShdw blurRad="38100" dist="38100" dir="2700000" algn="tl">
                              <a:srgbClr val="000000">
                                <a:alpha val="43137"/>
                              </a:srgbClr>
                            </a:outerShdw>
                          </a:effectLst>
                        </a:rPr>
                        <a:t>3. </a:t>
                      </a:r>
                      <a:r>
                        <a:rPr lang="zh-TW" altLang="en-US" sz="1200" b="1" dirty="0" smtClean="0">
                          <a:effectLst>
                            <a:outerShdw blurRad="38100" dist="38100" dir="2700000" algn="tl">
                              <a:srgbClr val="000000">
                                <a:alpha val="43137"/>
                              </a:srgbClr>
                            </a:outerShdw>
                          </a:effectLst>
                        </a:rPr>
                        <a:t>防禦</a:t>
                      </a:r>
                      <a:r>
                        <a:rPr lang="en-US" altLang="zh-TW" sz="1200" b="1" dirty="0" smtClean="0">
                          <a:effectLst>
                            <a:outerShdw blurRad="38100" dist="38100" dir="2700000" algn="tl">
                              <a:srgbClr val="000000">
                                <a:alpha val="43137"/>
                              </a:srgbClr>
                            </a:outerShdw>
                          </a:effectLst>
                        </a:rPr>
                        <a:t>(Defense) ==</a:t>
                      </a:r>
                      <a:r>
                        <a:rPr lang="en-US" altLang="zh-TW" sz="1200" b="1" baseline="0" dirty="0" smtClean="0">
                          <a:effectLst>
                            <a:outerShdw blurRad="38100" dist="38100" dir="2700000" algn="tl">
                              <a:srgbClr val="000000">
                                <a:alpha val="43137"/>
                              </a:srgbClr>
                            </a:outerShdw>
                          </a:effectLst>
                        </a:rPr>
                        <a:t> &gt;</a:t>
                      </a:r>
                      <a:r>
                        <a:rPr lang="zh-TW" altLang="en-US" sz="1200" b="1" dirty="0">
                          <a:effectLst>
                            <a:outerShdw blurRad="38100" dist="38100" dir="2700000" algn="tl">
                              <a:srgbClr val="000000">
                                <a:alpha val="43137"/>
                              </a:srgbClr>
                            </a:outerShdw>
                          </a:effectLst>
                        </a:rPr>
                        <a:t>包 括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偵測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及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電腦安全事故管理</a:t>
                      </a:r>
                      <a:r>
                        <a:rPr lang="en-US" altLang="zh-TW" sz="1200" b="1" dirty="0">
                          <a:effectLst>
                            <a:outerShdw blurRad="38100" dist="38100" dir="2700000" algn="tl">
                              <a:srgbClr val="000000">
                                <a:alpha val="43137"/>
                              </a:srgbClr>
                            </a:outerShdw>
                          </a:effectLst>
                        </a:rPr>
                        <a:t>〞;</a:t>
                      </a:r>
                    </a:p>
                    <a:p>
                      <a:pPr marL="0" marR="0" indent="0" algn="l" defTabSz="914400" rtl="0" eaLnBrk="1" fontAlgn="auto" latinLnBrk="0" hangingPunct="1">
                        <a:lnSpc>
                          <a:spcPct val="100000"/>
                        </a:lnSpc>
                        <a:spcBef>
                          <a:spcPts val="0"/>
                        </a:spcBef>
                        <a:spcAft>
                          <a:spcPts val="0"/>
                        </a:spcAft>
                        <a:buClrTx/>
                        <a:buSzTx/>
                        <a:buFont typeface="+mj-lt"/>
                        <a:buNone/>
                        <a:tabLst/>
                        <a:defRPr/>
                      </a:pPr>
                      <a:r>
                        <a:rPr lang="en-US" altLang="zh-TW" sz="1200" b="1" dirty="0">
                          <a:effectLst>
                            <a:outerShdw blurRad="38100" dist="38100" dir="2700000" algn="tl">
                              <a:srgbClr val="000000">
                                <a:alpha val="43137"/>
                              </a:srgbClr>
                            </a:outerShdw>
                          </a:effectLst>
                        </a:rPr>
                        <a:t>4.</a:t>
                      </a:r>
                      <a:r>
                        <a:rPr lang="zh-TW" altLang="en-US" sz="1200" b="1" dirty="0" smtClean="0">
                          <a:effectLst>
                            <a:outerShdw blurRad="38100" dist="38100" dir="2700000" algn="tl">
                              <a:srgbClr val="000000">
                                <a:alpha val="43137"/>
                              </a:srgbClr>
                            </a:outerShdw>
                          </a:effectLst>
                        </a:rPr>
                        <a:t>韌性</a:t>
                      </a:r>
                      <a:r>
                        <a:rPr lang="en-US" altLang="zh-TW" sz="1200" b="1" dirty="0" smtClean="0">
                          <a:effectLst>
                            <a:outerShdw blurRad="38100" dist="38100" dir="2700000" algn="tl">
                              <a:srgbClr val="000000">
                                <a:alpha val="43137"/>
                              </a:srgbClr>
                            </a:outerShdw>
                          </a:effectLst>
                        </a:rPr>
                        <a:t>(Resilience)</a:t>
                      </a:r>
                      <a:r>
                        <a:rPr lang="zh-TW" altLang="en-US" sz="1200" b="1" baseline="0" dirty="0" smtClean="0">
                          <a:effectLst>
                            <a:outerShdw blurRad="38100" dist="38100" dir="2700000" algn="tl">
                              <a:srgbClr val="000000">
                                <a:alpha val="43137"/>
                              </a:srgbClr>
                            </a:outerShdw>
                          </a:effectLst>
                        </a:rPr>
                        <a:t>  </a:t>
                      </a:r>
                      <a:r>
                        <a:rPr lang="zh-TW" altLang="en-US" sz="1200" b="1" dirty="0" smtClean="0">
                          <a:effectLst>
                            <a:outerShdw blurRad="38100" dist="38100" dir="2700000" algn="tl">
                              <a:srgbClr val="000000">
                                <a:alpha val="43137"/>
                              </a:srgbClr>
                            </a:outerShdw>
                          </a:effectLst>
                        </a:rPr>
                        <a:t> </a:t>
                      </a:r>
                      <a:r>
                        <a:rPr lang="en-US" altLang="zh-TW" sz="1200" b="1" dirty="0">
                          <a:effectLst>
                            <a:outerShdw blurRad="38100" dist="38100" dir="2700000" algn="tl">
                              <a:srgbClr val="000000">
                                <a:alpha val="43137"/>
                              </a:srgbClr>
                            </a:outerShdw>
                          </a:effectLst>
                        </a:rPr>
                        <a:t>==</a:t>
                      </a:r>
                      <a:r>
                        <a:rPr lang="en-US" altLang="zh-TW" sz="1200" b="1" baseline="0" dirty="0">
                          <a:effectLst>
                            <a:outerShdw blurRad="38100" dist="38100" dir="2700000" algn="tl">
                              <a:srgbClr val="000000">
                                <a:alpha val="43137"/>
                              </a:srgbClr>
                            </a:outerShdw>
                          </a:effectLst>
                        </a:rPr>
                        <a:t> &gt;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包 括</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運作之持續性 </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及</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危機管理 </a:t>
                      </a:r>
                      <a:r>
                        <a:rPr lang="en-US" altLang="zh-TW" sz="1200" b="1"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a:t>
                      </a:r>
                      <a:endParaRPr lang="en-US" altLang="zh-TW" sz="1200" b="1" dirty="0">
                        <a:effectLst>
                          <a:outerShdw blurRad="38100" dist="38100" dir="2700000" algn="tl">
                            <a:srgbClr val="000000">
                              <a:alpha val="43137"/>
                            </a:srgbClr>
                          </a:outerShdw>
                        </a:effectLst>
                      </a:endParaRPr>
                    </a:p>
                    <a:p>
                      <a:endParaRPr lang="en-US" altLang="zh-TW" sz="800" b="1" dirty="0" smtClean="0">
                        <a:effectLst>
                          <a:outerShdw blurRad="38100" dist="38100" dir="2700000" algn="tl">
                            <a:srgbClr val="000000">
                              <a:alpha val="43137"/>
                            </a:srgbClr>
                          </a:outerShdw>
                        </a:effectLst>
                      </a:endParaRPr>
                    </a:p>
                    <a:p>
                      <a:r>
                        <a:rPr lang="zh-TW" altLang="en-US" sz="1400" b="1" dirty="0" smtClean="0">
                          <a:effectLst>
                            <a:outerShdw blurRad="38100" dist="38100" dir="2700000" algn="tl">
                              <a:srgbClr val="000000">
                                <a:alpha val="43137"/>
                              </a:srgbClr>
                            </a:outerShdw>
                          </a:effectLst>
                        </a:rPr>
                        <a:t>屬性</a:t>
                      </a:r>
                      <a:r>
                        <a:rPr lang="zh-TW" altLang="en-US" sz="1400" b="1" dirty="0">
                          <a:effectLst>
                            <a:outerShdw blurRad="38100" dist="38100" dir="2700000" algn="tl">
                              <a:srgbClr val="000000">
                                <a:alpha val="43137"/>
                              </a:srgbClr>
                            </a:outerShdw>
                          </a:effectLst>
                        </a:rPr>
                        <a:t>值</a:t>
                      </a:r>
                      <a:r>
                        <a:rPr lang="en-US" altLang="zh-TW" sz="1400" b="1" dirty="0">
                          <a:effectLst>
                            <a:outerShdw blurRad="38100" dist="38100" dir="2700000" algn="tl">
                              <a:srgbClr val="000000">
                                <a:alpha val="43137"/>
                              </a:srgbClr>
                            </a:outerShdw>
                          </a:effectLst>
                        </a:rPr>
                        <a:t>==</a:t>
                      </a:r>
                      <a:r>
                        <a:rPr lang="en-US" altLang="zh-TW" sz="1400" b="1" baseline="0" dirty="0">
                          <a:effectLst>
                            <a:outerShdw blurRad="38100" dist="38100" dir="2700000" algn="tl">
                              <a:srgbClr val="000000">
                                <a:alpha val="43137"/>
                              </a:srgbClr>
                            </a:outerShdw>
                          </a:effectLst>
                        </a:rPr>
                        <a:t> &gt;</a:t>
                      </a:r>
                      <a:r>
                        <a:rPr lang="zh-TW" altLang="en-US" sz="1400" b="1" dirty="0">
                          <a:effectLst>
                            <a:outerShdw blurRad="38100" dist="38100" dir="2700000" algn="tl">
                              <a:srgbClr val="000000">
                                <a:alpha val="43137"/>
                              </a:srgbClr>
                            </a:outerShdw>
                          </a:effectLst>
                        </a:rPr>
                        <a:t> </a:t>
                      </a:r>
                      <a:r>
                        <a:rPr lang="en-US" altLang="zh-TW" sz="1400" b="1" dirty="0" err="1">
                          <a:effectLst>
                            <a:outerShdw blurRad="38100" dist="38100" dir="2700000" algn="tl">
                              <a:srgbClr val="000000">
                                <a:alpha val="43137"/>
                              </a:srgbClr>
                            </a:outerShdw>
                          </a:effectLst>
                        </a:rPr>
                        <a:t>Governance_and_Ecosystem</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Protection</a:t>
                      </a:r>
                      <a:r>
                        <a:rPr lang="zh-TW" altLang="en-US" sz="1400" b="1" dirty="0">
                          <a:effectLst>
                            <a:outerShdw blurRad="38100" dist="38100" dir="2700000" algn="tl">
                              <a:srgbClr val="000000">
                                <a:alpha val="43137"/>
                              </a:srgbClr>
                            </a:outerShdw>
                          </a:effectLst>
                        </a:rPr>
                        <a:t>、 </a:t>
                      </a:r>
                      <a:r>
                        <a:rPr lang="en-US" altLang="zh-TW" sz="1400" b="1" dirty="0">
                          <a:effectLst>
                            <a:outerShdw blurRad="38100" dist="38100" dir="2700000" algn="tl">
                              <a:srgbClr val="000000">
                                <a:alpha val="43137"/>
                              </a:srgbClr>
                            </a:outerShdw>
                          </a:effectLst>
                        </a:rPr>
                        <a:t>Defense </a:t>
                      </a:r>
                      <a:r>
                        <a:rPr lang="zh-TW" altLang="en-US" sz="1400" b="1" dirty="0">
                          <a:effectLst>
                            <a:outerShdw blurRad="38100" dist="38100" dir="2700000" algn="tl">
                              <a:srgbClr val="000000">
                                <a:alpha val="43137"/>
                              </a:srgbClr>
                            </a:outerShdw>
                          </a:effectLst>
                        </a:rPr>
                        <a:t>及 </a:t>
                      </a:r>
                      <a:r>
                        <a:rPr lang="en-US" altLang="zh-TW" sz="1400" b="1" dirty="0" smtClean="0">
                          <a:effectLst>
                            <a:outerShdw blurRad="38100" dist="38100" dir="2700000" algn="tl">
                              <a:srgbClr val="000000">
                                <a:alpha val="43137"/>
                              </a:srgbClr>
                            </a:outerShdw>
                          </a:effectLst>
                        </a:rPr>
                        <a:t>Resilience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3133141"/>
                  </a:ext>
                </a:extLst>
              </a:tr>
            </a:tbl>
          </a:graphicData>
        </a:graphic>
      </p:graphicFrame>
      <p:sp>
        <p:nvSpPr>
          <p:cNvPr id="5" name="矩形 4"/>
          <p:cNvSpPr/>
          <p:nvPr/>
        </p:nvSpPr>
        <p:spPr>
          <a:xfrm>
            <a:off x="127937" y="504824"/>
            <a:ext cx="8882998" cy="276999"/>
          </a:xfrm>
          <a:prstGeom prst="rect">
            <a:avLst/>
          </a:prstGeom>
        </p:spPr>
        <p:txBody>
          <a:bodyPr wrap="square">
            <a:spAutoFit/>
          </a:bodyPr>
          <a:lstStyle/>
          <a:p>
            <a:r>
              <a:rPr lang="en-US" altLang="zh-TW" sz="1200" b="1" dirty="0">
                <a:effectLst>
                  <a:outerShdw blurRad="38100" dist="38100" dir="2700000" algn="tl">
                    <a:srgbClr val="000000">
                      <a:alpha val="43137"/>
                    </a:srgbClr>
                  </a:outerShdw>
                </a:effectLst>
              </a:rPr>
              <a:t>ISO/IEC TS 27110:2021 Information technology, cybersecurity and privacy protection — Cybersecurity framework development guidelines</a:t>
            </a:r>
            <a:endParaRPr lang="zh-TW" altLang="en-US" sz="1200" b="1" dirty="0">
              <a:effectLst>
                <a:outerShdw blurRad="38100" dist="38100" dir="2700000" algn="tl">
                  <a:srgbClr val="000000">
                    <a:alpha val="43137"/>
                  </a:srgbClr>
                </a:outerShdw>
              </a:effectLst>
            </a:endParaRPr>
          </a:p>
        </p:txBody>
      </p:sp>
      <p:sp>
        <p:nvSpPr>
          <p:cNvPr id="6" name="矩形 5"/>
          <p:cNvSpPr/>
          <p:nvPr/>
        </p:nvSpPr>
        <p:spPr>
          <a:xfrm>
            <a:off x="5671993" y="1464914"/>
            <a:ext cx="3696065" cy="507831"/>
          </a:xfrm>
          <a:prstGeom prst="rect">
            <a:avLst/>
          </a:prstGeom>
          <a:solidFill>
            <a:schemeClr val="accent6">
              <a:lumMod val="20000"/>
              <a:lumOff val="80000"/>
            </a:schemeClr>
          </a:solidFill>
        </p:spPr>
        <p:txBody>
          <a:bodyPr wrap="square">
            <a:spAutoFit/>
          </a:bodyPr>
          <a:lstStyle/>
          <a:p>
            <a:r>
              <a:rPr lang="zh-TW" altLang="en-US" sz="900" dirty="0"/>
              <a:t>標準中所選定提供之 屬 性視為足夠通用 </a:t>
            </a:r>
            <a:r>
              <a:rPr lang="en-US" altLang="zh-TW" sz="900" dirty="0"/>
              <a:t>, </a:t>
            </a:r>
            <a:r>
              <a:rPr lang="zh-TW" altLang="en-US" sz="900" dirty="0"/>
              <a:t>可 由 不同型式的組織使用 。</a:t>
            </a:r>
          </a:p>
          <a:p>
            <a:r>
              <a:rPr lang="zh-TW" altLang="en-US" sz="900" dirty="0"/>
              <a:t>組織可選擇忽略本標準中所提供之 </a:t>
            </a:r>
            <a:r>
              <a:rPr lang="en-US" altLang="zh-TW" sz="900" dirty="0"/>
              <a:t>1 </a:t>
            </a:r>
            <a:r>
              <a:rPr lang="zh-TW" altLang="en-US" sz="900" dirty="0"/>
              <a:t>或多個 屬性。 </a:t>
            </a:r>
            <a:endParaRPr lang="en-US" altLang="zh-TW" sz="900" dirty="0"/>
          </a:p>
          <a:p>
            <a:r>
              <a:rPr lang="zh-TW" altLang="en-US" sz="900" dirty="0"/>
              <a:t>亦可建立本身之屬性 </a:t>
            </a:r>
            <a:r>
              <a:rPr lang="en-US" altLang="zh-TW" sz="900" dirty="0"/>
              <a:t>(</a:t>
            </a:r>
            <a:r>
              <a:rPr lang="zh-TW" altLang="en-US" sz="900" dirty="0"/>
              <a:t>具對應屬性值 </a:t>
            </a:r>
            <a:r>
              <a:rPr lang="en-US" altLang="zh-TW" sz="900" dirty="0"/>
              <a:t>)</a:t>
            </a:r>
            <a:r>
              <a:rPr lang="zh-TW" altLang="en-US" sz="900" dirty="0"/>
              <a:t>以建立本 身之組織觀點</a:t>
            </a:r>
          </a:p>
        </p:txBody>
      </p:sp>
      <p:sp>
        <p:nvSpPr>
          <p:cNvPr id="8" name="矩形 7"/>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21</a:t>
            </a:fld>
            <a:endParaRPr lang="zh-TW" altLang="en-US" dirty="0"/>
          </a:p>
        </p:txBody>
      </p:sp>
    </p:spTree>
    <p:extLst>
      <p:ext uri="{BB962C8B-B14F-4D97-AF65-F5344CB8AC3E}">
        <p14:creationId xmlns:p14="http://schemas.microsoft.com/office/powerpoint/2010/main" val="1430118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4206" y="6891020"/>
            <a:ext cx="8624888" cy="1754326"/>
          </a:xfrm>
          <a:prstGeom prst="rect">
            <a:avLst/>
          </a:prstGeom>
        </p:spPr>
        <p:txBody>
          <a:bodyPr wrap="square">
            <a:spAutoFit/>
          </a:bodyPr>
          <a:lstStyle/>
          <a:p>
            <a:endParaRPr lang="zh-TW" altLang="en-US" sz="1350" dirty="0"/>
          </a:p>
          <a:p>
            <a:r>
              <a:rPr lang="zh-TW" altLang="en-US" sz="1350" dirty="0"/>
              <a:t>。</a:t>
            </a:r>
          </a:p>
          <a:p>
            <a:endParaRPr lang="zh-TW" altLang="en-US" sz="1350" dirty="0"/>
          </a:p>
          <a:p>
            <a:r>
              <a:rPr lang="en-US" altLang="zh-TW" sz="1350" dirty="0"/>
              <a:t>5.10 </a:t>
            </a:r>
            <a:r>
              <a:rPr lang="zh-TW" altLang="en-US" sz="1350" dirty="0"/>
              <a:t>可接受使用資訊及其他相關聯資產</a:t>
            </a:r>
          </a:p>
          <a:p>
            <a:r>
              <a:rPr lang="zh-TW" altLang="en-US" sz="1350" dirty="0"/>
              <a:t>應識別、書面記錄及實作對處置資訊及其他相關聯資產之可接受使用</a:t>
            </a:r>
          </a:p>
          <a:p>
            <a:r>
              <a:rPr lang="zh-TW" altLang="en-US" sz="1350" dirty="0"/>
              <a:t>的規則及程式。</a:t>
            </a:r>
          </a:p>
          <a:p>
            <a:r>
              <a:rPr lang="en-US" altLang="zh-TW" sz="1350" dirty="0"/>
              <a:t>5.11 </a:t>
            </a:r>
            <a:r>
              <a:rPr lang="zh-TW" altLang="en-US" sz="1350" dirty="0"/>
              <a:t>資產之歸還 控制措施</a:t>
            </a:r>
          </a:p>
          <a:p>
            <a:r>
              <a:rPr lang="zh-TW" altLang="en-US" sz="1350" dirty="0"/>
              <a:t>適切時</a:t>
            </a:r>
            <a:r>
              <a:rPr lang="en-US" altLang="zh-TW" sz="1350" dirty="0"/>
              <a:t>,</a:t>
            </a:r>
            <a:r>
              <a:rPr lang="zh-TW" altLang="en-US" sz="1350" dirty="0"/>
              <a:t>人員及其他關注方於其聘用、契約或協議變更或終止時</a:t>
            </a:r>
            <a:r>
              <a:rPr lang="en-US" altLang="zh-TW" sz="1350" dirty="0"/>
              <a:t>,</a:t>
            </a:r>
            <a:r>
              <a:rPr lang="zh-TW" altLang="en-US" sz="1350" dirty="0"/>
              <a:t>應歸還其持有之所有組織資產。</a:t>
            </a:r>
          </a:p>
        </p:txBody>
      </p:sp>
      <p:graphicFrame>
        <p:nvGraphicFramePr>
          <p:cNvPr id="5" name="表格 4"/>
          <p:cNvGraphicFramePr>
            <a:graphicFrameLocks noGrp="1"/>
          </p:cNvGraphicFramePr>
          <p:nvPr/>
        </p:nvGraphicFramePr>
        <p:xfrm>
          <a:off x="85725" y="958850"/>
          <a:ext cx="8972550" cy="4183380"/>
        </p:xfrm>
        <a:graphic>
          <a:graphicData uri="http://schemas.openxmlformats.org/drawingml/2006/table">
            <a:tbl>
              <a:tblPr firstRow="1" bandRow="1">
                <a:tableStyleId>{5C22544A-7EE6-4342-B048-85BDC9FD1C3A}</a:tableStyleId>
              </a:tblPr>
              <a:tblGrid>
                <a:gridCol w="3057525">
                  <a:extLst>
                    <a:ext uri="{9D8B030D-6E8A-4147-A177-3AD203B41FA5}">
                      <a16:colId xmlns:a16="http://schemas.microsoft.com/office/drawing/2014/main" val="834402509"/>
                    </a:ext>
                  </a:extLst>
                </a:gridCol>
                <a:gridCol w="5915025">
                  <a:extLst>
                    <a:ext uri="{9D8B030D-6E8A-4147-A177-3AD203B41FA5}">
                      <a16:colId xmlns:a16="http://schemas.microsoft.com/office/drawing/2014/main" val="1240662488"/>
                    </a:ext>
                  </a:extLst>
                </a:gridCol>
              </a:tblGrid>
              <a:tr h="3429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5 </a:t>
                      </a:r>
                      <a:r>
                        <a:rPr lang="zh-TW" altLang="en-US" sz="1800" dirty="0"/>
                        <a:t>組織控制措施</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2137076398"/>
                  </a:ext>
                </a:extLst>
              </a:tr>
              <a:tr h="891540">
                <a:tc>
                  <a:txBody>
                    <a:bodyPr/>
                    <a:lstStyle/>
                    <a:p>
                      <a:r>
                        <a:rPr lang="en-US" altLang="zh-TW" sz="1800" b="1" dirty="0"/>
                        <a:t>5.1 </a:t>
                      </a:r>
                      <a:r>
                        <a:rPr lang="zh-TW" altLang="en-US" sz="1800" b="1" dirty="0"/>
                        <a:t>資訊安全政策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資訊安全政策及主題特定政策應予以定義、由管理階層核可、發布、傳達予相關人員及相關關注方 </a:t>
                      </a:r>
                      <a:r>
                        <a:rPr lang="en-US" altLang="zh-TW" sz="1800" b="1" dirty="0"/>
                        <a:t>,</a:t>
                      </a:r>
                      <a:r>
                        <a:rPr lang="zh-TW" altLang="en-US" sz="1800" b="1" dirty="0"/>
                        <a:t>且其係知悉</a:t>
                      </a:r>
                      <a:r>
                        <a:rPr lang="en-US" altLang="zh-TW" sz="1800" b="1" dirty="0"/>
                        <a:t>,</a:t>
                      </a:r>
                      <a:r>
                        <a:rPr lang="zh-TW" altLang="en-US" sz="1800" b="1" dirty="0"/>
                        <a:t>並依規劃期間 及 發生重大 變 更 時審查。</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8200669"/>
                  </a:ext>
                </a:extLst>
              </a:tr>
              <a:tr h="342900">
                <a:tc>
                  <a:txBody>
                    <a:bodyPr/>
                    <a:lstStyle/>
                    <a:p>
                      <a:r>
                        <a:rPr lang="en-US" altLang="zh-TW" sz="1800" b="1" dirty="0"/>
                        <a:t>5.2 </a:t>
                      </a:r>
                      <a:r>
                        <a:rPr lang="zh-TW" altLang="en-US" sz="1800" b="1" dirty="0"/>
                        <a:t>資訊安全之角色及責任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800" b="1" dirty="0"/>
                        <a:t>應依組織需要</a:t>
                      </a:r>
                      <a:r>
                        <a:rPr lang="en-US" altLang="zh-TW" sz="1800" b="1" dirty="0"/>
                        <a:t>,</a:t>
                      </a:r>
                      <a:r>
                        <a:rPr lang="zh-TW" altLang="en-US" sz="1800" b="1" dirty="0"/>
                        <a:t>定義並配置資訊安全之角色及責任</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16352334"/>
                  </a:ext>
                </a:extLst>
              </a:tr>
              <a:tr h="342900">
                <a:tc>
                  <a:txBody>
                    <a:bodyPr/>
                    <a:lstStyle/>
                    <a:p>
                      <a:r>
                        <a:rPr lang="en-US" altLang="zh-TW" sz="1800" b="1" dirty="0"/>
                        <a:t>5.3 </a:t>
                      </a:r>
                      <a:r>
                        <a:rPr lang="zh-TW" altLang="en-US" sz="1800" b="1" dirty="0"/>
                        <a:t>職務區隔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800" b="1" dirty="0"/>
                        <a:t>衝突之職務及衝突的責任範圍應予以區隔</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3695792"/>
                  </a:ext>
                </a:extLst>
              </a:tr>
              <a:tr h="617220">
                <a:tc>
                  <a:txBody>
                    <a:bodyPr/>
                    <a:lstStyle/>
                    <a:p>
                      <a:r>
                        <a:rPr lang="en-US" altLang="zh-TW" sz="1800" b="1" dirty="0"/>
                        <a:t>5.4 </a:t>
                      </a:r>
                      <a:r>
                        <a:rPr lang="zh-TW" altLang="en-US" sz="1800" b="1" dirty="0"/>
                        <a:t>管理階層責任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管理階層應要求所有人員</a:t>
                      </a:r>
                      <a:r>
                        <a:rPr lang="en-US" altLang="zh-TW" sz="1800" dirty="0"/>
                        <a:t>,</a:t>
                      </a:r>
                      <a:r>
                        <a:rPr lang="zh-TW" altLang="en-US" sz="1800" dirty="0"/>
                        <a:t>依組織所建立資訊安全政策、主題特定政策及程式</a:t>
                      </a:r>
                      <a:r>
                        <a:rPr lang="en-US" altLang="zh-TW" sz="1800" dirty="0"/>
                        <a:t>,</a:t>
                      </a:r>
                      <a:r>
                        <a:rPr lang="zh-TW" altLang="en-US" sz="1800" dirty="0"/>
                        <a:t>實施資訊安全</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207546"/>
                  </a:ext>
                </a:extLst>
              </a:tr>
              <a:tr h="342900">
                <a:tc>
                  <a:txBody>
                    <a:bodyPr/>
                    <a:lstStyle/>
                    <a:p>
                      <a:r>
                        <a:rPr lang="en-US" altLang="zh-TW" sz="1800" dirty="0"/>
                        <a:t>5.5 </a:t>
                      </a:r>
                      <a:r>
                        <a:rPr lang="zh-TW" altLang="en-US" sz="1800" dirty="0"/>
                        <a:t>與權責機關之聯繫 </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組織應建立並維持與相關權責機關之聯繫</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8037891"/>
                  </a:ext>
                </a:extLst>
              </a:tr>
              <a:tr h="617220">
                <a:tc>
                  <a:txBody>
                    <a:bodyPr/>
                    <a:lstStyle/>
                    <a:p>
                      <a:r>
                        <a:rPr lang="en-US" altLang="zh-TW" sz="1800" dirty="0"/>
                        <a:t>5.6 </a:t>
                      </a:r>
                      <a:r>
                        <a:rPr lang="zh-TW" altLang="en-US" sz="1800" dirty="0"/>
                        <a:t>與特殊關注群組之聯 繫 </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組織應建立並維持與各特殊關注群組或其他各專家安全論壇及專業協會之聯繫</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238327"/>
                  </a:ext>
                </a:extLst>
              </a:tr>
              <a:tr h="342900">
                <a:tc>
                  <a:txBody>
                    <a:bodyPr/>
                    <a:lstStyle/>
                    <a:p>
                      <a:r>
                        <a:rPr lang="en-US" altLang="zh-TW" sz="1800" dirty="0"/>
                        <a:t>5.7 </a:t>
                      </a:r>
                      <a:r>
                        <a:rPr lang="zh-TW" altLang="en-US" sz="1800" dirty="0"/>
                        <a:t>威脅情資 </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應蒐集並分析與資訊安全威脅相關之資訊</a:t>
                      </a:r>
                      <a:r>
                        <a:rPr lang="en-US" altLang="zh-TW" sz="1800" dirty="0"/>
                        <a:t>,</a:t>
                      </a:r>
                      <a:r>
                        <a:rPr lang="zh-TW" altLang="en-US" sz="1800" dirty="0"/>
                        <a:t>以產生威脅情資</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7974551"/>
                  </a:ext>
                </a:extLst>
              </a:tr>
              <a:tr h="342900">
                <a:tc>
                  <a:txBody>
                    <a:bodyPr/>
                    <a:lstStyle/>
                    <a:p>
                      <a:r>
                        <a:rPr lang="en-US" altLang="zh-TW" sz="1800" dirty="0"/>
                        <a:t>5.8 </a:t>
                      </a:r>
                      <a:r>
                        <a:rPr lang="zh-TW" altLang="en-US" sz="1800" dirty="0"/>
                        <a:t>專案管理之資訊安全 </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dirty="0"/>
                        <a:t>資訊安全應整合入專案管理中</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3134609"/>
                  </a:ext>
                </a:extLst>
              </a:tr>
            </a:tbl>
          </a:graphicData>
        </a:graphic>
      </p:graphicFrame>
      <p:sp>
        <p:nvSpPr>
          <p:cNvPr id="7" name="矩形 6"/>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22</a:t>
            </a:fld>
            <a:endParaRPr lang="zh-TW" altLang="en-US" dirty="0"/>
          </a:p>
        </p:txBody>
      </p:sp>
    </p:spTree>
    <p:extLst>
      <p:ext uri="{BB962C8B-B14F-4D97-AF65-F5344CB8AC3E}">
        <p14:creationId xmlns:p14="http://schemas.microsoft.com/office/powerpoint/2010/main" val="2755250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71438" y="976074"/>
          <a:ext cx="8972550" cy="5036820"/>
        </p:xfrm>
        <a:graphic>
          <a:graphicData uri="http://schemas.openxmlformats.org/drawingml/2006/table">
            <a:tbl>
              <a:tblPr firstRow="1" bandRow="1">
                <a:tableStyleId>{5C22544A-7EE6-4342-B048-85BDC9FD1C3A}</a:tableStyleId>
              </a:tblPr>
              <a:tblGrid>
                <a:gridCol w="2305050">
                  <a:extLst>
                    <a:ext uri="{9D8B030D-6E8A-4147-A177-3AD203B41FA5}">
                      <a16:colId xmlns:a16="http://schemas.microsoft.com/office/drawing/2014/main" val="834402509"/>
                    </a:ext>
                  </a:extLst>
                </a:gridCol>
                <a:gridCol w="6667500">
                  <a:extLst>
                    <a:ext uri="{9D8B030D-6E8A-4147-A177-3AD203B41FA5}">
                      <a16:colId xmlns:a16="http://schemas.microsoft.com/office/drawing/2014/main" val="1240662488"/>
                    </a:ext>
                  </a:extLst>
                </a:gridCol>
              </a:tblGrid>
              <a:tr h="3429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5 </a:t>
                      </a:r>
                      <a:r>
                        <a:rPr lang="zh-TW" altLang="en-US" sz="1800" dirty="0"/>
                        <a:t>組織控制措施</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2137076398"/>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5.9 </a:t>
                      </a:r>
                      <a:r>
                        <a:rPr lang="zh-TW" altLang="en-US" sz="1500" b="1" dirty="0">
                          <a:effectLst>
                            <a:outerShdw blurRad="38100" dist="38100" dir="2700000" algn="tl">
                              <a:srgbClr val="000000">
                                <a:alpha val="43137"/>
                              </a:srgbClr>
                            </a:outerShdw>
                          </a:effectLst>
                        </a:rPr>
                        <a:t>資訊及其他相關聯資產之清冊 </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 </a:t>
                      </a:r>
                      <a:r>
                        <a:rPr lang="en-US" altLang="zh-TW" sz="1500" b="1" dirty="0">
                          <a:effectLst>
                            <a:outerShdw blurRad="38100" dist="38100" dir="2700000" algn="tl">
                              <a:srgbClr val="000000">
                                <a:alpha val="43137"/>
                              </a:srgbClr>
                            </a:outerShdw>
                          </a:effectLst>
                        </a:rPr>
                        <a:t>&gt;</a:t>
                      </a:r>
                      <a:r>
                        <a:rPr lang="zh-TW" altLang="en-US" sz="1500" b="1" dirty="0">
                          <a:effectLst>
                            <a:outerShdw blurRad="38100" dist="38100" dir="2700000" algn="tl">
                              <a:srgbClr val="000000">
                                <a:alpha val="43137"/>
                              </a:srgbClr>
                            </a:outerShdw>
                          </a:effectLst>
                        </a:rPr>
                        <a:t>資產清冊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應製作並維護資訊及其他相關聯資產</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包括擁有者</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之清冊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965331"/>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5.10 </a:t>
                      </a:r>
                      <a:r>
                        <a:rPr lang="zh-TW" altLang="en-US" sz="1500" b="1" dirty="0">
                          <a:effectLst>
                            <a:outerShdw blurRad="38100" dist="38100" dir="2700000" algn="tl">
                              <a:srgbClr val="000000">
                                <a:alpha val="43137"/>
                              </a:srgbClr>
                            </a:outerShdw>
                          </a:effectLst>
                        </a:rPr>
                        <a:t>可接受使用資訊及其他相關聯資產</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應識別、書面記錄及實作對處置資訊及其他相關聯資產之可接受使用</a:t>
                      </a:r>
                    </a:p>
                    <a:p>
                      <a:r>
                        <a:rPr lang="zh-TW" altLang="en-US" sz="1500" b="1" dirty="0">
                          <a:effectLst>
                            <a:outerShdw blurRad="38100" dist="38100" dir="2700000" algn="tl">
                              <a:srgbClr val="000000">
                                <a:alpha val="43137"/>
                              </a:srgbClr>
                            </a:outerShdw>
                          </a:effectLst>
                        </a:rPr>
                        <a:t>的規則及程式</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58200669"/>
                  </a:ext>
                </a:extLst>
              </a:tr>
              <a:tr h="525780">
                <a:tc>
                  <a:txBody>
                    <a:bodyPr/>
                    <a:lstStyle/>
                    <a:p>
                      <a:r>
                        <a:rPr lang="en-US" altLang="zh-TW" sz="1500" b="1" dirty="0">
                          <a:effectLst>
                            <a:outerShdw blurRad="38100" dist="38100" dir="2700000" algn="tl">
                              <a:srgbClr val="000000">
                                <a:alpha val="43137"/>
                              </a:srgbClr>
                            </a:outerShdw>
                          </a:effectLst>
                        </a:rPr>
                        <a:t>5.11 </a:t>
                      </a:r>
                      <a:r>
                        <a:rPr lang="zh-TW" altLang="en-US" sz="1500" b="1" dirty="0">
                          <a:effectLst>
                            <a:outerShdw blurRad="38100" dist="38100" dir="2700000" algn="tl">
                              <a:srgbClr val="000000">
                                <a:alpha val="43137"/>
                              </a:srgbClr>
                            </a:outerShdw>
                          </a:effectLst>
                        </a:rPr>
                        <a:t>資產之歸還</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適切時</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人員及其他關注方於其聘用、契約或協議變更或終止時</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應歸還其持有之所有組織資產</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16352334"/>
                  </a:ext>
                </a:extLst>
              </a:tr>
              <a:tr h="525780">
                <a:tc>
                  <a:txBody>
                    <a:bodyPr/>
                    <a:lstStyle/>
                    <a:p>
                      <a:r>
                        <a:rPr lang="en-US" altLang="zh-TW" sz="1500" b="1" dirty="0">
                          <a:effectLst>
                            <a:outerShdw blurRad="38100" dist="38100" dir="2700000" algn="tl">
                              <a:srgbClr val="000000">
                                <a:alpha val="43137"/>
                              </a:srgbClr>
                            </a:outerShdw>
                          </a:effectLst>
                        </a:rPr>
                        <a:t>5.12 </a:t>
                      </a:r>
                      <a:r>
                        <a:rPr lang="zh-TW" altLang="en-US" sz="1500" b="1" dirty="0">
                          <a:effectLst>
                            <a:outerShdw blurRad="38100" dist="38100" dir="2700000" algn="tl">
                              <a:srgbClr val="000000">
                                <a:alpha val="43137"/>
                              </a:srgbClr>
                            </a:outerShdw>
                          </a:effectLst>
                        </a:rPr>
                        <a:t>資訊之分類分級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資訊應依組織之資訊安全需要</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依機密性、完整性、可用性及相關關注方要求事項分類分級。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3695792"/>
                  </a:ext>
                </a:extLst>
              </a:tr>
              <a:tr h="297180">
                <a:tc>
                  <a:txBody>
                    <a:bodyPr/>
                    <a:lstStyle/>
                    <a:p>
                      <a:r>
                        <a:rPr lang="en-US" altLang="zh-TW" sz="1500" b="1" dirty="0">
                          <a:effectLst>
                            <a:outerShdw blurRad="38100" dist="38100" dir="2700000" algn="tl">
                              <a:srgbClr val="000000">
                                <a:alpha val="43137"/>
                              </a:srgbClr>
                            </a:outerShdw>
                          </a:effectLst>
                        </a:rPr>
                        <a:t>5.13 </a:t>
                      </a:r>
                      <a:r>
                        <a:rPr lang="zh-TW" altLang="en-US" sz="1500" b="1" dirty="0">
                          <a:effectLst>
                            <a:outerShdw blurRad="38100" dist="38100" dir="2700000" algn="tl">
                              <a:srgbClr val="000000">
                                <a:alpha val="43137"/>
                              </a:srgbClr>
                            </a:outerShdw>
                          </a:effectLst>
                        </a:rPr>
                        <a:t>資訊之標示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應依組織所採用之資訊分類分級方案</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發展及實作一套適切的資訊標示程式</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97207546"/>
                  </a:ext>
                </a:extLst>
              </a:tr>
              <a:tr h="525780">
                <a:tc>
                  <a:txBody>
                    <a:bodyPr/>
                    <a:lstStyle/>
                    <a:p>
                      <a:r>
                        <a:rPr lang="en-US" altLang="zh-TW" sz="1500" b="1" dirty="0">
                          <a:effectLst>
                            <a:outerShdw blurRad="38100" dist="38100" dir="2700000" algn="tl">
                              <a:srgbClr val="000000">
                                <a:alpha val="43137"/>
                              </a:srgbClr>
                            </a:outerShdw>
                          </a:effectLst>
                        </a:rPr>
                        <a:t>5.14 </a:t>
                      </a:r>
                      <a:r>
                        <a:rPr lang="zh-TW" altLang="en-US" sz="1500" b="1" dirty="0">
                          <a:effectLst>
                            <a:outerShdw blurRad="38100" dist="38100" dir="2700000" algn="tl">
                              <a:srgbClr val="000000">
                                <a:alpha val="43137"/>
                              </a:srgbClr>
                            </a:outerShdw>
                          </a:effectLst>
                        </a:rPr>
                        <a:t>資訊傳送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應備妥資訊傳送規則、程式或協議</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用於組織內及組織與其他各方間之所有型式的傳送設施。</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18037891"/>
                  </a:ext>
                </a:extLst>
              </a:tr>
              <a:tr h="480060">
                <a:tc>
                  <a:txBody>
                    <a:bodyPr/>
                    <a:lstStyle/>
                    <a:p>
                      <a:r>
                        <a:rPr lang="en-US" altLang="zh-TW" sz="1400" b="1" dirty="0">
                          <a:effectLst>
                            <a:outerShdw blurRad="38100" dist="38100" dir="2700000" algn="tl">
                              <a:srgbClr val="000000">
                                <a:alpha val="43137"/>
                              </a:srgbClr>
                            </a:outerShdw>
                          </a:effectLst>
                        </a:rPr>
                        <a:t>5.15 </a:t>
                      </a:r>
                      <a:r>
                        <a:rPr lang="zh-TW" altLang="en-US" sz="1400" b="1" dirty="0">
                          <a:effectLst>
                            <a:outerShdw blurRad="38100" dist="38100" dir="2700000" algn="tl">
                              <a:srgbClr val="000000">
                                <a:alpha val="43137"/>
                              </a:srgbClr>
                            </a:outerShdw>
                          </a:effectLst>
                        </a:rPr>
                        <a:t>存取控制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effectLst>
                            <a:outerShdw blurRad="38100" dist="38100" dir="2700000" algn="tl">
                              <a:srgbClr val="000000">
                                <a:alpha val="43137"/>
                              </a:srgbClr>
                            </a:outerShdw>
                          </a:effectLst>
                        </a:rPr>
                        <a:t>應依營運及資訊安全要求事項</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建立並實作對資訊及其他相關聯資產之實體及邏輯存取控制的規則</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05238327"/>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effectLst>
                            <a:outerShdw blurRad="38100" dist="38100" dir="2700000" algn="tl">
                              <a:srgbClr val="000000">
                                <a:alpha val="43137"/>
                              </a:srgbClr>
                            </a:outerShdw>
                          </a:effectLst>
                        </a:rPr>
                        <a:t>5.16 </a:t>
                      </a:r>
                      <a:r>
                        <a:rPr lang="zh-TW" altLang="en-US" sz="1400" b="1" dirty="0">
                          <a:effectLst>
                            <a:outerShdw blurRad="38100" dist="38100" dir="2700000" algn="tl">
                              <a:srgbClr val="000000">
                                <a:alpha val="43137"/>
                              </a:srgbClr>
                            </a:outerShdw>
                          </a:effectLst>
                        </a:rPr>
                        <a:t>身分管理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effectLst>
                            <a:outerShdw blurRad="38100" dist="38100" dir="2700000" algn="tl">
                              <a:srgbClr val="000000">
                                <a:alpha val="43137"/>
                              </a:srgbClr>
                            </a:outerShdw>
                          </a:effectLst>
                        </a:rPr>
                        <a:t>應管理身分之整個生命週期。</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27974551"/>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effectLst>
                            <a:outerShdw blurRad="38100" dist="38100" dir="2700000" algn="tl">
                              <a:srgbClr val="000000">
                                <a:alpha val="43137"/>
                              </a:srgbClr>
                            </a:outerShdw>
                          </a:effectLst>
                        </a:rPr>
                        <a:t>5.17 </a:t>
                      </a:r>
                      <a:r>
                        <a:rPr lang="zh-TW" altLang="en-US" sz="1400" b="1" dirty="0">
                          <a:effectLst>
                            <a:outerShdw blurRad="38100" dist="38100" dir="2700000" algn="tl">
                              <a:srgbClr val="000000">
                                <a:alpha val="43137"/>
                              </a:srgbClr>
                            </a:outerShdw>
                          </a:effectLst>
                        </a:rPr>
                        <a:t>鑑別資訊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effectLst>
                            <a:outerShdw blurRad="38100" dist="38100" dir="2700000" algn="tl">
                              <a:srgbClr val="000000">
                                <a:alpha val="43137"/>
                              </a:srgbClr>
                            </a:outerShdw>
                          </a:effectLst>
                        </a:rPr>
                        <a:t>鑑別資訊之配置及管理應由管理過程式控制制</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包括告知人員關於鑑別資訊的適切處理。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93134609"/>
                  </a:ext>
                </a:extLst>
              </a:tr>
              <a:tr h="480060">
                <a:tc>
                  <a:txBody>
                    <a:bodyPr/>
                    <a:lstStyle/>
                    <a:p>
                      <a:r>
                        <a:rPr lang="en-US" altLang="zh-TW" sz="1400" b="1" dirty="0">
                          <a:effectLst>
                            <a:outerShdw blurRad="38100" dist="38100" dir="2700000" algn="tl">
                              <a:srgbClr val="000000">
                                <a:alpha val="43137"/>
                              </a:srgbClr>
                            </a:outerShdw>
                          </a:effectLst>
                        </a:rPr>
                        <a:t>5.18 </a:t>
                      </a:r>
                      <a:r>
                        <a:rPr lang="zh-TW" altLang="en-US" sz="1400" b="1" dirty="0">
                          <a:effectLst>
                            <a:outerShdw blurRad="38100" dist="38100" dir="2700000" algn="tl">
                              <a:srgbClr val="000000">
                                <a:alpha val="43137"/>
                              </a:srgbClr>
                            </a:outerShdw>
                          </a:effectLst>
                        </a:rPr>
                        <a:t>存取權限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effectLst>
                            <a:outerShdw blurRad="38100" dist="38100" dir="2700000" algn="tl">
                              <a:srgbClr val="000000">
                                <a:alpha val="43137"/>
                              </a:srgbClr>
                            </a:outerShdw>
                          </a:effectLst>
                        </a:rPr>
                        <a:t>應依組織之存取控制的主題特定政策及規則</a:t>
                      </a:r>
                      <a:r>
                        <a:rPr lang="en-US" altLang="zh-TW" sz="1400" b="1" dirty="0">
                          <a:effectLst>
                            <a:outerShdw blurRad="38100" dist="38100" dir="2700000" algn="tl">
                              <a:srgbClr val="000000">
                                <a:alpha val="43137"/>
                              </a:srgbClr>
                            </a:outerShdw>
                          </a:effectLst>
                        </a:rPr>
                        <a:t>,</a:t>
                      </a:r>
                      <a:r>
                        <a:rPr lang="zh-TW" altLang="en-US" sz="1400" b="1" dirty="0">
                          <a:effectLst>
                            <a:outerShdw blurRad="38100" dist="38100" dir="2700000" algn="tl">
                              <a:srgbClr val="000000">
                                <a:alpha val="43137"/>
                              </a:srgbClr>
                            </a:outerShdw>
                          </a:effectLst>
                        </a:rPr>
                        <a:t>提供、審查、修改及刪除對資訊及其他相關聯資產之存取權限</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01864744"/>
                  </a:ext>
                </a:extLst>
              </a:tr>
            </a:tbl>
          </a:graphicData>
        </a:graphic>
      </p:graphicFrame>
      <p:sp>
        <p:nvSpPr>
          <p:cNvPr id="6" name="矩形 5"/>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23</a:t>
            </a:fld>
            <a:endParaRPr lang="zh-TW" altLang="en-US" dirty="0"/>
          </a:p>
        </p:txBody>
      </p:sp>
    </p:spTree>
    <p:extLst>
      <p:ext uri="{BB962C8B-B14F-4D97-AF65-F5344CB8AC3E}">
        <p14:creationId xmlns:p14="http://schemas.microsoft.com/office/powerpoint/2010/main" val="161530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7150" y="954087"/>
          <a:ext cx="8939213" cy="47320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834402509"/>
                    </a:ext>
                  </a:extLst>
                </a:gridCol>
                <a:gridCol w="6196013">
                  <a:extLst>
                    <a:ext uri="{9D8B030D-6E8A-4147-A177-3AD203B41FA5}">
                      <a16:colId xmlns:a16="http://schemas.microsoft.com/office/drawing/2014/main" val="1240662488"/>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2137076398"/>
                  </a:ext>
                </a:extLst>
              </a:tr>
              <a:tr h="525780">
                <a:tc>
                  <a:txBody>
                    <a:bodyPr/>
                    <a:lstStyle/>
                    <a:p>
                      <a:r>
                        <a:rPr lang="en-US" altLang="zh-TW" sz="1500" b="1" dirty="0">
                          <a:effectLst>
                            <a:outerShdw blurRad="38100" dist="38100" dir="2700000" algn="tl">
                              <a:srgbClr val="000000">
                                <a:alpha val="43137"/>
                              </a:srgbClr>
                            </a:outerShdw>
                          </a:effectLst>
                        </a:rPr>
                        <a:t>5.19 </a:t>
                      </a:r>
                      <a:r>
                        <a:rPr lang="zh-TW" altLang="en-US" sz="1500" b="1" dirty="0">
                          <a:effectLst>
                            <a:outerShdw blurRad="38100" dist="38100" dir="2700000" algn="tl">
                              <a:srgbClr val="000000">
                                <a:alpha val="43137"/>
                              </a:srgbClr>
                            </a:outerShdw>
                          </a:effectLst>
                        </a:rPr>
                        <a:t>供應者關係中之資訊安全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應定義並實作過程及程式</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管理與供應者產品或服務之使用相關聯的資訊安全風險</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58200669"/>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5.20 </a:t>
                      </a:r>
                      <a:r>
                        <a:rPr lang="zh-TW" altLang="en-US" sz="1500" b="1" dirty="0">
                          <a:effectLst>
                            <a:outerShdw blurRad="38100" dist="38100" dir="2700000" algn="tl">
                              <a:srgbClr val="000000">
                                <a:alpha val="43137"/>
                              </a:srgbClr>
                            </a:outerShdw>
                          </a:effectLst>
                        </a:rPr>
                        <a:t>於供應者協議中闡明資訊安全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應依供應者關係之型式</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建立相關的資訊安全要求事項</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並與各供應者議定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16352334"/>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5.21 </a:t>
                      </a:r>
                      <a:r>
                        <a:rPr lang="zh-TW" altLang="en-US" sz="1500" b="1" dirty="0">
                          <a:effectLst>
                            <a:outerShdw blurRad="38100" dist="38100" dir="2700000" algn="tl">
                              <a:srgbClr val="000000">
                                <a:alpha val="43137"/>
                              </a:srgbClr>
                            </a:outerShdw>
                          </a:effectLst>
                        </a:rPr>
                        <a:t>管理 </a:t>
                      </a:r>
                      <a:r>
                        <a:rPr lang="en-US" altLang="zh-TW" sz="1500" b="1" dirty="0">
                          <a:effectLst>
                            <a:outerShdw blurRad="38100" dist="38100" dir="2700000" algn="tl">
                              <a:srgbClr val="000000">
                                <a:alpha val="43137"/>
                              </a:srgbClr>
                            </a:outerShdw>
                          </a:effectLst>
                        </a:rPr>
                        <a:t>ICT</a:t>
                      </a:r>
                      <a:r>
                        <a:rPr lang="zh-TW" altLang="en-US" sz="1500" b="1" dirty="0">
                          <a:effectLst>
                            <a:outerShdw blurRad="38100" dist="38100" dir="2700000" algn="tl">
                              <a:srgbClr val="000000">
                                <a:alpha val="43137"/>
                              </a:srgbClr>
                            </a:outerShdw>
                          </a:effectLst>
                        </a:rPr>
                        <a:t>供應鏈中之資訊安全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應定義並實作過程及程式</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管理與</a:t>
                      </a:r>
                      <a:r>
                        <a:rPr lang="en-US" altLang="zh-TW" sz="1500" b="1" dirty="0">
                          <a:effectLst>
                            <a:outerShdw blurRad="38100" dist="38100" dir="2700000" algn="tl">
                              <a:srgbClr val="000000">
                                <a:alpha val="43137"/>
                              </a:srgbClr>
                            </a:outerShdw>
                          </a:effectLst>
                        </a:rPr>
                        <a:t>ICT</a:t>
                      </a:r>
                      <a:r>
                        <a:rPr lang="zh-TW" altLang="en-US" sz="1500" b="1" dirty="0">
                          <a:effectLst>
                            <a:outerShdw blurRad="38100" dist="38100" dir="2700000" algn="tl">
                              <a:srgbClr val="000000">
                                <a:alpha val="43137"/>
                              </a:srgbClr>
                            </a:outerShdw>
                          </a:effectLst>
                        </a:rPr>
                        <a:t>產品及服務供應鏈相關聯之資訊安全風險</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3695792"/>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5.22 </a:t>
                      </a:r>
                      <a:r>
                        <a:rPr lang="zh-TW" altLang="en-US" sz="1500" b="1" dirty="0">
                          <a:effectLst>
                            <a:outerShdw blurRad="38100" dist="38100" dir="2700000" algn="tl">
                              <a:srgbClr val="000000">
                                <a:alpha val="43137"/>
                              </a:srgbClr>
                            </a:outerShdw>
                          </a:effectLst>
                        </a:rPr>
                        <a:t>供應者服務之監視、審查及變更管理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組織應定期監視、審查、評估及管理供應者資訊安全實務作法及服務交付之變更</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97207546"/>
                  </a:ext>
                </a:extLst>
              </a:tr>
              <a:tr h="525780">
                <a:tc>
                  <a:txBody>
                    <a:bodyPr/>
                    <a:lstStyle/>
                    <a:p>
                      <a:r>
                        <a:rPr lang="en-US" altLang="zh-TW" sz="1500" b="1" dirty="0">
                          <a:effectLst>
                            <a:outerShdw blurRad="38100" dist="38100" dir="2700000" algn="tl">
                              <a:srgbClr val="000000">
                                <a:alpha val="43137"/>
                              </a:srgbClr>
                            </a:outerShdw>
                          </a:effectLst>
                        </a:rPr>
                        <a:t>5.23 </a:t>
                      </a:r>
                      <a:r>
                        <a:rPr lang="zh-TW" altLang="en-US" sz="1500" b="1" dirty="0">
                          <a:effectLst>
                            <a:outerShdw blurRad="38100" dist="38100" dir="2700000" algn="tl">
                              <a:srgbClr val="000000">
                                <a:alpha val="43137"/>
                              </a:srgbClr>
                            </a:outerShdw>
                          </a:effectLst>
                        </a:rPr>
                        <a:t>使用雲端服務之資訊安全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應依組織之資訊安全要求事項</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建立獲取、使用、管理及退出雲端服務的過程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18037891"/>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5.24 </a:t>
                      </a:r>
                      <a:r>
                        <a:rPr lang="zh-TW" altLang="en-US" sz="1500" b="1" dirty="0">
                          <a:effectLst>
                            <a:outerShdw blurRad="38100" dist="38100" dir="2700000" algn="tl">
                              <a:srgbClr val="000000">
                                <a:alpha val="43137"/>
                              </a:srgbClr>
                            </a:outerShdw>
                          </a:effectLst>
                        </a:rPr>
                        <a:t>資訊安全事故管理規劃及準備</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500" b="1" dirty="0">
                          <a:effectLst>
                            <a:outerShdw blurRad="38100" dist="38100" dir="2700000" algn="tl">
                              <a:srgbClr val="000000">
                                <a:alpha val="43137"/>
                              </a:srgbClr>
                            </a:outerShdw>
                          </a:effectLst>
                        </a:rPr>
                        <a:t>組織應藉由定義、建立並溝通或傳達資訊安全事故管理過程、角色及責任</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規劃並準備管理資訊安全事故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238327"/>
                  </a:ext>
                </a:extLst>
              </a:tr>
              <a:tr h="297180">
                <a:tc>
                  <a:txBody>
                    <a:bodyPr/>
                    <a:lstStyle/>
                    <a:p>
                      <a:r>
                        <a:rPr lang="en-US" altLang="zh-TW" sz="1500" b="1" dirty="0">
                          <a:effectLst>
                            <a:outerShdw blurRad="38100" dist="38100" dir="2700000" algn="tl">
                              <a:srgbClr val="000000">
                                <a:alpha val="43137"/>
                              </a:srgbClr>
                            </a:outerShdw>
                          </a:effectLst>
                        </a:rPr>
                        <a:t>5.25 </a:t>
                      </a:r>
                      <a:r>
                        <a:rPr lang="zh-TW" altLang="en-US" sz="1500" b="1" dirty="0">
                          <a:effectLst>
                            <a:outerShdw blurRad="38100" dist="38100" dir="2700000" algn="tl">
                              <a:srgbClr val="000000">
                                <a:alpha val="43137"/>
                              </a:srgbClr>
                            </a:outerShdw>
                          </a:effectLst>
                        </a:rPr>
                        <a:t>資訊之評鑑及決策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500" b="1" dirty="0">
                          <a:effectLst>
                            <a:outerShdw blurRad="38100" dist="38100" dir="2700000" algn="tl">
                              <a:srgbClr val="000000">
                                <a:alpha val="43137"/>
                              </a:srgbClr>
                            </a:outerShdw>
                          </a:effectLst>
                        </a:rPr>
                        <a:t>組織應評鑑資訊安全事件</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並判定是否將其歸類為資訊安全事故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7974551"/>
                  </a:ext>
                </a:extLst>
              </a:tr>
              <a:tr h="297180">
                <a:tc>
                  <a:txBody>
                    <a:bodyPr/>
                    <a:lstStyle/>
                    <a:p>
                      <a:r>
                        <a:rPr lang="en-US" altLang="zh-TW" sz="1500" b="1" dirty="0">
                          <a:effectLst>
                            <a:outerShdw blurRad="38100" dist="38100" dir="2700000" algn="tl">
                              <a:srgbClr val="000000">
                                <a:alpha val="43137"/>
                              </a:srgbClr>
                            </a:outerShdw>
                          </a:effectLst>
                        </a:rPr>
                        <a:t>5.26 </a:t>
                      </a:r>
                      <a:r>
                        <a:rPr lang="zh-TW" altLang="en-US" sz="1500" b="1" dirty="0">
                          <a:effectLst>
                            <a:outerShdw blurRad="38100" dist="38100" dir="2700000" algn="tl">
                              <a:srgbClr val="000000">
                                <a:alpha val="43137"/>
                              </a:srgbClr>
                            </a:outerShdw>
                          </a:effectLst>
                        </a:rPr>
                        <a:t>對資訊安全事故之回應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500" b="1" dirty="0">
                          <a:effectLst>
                            <a:outerShdw blurRad="38100" dist="38100" dir="2700000" algn="tl">
                              <a:srgbClr val="000000">
                                <a:alpha val="43137"/>
                              </a:srgbClr>
                            </a:outerShdw>
                          </a:effectLst>
                        </a:rPr>
                        <a:t>應依書面記錄程式</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回應資訊安全事故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9493648"/>
                  </a:ext>
                </a:extLst>
              </a:tr>
              <a:tr h="297180">
                <a:tc>
                  <a:txBody>
                    <a:bodyPr/>
                    <a:lstStyle/>
                    <a:p>
                      <a:r>
                        <a:rPr lang="en-US" altLang="zh-TW" sz="1500" b="1" dirty="0">
                          <a:effectLst>
                            <a:outerShdw blurRad="38100" dist="38100" dir="2700000" algn="tl">
                              <a:srgbClr val="000000">
                                <a:alpha val="43137"/>
                              </a:srgbClr>
                            </a:outerShdw>
                          </a:effectLst>
                        </a:rPr>
                        <a:t>5.27 </a:t>
                      </a:r>
                      <a:r>
                        <a:rPr lang="zh-TW" altLang="en-US" sz="1500" b="1" dirty="0">
                          <a:effectLst>
                            <a:outerShdw blurRad="38100" dist="38100" dir="2700000" algn="tl">
                              <a:srgbClr val="000000">
                                <a:alpha val="43137"/>
                              </a:srgbClr>
                            </a:outerShdw>
                          </a:effectLst>
                        </a:rPr>
                        <a:t>由資訊安全事故中學習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500" b="1" dirty="0">
                          <a:effectLst>
                            <a:outerShdw blurRad="38100" dist="38100" dir="2700000" algn="tl">
                              <a:srgbClr val="000000">
                                <a:alpha val="43137"/>
                              </a:srgbClr>
                            </a:outerShdw>
                          </a:effectLst>
                        </a:rPr>
                        <a:t>應使用由資訊安全事故中所獲得之知識</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強化及改善資訊安全控制措施。</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411855"/>
                  </a:ext>
                </a:extLst>
              </a:tr>
              <a:tr h="525780">
                <a:tc>
                  <a:txBody>
                    <a:bodyPr/>
                    <a:lstStyle/>
                    <a:p>
                      <a:r>
                        <a:rPr lang="en-US" altLang="zh-TW" sz="1500" b="1" dirty="0">
                          <a:effectLst>
                            <a:outerShdw blurRad="38100" dist="38100" dir="2700000" algn="tl">
                              <a:srgbClr val="000000">
                                <a:alpha val="43137"/>
                              </a:srgbClr>
                            </a:outerShdw>
                          </a:effectLst>
                        </a:rPr>
                        <a:t>5.28 </a:t>
                      </a:r>
                      <a:r>
                        <a:rPr lang="zh-TW" altLang="en-US" sz="1500" b="1" dirty="0">
                          <a:effectLst>
                            <a:outerShdw blurRad="38100" dist="38100" dir="2700000" algn="tl">
                              <a:srgbClr val="000000">
                                <a:alpha val="43137"/>
                              </a:srgbClr>
                            </a:outerShdw>
                          </a:effectLst>
                        </a:rPr>
                        <a:t>證據之蒐集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500" b="1" dirty="0">
                          <a:effectLst>
                            <a:outerShdw blurRad="38100" dist="38100" dir="2700000" algn="tl">
                              <a:srgbClr val="000000">
                                <a:alpha val="43137"/>
                              </a:srgbClr>
                            </a:outerShdw>
                          </a:effectLst>
                        </a:rPr>
                        <a:t>組織應建立並實作程式</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用以識別、蒐集、獲取及保存與資訊安全事件相關之證據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7152023"/>
                  </a:ext>
                </a:extLst>
              </a:tr>
            </a:tbl>
          </a:graphicData>
        </a:graphic>
      </p:graphicFrame>
      <p:sp>
        <p:nvSpPr>
          <p:cNvPr id="5" name="矩形 4"/>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24</a:t>
            </a:fld>
            <a:endParaRPr lang="zh-TW" altLang="en-US" dirty="0"/>
          </a:p>
        </p:txBody>
      </p:sp>
    </p:spTree>
    <p:extLst>
      <p:ext uri="{BB962C8B-B14F-4D97-AF65-F5344CB8AC3E}">
        <p14:creationId xmlns:p14="http://schemas.microsoft.com/office/powerpoint/2010/main" val="1771245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00012" y="930275"/>
          <a:ext cx="8948738" cy="4922520"/>
        </p:xfrm>
        <a:graphic>
          <a:graphicData uri="http://schemas.openxmlformats.org/drawingml/2006/table">
            <a:tbl>
              <a:tblPr firstRow="1" bandRow="1">
                <a:tableStyleId>{5C22544A-7EE6-4342-B048-85BDC9FD1C3A}</a:tableStyleId>
              </a:tblPr>
              <a:tblGrid>
                <a:gridCol w="2104352">
                  <a:extLst>
                    <a:ext uri="{9D8B030D-6E8A-4147-A177-3AD203B41FA5}">
                      <a16:colId xmlns:a16="http://schemas.microsoft.com/office/drawing/2014/main" val="834402509"/>
                    </a:ext>
                  </a:extLst>
                </a:gridCol>
                <a:gridCol w="6844386">
                  <a:extLst>
                    <a:ext uri="{9D8B030D-6E8A-4147-A177-3AD203B41FA5}">
                      <a16:colId xmlns:a16="http://schemas.microsoft.com/office/drawing/2014/main" val="1240662488"/>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7076398"/>
                  </a:ext>
                </a:extLst>
              </a:tr>
              <a:tr h="571500">
                <a:tc>
                  <a:txBody>
                    <a:bodyPr/>
                    <a:lstStyle/>
                    <a:p>
                      <a:r>
                        <a:rPr lang="en-US" altLang="zh-TW" sz="1700" b="1" dirty="0"/>
                        <a:t>5.29 </a:t>
                      </a:r>
                      <a:r>
                        <a:rPr lang="zh-TW" altLang="en-US" sz="1700" b="1" dirty="0"/>
                        <a:t>中斷期間之資訊安全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zh-TW" altLang="en-US" sz="1700" b="1" dirty="0"/>
                        <a:t>組織應規劃</a:t>
                      </a:r>
                      <a:r>
                        <a:rPr lang="en-US" altLang="zh-TW" sz="1700" b="1" dirty="0"/>
                        <a:t>,</a:t>
                      </a:r>
                      <a:r>
                        <a:rPr lang="zh-TW" altLang="en-US" sz="1700" b="1" dirty="0"/>
                        <a:t>如何於中斷期間維持資訊安全於適切等級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58200669"/>
                  </a:ext>
                </a:extLst>
              </a:tr>
              <a:tr h="571500">
                <a:tc>
                  <a:txBody>
                    <a:bodyPr/>
                    <a:lstStyle/>
                    <a:p>
                      <a:r>
                        <a:rPr lang="en-US" altLang="zh-TW" sz="1700" b="1" dirty="0"/>
                        <a:t>5.30 </a:t>
                      </a:r>
                      <a:r>
                        <a:rPr lang="zh-TW" altLang="en-US" sz="1700" b="1" dirty="0"/>
                        <a:t>營運持續之</a:t>
                      </a:r>
                      <a:r>
                        <a:rPr lang="en-US" altLang="zh-TW" sz="1700" b="1" dirty="0"/>
                        <a:t>ICT</a:t>
                      </a:r>
                      <a:r>
                        <a:rPr lang="zh-TW" altLang="en-US" sz="1700" b="1" dirty="0"/>
                        <a:t>備妥性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zh-TW" altLang="en-US" sz="1700" b="1" dirty="0"/>
                        <a:t>應依營運持續目標及</a:t>
                      </a:r>
                      <a:r>
                        <a:rPr lang="en-US" altLang="zh-TW" sz="1700" b="1" dirty="0"/>
                        <a:t>ICT</a:t>
                      </a:r>
                      <a:r>
                        <a:rPr lang="zh-TW" altLang="en-US" sz="1700" b="1" dirty="0"/>
                        <a:t>持續之要求事項</a:t>
                      </a:r>
                      <a:r>
                        <a:rPr lang="en-US" altLang="zh-TW" sz="1700" b="1" dirty="0"/>
                        <a:t>,</a:t>
                      </a:r>
                      <a:r>
                        <a:rPr lang="zh-TW" altLang="en-US" sz="1700" b="1" dirty="0"/>
                        <a:t>規劃、實作、維護及測試</a:t>
                      </a:r>
                      <a:r>
                        <a:rPr lang="en-US" altLang="zh-TW" sz="1700" b="1" dirty="0"/>
                        <a:t>ICT</a:t>
                      </a:r>
                    </a:p>
                    <a:p>
                      <a:r>
                        <a:rPr lang="zh-TW" altLang="en-US" sz="1700" b="1" dirty="0"/>
                        <a:t>備妥性</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16352334"/>
                  </a:ext>
                </a:extLst>
              </a:tr>
              <a:tr h="5715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700" b="1" dirty="0"/>
                        <a:t>5.31 </a:t>
                      </a:r>
                      <a:r>
                        <a:rPr lang="zh-TW" altLang="en-US" sz="1700" b="1" dirty="0"/>
                        <a:t>法律、法令、法規及契約要求事項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應識別、書面記錄及保持更新資訊安全相關法律、法令、法規及契約之要求事項</a:t>
                      </a:r>
                      <a:r>
                        <a:rPr lang="en-US" altLang="zh-TW" sz="1700" b="1" dirty="0"/>
                        <a:t>,</a:t>
                      </a:r>
                      <a:r>
                        <a:rPr lang="zh-TW" altLang="en-US" sz="1700" b="1" dirty="0"/>
                        <a:t>以及組織為符合此等要求事項的作法</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3695792"/>
                  </a:ext>
                </a:extLst>
              </a:tr>
              <a:tr h="320040">
                <a:tc>
                  <a:txBody>
                    <a:bodyPr/>
                    <a:lstStyle/>
                    <a:p>
                      <a:r>
                        <a:rPr lang="en-US" altLang="zh-TW" sz="1700" b="1" dirty="0"/>
                        <a:t>5.32 </a:t>
                      </a:r>
                      <a:r>
                        <a:rPr lang="zh-TW" altLang="en-US" sz="1700" b="1" dirty="0"/>
                        <a:t>智慧財產權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組織應實作適切程式</a:t>
                      </a:r>
                      <a:r>
                        <a:rPr lang="en-US" altLang="zh-TW" sz="1700" b="1" dirty="0"/>
                        <a:t>,</a:t>
                      </a:r>
                      <a:r>
                        <a:rPr lang="zh-TW" altLang="en-US" sz="1700" b="1" dirty="0"/>
                        <a:t>以保護智慧財產權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97207546"/>
                  </a:ext>
                </a:extLst>
              </a:tr>
              <a:tr h="320040">
                <a:tc>
                  <a:txBody>
                    <a:bodyPr/>
                    <a:lstStyle/>
                    <a:p>
                      <a:r>
                        <a:rPr lang="en-US" altLang="zh-TW" sz="1700" b="1" dirty="0"/>
                        <a:t>5.33 </a:t>
                      </a:r>
                      <a:r>
                        <a:rPr lang="zh-TW" altLang="en-US" sz="1700" b="1" dirty="0"/>
                        <a:t>紀錄之保護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t>應保護紀錄</a:t>
                      </a:r>
                      <a:r>
                        <a:rPr lang="en-US" altLang="zh-TW" sz="1700" b="1" dirty="0"/>
                        <a:t>,</a:t>
                      </a:r>
                      <a:r>
                        <a:rPr lang="zh-TW" altLang="en-US" sz="1700" b="1" dirty="0"/>
                        <a:t>免於遺失、毀損、偽造、未經授權存取及未經授權發布</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8037891"/>
                  </a:ext>
                </a:extLst>
              </a:tr>
              <a:tr h="571500">
                <a:tc>
                  <a:txBody>
                    <a:bodyPr/>
                    <a:lstStyle/>
                    <a:p>
                      <a:r>
                        <a:rPr lang="en-US" altLang="zh-TW" sz="1700" b="1" dirty="0"/>
                        <a:t>5.34 </a:t>
                      </a:r>
                      <a:r>
                        <a:rPr lang="zh-TW" altLang="en-US" sz="1700" b="1" dirty="0"/>
                        <a:t>隱私及 </a:t>
                      </a:r>
                      <a:r>
                        <a:rPr lang="en-US" altLang="zh-TW" sz="1700" b="1" dirty="0"/>
                        <a:t>PII</a:t>
                      </a:r>
                      <a:r>
                        <a:rPr lang="zh-TW" altLang="en-US" sz="1700" b="1" dirty="0"/>
                        <a:t>保 護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組織應依適用之法律、法規及契約的要求事項</a:t>
                      </a:r>
                      <a:r>
                        <a:rPr lang="en-US" altLang="zh-TW" sz="1700" b="1" dirty="0"/>
                        <a:t>,</a:t>
                      </a:r>
                      <a:r>
                        <a:rPr lang="zh-TW" altLang="en-US" sz="1700" b="1" dirty="0"/>
                        <a:t>識別並符合關於隱私保護及</a:t>
                      </a:r>
                      <a:r>
                        <a:rPr lang="en-US" altLang="zh-TW" sz="1700" b="1" dirty="0"/>
                        <a:t>PII</a:t>
                      </a:r>
                      <a:r>
                        <a:rPr lang="zh-TW" altLang="en-US" sz="1700" b="1" dirty="0"/>
                        <a:t>保護之要求事項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05238327"/>
                  </a:ext>
                </a:extLst>
              </a:tr>
              <a:tr h="571500">
                <a:tc>
                  <a:txBody>
                    <a:bodyPr/>
                    <a:lstStyle/>
                    <a:p>
                      <a:r>
                        <a:rPr lang="en-US" altLang="zh-TW" sz="1700" b="1" dirty="0"/>
                        <a:t>5.35 </a:t>
                      </a:r>
                      <a:r>
                        <a:rPr lang="zh-TW" altLang="en-US" sz="1700" b="1" dirty="0"/>
                        <a:t>資訊安全之獨立審查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t>應依規劃之期間或當發生重大變更時</a:t>
                      </a:r>
                      <a:r>
                        <a:rPr lang="en-US" altLang="zh-TW" sz="1700" b="1" dirty="0"/>
                        <a:t>,</a:t>
                      </a:r>
                      <a:r>
                        <a:rPr lang="zh-TW" altLang="en-US" sz="1700" b="1" dirty="0"/>
                        <a:t>獨立審查組織對管理資訊安全的作法及其實作</a:t>
                      </a:r>
                      <a:r>
                        <a:rPr lang="en-US" altLang="zh-TW" sz="1700" b="1" dirty="0"/>
                        <a:t>(</a:t>
                      </a:r>
                      <a:r>
                        <a:rPr lang="zh-TW" altLang="en-US" sz="1700" b="1" dirty="0"/>
                        <a:t>包括人員、過程及技術</a:t>
                      </a:r>
                      <a:r>
                        <a:rPr lang="en-US" altLang="zh-TW" sz="1700" b="1" dirty="0"/>
                        <a:t>)</a:t>
                      </a:r>
                      <a:endParaRPr lang="zh-TW" altLang="en-US" sz="17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7974551"/>
                  </a:ext>
                </a:extLst>
              </a:tr>
              <a:tr h="571500">
                <a:tc>
                  <a:txBody>
                    <a:bodyPr/>
                    <a:lstStyle/>
                    <a:p>
                      <a:r>
                        <a:rPr lang="en-US" altLang="zh-TW" sz="1700" b="1" dirty="0"/>
                        <a:t>5.36 </a:t>
                      </a:r>
                      <a:r>
                        <a:rPr lang="zh-TW" altLang="en-US" sz="1700" b="1" dirty="0"/>
                        <a:t>資訊安全政策、規則及標準之遵循性</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應定期審查組織資訊安全政策、主題特定政策、規則及標準之遵循性</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1623440"/>
                  </a:ext>
                </a:extLst>
              </a:tr>
              <a:tr h="571500">
                <a:tc>
                  <a:txBody>
                    <a:bodyPr/>
                    <a:lstStyle/>
                    <a:p>
                      <a:r>
                        <a:rPr lang="en-US" altLang="zh-TW" sz="1700" b="1" dirty="0"/>
                        <a:t>5.37 </a:t>
                      </a:r>
                      <a:r>
                        <a:rPr lang="zh-TW" altLang="en-US" sz="1700" b="1" dirty="0"/>
                        <a:t>書面記錄之運作程式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t>書面記錄資訊處理設施之運作程式</a:t>
                      </a:r>
                      <a:r>
                        <a:rPr lang="en-US" altLang="zh-TW" sz="1700" b="1" dirty="0"/>
                        <a:t>,</a:t>
                      </a:r>
                      <a:r>
                        <a:rPr lang="zh-TW" altLang="en-US" sz="1700" b="1" dirty="0"/>
                        <a:t>並使所有需要的人員均可取得</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3609016"/>
                  </a:ext>
                </a:extLst>
              </a:tr>
            </a:tbl>
          </a:graphicData>
        </a:graphic>
      </p:graphicFrame>
      <p:sp>
        <p:nvSpPr>
          <p:cNvPr id="5" name="矩形 4"/>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25</a:t>
            </a:fld>
            <a:endParaRPr lang="zh-TW" altLang="en-US" dirty="0"/>
          </a:p>
        </p:txBody>
      </p:sp>
    </p:spTree>
    <p:extLst>
      <p:ext uri="{BB962C8B-B14F-4D97-AF65-F5344CB8AC3E}">
        <p14:creationId xmlns:p14="http://schemas.microsoft.com/office/powerpoint/2010/main" val="1608292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139724894"/>
              </p:ext>
            </p:extLst>
          </p:nvPr>
        </p:nvGraphicFramePr>
        <p:xfrm>
          <a:off x="119062" y="657214"/>
          <a:ext cx="8920163" cy="4991100"/>
        </p:xfrm>
        <a:graphic>
          <a:graphicData uri="http://schemas.openxmlformats.org/drawingml/2006/table">
            <a:tbl>
              <a:tblPr firstRow="1" bandRow="1">
                <a:tableStyleId>{5C22544A-7EE6-4342-B048-85BDC9FD1C3A}</a:tableStyleId>
              </a:tblPr>
              <a:tblGrid>
                <a:gridCol w="1093753">
                  <a:extLst>
                    <a:ext uri="{9D8B030D-6E8A-4147-A177-3AD203B41FA5}">
                      <a16:colId xmlns:a16="http://schemas.microsoft.com/office/drawing/2014/main" val="370579030"/>
                    </a:ext>
                  </a:extLst>
                </a:gridCol>
                <a:gridCol w="7826410">
                  <a:extLst>
                    <a:ext uri="{9D8B030D-6E8A-4147-A177-3AD203B41FA5}">
                      <a16:colId xmlns:a16="http://schemas.microsoft.com/office/drawing/2014/main" val="4133402684"/>
                    </a:ext>
                  </a:extLst>
                </a:gridCol>
              </a:tblGrid>
              <a:tr h="27813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000" dirty="0"/>
                        <a:t>6 People controls </a:t>
                      </a:r>
                      <a:r>
                        <a:rPr lang="zh-TW" altLang="en-US" sz="2000" dirty="0"/>
                        <a:t>人員控制措施 </a:t>
                      </a:r>
                      <a:r>
                        <a:rPr lang="en-US" altLang="zh-TW" sz="2000" dirty="0"/>
                        <a:t>(8) </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3253499658"/>
                  </a:ext>
                </a:extLst>
              </a:tr>
              <a:tr h="14401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solidFill>
                            <a:schemeClr val="tx1"/>
                          </a:solidFill>
                          <a:effectLst>
                            <a:outerShdw blurRad="38100" dist="38100" dir="2700000" algn="tl">
                              <a:srgbClr val="000000">
                                <a:alpha val="43137"/>
                              </a:srgbClr>
                            </a:outerShdw>
                          </a:effectLst>
                        </a:rPr>
                        <a:t>6.1 </a:t>
                      </a:r>
                      <a:r>
                        <a:rPr lang="zh-TW" altLang="en-US" sz="1500" b="1" dirty="0">
                          <a:solidFill>
                            <a:schemeClr val="tx1"/>
                          </a:solidFill>
                          <a:effectLst>
                            <a:outerShdw blurRad="38100" dist="38100" dir="2700000" algn="tl">
                              <a:srgbClr val="000000">
                                <a:alpha val="43137"/>
                              </a:srgbClr>
                            </a:outerShdw>
                          </a:effectLst>
                        </a:rPr>
                        <a:t>篩選</a:t>
                      </a:r>
                      <a:r>
                        <a:rPr lang="en-US" altLang="zh-TW" sz="1500" b="1" dirty="0">
                          <a:solidFill>
                            <a:schemeClr val="tx1"/>
                          </a:solidFill>
                          <a:effectLst>
                            <a:outerShdw blurRad="38100" dist="38100" dir="2700000" algn="tl">
                              <a:srgbClr val="000000">
                                <a:alpha val="43137"/>
                              </a:srgbClr>
                            </a:outerShdw>
                          </a:effectLst>
                        </a:rPr>
                        <a:t>Screening</a:t>
                      </a:r>
                    </a:p>
                    <a:p>
                      <a:endParaRPr lang="zh-TW" altLang="en-US" sz="15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solidFill>
                            <a:schemeClr val="tx1"/>
                          </a:solidFill>
                          <a:effectLst>
                            <a:outerShdw blurRad="38100" dist="38100" dir="2700000" algn="tl">
                              <a:srgbClr val="000000">
                                <a:alpha val="43137"/>
                              </a:srgbClr>
                            </a:outerShdw>
                          </a:effectLst>
                        </a:rPr>
                        <a:t>Background verification checks on all candidates to become personnel shall be carried out prior to joining the organization and on an ongoing basis taking into consideration applicable laws, regulations and ethics and be proportional to the business requirements, the classification of the information to be accessed and the perceived risks</a:t>
                      </a:r>
                      <a:r>
                        <a:rPr lang="zh-TW" altLang="en-US" sz="1500" b="1" dirty="0">
                          <a:solidFill>
                            <a:schemeClr val="tx1"/>
                          </a:solidFill>
                          <a:effectLst>
                            <a:outerShdw blurRad="38100" dist="38100" dir="2700000" algn="tl">
                              <a:srgbClr val="000000">
                                <a:alpha val="43137"/>
                              </a:srgbClr>
                            </a:outerShdw>
                          </a:effectLst>
                        </a:rPr>
                        <a:t>對所有成為員工之候選者,應於其加入組織前,進行背景查證調查,且持續進行,同時將適用的法律、法規及倫理納入考量,並宜相稱於營運要求事項,其將存取之資訊的分類分級及所察覺之風險。</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3842046"/>
                  </a:ext>
                </a:extLst>
              </a:tr>
              <a:tr h="754380">
                <a:tc>
                  <a:txBody>
                    <a:bodyPr/>
                    <a:lstStyle/>
                    <a:p>
                      <a:r>
                        <a:rPr lang="en-US" altLang="zh-TW" sz="1500" b="1" dirty="0">
                          <a:solidFill>
                            <a:schemeClr val="tx1"/>
                          </a:solidFill>
                          <a:effectLst>
                            <a:outerShdw blurRad="38100" dist="38100" dir="2700000" algn="tl">
                              <a:srgbClr val="000000">
                                <a:alpha val="43137"/>
                              </a:srgbClr>
                            </a:outerShdw>
                          </a:effectLst>
                        </a:rPr>
                        <a:t>6.2 </a:t>
                      </a:r>
                      <a:r>
                        <a:rPr lang="zh-TW" altLang="en-US" sz="1500" b="1" dirty="0">
                          <a:solidFill>
                            <a:schemeClr val="tx1"/>
                          </a:solidFill>
                          <a:effectLst>
                            <a:outerShdw blurRad="38100" dist="38100" dir="2700000" algn="tl">
                              <a:srgbClr val="000000">
                                <a:alpha val="43137"/>
                              </a:srgbClr>
                            </a:outerShdw>
                          </a:effectLst>
                        </a:rPr>
                        <a:t>聘用條款及條件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500" b="1" dirty="0">
                          <a:solidFill>
                            <a:schemeClr val="tx1"/>
                          </a:solidFill>
                          <a:effectLst>
                            <a:outerShdw blurRad="38100" dist="38100" dir="2700000" algn="tl">
                              <a:srgbClr val="000000">
                                <a:alpha val="43137"/>
                              </a:srgbClr>
                            </a:outerShdw>
                          </a:effectLst>
                        </a:rPr>
                        <a:t>6.2 Terms and conditions of employment </a:t>
                      </a:r>
                    </a:p>
                    <a:p>
                      <a:r>
                        <a:rPr lang="en-US" altLang="zh-TW" sz="1500" b="1" dirty="0">
                          <a:solidFill>
                            <a:schemeClr val="tx1"/>
                          </a:solidFill>
                          <a:effectLst>
                            <a:outerShdw blurRad="38100" dist="38100" dir="2700000" algn="tl">
                              <a:srgbClr val="000000">
                                <a:alpha val="43137"/>
                              </a:srgbClr>
                            </a:outerShdw>
                          </a:effectLst>
                        </a:rPr>
                        <a:t>The employment contractual agreements shall state the personnel’s and the organization’s responsibilities for information security. </a:t>
                      </a:r>
                      <a:r>
                        <a:rPr lang="en-US" altLang="zh-TW" sz="1500" b="1" baseline="0" dirty="0">
                          <a:solidFill>
                            <a:schemeClr val="tx1"/>
                          </a:solidFill>
                          <a:effectLst>
                            <a:outerShdw blurRad="38100" dist="38100" dir="2700000" algn="tl">
                              <a:srgbClr val="000000">
                                <a:alpha val="43137"/>
                              </a:srgbClr>
                            </a:outerShdw>
                          </a:effectLst>
                        </a:rPr>
                        <a:t> </a:t>
                      </a:r>
                      <a:r>
                        <a:rPr lang="zh-TW" altLang="en-US" sz="1500" b="1" dirty="0">
                          <a:solidFill>
                            <a:schemeClr val="tx1"/>
                          </a:solidFill>
                          <a:effectLst>
                            <a:outerShdw blurRad="38100" dist="38100" dir="2700000" algn="tl">
                              <a:srgbClr val="000000">
                                <a:alpha val="43137"/>
                              </a:srgbClr>
                            </a:outerShdw>
                          </a:effectLst>
                        </a:rPr>
                        <a:t>聘用契約協議應敘明人員及組織對資訊安全之責任。</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2645816"/>
                  </a:ext>
                </a:extLst>
              </a:tr>
              <a:tr h="1440180">
                <a:tc>
                  <a:txBody>
                    <a:bodyPr/>
                    <a:lstStyle/>
                    <a:p>
                      <a:r>
                        <a:rPr lang="en-US" altLang="zh-TW" sz="1500" b="1" dirty="0">
                          <a:solidFill>
                            <a:schemeClr val="tx1"/>
                          </a:solidFill>
                          <a:effectLst>
                            <a:outerShdw blurRad="38100" dist="38100" dir="2700000" algn="tl">
                              <a:srgbClr val="000000">
                                <a:alpha val="43137"/>
                              </a:srgbClr>
                            </a:outerShdw>
                          </a:effectLst>
                        </a:rPr>
                        <a:t>6.3</a:t>
                      </a:r>
                      <a:r>
                        <a:rPr lang="zh-TW" altLang="en-US" sz="1500" b="1" dirty="0">
                          <a:solidFill>
                            <a:schemeClr val="tx1"/>
                          </a:solidFill>
                          <a:effectLst>
                            <a:outerShdw blurRad="38100" dist="38100" dir="2700000" algn="tl">
                              <a:srgbClr val="000000">
                                <a:alpha val="43137"/>
                              </a:srgbClr>
                            </a:outerShdw>
                          </a:effectLst>
                        </a:rPr>
                        <a:t>資訊安全認知及教育訓練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500" b="1" dirty="0">
                          <a:solidFill>
                            <a:schemeClr val="tx1"/>
                          </a:solidFill>
                          <a:effectLst>
                            <a:outerShdw blurRad="38100" dist="38100" dir="2700000" algn="tl">
                              <a:srgbClr val="000000">
                                <a:alpha val="43137"/>
                              </a:srgbClr>
                            </a:outerShdw>
                          </a:effectLst>
                        </a:rPr>
                        <a:t>6.3 Information security awareness, education and training </a:t>
                      </a:r>
                    </a:p>
                    <a:p>
                      <a:r>
                        <a:rPr lang="en-US" altLang="zh-TW" sz="1500" b="1" dirty="0">
                          <a:solidFill>
                            <a:schemeClr val="tx1"/>
                          </a:solidFill>
                          <a:effectLst>
                            <a:outerShdw blurRad="38100" dist="38100" dir="2700000" algn="tl">
                              <a:srgbClr val="000000">
                                <a:alpha val="43137"/>
                              </a:srgbClr>
                            </a:outerShdw>
                          </a:effectLst>
                        </a:rPr>
                        <a:t>Personnel of the organization and relevant interested parties shall receive appropriate information security awareness, education and training and regular updates of the organization's information security policy, topic-specific policies and procedures, as relevant for their job function.</a:t>
                      </a:r>
                      <a:r>
                        <a:rPr lang="zh-TW" altLang="en-US" sz="1500" b="1" dirty="0">
                          <a:solidFill>
                            <a:schemeClr val="tx1"/>
                          </a:solidFill>
                          <a:effectLst>
                            <a:outerShdw blurRad="38100" dist="38100" dir="2700000" algn="tl">
                              <a:srgbClr val="000000">
                                <a:alpha val="43137"/>
                              </a:srgbClr>
                            </a:outerShdw>
                          </a:effectLst>
                        </a:rPr>
                        <a:t>組織及相關關注方之人員,均應接受與其工作職能相關的組織資訊安全政策、主題特定政策及程式之適切資訊安全認知及教育訓練,並定期更新。</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344090"/>
                  </a:ext>
                </a:extLst>
              </a:tr>
              <a:tr h="9829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500" b="1" dirty="0">
                          <a:solidFill>
                            <a:schemeClr val="tx1"/>
                          </a:solidFill>
                          <a:effectLst>
                            <a:outerShdw blurRad="38100" dist="38100" dir="2700000" algn="tl">
                              <a:srgbClr val="000000">
                                <a:alpha val="43137"/>
                              </a:srgbClr>
                            </a:outerShdw>
                          </a:effectLst>
                        </a:rPr>
                        <a:t>6.4 獎懲過程 </a:t>
                      </a:r>
                      <a:r>
                        <a:rPr lang="en-US" altLang="zh-TW" sz="1500" b="1" dirty="0">
                          <a:solidFill>
                            <a:schemeClr val="tx1"/>
                          </a:solidFill>
                          <a:effectLst>
                            <a:outerShdw blurRad="38100" dist="38100" dir="2700000" algn="tl">
                              <a:srgbClr val="000000">
                                <a:alpha val="43137"/>
                              </a:srgbClr>
                            </a:outerShdw>
                          </a:effectLst>
                        </a:rPr>
                        <a:t>Disciplinary process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500" b="1" dirty="0">
                          <a:solidFill>
                            <a:schemeClr val="tx1"/>
                          </a:solidFill>
                          <a:effectLst>
                            <a:outerShdw blurRad="38100" dist="38100" dir="2700000" algn="tl">
                              <a:srgbClr val="000000">
                                <a:alpha val="43137"/>
                              </a:srgbClr>
                            </a:outerShdw>
                          </a:effectLst>
                        </a:rPr>
                        <a:t>A disciplinary process shall be formalized and communicated to take actions against personnel and other relevant interested parties who have committed an information security policy violation.</a:t>
                      </a:r>
                    </a:p>
                    <a:p>
                      <a:r>
                        <a:rPr lang="zh-TW" altLang="en-US" sz="1500" b="1" dirty="0">
                          <a:solidFill>
                            <a:schemeClr val="tx1"/>
                          </a:solidFill>
                          <a:effectLst>
                            <a:outerShdw blurRad="38100" dist="38100" dir="2700000" algn="tl">
                              <a:srgbClr val="000000">
                                <a:alpha val="43137"/>
                              </a:srgbClr>
                            </a:outerShdw>
                          </a:effectLst>
                        </a:rPr>
                        <a:t>應明確訂定並傳達獎懲過程,以對違反資訊安全政策之人員及其他相關關注方採取行動</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921904"/>
                  </a:ext>
                </a:extLst>
              </a:tr>
            </a:tbl>
          </a:graphicData>
        </a:graphic>
      </p:graphicFrame>
      <p:sp>
        <p:nvSpPr>
          <p:cNvPr id="5" name="矩形 4"/>
          <p:cNvSpPr/>
          <p:nvPr/>
        </p:nvSpPr>
        <p:spPr>
          <a:xfrm>
            <a:off x="2971800" y="4845403"/>
            <a:ext cx="4572000" cy="300082"/>
          </a:xfrm>
          <a:prstGeom prst="rect">
            <a:avLst/>
          </a:prstGeom>
        </p:spPr>
        <p:txBody>
          <a:bodyPr>
            <a:spAutoFit/>
          </a:bodyPr>
          <a:lstStyle/>
          <a:p>
            <a:r>
              <a:rPr lang="en-US" altLang="zh-TW" sz="1350" dirty="0"/>
              <a:t>. </a:t>
            </a:r>
            <a:endParaRPr lang="zh-TW" altLang="en-US" sz="1350" dirty="0"/>
          </a:p>
        </p:txBody>
      </p:sp>
      <p:sp>
        <p:nvSpPr>
          <p:cNvPr id="6" name="矩形 5"/>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26</a:t>
            </a:fld>
            <a:endParaRPr lang="zh-TW" altLang="en-US" dirty="0"/>
          </a:p>
        </p:txBody>
      </p:sp>
    </p:spTree>
    <p:extLst>
      <p:ext uri="{BB962C8B-B14F-4D97-AF65-F5344CB8AC3E}">
        <p14:creationId xmlns:p14="http://schemas.microsoft.com/office/powerpoint/2010/main" val="2097041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69886891"/>
              </p:ext>
            </p:extLst>
          </p:nvPr>
        </p:nvGraphicFramePr>
        <p:xfrm>
          <a:off x="59552" y="932099"/>
          <a:ext cx="8755381" cy="4640580"/>
        </p:xfrm>
        <a:graphic>
          <a:graphicData uri="http://schemas.openxmlformats.org/drawingml/2006/table">
            <a:tbl>
              <a:tblPr firstRow="1" bandRow="1">
                <a:tableStyleId>{5C22544A-7EE6-4342-B048-85BDC9FD1C3A}</a:tableStyleId>
              </a:tblPr>
              <a:tblGrid>
                <a:gridCol w="902018">
                  <a:extLst>
                    <a:ext uri="{9D8B030D-6E8A-4147-A177-3AD203B41FA5}">
                      <a16:colId xmlns:a16="http://schemas.microsoft.com/office/drawing/2014/main" val="370579030"/>
                    </a:ext>
                  </a:extLst>
                </a:gridCol>
                <a:gridCol w="7853363">
                  <a:extLst>
                    <a:ext uri="{9D8B030D-6E8A-4147-A177-3AD203B41FA5}">
                      <a16:colId xmlns:a16="http://schemas.microsoft.com/office/drawing/2014/main" val="4133402684"/>
                    </a:ext>
                  </a:extLst>
                </a:gridCol>
              </a:tblGrid>
              <a:tr h="27813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6 People controls </a:t>
                      </a:r>
                      <a:r>
                        <a:rPr lang="zh-TW" altLang="en-US" sz="1800" dirty="0"/>
                        <a:t>人員控制措施 </a:t>
                      </a:r>
                      <a:r>
                        <a:rPr lang="en-US" altLang="zh-TW" sz="1800" dirty="0"/>
                        <a:t>(8) </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3253499658"/>
                  </a:ext>
                </a:extLst>
              </a:tr>
              <a:tr h="1165860">
                <a:tc>
                  <a:txBody>
                    <a:bodyPr/>
                    <a:lstStyle/>
                    <a:p>
                      <a:r>
                        <a:rPr lang="en-US" altLang="zh-TW" sz="1500" b="1" dirty="0">
                          <a:effectLst>
                            <a:outerShdw blurRad="38100" dist="38100" dir="2700000" algn="tl">
                              <a:srgbClr val="000000">
                                <a:alpha val="43137"/>
                              </a:srgbClr>
                            </a:outerShdw>
                          </a:effectLst>
                        </a:rPr>
                        <a:t>6.5 </a:t>
                      </a:r>
                      <a:r>
                        <a:rPr lang="zh-TW" altLang="en-US" sz="1500" b="1" dirty="0">
                          <a:effectLst>
                            <a:outerShdw blurRad="38100" dist="38100" dir="2700000" algn="tl">
                              <a:srgbClr val="000000">
                                <a:alpha val="43137"/>
                              </a:srgbClr>
                            </a:outerShdw>
                          </a:effectLst>
                        </a:rPr>
                        <a:t>聘用終止或變更後之責任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1" dirty="0">
                          <a:effectLst>
                            <a:outerShdw blurRad="38100" dist="38100" dir="2700000" algn="tl">
                              <a:srgbClr val="000000">
                                <a:alpha val="43137"/>
                              </a:srgbClr>
                            </a:outerShdw>
                          </a:effectLst>
                        </a:rPr>
                        <a:t>6.5 Responsibilities after termination or change of employment </a:t>
                      </a:r>
                    </a:p>
                    <a:p>
                      <a:endParaRPr lang="en-US" altLang="zh-TW" sz="1200" b="1" dirty="0">
                        <a:effectLst>
                          <a:outerShdw blurRad="38100" dist="38100" dir="2700000" algn="tl">
                            <a:srgbClr val="000000">
                              <a:alpha val="43137"/>
                            </a:srgbClr>
                          </a:outerShdw>
                        </a:effectLst>
                      </a:endParaRPr>
                    </a:p>
                    <a:p>
                      <a:r>
                        <a:rPr lang="en-US" altLang="zh-TW" sz="1200" b="1" dirty="0">
                          <a:effectLst>
                            <a:outerShdw blurRad="38100" dist="38100" dir="2700000" algn="tl">
                              <a:srgbClr val="000000">
                                <a:alpha val="43137"/>
                              </a:srgbClr>
                            </a:outerShdw>
                          </a:effectLst>
                        </a:rPr>
                        <a:t>Information security responsibilities and duties that remain valid after termination or change of employment shall be defined, enforced and communicated to relevant personnel and other interested parties. </a:t>
                      </a:r>
                    </a:p>
                    <a:p>
                      <a:endParaRPr lang="en-US" altLang="zh-TW" sz="1200" b="1" dirty="0">
                        <a:effectLst>
                          <a:outerShdw blurRad="38100" dist="38100" dir="2700000" algn="tl">
                            <a:srgbClr val="000000">
                              <a:alpha val="43137"/>
                            </a:srgbClr>
                          </a:outerShdw>
                        </a:effectLst>
                      </a:endParaRPr>
                    </a:p>
                    <a:p>
                      <a:r>
                        <a:rPr lang="zh-TW" altLang="en-US" sz="1200" b="1" dirty="0">
                          <a:effectLst>
                            <a:outerShdw blurRad="38100" dist="38100" dir="2700000" algn="tl">
                              <a:srgbClr val="000000">
                                <a:alpha val="43137"/>
                              </a:srgbClr>
                            </a:outerShdw>
                          </a:effectLst>
                        </a:rPr>
                        <a:t>應對相關人員及其他關注方定義、施行並傳達於聘用終止或變更後,仍保持有效之資訊安全責任及義務。</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5782533"/>
                  </a:ext>
                </a:extLst>
              </a:tr>
              <a:tr h="1165860">
                <a:tc>
                  <a:txBody>
                    <a:bodyPr/>
                    <a:lstStyle/>
                    <a:p>
                      <a:r>
                        <a:rPr lang="en-US" altLang="zh-TW" sz="1500" b="1" dirty="0">
                          <a:effectLst>
                            <a:outerShdw blurRad="38100" dist="38100" dir="2700000" algn="tl">
                              <a:srgbClr val="000000">
                                <a:alpha val="43137"/>
                              </a:srgbClr>
                            </a:outerShdw>
                          </a:effectLst>
                        </a:rPr>
                        <a:t>6.6 </a:t>
                      </a:r>
                      <a:r>
                        <a:rPr lang="zh-TW" altLang="en-US" sz="1500" b="1" dirty="0">
                          <a:effectLst>
                            <a:outerShdw blurRad="38100" dist="38100" dir="2700000" algn="tl">
                              <a:srgbClr val="000000">
                                <a:alpha val="43137"/>
                              </a:srgbClr>
                            </a:outerShdw>
                          </a:effectLst>
                        </a:rPr>
                        <a:t>機密性或</a:t>
                      </a:r>
                      <a:r>
                        <a:rPr lang="zh-TW" altLang="en-US" sz="1500" b="1" dirty="0">
                          <a:solidFill>
                            <a:srgbClr val="FF0000"/>
                          </a:solidFill>
                          <a:effectLst>
                            <a:outerShdw blurRad="38100" dist="38100" dir="2700000" algn="tl">
                              <a:srgbClr val="000000">
                                <a:alpha val="43137"/>
                              </a:srgbClr>
                            </a:outerShdw>
                          </a:effectLst>
                        </a:rPr>
                        <a:t>保密協議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1" dirty="0">
                          <a:effectLst>
                            <a:outerShdw blurRad="38100" dist="38100" dir="2700000" algn="tl">
                              <a:srgbClr val="000000">
                                <a:alpha val="43137"/>
                              </a:srgbClr>
                            </a:outerShdw>
                          </a:effectLst>
                        </a:rPr>
                        <a:t>6.6 Confidentiality  or  </a:t>
                      </a:r>
                      <a:r>
                        <a:rPr lang="en-US" altLang="zh-TW" sz="1200" b="1" dirty="0">
                          <a:solidFill>
                            <a:srgbClr val="FF0000"/>
                          </a:solidFill>
                          <a:effectLst>
                            <a:outerShdw blurRad="38100" dist="38100" dir="2700000" algn="tl">
                              <a:srgbClr val="000000">
                                <a:alpha val="43137"/>
                              </a:srgbClr>
                            </a:outerShdw>
                          </a:effectLst>
                        </a:rPr>
                        <a:t>non-disclosure agreements (NDA)</a:t>
                      </a:r>
                    </a:p>
                    <a:p>
                      <a:endParaRPr lang="en-US" altLang="zh-TW" sz="1200" b="1" dirty="0">
                        <a:effectLst>
                          <a:outerShdw blurRad="38100" dist="38100" dir="2700000" algn="tl">
                            <a:srgbClr val="000000">
                              <a:alpha val="43137"/>
                            </a:srgbClr>
                          </a:outerShdw>
                        </a:effectLst>
                      </a:endParaRPr>
                    </a:p>
                    <a:p>
                      <a:r>
                        <a:rPr lang="en-US" altLang="zh-TW" sz="1200" b="1" dirty="0">
                          <a:effectLst>
                            <a:outerShdw blurRad="38100" dist="38100" dir="2700000" algn="tl">
                              <a:srgbClr val="000000">
                                <a:alpha val="43137"/>
                              </a:srgbClr>
                            </a:outerShdw>
                          </a:effectLst>
                        </a:rPr>
                        <a:t>Confidentiality or non-disclosure agreements reflecting the organization’s needs for the protection of information shall be identified, documented, regularly reviewed and signed by personnel and other relevant interested parties. </a:t>
                      </a:r>
                    </a:p>
                    <a:p>
                      <a:endParaRPr lang="en-US" altLang="zh-TW" sz="1200" b="1" dirty="0">
                        <a:effectLst>
                          <a:outerShdw blurRad="38100" dist="38100" dir="2700000" algn="tl">
                            <a:srgbClr val="000000">
                              <a:alpha val="43137"/>
                            </a:srgbClr>
                          </a:outerShdw>
                        </a:effectLst>
                      </a:endParaRPr>
                    </a:p>
                    <a:p>
                      <a:r>
                        <a:rPr lang="zh-TW" altLang="en-US" sz="1200" b="1" dirty="0">
                          <a:effectLst>
                            <a:outerShdw blurRad="38100" dist="38100" dir="2700000" algn="tl">
                              <a:srgbClr val="000000">
                                <a:alpha val="43137"/>
                              </a:srgbClr>
                            </a:outerShdw>
                          </a:effectLst>
                        </a:rPr>
                        <a:t>反映組織對資訊保護之需要的機密性或保密協議</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應由人員及其他相關關注方</a:t>
                      </a:r>
                      <a:r>
                        <a:rPr lang="en-US" altLang="zh-TW" sz="1200" b="1" dirty="0">
                          <a:effectLst>
                            <a:outerShdw blurRad="38100" dist="38100" dir="2700000" algn="tl">
                              <a:srgbClr val="000000">
                                <a:alpha val="43137"/>
                              </a:srgbClr>
                            </a:outerShdw>
                          </a:effectLst>
                        </a:rPr>
                        <a:t>,</a:t>
                      </a:r>
                      <a:r>
                        <a:rPr lang="zh-TW" altLang="en-US" sz="1200" b="1" dirty="0">
                          <a:effectLst>
                            <a:outerShdw blurRad="38100" dist="38100" dir="2700000" algn="tl">
                              <a:srgbClr val="000000">
                                <a:alpha val="43137"/>
                              </a:srgbClr>
                            </a:outerShdw>
                          </a:effectLst>
                        </a:rPr>
                        <a:t>識別、書面記錄、定期審查及簽署</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257793"/>
                  </a:ext>
                </a:extLst>
              </a:tr>
              <a:tr h="9829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500" b="1" dirty="0">
                          <a:effectLst>
                            <a:outerShdw blurRad="38100" dist="38100" dir="2700000" algn="tl">
                              <a:srgbClr val="000000">
                                <a:alpha val="43137"/>
                              </a:srgbClr>
                            </a:outerShdw>
                          </a:effectLst>
                        </a:rPr>
                        <a:t>6.7 遠端工作 </a:t>
                      </a:r>
                      <a:r>
                        <a:rPr lang="en-US" altLang="zh-TW" sz="1500" b="1" dirty="0">
                          <a:effectLst>
                            <a:outerShdw blurRad="38100" dist="38100" dir="2700000" algn="tl">
                              <a:srgbClr val="000000">
                                <a:alpha val="43137"/>
                              </a:srgbClr>
                            </a:outerShdw>
                          </a:effectLst>
                        </a:rPr>
                        <a:t>Remote working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1" dirty="0">
                          <a:effectLst>
                            <a:outerShdw blurRad="38100" dist="38100" dir="2700000" algn="tl">
                              <a:srgbClr val="000000">
                                <a:alpha val="43137"/>
                              </a:srgbClr>
                            </a:outerShdw>
                          </a:effectLst>
                        </a:rPr>
                        <a:t>Security measures shall be implemented when personnel are working remotely to protect information accessed, processed or stored outside the organization’s premises. </a:t>
                      </a:r>
                    </a:p>
                    <a:p>
                      <a:r>
                        <a:rPr lang="zh-TW" altLang="en-US" sz="1200" b="1" dirty="0">
                          <a:effectLst>
                            <a:outerShdw blurRad="38100" dist="38100" dir="2700000" algn="tl">
                              <a:srgbClr val="000000">
                                <a:alpha val="43137"/>
                              </a:srgbClr>
                            </a:outerShdw>
                          </a:effectLst>
                        </a:rPr>
                        <a:t>應實作安全措施,當人員於遠端工作時,保護於組織場所外存取、處理或儲存之資訊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3507605"/>
                  </a:ext>
                </a:extLst>
              </a:tr>
              <a:tr h="982980">
                <a:tc>
                  <a:txBody>
                    <a:bodyPr/>
                    <a:lstStyle/>
                    <a:p>
                      <a:r>
                        <a:rPr lang="zh-TW" altLang="en-US" sz="1500" b="1" dirty="0">
                          <a:effectLst>
                            <a:outerShdw blurRad="38100" dist="38100" dir="2700000" algn="tl">
                              <a:srgbClr val="000000">
                                <a:alpha val="43137"/>
                              </a:srgbClr>
                            </a:outerShdw>
                          </a:effectLst>
                        </a:rPr>
                        <a:t>6.8 資訊安全事件通報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dirty="0">
                          <a:effectLst>
                            <a:outerShdw blurRad="38100" dist="38100" dir="2700000" algn="tl">
                              <a:srgbClr val="000000">
                                <a:alpha val="43137"/>
                              </a:srgbClr>
                            </a:outerShdw>
                          </a:effectLst>
                        </a:rPr>
                        <a:t>6.8 Information security event reporting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dirty="0">
                          <a:effectLst>
                            <a:outerShdw blurRad="38100" dist="38100" dir="2700000" algn="tl">
                              <a:srgbClr val="000000">
                                <a:alpha val="43137"/>
                              </a:srgbClr>
                            </a:outerShdw>
                          </a:effectLst>
                        </a:rPr>
                        <a:t>The organization shall provide a mechanism for personnel to report observed or suspected information security events through appropriate channels in a timely manner</a:t>
                      </a:r>
                    </a:p>
                    <a:p>
                      <a:r>
                        <a:rPr lang="zh-TW" altLang="en-US" sz="1200" b="1" dirty="0">
                          <a:effectLst>
                            <a:outerShdw blurRad="38100" dist="38100" dir="2700000" algn="tl">
                              <a:srgbClr val="000000">
                                <a:alpha val="43137"/>
                              </a:srgbClr>
                            </a:outerShdw>
                          </a:effectLst>
                        </a:rPr>
                        <a:t>組織應提供機制,供人員透過適切之管道,及時通報所觀察到或可疑</a:t>
                      </a:r>
                      <a:r>
                        <a:rPr lang="zh-TW" altLang="en-US" sz="1200" b="1" baseline="0" dirty="0">
                          <a:effectLst>
                            <a:outerShdw blurRad="38100" dist="38100" dir="2700000" algn="tl">
                              <a:srgbClr val="000000">
                                <a:alpha val="43137"/>
                              </a:srgbClr>
                            </a:outerShdw>
                          </a:effectLst>
                        </a:rPr>
                        <a:t> </a:t>
                      </a:r>
                      <a:r>
                        <a:rPr lang="zh-TW" altLang="en-US" sz="1200" b="1" dirty="0">
                          <a:effectLst>
                            <a:outerShdw blurRad="38100" dist="38100" dir="2700000" algn="tl">
                              <a:srgbClr val="000000">
                                <a:alpha val="43137"/>
                              </a:srgbClr>
                            </a:outerShdw>
                          </a:effectLst>
                        </a:rPr>
                        <a:t>的資訊安全事件</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106787"/>
                  </a:ext>
                </a:extLst>
              </a:tr>
            </a:tbl>
          </a:graphicData>
        </a:graphic>
      </p:graphicFrame>
      <p:sp>
        <p:nvSpPr>
          <p:cNvPr id="5" name="矩形 4"/>
          <p:cNvSpPr/>
          <p:nvPr/>
        </p:nvSpPr>
        <p:spPr>
          <a:xfrm>
            <a:off x="2971800" y="4845403"/>
            <a:ext cx="4572000" cy="300082"/>
          </a:xfrm>
          <a:prstGeom prst="rect">
            <a:avLst/>
          </a:prstGeom>
        </p:spPr>
        <p:txBody>
          <a:bodyPr>
            <a:spAutoFit/>
          </a:bodyPr>
          <a:lstStyle/>
          <a:p>
            <a:r>
              <a:rPr lang="en-US" altLang="zh-TW" sz="1350" dirty="0"/>
              <a:t>. </a:t>
            </a:r>
            <a:endParaRPr lang="zh-TW" altLang="en-US" sz="1350" dirty="0"/>
          </a:p>
        </p:txBody>
      </p:sp>
      <p:sp>
        <p:nvSpPr>
          <p:cNvPr id="6" name="矩形 5"/>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27</a:t>
            </a:fld>
            <a:endParaRPr lang="zh-TW" altLang="en-US" dirty="0"/>
          </a:p>
        </p:txBody>
      </p:sp>
    </p:spTree>
    <p:extLst>
      <p:ext uri="{BB962C8B-B14F-4D97-AF65-F5344CB8AC3E}">
        <p14:creationId xmlns:p14="http://schemas.microsoft.com/office/powerpoint/2010/main" val="77553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8881" y="731080"/>
            <a:ext cx="5838532" cy="378545"/>
          </a:xfrm>
        </p:spPr>
        <p:txBody>
          <a:bodyPr>
            <a:noAutofit/>
          </a:bodyPr>
          <a:lstStyle/>
          <a:p>
            <a:r>
              <a:rPr lang="zh-TW" altLang="en-US" dirty="0"/>
              <a:t>實體 </a:t>
            </a:r>
            <a:r>
              <a:rPr lang="en-US" altLang="zh-TW" dirty="0"/>
              <a:t>A7 Physical controls(7.1-7.14)</a:t>
            </a:r>
            <a:endParaRPr lang="zh-TW" altLang="en-US" dirty="0"/>
          </a:p>
        </p:txBody>
      </p:sp>
      <p:graphicFrame>
        <p:nvGraphicFramePr>
          <p:cNvPr id="4" name="內容版面配置區 3"/>
          <p:cNvGraphicFramePr>
            <a:graphicFrameLocks noGrp="1"/>
          </p:cNvGraphicFramePr>
          <p:nvPr>
            <p:ph idx="1"/>
          </p:nvPr>
        </p:nvGraphicFramePr>
        <p:xfrm>
          <a:off x="128881" y="1513046"/>
          <a:ext cx="8673172" cy="3840480"/>
        </p:xfrm>
        <a:graphic>
          <a:graphicData uri="http://schemas.openxmlformats.org/drawingml/2006/table">
            <a:tbl>
              <a:tblPr firstRow="1" bandRow="1">
                <a:tableStyleId>{5C22544A-7EE6-4342-B048-85BDC9FD1C3A}</a:tableStyleId>
              </a:tblPr>
              <a:tblGrid>
                <a:gridCol w="3831272">
                  <a:extLst>
                    <a:ext uri="{9D8B030D-6E8A-4147-A177-3AD203B41FA5}">
                      <a16:colId xmlns:a16="http://schemas.microsoft.com/office/drawing/2014/main" val="2387532180"/>
                    </a:ext>
                  </a:extLst>
                </a:gridCol>
                <a:gridCol w="4841900">
                  <a:extLst>
                    <a:ext uri="{9D8B030D-6E8A-4147-A177-3AD203B41FA5}">
                      <a16:colId xmlns:a16="http://schemas.microsoft.com/office/drawing/2014/main" val="4110016409"/>
                    </a:ext>
                  </a:extLst>
                </a:gridCol>
              </a:tblGrid>
              <a:tr h="160020">
                <a:tc>
                  <a:txBody>
                    <a:bodyPr/>
                    <a:lstStyle/>
                    <a:p>
                      <a:endParaRPr lang="zh-TW" altLang="en-US" sz="600" dirty="0"/>
                    </a:p>
                  </a:txBody>
                  <a:tcPr marL="68580" marR="68580" marT="34290" marB="34290"/>
                </a:tc>
                <a:tc>
                  <a:txBody>
                    <a:bodyPr/>
                    <a:lstStyle/>
                    <a:p>
                      <a:endParaRPr lang="zh-TW" altLang="en-US" sz="600" dirty="0"/>
                    </a:p>
                  </a:txBody>
                  <a:tcPr marL="68580" marR="68580" marT="34290" marB="34290"/>
                </a:tc>
                <a:extLst>
                  <a:ext uri="{0D108BD9-81ED-4DB2-BD59-A6C34878D82A}">
                    <a16:rowId xmlns:a16="http://schemas.microsoft.com/office/drawing/2014/main" val="3081169292"/>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7.1 Physical security perimeters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500" b="1" dirty="0">
                          <a:effectLst>
                            <a:outerShdw blurRad="38100" dist="38100" dir="2700000" algn="tl">
                              <a:srgbClr val="000000">
                                <a:alpha val="43137"/>
                              </a:srgbClr>
                            </a:outerShdw>
                          </a:effectLst>
                        </a:rPr>
                        <a:t>     實體安全周界 </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500" b="1" dirty="0">
                          <a:effectLst>
                            <a:outerShdw blurRad="38100" dist="38100" dir="2700000" algn="tl">
                              <a:srgbClr val="000000">
                                <a:alpha val="43137"/>
                              </a:srgbClr>
                            </a:outerShdw>
                          </a:effectLst>
                        </a:rPr>
                        <a:t>應定義及使用安全周界</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以保護收容資訊及其他相關聯資產之區域</a:t>
                      </a:r>
                    </a:p>
                  </a:txBody>
                  <a:tcPr marL="68580" marR="68580" marT="34290" marB="34290"/>
                </a:tc>
                <a:extLst>
                  <a:ext uri="{0D108BD9-81ED-4DB2-BD59-A6C34878D82A}">
                    <a16:rowId xmlns:a16="http://schemas.microsoft.com/office/drawing/2014/main" val="3567173778"/>
                  </a:ext>
                </a:extLst>
              </a:tr>
              <a:tr h="2971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7.2 Physical entry  </a:t>
                      </a:r>
                      <a:r>
                        <a:rPr lang="zh-TW" altLang="en-US" sz="1500" b="1" dirty="0">
                          <a:effectLst>
                            <a:outerShdw blurRad="38100" dist="38100" dir="2700000" algn="tl">
                              <a:srgbClr val="000000">
                                <a:alpha val="43137"/>
                              </a:srgbClr>
                            </a:outerShdw>
                          </a:effectLst>
                        </a:rPr>
                        <a:t>實體進入控制措施</a:t>
                      </a:r>
                      <a:endParaRPr lang="en-US" altLang="zh-TW" sz="1500" b="1" dirty="0">
                        <a:effectLst>
                          <a:outerShdw blurRad="38100" dist="38100" dir="2700000" algn="tl">
                            <a:srgbClr val="000000">
                              <a:alpha val="43137"/>
                            </a:srgbClr>
                          </a:outerShdw>
                        </a:effectLst>
                      </a:endParaRPr>
                    </a:p>
                  </a:txBody>
                  <a:tcPr marL="68580" marR="68580" marT="34290" marB="34290"/>
                </a:tc>
                <a:tc>
                  <a:txBody>
                    <a:bodyPr/>
                    <a:lstStyle/>
                    <a:p>
                      <a:r>
                        <a:rPr lang="zh-TW" altLang="en-US" sz="1500" b="1" dirty="0">
                          <a:effectLst>
                            <a:outerShdw blurRad="38100" dist="38100" dir="2700000" algn="tl">
                              <a:srgbClr val="000000">
                                <a:alpha val="43137"/>
                              </a:srgbClr>
                            </a:outerShdw>
                          </a:effectLst>
                        </a:rPr>
                        <a:t>保全區域應藉由適切之進入控制措施及進出點加以保護</a:t>
                      </a:r>
                    </a:p>
                  </a:txBody>
                  <a:tcPr marL="68580" marR="68580" marT="34290" marB="34290"/>
                </a:tc>
                <a:extLst>
                  <a:ext uri="{0D108BD9-81ED-4DB2-BD59-A6C34878D82A}">
                    <a16:rowId xmlns:a16="http://schemas.microsoft.com/office/drawing/2014/main" val="1644791072"/>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7.3 Securing offices, rooms and facilities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         </a:t>
                      </a:r>
                      <a:r>
                        <a:rPr lang="zh-TW" altLang="en-US" sz="1500" b="1" dirty="0">
                          <a:effectLst>
                            <a:outerShdw blurRad="38100" dist="38100" dir="2700000" algn="tl">
                              <a:srgbClr val="000000">
                                <a:alpha val="43137"/>
                              </a:srgbClr>
                            </a:outerShdw>
                          </a:effectLst>
                        </a:rPr>
                        <a:t>保全辦公室、房間及設施 控制措施</a:t>
                      </a:r>
                    </a:p>
                  </a:txBody>
                  <a:tcPr marL="68580" marR="68580" marT="34290" marB="34290"/>
                </a:tc>
                <a:tc>
                  <a:txBody>
                    <a:bodyPr/>
                    <a:lstStyle/>
                    <a:p>
                      <a:r>
                        <a:rPr lang="zh-TW" altLang="en-US" sz="1500" b="1" dirty="0">
                          <a:effectLst>
                            <a:outerShdw blurRad="38100" dist="38100" dir="2700000" algn="tl">
                              <a:srgbClr val="000000">
                                <a:alpha val="43137"/>
                              </a:srgbClr>
                            </a:outerShdw>
                          </a:effectLst>
                        </a:rPr>
                        <a:t>設計辦公室、房間及設施之實體安全並實作之。</a:t>
                      </a:r>
                    </a:p>
                  </a:txBody>
                  <a:tcPr marL="68580" marR="68580" marT="34290" marB="34290"/>
                </a:tc>
                <a:extLst>
                  <a:ext uri="{0D108BD9-81ED-4DB2-BD59-A6C34878D82A}">
                    <a16:rowId xmlns:a16="http://schemas.microsoft.com/office/drawing/2014/main" val="4256900459"/>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7.4 Physical security monitoring</a:t>
                      </a:r>
                      <a:r>
                        <a:rPr lang="zh-TW" altLang="en-US" sz="1500" b="1" dirty="0">
                          <a:effectLst>
                            <a:outerShdw blurRad="38100" dist="38100" dir="2700000" algn="tl">
                              <a:srgbClr val="000000">
                                <a:alpha val="43137"/>
                              </a:srgbClr>
                            </a:outerShdw>
                          </a:effectLst>
                        </a:rPr>
                        <a:t>   </a:t>
                      </a:r>
                      <a:r>
                        <a:rPr lang="en-US" altLang="zh-TW" sz="1500" b="1" dirty="0">
                          <a:effectLst>
                            <a:outerShdw blurRad="38100" dist="38100" dir="2700000" algn="tl">
                              <a:srgbClr val="000000">
                                <a:alpha val="43137"/>
                              </a:srgbClr>
                            </a:outerShdw>
                          </a:effectLst>
                        </a:rPr>
                        <a:t/>
                      </a:r>
                      <a:br>
                        <a:rPr lang="en-US" altLang="zh-TW" sz="1500" b="1" dirty="0">
                          <a:effectLst>
                            <a:outerShdw blurRad="38100" dist="38100" dir="2700000" algn="tl">
                              <a:srgbClr val="000000">
                                <a:alpha val="43137"/>
                              </a:srgbClr>
                            </a:outerShdw>
                          </a:effectLst>
                        </a:rPr>
                      </a:br>
                      <a:r>
                        <a:rPr lang="zh-TW" altLang="en-US" sz="1500" b="1" dirty="0">
                          <a:effectLst>
                            <a:outerShdw blurRad="38100" dist="38100" dir="2700000" algn="tl">
                              <a:srgbClr val="000000">
                                <a:alpha val="43137"/>
                              </a:srgbClr>
                            </a:outerShdw>
                          </a:effectLst>
                        </a:rPr>
                        <a:t>     實體安全監視 </a:t>
                      </a:r>
                      <a:r>
                        <a:rPr lang="en-US" altLang="zh-TW" sz="1500" b="1" dirty="0">
                          <a:solidFill>
                            <a:srgbClr val="FF0000"/>
                          </a:solidFill>
                          <a:effectLst>
                            <a:outerShdw blurRad="38100" dist="38100" dir="2700000" algn="tl">
                              <a:srgbClr val="000000">
                                <a:alpha val="43137"/>
                              </a:srgbClr>
                            </a:outerShdw>
                          </a:effectLst>
                        </a:rPr>
                        <a:t>(new </a:t>
                      </a:r>
                      <a:r>
                        <a:rPr lang="zh-TW" altLang="en-US" sz="1500" b="1" dirty="0">
                          <a:solidFill>
                            <a:srgbClr val="FF0000"/>
                          </a:solidFill>
                          <a:effectLst>
                            <a:outerShdw blurRad="38100" dist="38100" dir="2700000" algn="tl">
                              <a:srgbClr val="000000">
                                <a:alpha val="43137"/>
                              </a:srgbClr>
                            </a:outerShdw>
                          </a:effectLst>
                        </a:rPr>
                        <a:t>新增</a:t>
                      </a:r>
                      <a:r>
                        <a:rPr lang="en-US" altLang="zh-TW" sz="1500" b="1" dirty="0">
                          <a:solidFill>
                            <a:srgbClr val="FF0000"/>
                          </a:solidFill>
                          <a:effectLst>
                            <a:outerShdw blurRad="38100" dist="38100" dir="2700000" algn="tl">
                              <a:srgbClr val="000000">
                                <a:alpha val="43137"/>
                              </a:srgbClr>
                            </a:outerShdw>
                          </a:effectLst>
                        </a:rPr>
                        <a:t>)</a:t>
                      </a:r>
                      <a:endParaRPr lang="zh-TW" altLang="en-US" sz="1500" b="1" dirty="0">
                        <a:solidFill>
                          <a:srgbClr val="FF0000"/>
                        </a:solidFill>
                        <a:effectLst>
                          <a:outerShdw blurRad="38100" dist="38100" dir="2700000" algn="tl">
                            <a:srgbClr val="000000">
                              <a:alpha val="43137"/>
                            </a:srgbClr>
                          </a:outerShdw>
                        </a:effectLst>
                      </a:endParaRPr>
                    </a:p>
                  </a:txBody>
                  <a:tcPr marL="68580" marR="68580" marT="34290" marB="34290">
                    <a:solidFill>
                      <a:schemeClr val="accent6">
                        <a:lumMod val="20000"/>
                        <a:lumOff val="80000"/>
                      </a:schemeClr>
                    </a:solidFill>
                  </a:tcPr>
                </a:tc>
                <a:tc>
                  <a:txBody>
                    <a:bodyPr/>
                    <a:lstStyle/>
                    <a:p>
                      <a:r>
                        <a:rPr lang="zh-TW" altLang="en-US" sz="1500" b="1" dirty="0">
                          <a:effectLst>
                            <a:outerShdw blurRad="38100" dist="38100" dir="2700000" algn="tl">
                              <a:srgbClr val="000000">
                                <a:alpha val="43137"/>
                              </a:srgbClr>
                            </a:outerShdw>
                          </a:effectLst>
                        </a:rPr>
                        <a:t>應持續監視場所</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防止未經授權之實體進出</a:t>
                      </a:r>
                    </a:p>
                  </a:txBody>
                  <a:tcPr marL="68580" marR="68580" marT="34290" marB="34290">
                    <a:solidFill>
                      <a:schemeClr val="accent6">
                        <a:lumMod val="20000"/>
                        <a:lumOff val="80000"/>
                      </a:schemeClr>
                    </a:solidFill>
                  </a:tcPr>
                </a:tc>
                <a:extLst>
                  <a:ext uri="{0D108BD9-81ED-4DB2-BD59-A6C34878D82A}">
                    <a16:rowId xmlns:a16="http://schemas.microsoft.com/office/drawing/2014/main" val="2732340662"/>
                  </a:ext>
                </a:extLst>
              </a:tr>
              <a:tr h="7543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7.5 Protecting against physical and environmental threats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500" b="1" dirty="0">
                          <a:effectLst>
                            <a:outerShdw blurRad="38100" dist="38100" dir="2700000" algn="tl">
                              <a:srgbClr val="000000">
                                <a:alpha val="43137"/>
                              </a:srgbClr>
                            </a:outerShdw>
                          </a:effectLst>
                        </a:rPr>
                        <a:t>    防範實體及環境威脅 </a:t>
                      </a:r>
                      <a:endParaRPr lang="en-US" altLang="zh-TW" sz="1500" b="1" dirty="0">
                        <a:effectLst>
                          <a:outerShdw blurRad="38100" dist="38100" dir="2700000" algn="tl">
                            <a:srgbClr val="000000">
                              <a:alpha val="43137"/>
                            </a:srgbClr>
                          </a:outerShdw>
                        </a:effectLst>
                      </a:endParaRPr>
                    </a:p>
                  </a:txBody>
                  <a:tcPr marL="68580" marR="68580" marT="34290" marB="34290"/>
                </a:tc>
                <a:tc>
                  <a:txBody>
                    <a:bodyPr/>
                    <a:lstStyle/>
                    <a:p>
                      <a:r>
                        <a:rPr lang="zh-TW" altLang="en-US" sz="1500" b="1" dirty="0">
                          <a:effectLst>
                            <a:outerShdw blurRad="38100" dist="38100" dir="2700000" algn="tl">
                              <a:srgbClr val="000000">
                                <a:alpha val="43137"/>
                              </a:srgbClr>
                            </a:outerShdw>
                          </a:effectLst>
                        </a:rPr>
                        <a:t>應設計並實作防範實體及環境威脅</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諸如天然災害及其他對基礎設施之蓄意或非蓄意的實體威脅</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之措施</a:t>
                      </a:r>
                    </a:p>
                  </a:txBody>
                  <a:tcPr marL="68580" marR="68580" marT="34290" marB="34290"/>
                </a:tc>
                <a:extLst>
                  <a:ext uri="{0D108BD9-81ED-4DB2-BD59-A6C34878D82A}">
                    <a16:rowId xmlns:a16="http://schemas.microsoft.com/office/drawing/2014/main" val="2045017040"/>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7.6 Working in secure areas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b="1" dirty="0">
                          <a:effectLst>
                            <a:outerShdw blurRad="38100" dist="38100" dir="2700000" algn="tl">
                              <a:srgbClr val="000000">
                                <a:alpha val="43137"/>
                              </a:srgbClr>
                            </a:outerShdw>
                          </a:effectLst>
                        </a:rPr>
                        <a:t>      </a:t>
                      </a:r>
                      <a:r>
                        <a:rPr lang="zh-TW" altLang="en-US" sz="1500" b="1" dirty="0">
                          <a:effectLst>
                            <a:outerShdw blurRad="38100" dist="38100" dir="2700000" algn="tl">
                              <a:srgbClr val="000000">
                                <a:alpha val="43137"/>
                              </a:srgbClr>
                            </a:outerShdw>
                          </a:effectLst>
                        </a:rPr>
                        <a:t>於安全區域內工作</a:t>
                      </a:r>
                    </a:p>
                  </a:txBody>
                  <a:tcPr marL="68580" marR="68580" marT="34290" marB="34290"/>
                </a:tc>
                <a:tc>
                  <a:txBody>
                    <a:bodyPr/>
                    <a:lstStyle/>
                    <a:p>
                      <a:r>
                        <a:rPr lang="zh-TW" altLang="en-US" sz="1500" b="1" dirty="0">
                          <a:effectLst>
                            <a:outerShdw blurRad="38100" dist="38100" dir="2700000" algn="tl">
                              <a:srgbClr val="000000">
                                <a:alpha val="43137"/>
                              </a:srgbClr>
                            </a:outerShdw>
                          </a:effectLst>
                        </a:rPr>
                        <a:t>應設計並實作於安全區域內工作之安全措施</a:t>
                      </a:r>
                    </a:p>
                  </a:txBody>
                  <a:tcPr marL="68580" marR="68580" marT="34290" marB="34290"/>
                </a:tc>
                <a:extLst>
                  <a:ext uri="{0D108BD9-81ED-4DB2-BD59-A6C34878D82A}">
                    <a16:rowId xmlns:a16="http://schemas.microsoft.com/office/drawing/2014/main" val="389737850"/>
                  </a:ext>
                </a:extLst>
              </a:tr>
              <a:tr h="525780">
                <a:tc>
                  <a:txBody>
                    <a:bodyPr/>
                    <a:lstStyle/>
                    <a:p>
                      <a:r>
                        <a:rPr lang="en-US" altLang="zh-TW" sz="1500" b="1" dirty="0">
                          <a:effectLst>
                            <a:outerShdw blurRad="38100" dist="38100" dir="2700000" algn="tl">
                              <a:srgbClr val="000000">
                                <a:alpha val="43137"/>
                              </a:srgbClr>
                            </a:outerShdw>
                          </a:effectLst>
                        </a:rPr>
                        <a:t>7.7 Clear desk and clear screen</a:t>
                      </a:r>
                      <a:r>
                        <a:rPr lang="zh-TW" altLang="en-US" sz="1500" b="1" dirty="0">
                          <a:effectLst>
                            <a:outerShdw blurRad="38100" dist="38100" dir="2700000" algn="tl">
                              <a:srgbClr val="000000">
                                <a:alpha val="43137"/>
                              </a:srgbClr>
                            </a:outerShdw>
                          </a:effectLst>
                        </a:rPr>
                        <a:t>    </a:t>
                      </a:r>
                      <a:endParaRPr lang="en-US" altLang="zh-TW" sz="1500" b="1" dirty="0">
                        <a:effectLst>
                          <a:outerShdw blurRad="38100" dist="38100" dir="2700000" algn="tl">
                            <a:srgbClr val="000000">
                              <a:alpha val="43137"/>
                            </a:srgbClr>
                          </a:outerShdw>
                        </a:effectLst>
                      </a:endParaRPr>
                    </a:p>
                    <a:p>
                      <a:r>
                        <a:rPr lang="zh-TW" altLang="en-US" sz="1500" b="1" dirty="0">
                          <a:effectLst>
                            <a:outerShdw blurRad="38100" dist="38100" dir="2700000" algn="tl">
                              <a:srgbClr val="000000">
                                <a:alpha val="43137"/>
                              </a:srgbClr>
                            </a:outerShdw>
                          </a:effectLst>
                        </a:rPr>
                        <a:t>     桌面淨空及螢幕淨空 控制措施</a:t>
                      </a:r>
                    </a:p>
                  </a:txBody>
                  <a:tcPr marL="68580" marR="68580" marT="34290" marB="34290"/>
                </a:tc>
                <a:tc>
                  <a:txBody>
                    <a:bodyPr/>
                    <a:lstStyle/>
                    <a:p>
                      <a:r>
                        <a:rPr lang="zh-TW" altLang="en-US" sz="1500" b="1" dirty="0">
                          <a:effectLst>
                            <a:outerShdw blurRad="38100" dist="38100" dir="2700000" algn="tl">
                              <a:srgbClr val="000000">
                                <a:alpha val="43137"/>
                              </a:srgbClr>
                            </a:outerShdw>
                          </a:effectLst>
                        </a:rPr>
                        <a:t>應定義對紙本及可移除式儲存媒體之桌面淨空規則</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以及對資訊處理設施的螢幕淨空規則</a:t>
                      </a:r>
                      <a:r>
                        <a:rPr lang="en-US" altLang="zh-TW" sz="1500" b="1" dirty="0">
                          <a:effectLst>
                            <a:outerShdw blurRad="38100" dist="38100" dir="2700000" algn="tl">
                              <a:srgbClr val="000000">
                                <a:alpha val="43137"/>
                              </a:srgbClr>
                            </a:outerShdw>
                          </a:effectLst>
                        </a:rPr>
                        <a:t>,</a:t>
                      </a:r>
                      <a:r>
                        <a:rPr lang="zh-TW" altLang="en-US" sz="1500" b="1" dirty="0">
                          <a:effectLst>
                            <a:outerShdw blurRad="38100" dist="38100" dir="2700000" algn="tl">
                              <a:srgbClr val="000000">
                                <a:alpha val="43137"/>
                              </a:srgbClr>
                            </a:outerShdw>
                          </a:effectLst>
                        </a:rPr>
                        <a:t>並適切實施之</a:t>
                      </a:r>
                    </a:p>
                  </a:txBody>
                  <a:tcPr marL="68580" marR="68580" marT="34290" marB="34290"/>
                </a:tc>
                <a:extLst>
                  <a:ext uri="{0D108BD9-81ED-4DB2-BD59-A6C34878D82A}">
                    <a16:rowId xmlns:a16="http://schemas.microsoft.com/office/drawing/2014/main" val="2450808683"/>
                  </a:ext>
                </a:extLst>
              </a:tr>
            </a:tbl>
          </a:graphicData>
        </a:graphic>
      </p:graphicFrame>
      <p:sp>
        <p:nvSpPr>
          <p:cNvPr id="6" name="矩形 5"/>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28</a:t>
            </a:fld>
            <a:endParaRPr lang="zh-TW" altLang="en-US" dirty="0"/>
          </a:p>
        </p:txBody>
      </p:sp>
    </p:spTree>
    <p:extLst>
      <p:ext uri="{BB962C8B-B14F-4D97-AF65-F5344CB8AC3E}">
        <p14:creationId xmlns:p14="http://schemas.microsoft.com/office/powerpoint/2010/main" val="1265282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1313240155"/>
              </p:ext>
            </p:extLst>
          </p:nvPr>
        </p:nvGraphicFramePr>
        <p:xfrm>
          <a:off x="82814" y="1235393"/>
          <a:ext cx="8905582" cy="5303520"/>
        </p:xfrm>
        <a:graphic>
          <a:graphicData uri="http://schemas.openxmlformats.org/drawingml/2006/table">
            <a:tbl>
              <a:tblPr firstRow="1" bandRow="1">
                <a:tableStyleId>{5C22544A-7EE6-4342-B048-85BDC9FD1C3A}</a:tableStyleId>
              </a:tblPr>
              <a:tblGrid>
                <a:gridCol w="3933936">
                  <a:extLst>
                    <a:ext uri="{9D8B030D-6E8A-4147-A177-3AD203B41FA5}">
                      <a16:colId xmlns:a16="http://schemas.microsoft.com/office/drawing/2014/main" val="2387532180"/>
                    </a:ext>
                  </a:extLst>
                </a:gridCol>
                <a:gridCol w="4971646">
                  <a:extLst>
                    <a:ext uri="{9D8B030D-6E8A-4147-A177-3AD203B41FA5}">
                      <a16:colId xmlns:a16="http://schemas.microsoft.com/office/drawing/2014/main" val="4110016409"/>
                    </a:ext>
                  </a:extLst>
                </a:gridCol>
              </a:tblGrid>
              <a:tr h="160020">
                <a:tc>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169292"/>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7.8 Equipment siting and protection</a:t>
                      </a:r>
                      <a:r>
                        <a:rPr lang="zh-TW" altLang="en-US" sz="1800" b="1" dirty="0">
                          <a:effectLst>
                            <a:outerShdw blurRad="38100" dist="38100" dir="2700000" algn="tl">
                              <a:srgbClr val="000000">
                                <a:alpha val="43137"/>
                              </a:srgbClr>
                            </a:outerShdw>
                          </a:effectLst>
                        </a:rPr>
                        <a:t>  </a:t>
                      </a:r>
                      <a:endParaRPr lang="en-US" altLang="zh-TW" sz="18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      設備安置及保護</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effectLst>
                            <a:outerShdw blurRad="38100" dist="38100" dir="2700000" algn="tl">
                              <a:srgbClr val="000000">
                                <a:alpha val="43137"/>
                              </a:srgbClr>
                            </a:outerShdw>
                          </a:effectLst>
                        </a:rPr>
                        <a:t>設備應安全安置放並受到保護</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667671"/>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7.9 Security of assets off-premises</a:t>
                      </a:r>
                      <a:r>
                        <a:rPr lang="zh-TW" altLang="en-US" sz="1800" b="1" dirty="0">
                          <a:effectLst>
                            <a:outerShdw blurRad="38100" dist="38100" dir="2700000" algn="tl">
                              <a:srgbClr val="000000">
                                <a:alpha val="43137"/>
                              </a:srgbClr>
                            </a:outerShdw>
                          </a:effectLst>
                        </a:rPr>
                        <a:t>   </a:t>
                      </a:r>
                      <a:endParaRPr lang="en-US" altLang="zh-TW" sz="18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     場所外資產之安全 </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應保護場域外資產。</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7582643"/>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7.10 Storage media</a:t>
                      </a:r>
                      <a:r>
                        <a:rPr lang="zh-TW" altLang="en-US" sz="1800" b="1" dirty="0">
                          <a:effectLst>
                            <a:outerShdw blurRad="38100" dist="38100" dir="2700000" algn="tl">
                              <a:srgbClr val="000000">
                                <a:alpha val="43137"/>
                              </a:srgbClr>
                            </a:outerShdw>
                          </a:effectLst>
                        </a:rPr>
                        <a:t>  儲存媒體 </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effectLst>
                            <a:outerShdw blurRad="38100" dist="38100" dir="2700000" algn="tl">
                              <a:srgbClr val="000000">
                                <a:alpha val="43137"/>
                              </a:srgbClr>
                            </a:outerShdw>
                          </a:effectLst>
                        </a:rPr>
                        <a:t>儲存媒體應依組織之分類分級方案及處置要求事項</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於其獲取、使用、運送及汰除的整個生命週期內進行管理</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404093"/>
                  </a:ext>
                </a:extLst>
              </a:tr>
              <a:tr h="525780">
                <a:tc>
                  <a:txBody>
                    <a:bodyPr/>
                    <a:lstStyle/>
                    <a:p>
                      <a:r>
                        <a:rPr lang="en-US" altLang="zh-TW" sz="1800" b="1" dirty="0">
                          <a:effectLst>
                            <a:outerShdw blurRad="38100" dist="38100" dir="2700000" algn="tl">
                              <a:srgbClr val="000000">
                                <a:alpha val="43137"/>
                              </a:srgbClr>
                            </a:outerShdw>
                          </a:effectLst>
                        </a:rPr>
                        <a:t>7.11 Supporting utilities</a:t>
                      </a:r>
                    </a:p>
                    <a:p>
                      <a:r>
                        <a:rPr lang="zh-TW" altLang="en-US" sz="1800" b="1" dirty="0">
                          <a:effectLst>
                            <a:outerShdw blurRad="38100" dist="38100" dir="2700000" algn="tl">
                              <a:srgbClr val="000000">
                                <a:alpha val="43137"/>
                              </a:srgbClr>
                            </a:outerShdw>
                          </a:effectLst>
                        </a:rPr>
                        <a:t>      支援之公用服務事業 </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effectLst>
                            <a:outerShdw blurRad="38100" dist="38100" dir="2700000" algn="tl">
                              <a:srgbClr val="000000">
                                <a:alpha val="43137"/>
                              </a:srgbClr>
                            </a:outerShdw>
                          </a:effectLst>
                        </a:rPr>
                        <a:t>應保護資訊處理設施免於電源失效</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以及因支援之公用服務事業失效</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所導致的其他中斷</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3745708"/>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7.12 Cabling security</a:t>
                      </a:r>
                      <a:r>
                        <a:rPr lang="zh-TW" altLang="en-US" sz="1800" b="1" dirty="0">
                          <a:effectLst>
                            <a:outerShdw blurRad="38100" dist="38100" dir="2700000" algn="tl">
                              <a:srgbClr val="000000">
                                <a:alpha val="43137"/>
                              </a:srgbClr>
                            </a:outerShdw>
                          </a:effectLst>
                        </a:rPr>
                        <a:t>   佈纜安全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應保護傳送電源、資料或支援資訊服務之纜線</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以防範竊聽、幹擾或破壞。</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130784"/>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7.13 Equipment maintenance</a:t>
                      </a:r>
                      <a:r>
                        <a:rPr lang="zh-TW" altLang="en-US" sz="1800" b="1" dirty="0">
                          <a:effectLst>
                            <a:outerShdw blurRad="38100" dist="38100" dir="2700000" algn="tl">
                              <a:srgbClr val="000000">
                                <a:alpha val="43137"/>
                              </a:srgbClr>
                            </a:outerShdw>
                          </a:effectLst>
                        </a:rPr>
                        <a:t>  設備維護</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維護設備，以確保其持續之可用性及完整性 </a:t>
                      </a:r>
                      <a:endParaRPr lang="en-US" altLang="zh-TW" sz="1800" b="1" dirty="0">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應正確維護設備</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以確保資訊之可用性、完整性及機密性。</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3378519"/>
                  </a:ext>
                </a:extLst>
              </a:tr>
              <a:tr h="5257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effectLst>
                            <a:outerShdw blurRad="38100" dist="38100" dir="2700000" algn="tl">
                              <a:srgbClr val="000000">
                                <a:alpha val="43137"/>
                              </a:srgbClr>
                            </a:outerShdw>
                          </a:effectLst>
                        </a:rPr>
                        <a:t>7.14 Secure disposal or re-use of equipment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effectLst>
                            <a:outerShdw blurRad="38100" dist="38100" dir="2700000" algn="tl">
                              <a:srgbClr val="000000">
                                <a:alpha val="43137"/>
                              </a:srgbClr>
                            </a:outerShdw>
                          </a:effectLst>
                        </a:rPr>
                        <a:t>        設備汰除或重新使用之保全 </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effectLst>
                            <a:outerShdw blurRad="38100" dist="38100" dir="2700000" algn="tl">
                              <a:srgbClr val="000000">
                                <a:alpha val="43137"/>
                              </a:srgbClr>
                            </a:outerShdw>
                          </a:effectLst>
                        </a:rPr>
                        <a:t>應查證包含儲存媒體之設備項目</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以確保於汰除或重新使用前</a:t>
                      </a:r>
                      <a:r>
                        <a:rPr lang="en-US" altLang="zh-TW" sz="1800" b="1" dirty="0">
                          <a:effectLst>
                            <a:outerShdw blurRad="38100" dist="38100" dir="2700000" algn="tl">
                              <a:srgbClr val="000000">
                                <a:alpha val="43137"/>
                              </a:srgbClr>
                            </a:outerShdw>
                          </a:effectLst>
                        </a:rPr>
                        <a:t>,</a:t>
                      </a:r>
                      <a:r>
                        <a:rPr lang="zh-TW" altLang="en-US" sz="1800" b="1" dirty="0">
                          <a:effectLst>
                            <a:outerShdw blurRad="38100" dist="38100" dir="2700000" algn="tl">
                              <a:srgbClr val="000000">
                                <a:alpha val="43137"/>
                              </a:srgbClr>
                            </a:outerShdw>
                          </a:effectLst>
                        </a:rPr>
                        <a:t>所有敏感性資料及具使用授權的軟體已移除或安全覆寫</a:t>
                      </a:r>
                      <a:endParaRPr lang="en-US" altLang="zh-TW" sz="1800" b="1" dirty="0">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8218695"/>
                  </a:ext>
                </a:extLst>
              </a:tr>
            </a:tbl>
          </a:graphicData>
        </a:graphic>
      </p:graphicFrame>
      <p:sp>
        <p:nvSpPr>
          <p:cNvPr id="6" name="標題 1"/>
          <p:cNvSpPr txBox="1">
            <a:spLocks/>
          </p:cNvSpPr>
          <p:nvPr/>
        </p:nvSpPr>
        <p:spPr>
          <a:xfrm>
            <a:off x="82814" y="756060"/>
            <a:ext cx="5838532" cy="3785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zh-TW" altLang="en-US" dirty="0"/>
              <a:t>實體 </a:t>
            </a:r>
            <a:r>
              <a:rPr lang="en-US" altLang="zh-TW" dirty="0"/>
              <a:t>A7 Physical controls(7.1-7.14)</a:t>
            </a:r>
            <a:endParaRPr lang="zh-TW" altLang="en-US" dirty="0"/>
          </a:p>
        </p:txBody>
      </p:sp>
      <p:sp>
        <p:nvSpPr>
          <p:cNvPr id="7" name="矩形 6"/>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29</a:t>
            </a:fld>
            <a:endParaRPr lang="zh-TW" altLang="en-US" dirty="0"/>
          </a:p>
        </p:txBody>
      </p:sp>
    </p:spTree>
    <p:extLst>
      <p:ext uri="{BB962C8B-B14F-4D97-AF65-F5344CB8AC3E}">
        <p14:creationId xmlns:p14="http://schemas.microsoft.com/office/powerpoint/2010/main" val="1324115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72171" y="976307"/>
          <a:ext cx="8924192" cy="5143500"/>
        </p:xfrm>
        <a:graphic>
          <a:graphicData uri="http://schemas.openxmlformats.org/drawingml/2006/table">
            <a:tbl>
              <a:tblPr firstRow="1" bandRow="1">
                <a:tableStyleId>{5C22544A-7EE6-4342-B048-85BDC9FD1C3A}</a:tableStyleId>
              </a:tblPr>
              <a:tblGrid>
                <a:gridCol w="1678605">
                  <a:extLst>
                    <a:ext uri="{9D8B030D-6E8A-4147-A177-3AD203B41FA5}">
                      <a16:colId xmlns:a16="http://schemas.microsoft.com/office/drawing/2014/main" val="295595551"/>
                    </a:ext>
                  </a:extLst>
                </a:gridCol>
                <a:gridCol w="7245587">
                  <a:extLst>
                    <a:ext uri="{9D8B030D-6E8A-4147-A177-3AD203B41FA5}">
                      <a16:colId xmlns:a16="http://schemas.microsoft.com/office/drawing/2014/main" val="3497319062"/>
                    </a:ext>
                  </a:extLst>
                </a:gridCol>
              </a:tblGrid>
              <a:tr h="3429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a:t>8 </a:t>
                      </a:r>
                      <a:r>
                        <a:rPr lang="zh-TW" altLang="en-US" sz="1800" dirty="0"/>
                        <a:t>技術控制措施</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1200" dirty="0"/>
                    </a:p>
                  </a:txBody>
                  <a:tcPr/>
                </a:tc>
                <a:extLst>
                  <a:ext uri="{0D108BD9-81ED-4DB2-BD59-A6C34878D82A}">
                    <a16:rowId xmlns:a16="http://schemas.microsoft.com/office/drawing/2014/main" val="4274395656"/>
                  </a:ext>
                </a:extLst>
              </a:tr>
              <a:tr h="274320">
                <a:tc>
                  <a:txBody>
                    <a:bodyPr/>
                    <a:lstStyle/>
                    <a:p>
                      <a:r>
                        <a:rPr lang="en-US" altLang="zh-TW" sz="1400" b="1" dirty="0"/>
                        <a:t>8.1 </a:t>
                      </a:r>
                      <a:r>
                        <a:rPr lang="zh-TW" altLang="en-US" sz="1400" b="1" dirty="0"/>
                        <a:t>使用者端點裝置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t>應保護儲存於使用者端點裝置、由使用者端點裝置處理或經由使用者端點裝置可存取之資訊。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5626498"/>
                  </a:ext>
                </a:extLst>
              </a:tr>
              <a:tr h="274320">
                <a:tc>
                  <a:txBody>
                    <a:bodyPr/>
                    <a:lstStyle/>
                    <a:p>
                      <a:r>
                        <a:rPr lang="en-US" altLang="zh-TW" sz="1400" b="1" dirty="0"/>
                        <a:t>8.2 </a:t>
                      </a:r>
                      <a:r>
                        <a:rPr lang="zh-TW" altLang="en-US" sz="1400" b="1" dirty="0"/>
                        <a:t>特殊存取權限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t>應限制並管理特殊存取權限之配置及使用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8037777"/>
                  </a:ext>
                </a:extLst>
              </a:tr>
              <a:tr h="274320">
                <a:tc>
                  <a:txBody>
                    <a:bodyPr/>
                    <a:lstStyle/>
                    <a:p>
                      <a:r>
                        <a:rPr lang="en-US" altLang="zh-TW" sz="1400" b="1" dirty="0"/>
                        <a:t>8.3 </a:t>
                      </a:r>
                      <a:r>
                        <a:rPr lang="zh-TW" altLang="en-US" sz="1400" b="1" dirty="0"/>
                        <a:t>資訊存取限制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t>應依已建立之關於存取控制的主題特定政策</a:t>
                      </a:r>
                      <a:r>
                        <a:rPr lang="en-US" altLang="zh-TW" sz="1400" b="1" dirty="0"/>
                        <a:t>,</a:t>
                      </a:r>
                      <a:r>
                        <a:rPr lang="zh-TW" altLang="en-US" sz="1400" b="1" dirty="0"/>
                        <a:t>限制對資訊及其他相關聯資產之存取</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13250261"/>
                  </a:ext>
                </a:extLst>
              </a:tr>
              <a:tr h="274320">
                <a:tc>
                  <a:txBody>
                    <a:bodyPr/>
                    <a:lstStyle/>
                    <a:p>
                      <a:r>
                        <a:rPr lang="en-US" altLang="zh-TW" sz="1400" b="1" dirty="0"/>
                        <a:t>8.4 </a:t>
                      </a:r>
                      <a:r>
                        <a:rPr lang="zh-TW" altLang="en-US" sz="1400" b="1" dirty="0"/>
                        <a:t>對原始碼之存取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應適切管理對原始碼、開發工具及軟體函式庫之讀寫存取。</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69493866"/>
                  </a:ext>
                </a:extLst>
              </a:tr>
              <a:tr h="274320">
                <a:tc>
                  <a:txBody>
                    <a:bodyPr/>
                    <a:lstStyle/>
                    <a:p>
                      <a:r>
                        <a:rPr lang="en-US" altLang="zh-TW" sz="1400" b="1" dirty="0"/>
                        <a:t>8.5 </a:t>
                      </a:r>
                      <a:r>
                        <a:rPr lang="zh-TW" altLang="en-US" sz="1400" b="1" dirty="0"/>
                        <a:t>安全鑑別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400" b="1" dirty="0"/>
                        <a:t>安全鑑別技術及程式應依資訊存取限制及關於存取控制之主題特定政策實作。</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91234750"/>
                  </a:ext>
                </a:extLst>
              </a:tr>
              <a:tr h="274320">
                <a:tc>
                  <a:txBody>
                    <a:bodyPr/>
                    <a:lstStyle/>
                    <a:p>
                      <a:r>
                        <a:rPr lang="en-US" altLang="zh-TW" sz="1400" b="1" dirty="0"/>
                        <a:t>8.6 </a:t>
                      </a:r>
                      <a:r>
                        <a:rPr lang="zh-TW" altLang="en-US" sz="1400" b="1" dirty="0"/>
                        <a:t>容量管理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資源之使用應受監視及調整</a:t>
                      </a:r>
                      <a:r>
                        <a:rPr lang="en-US" altLang="zh-TW" sz="1400" b="1" dirty="0"/>
                        <a:t>,</a:t>
                      </a:r>
                      <a:r>
                        <a:rPr lang="zh-TW" altLang="en-US" sz="1400" b="1" dirty="0"/>
                        <a:t>以符合目前容量要求及預期容量要求。</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6634138"/>
                  </a:ext>
                </a:extLst>
              </a:tr>
              <a:tr h="274320">
                <a:tc>
                  <a:txBody>
                    <a:bodyPr/>
                    <a:lstStyle/>
                    <a:p>
                      <a:r>
                        <a:rPr lang="en-US" altLang="zh-TW" sz="1400" b="1" dirty="0"/>
                        <a:t>8.7 </a:t>
                      </a:r>
                      <a:r>
                        <a:rPr lang="zh-TW" altLang="en-US" sz="1400" b="1" dirty="0"/>
                        <a:t>防範惡意軟體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t>應實作防範惡意軟體之措施</a:t>
                      </a:r>
                      <a:r>
                        <a:rPr lang="en-US" altLang="zh-TW" sz="1400" b="1" dirty="0"/>
                        <a:t>,</a:t>
                      </a:r>
                      <a:r>
                        <a:rPr lang="zh-TW" altLang="en-US" sz="1400" b="1" dirty="0"/>
                        <a:t>並由適切的使用者認知支援之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880122"/>
                  </a:ext>
                </a:extLst>
              </a:tr>
              <a:tr h="480060">
                <a:tc>
                  <a:txBody>
                    <a:bodyPr/>
                    <a:lstStyle/>
                    <a:p>
                      <a:r>
                        <a:rPr lang="en-US" altLang="zh-TW" sz="1400" b="1" dirty="0"/>
                        <a:t>8.8 </a:t>
                      </a:r>
                      <a:r>
                        <a:rPr lang="zh-TW" altLang="en-US" sz="1400" b="1" dirty="0"/>
                        <a:t>技術脆弱性管理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t>應取得關於使用中之資訊系統的技術脆弱性資訊</a:t>
                      </a:r>
                      <a:r>
                        <a:rPr lang="en-US" altLang="zh-TW" sz="1400" b="1" dirty="0"/>
                        <a:t>,</a:t>
                      </a:r>
                      <a:r>
                        <a:rPr lang="zh-TW" altLang="en-US" sz="1400" b="1" dirty="0"/>
                        <a:t>並應評估組織對此</a:t>
                      </a:r>
                    </a:p>
                    <a:p>
                      <a:r>
                        <a:rPr lang="zh-TW" altLang="en-US" sz="1400" b="1" dirty="0"/>
                        <a:t>等脆弱性之暴露</a:t>
                      </a:r>
                      <a:r>
                        <a:rPr lang="en-US" altLang="zh-TW" sz="1400" b="1" dirty="0"/>
                        <a:t>,</a:t>
                      </a:r>
                      <a:r>
                        <a:rPr lang="zh-TW" altLang="en-US" sz="1400" b="1" dirty="0"/>
                        <a:t>且應採取適切措施</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884107"/>
                  </a:ext>
                </a:extLst>
              </a:tr>
              <a:tr h="274320">
                <a:tc>
                  <a:txBody>
                    <a:bodyPr/>
                    <a:lstStyle/>
                    <a:p>
                      <a:r>
                        <a:rPr lang="en-US" altLang="zh-TW" sz="1400" b="1" dirty="0"/>
                        <a:t>8.9 </a:t>
                      </a:r>
                      <a:r>
                        <a:rPr lang="zh-TW" altLang="en-US" sz="1400" b="1" dirty="0"/>
                        <a:t>組態管理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b="1" dirty="0"/>
                        <a:t>應建立、書面記錄、實作、監視並審查硬體、軟體、服務及網路之組態</a:t>
                      </a:r>
                      <a:r>
                        <a:rPr lang="en-US" altLang="zh-TW" sz="1400" b="1" dirty="0"/>
                        <a:t>(</a:t>
                      </a:r>
                      <a:r>
                        <a:rPr lang="zh-TW" altLang="en-US" sz="1400" b="1" dirty="0"/>
                        <a:t>包括安全組態</a:t>
                      </a:r>
                      <a:r>
                        <a:rPr lang="en-US" altLang="zh-TW" sz="1400" b="1" dirty="0"/>
                        <a:t>)</a:t>
                      </a:r>
                      <a:endParaRPr lang="zh-TW" altLang="en-US"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0779256"/>
                  </a:ext>
                </a:extLst>
              </a:tr>
              <a:tr h="274320">
                <a:tc>
                  <a:txBody>
                    <a:bodyPr/>
                    <a:lstStyle/>
                    <a:p>
                      <a:r>
                        <a:rPr lang="en-US" altLang="zh-TW" sz="1400" b="1" dirty="0"/>
                        <a:t>8.10 </a:t>
                      </a:r>
                      <a:r>
                        <a:rPr lang="zh-TW" altLang="en-US" sz="1400" b="1" dirty="0"/>
                        <a:t>資訊刪除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400" b="1" dirty="0"/>
                        <a:t>當於資訊系統、裝置或所有其他儲存媒體中之資訊不再屬必要時</a:t>
                      </a:r>
                      <a:r>
                        <a:rPr lang="en-US" altLang="zh-TW" sz="1400" b="1" dirty="0"/>
                        <a:t>,</a:t>
                      </a:r>
                      <a:r>
                        <a:rPr lang="zh-TW" altLang="en-US" sz="1400" b="1" dirty="0"/>
                        <a:t>應刪除之。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90758157"/>
                  </a:ext>
                </a:extLst>
              </a:tr>
              <a:tr h="480060">
                <a:tc>
                  <a:txBody>
                    <a:bodyPr/>
                    <a:lstStyle/>
                    <a:p>
                      <a:r>
                        <a:rPr lang="en-US" altLang="zh-TW" sz="1400" b="1" dirty="0"/>
                        <a:t>8.11 </a:t>
                      </a:r>
                      <a:r>
                        <a:rPr lang="zh-TW" altLang="en-US" sz="1400" b="1" dirty="0"/>
                        <a:t>資料遮蔽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400" b="1" dirty="0"/>
                        <a:t>應使用資料遮蔽</a:t>
                      </a:r>
                      <a:r>
                        <a:rPr lang="en-US" altLang="zh-TW" sz="1400" b="1" dirty="0"/>
                        <a:t>,</a:t>
                      </a:r>
                      <a:r>
                        <a:rPr lang="zh-TW" altLang="en-US" sz="1400" b="1" dirty="0"/>
                        <a:t>依組織關於存取控制之主題特定政策及其他相關的主題特定政策</a:t>
                      </a:r>
                      <a:r>
                        <a:rPr lang="en-US" altLang="zh-TW" sz="1400" b="1" dirty="0"/>
                        <a:t>,</a:t>
                      </a:r>
                      <a:r>
                        <a:rPr lang="zh-TW" altLang="en-US" sz="1400" b="1" dirty="0"/>
                        <a:t>以及營運要求事項</a:t>
                      </a:r>
                      <a:r>
                        <a:rPr lang="en-US" altLang="zh-TW" sz="1400" b="1" dirty="0"/>
                        <a:t>,</a:t>
                      </a:r>
                      <a:r>
                        <a:rPr lang="zh-TW" altLang="en-US" sz="1400" b="1" dirty="0"/>
                        <a:t>並將適用法令納入考量</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97826602"/>
                  </a:ext>
                </a:extLst>
              </a:tr>
              <a:tr h="274320">
                <a:tc>
                  <a:txBody>
                    <a:bodyPr/>
                    <a:lstStyle/>
                    <a:p>
                      <a:r>
                        <a:rPr lang="en-US" altLang="zh-TW" sz="1400" b="1" dirty="0"/>
                        <a:t>8.12 </a:t>
                      </a:r>
                      <a:r>
                        <a:rPr lang="zh-TW" altLang="en-US" sz="1400" b="1" dirty="0"/>
                        <a:t>資料洩露預防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400" b="1" dirty="0"/>
                        <a:t>應將資料洩露預防措施</a:t>
                      </a:r>
                      <a:r>
                        <a:rPr lang="en-US" altLang="zh-TW" sz="1400" b="1" dirty="0"/>
                        <a:t>,</a:t>
                      </a:r>
                      <a:r>
                        <a:rPr lang="zh-TW" altLang="en-US" sz="1400" b="1" dirty="0"/>
                        <a:t>套用至處理、儲存或傳輸敏感性資訊之系統、網路及所有其他裝置</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90008827"/>
                  </a:ext>
                </a:extLst>
              </a:tr>
              <a:tr h="274320">
                <a:tc>
                  <a:txBody>
                    <a:bodyPr/>
                    <a:lstStyle/>
                    <a:p>
                      <a:r>
                        <a:rPr lang="en-US" altLang="zh-TW" sz="1400" b="1" dirty="0"/>
                        <a:t>8.13</a:t>
                      </a:r>
                      <a:r>
                        <a:rPr lang="en-US" altLang="zh-TW" sz="1400" b="1" baseline="0" dirty="0"/>
                        <a:t> </a:t>
                      </a:r>
                      <a:r>
                        <a:rPr lang="zh-TW" altLang="en-US" sz="1400" b="1" dirty="0"/>
                        <a:t>資 訊備份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400" b="1" dirty="0"/>
                        <a:t>應依議定之關於備份的主題特定政策</a:t>
                      </a:r>
                      <a:r>
                        <a:rPr lang="en-US" altLang="zh-TW" sz="1400" b="1" dirty="0"/>
                        <a:t>,</a:t>
                      </a:r>
                      <a:r>
                        <a:rPr lang="zh-TW" altLang="en-US" sz="1400" b="1" dirty="0"/>
                        <a:t>維護資訊、軟體及系統之備份複本</a:t>
                      </a:r>
                      <a:r>
                        <a:rPr lang="en-US" altLang="zh-TW" sz="1400" b="1" dirty="0"/>
                        <a:t>,</a:t>
                      </a:r>
                      <a:r>
                        <a:rPr lang="zh-TW" altLang="en-US" sz="1400" b="1" dirty="0"/>
                        <a:t>並定期測試之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52801338"/>
                  </a:ext>
                </a:extLst>
              </a:tr>
              <a:tr h="480060">
                <a:tc>
                  <a:txBody>
                    <a:bodyPr/>
                    <a:lstStyle/>
                    <a:p>
                      <a:r>
                        <a:rPr lang="en-US" altLang="zh-TW" sz="1400" b="1" dirty="0"/>
                        <a:t>8.14 </a:t>
                      </a:r>
                      <a:r>
                        <a:rPr lang="zh-TW" altLang="en-US" sz="1400" b="1" dirty="0"/>
                        <a:t>資訊處理設施之多備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400" b="1" dirty="0"/>
                        <a:t>資訊處理設施之實作應具充分多備</a:t>
                      </a:r>
                      <a:r>
                        <a:rPr lang="en-US" altLang="zh-TW" sz="1400" b="1" dirty="0"/>
                        <a:t>(redundancy),</a:t>
                      </a:r>
                      <a:r>
                        <a:rPr lang="zh-TW" altLang="en-US" sz="1400" b="1" dirty="0"/>
                        <a:t>以符合可用性之要求事項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44705799"/>
                  </a:ext>
                </a:extLst>
              </a:tr>
            </a:tbl>
          </a:graphicData>
        </a:graphic>
      </p:graphicFrame>
      <p:sp>
        <p:nvSpPr>
          <p:cNvPr id="5" name="矩形 4"/>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30</a:t>
            </a:fld>
            <a:endParaRPr lang="zh-TW" altLang="en-US" dirty="0"/>
          </a:p>
        </p:txBody>
      </p:sp>
    </p:spTree>
    <p:extLst>
      <p:ext uri="{BB962C8B-B14F-4D97-AF65-F5344CB8AC3E}">
        <p14:creationId xmlns:p14="http://schemas.microsoft.com/office/powerpoint/2010/main" val="3794731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57883" y="971544"/>
          <a:ext cx="8943242" cy="5128260"/>
        </p:xfrm>
        <a:graphic>
          <a:graphicData uri="http://schemas.openxmlformats.org/drawingml/2006/table">
            <a:tbl>
              <a:tblPr firstRow="1" bandRow="1">
                <a:tableStyleId>{5C22544A-7EE6-4342-B048-85BDC9FD1C3A}</a:tableStyleId>
              </a:tblPr>
              <a:tblGrid>
                <a:gridCol w="1775750">
                  <a:extLst>
                    <a:ext uri="{9D8B030D-6E8A-4147-A177-3AD203B41FA5}">
                      <a16:colId xmlns:a16="http://schemas.microsoft.com/office/drawing/2014/main" val="295595551"/>
                    </a:ext>
                  </a:extLst>
                </a:gridCol>
                <a:gridCol w="7167492">
                  <a:extLst>
                    <a:ext uri="{9D8B030D-6E8A-4147-A177-3AD203B41FA5}">
                      <a16:colId xmlns:a16="http://schemas.microsoft.com/office/drawing/2014/main" val="3497319062"/>
                    </a:ext>
                  </a:extLst>
                </a:gridCol>
              </a:tblGrid>
              <a:tr h="2971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500" dirty="0"/>
                        <a:t>8 </a:t>
                      </a:r>
                      <a:r>
                        <a:rPr lang="zh-TW" altLang="en-US" sz="1500" dirty="0"/>
                        <a:t>技術控制措施</a:t>
                      </a:r>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sz="1200" dirty="0"/>
                    </a:p>
                  </a:txBody>
                  <a:tcPr/>
                </a:tc>
                <a:extLst>
                  <a:ext uri="{0D108BD9-81ED-4DB2-BD59-A6C34878D82A}">
                    <a16:rowId xmlns:a16="http://schemas.microsoft.com/office/drawing/2014/main" val="4274395656"/>
                  </a:ext>
                </a:extLst>
              </a:tr>
              <a:tr h="320040">
                <a:tc>
                  <a:txBody>
                    <a:bodyPr/>
                    <a:lstStyle/>
                    <a:p>
                      <a:r>
                        <a:rPr lang="en-US" altLang="zh-TW" sz="1700" b="1" dirty="0"/>
                        <a:t>8.15 </a:t>
                      </a:r>
                      <a:r>
                        <a:rPr lang="zh-TW" altLang="en-US" sz="1700" b="1" dirty="0"/>
                        <a:t>存錄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700" b="1" dirty="0"/>
                        <a:t>記錄活動、異常、錯誤及其他相關事件之日誌</a:t>
                      </a:r>
                      <a:r>
                        <a:rPr lang="en-US" altLang="zh-TW" sz="1700" b="1" dirty="0"/>
                        <a:t>,</a:t>
                      </a:r>
                      <a:r>
                        <a:rPr lang="zh-TW" altLang="en-US" sz="1700" b="1" dirty="0"/>
                        <a:t>應產生、儲存、保護及分析之。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0169154"/>
                  </a:ext>
                </a:extLst>
              </a:tr>
              <a:tr h="571500">
                <a:tc>
                  <a:txBody>
                    <a:bodyPr/>
                    <a:lstStyle/>
                    <a:p>
                      <a:r>
                        <a:rPr lang="en-US" altLang="zh-TW" sz="1700" b="1" dirty="0"/>
                        <a:t>8.16 </a:t>
                      </a:r>
                      <a:r>
                        <a:rPr lang="zh-TW" altLang="en-US" sz="1700" b="1" dirty="0"/>
                        <a:t>監視活動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700" b="1" dirty="0"/>
                        <a:t>應監視網路、系統及應用之異常行為</a:t>
                      </a:r>
                      <a:r>
                        <a:rPr lang="en-US" altLang="zh-TW" sz="1700" b="1" dirty="0"/>
                        <a:t>,</a:t>
                      </a:r>
                      <a:r>
                        <a:rPr lang="zh-TW" altLang="en-US" sz="1700" b="1" dirty="0"/>
                        <a:t>並採取適切措施</a:t>
                      </a:r>
                      <a:r>
                        <a:rPr lang="en-US" altLang="zh-TW" sz="1700" b="1" dirty="0"/>
                        <a:t>,</a:t>
                      </a:r>
                      <a:r>
                        <a:rPr lang="zh-TW" altLang="en-US" sz="1700" b="1" dirty="0"/>
                        <a:t>以評估潛在資訊安全事故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813083188"/>
                  </a:ext>
                </a:extLst>
              </a:tr>
              <a:tr h="320040">
                <a:tc>
                  <a:txBody>
                    <a:bodyPr/>
                    <a:lstStyle/>
                    <a:p>
                      <a:r>
                        <a:rPr lang="en-US" altLang="zh-TW" sz="1700" b="1" dirty="0"/>
                        <a:t>8.17 </a:t>
                      </a:r>
                      <a:r>
                        <a:rPr lang="zh-TW" altLang="en-US" sz="1700" b="1" dirty="0"/>
                        <a:t>鐘訊同步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zh-TW" altLang="en-US" sz="1700" b="1" dirty="0"/>
                        <a:t>組織所使用資訊處理系統之鐘訊</a:t>
                      </a:r>
                      <a:r>
                        <a:rPr lang="en-US" altLang="zh-TW" sz="1700" b="1" dirty="0"/>
                        <a:t>,</a:t>
                      </a:r>
                      <a:r>
                        <a:rPr lang="zh-TW" altLang="en-US" sz="1700" b="1" dirty="0"/>
                        <a:t>應與經認可的時間源同步</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90557981"/>
                  </a:ext>
                </a:extLst>
              </a:tr>
              <a:tr h="571500">
                <a:tc>
                  <a:txBody>
                    <a:bodyPr/>
                    <a:lstStyle/>
                    <a:p>
                      <a:r>
                        <a:rPr lang="en-US" altLang="zh-TW" sz="1700" b="1" dirty="0">
                          <a:effectLst>
                            <a:outerShdw blurRad="38100" dist="38100" dir="2700000" algn="tl">
                              <a:srgbClr val="000000">
                                <a:alpha val="43137"/>
                              </a:srgbClr>
                            </a:outerShdw>
                          </a:effectLst>
                        </a:rPr>
                        <a:t>8.18 </a:t>
                      </a:r>
                      <a:r>
                        <a:rPr lang="zh-TW" altLang="en-US" sz="1700" b="1" dirty="0">
                          <a:effectLst>
                            <a:outerShdw blurRad="38100" dist="38100" dir="2700000" algn="tl">
                              <a:srgbClr val="000000">
                                <a:alpha val="43137"/>
                              </a:srgbClr>
                            </a:outerShdw>
                          </a:effectLst>
                        </a:rPr>
                        <a:t>具特殊權限公用程式之使用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effectLst>
                            <a:outerShdw blurRad="38100" dist="38100" dir="2700000" algn="tl">
                              <a:srgbClr val="000000">
                                <a:alpha val="43137"/>
                              </a:srgbClr>
                            </a:outerShdw>
                          </a:effectLst>
                        </a:rPr>
                        <a:t>應限制並嚴密控制可能篡越系統及應用程式之控制措施的公用程式之使用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4048581"/>
                  </a:ext>
                </a:extLst>
              </a:tr>
              <a:tr h="5715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700" b="1" dirty="0"/>
                        <a:t>8.19 </a:t>
                      </a:r>
                      <a:r>
                        <a:rPr lang="zh-TW" altLang="en-US" sz="1700" b="1" dirty="0"/>
                        <a:t>運作中系統之軟體安裝</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t>應實作各項程式及措施</a:t>
                      </a:r>
                      <a:r>
                        <a:rPr lang="en-US" altLang="zh-TW" sz="1700" b="1" dirty="0"/>
                        <a:t>,</a:t>
                      </a:r>
                      <a:r>
                        <a:rPr lang="zh-TW" altLang="en-US" sz="1700" b="1" dirty="0"/>
                        <a:t>以安全管理對運作中系統安裝軟體。</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0413990"/>
                  </a:ext>
                </a:extLst>
              </a:tr>
              <a:tr h="320040">
                <a:tc>
                  <a:txBody>
                    <a:bodyPr/>
                    <a:lstStyle/>
                    <a:p>
                      <a:r>
                        <a:rPr lang="en-US" altLang="zh-TW" sz="1700" b="1" dirty="0"/>
                        <a:t>8.20 </a:t>
                      </a:r>
                      <a:r>
                        <a:rPr lang="zh-TW" altLang="en-US" sz="1700" b="1" dirty="0"/>
                        <a:t>網路安全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應受保全、管理及控制網路與網路裝置</a:t>
                      </a:r>
                      <a:r>
                        <a:rPr lang="en-US" altLang="zh-TW" sz="1700" b="1" dirty="0"/>
                        <a:t>,</a:t>
                      </a:r>
                      <a:r>
                        <a:rPr lang="zh-TW" altLang="en-US" sz="1700" b="1" dirty="0"/>
                        <a:t>以保護系統及應用程式中之資訊。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58801598"/>
                  </a:ext>
                </a:extLst>
              </a:tr>
              <a:tr h="571500">
                <a:tc>
                  <a:txBody>
                    <a:bodyPr/>
                    <a:lstStyle/>
                    <a:p>
                      <a:r>
                        <a:rPr lang="en-US" altLang="zh-TW" sz="1700" b="1" dirty="0"/>
                        <a:t>8.21 </a:t>
                      </a:r>
                      <a:r>
                        <a:rPr lang="zh-TW" altLang="en-US" sz="1700" b="1" dirty="0"/>
                        <a:t>網路服務之安全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700" b="1" dirty="0"/>
                        <a:t>應識別、實作及監視網路服務之安全機制、服務等級及服務要求事項。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47355757"/>
                  </a:ext>
                </a:extLst>
              </a:tr>
              <a:tr h="320040">
                <a:tc>
                  <a:txBody>
                    <a:bodyPr/>
                    <a:lstStyle/>
                    <a:p>
                      <a:r>
                        <a:rPr lang="en-US" altLang="zh-TW" sz="1700" b="1" dirty="0"/>
                        <a:t>8.22 </a:t>
                      </a:r>
                      <a:r>
                        <a:rPr lang="zh-TW" altLang="en-US" sz="1700" b="1" dirty="0"/>
                        <a:t>網路區隔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應區隔組織網路中各群組之資訊服務、使用者及資訊系統</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26953627"/>
                  </a:ext>
                </a:extLst>
              </a:tr>
              <a:tr h="320040">
                <a:tc>
                  <a:txBody>
                    <a:bodyPr/>
                    <a:lstStyle/>
                    <a:p>
                      <a:r>
                        <a:rPr lang="en-US" altLang="zh-TW" sz="1700" b="1" dirty="0"/>
                        <a:t>8.23 </a:t>
                      </a:r>
                      <a:r>
                        <a:rPr lang="zh-TW" altLang="en-US" sz="1700" b="1" dirty="0"/>
                        <a:t>網頁過濾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700" b="1" dirty="0"/>
                        <a:t>應管理對外部網站之存取</a:t>
                      </a:r>
                      <a:r>
                        <a:rPr lang="en-US" altLang="zh-TW" sz="1700" b="1" dirty="0"/>
                        <a:t>,</a:t>
                      </a:r>
                      <a:r>
                        <a:rPr lang="zh-TW" altLang="en-US" sz="1700" b="1" dirty="0"/>
                        <a:t>以降低暴露於惡意內容</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43156194"/>
                  </a:ext>
                </a:extLst>
              </a:tr>
              <a:tr h="571500">
                <a:tc>
                  <a:txBody>
                    <a:bodyPr/>
                    <a:lstStyle/>
                    <a:p>
                      <a:r>
                        <a:rPr lang="en-US" altLang="zh-TW" sz="1700" b="1" dirty="0"/>
                        <a:t>8.24 </a:t>
                      </a:r>
                      <a:r>
                        <a:rPr lang="zh-TW" altLang="en-US" sz="1700" b="1" dirty="0"/>
                        <a:t>密碼技術之使用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700" b="1" dirty="0"/>
                        <a:t>應定義並實作有效使用密碼技術之規則</a:t>
                      </a:r>
                      <a:r>
                        <a:rPr lang="en-US" altLang="zh-TW" sz="1700" b="1" dirty="0"/>
                        <a:t>(</a:t>
                      </a:r>
                      <a:r>
                        <a:rPr lang="zh-TW" altLang="en-US" sz="1700" b="1" dirty="0"/>
                        <a:t>包括密碼金鑰管理</a:t>
                      </a:r>
                      <a:r>
                        <a:rPr lang="en-US" altLang="zh-TW" sz="1700" b="1" dirty="0"/>
                        <a:t>)</a:t>
                      </a:r>
                      <a:endParaRPr lang="zh-TW" altLang="en-US" sz="17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1085"/>
                  </a:ext>
                </a:extLst>
              </a:tr>
            </a:tbl>
          </a:graphicData>
        </a:graphic>
      </p:graphicFrame>
      <p:sp>
        <p:nvSpPr>
          <p:cNvPr id="5" name="矩形 4"/>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31</a:t>
            </a:fld>
            <a:endParaRPr lang="zh-TW" altLang="en-US" dirty="0"/>
          </a:p>
        </p:txBody>
      </p:sp>
    </p:spTree>
    <p:extLst>
      <p:ext uri="{BB962C8B-B14F-4D97-AF65-F5344CB8AC3E}">
        <p14:creationId xmlns:p14="http://schemas.microsoft.com/office/powerpoint/2010/main" val="2069920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68034" y="942023"/>
          <a:ext cx="8933091" cy="4960620"/>
        </p:xfrm>
        <a:graphic>
          <a:graphicData uri="http://schemas.openxmlformats.org/drawingml/2006/table">
            <a:tbl>
              <a:tblPr firstRow="1" bandRow="1">
                <a:tableStyleId>{5C22544A-7EE6-4342-B048-85BDC9FD1C3A}</a:tableStyleId>
              </a:tblPr>
              <a:tblGrid>
                <a:gridCol w="2611934">
                  <a:extLst>
                    <a:ext uri="{9D8B030D-6E8A-4147-A177-3AD203B41FA5}">
                      <a16:colId xmlns:a16="http://schemas.microsoft.com/office/drawing/2014/main" val="2636899493"/>
                    </a:ext>
                  </a:extLst>
                </a:gridCol>
                <a:gridCol w="6321157">
                  <a:extLst>
                    <a:ext uri="{9D8B030D-6E8A-4147-A177-3AD203B41FA5}">
                      <a16:colId xmlns:a16="http://schemas.microsoft.com/office/drawing/2014/main" val="752730493"/>
                    </a:ext>
                  </a:extLst>
                </a:gridCol>
              </a:tblGrid>
              <a:tr h="16002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800" dirty="0"/>
                    </a:p>
                  </a:txBody>
                  <a:tcPr/>
                </a:tc>
                <a:extLst>
                  <a:ext uri="{0D108BD9-81ED-4DB2-BD59-A6C34878D82A}">
                    <a16:rowId xmlns:a16="http://schemas.microsoft.com/office/drawing/2014/main" val="479298068"/>
                  </a:ext>
                </a:extLst>
              </a:tr>
              <a:tr h="342900">
                <a:tc>
                  <a:txBody>
                    <a:bodyPr/>
                    <a:lstStyle/>
                    <a:p>
                      <a:r>
                        <a:rPr lang="en-US" altLang="zh-TW" sz="1800" b="1" dirty="0"/>
                        <a:t>8.25 </a:t>
                      </a:r>
                      <a:r>
                        <a:rPr lang="zh-TW" altLang="en-US" sz="1800" b="1" dirty="0"/>
                        <a:t>安全開發生命週期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應建立並施行安全開發軟體及系統之規則。</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617501"/>
                  </a:ext>
                </a:extLst>
              </a:tr>
              <a:tr h="617220">
                <a:tc>
                  <a:txBody>
                    <a:bodyPr/>
                    <a:lstStyle/>
                    <a:p>
                      <a:r>
                        <a:rPr lang="en-US" altLang="zh-TW" sz="1800" b="1" dirty="0"/>
                        <a:t>8.26 </a:t>
                      </a:r>
                      <a:r>
                        <a:rPr lang="zh-TW" altLang="en-US" sz="1800" b="1" dirty="0"/>
                        <a:t>應用系統安全要求事項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t>開發或獲取應用系統時</a:t>
                      </a:r>
                      <a:r>
                        <a:rPr lang="en-US" altLang="zh-TW" sz="1800" b="1" dirty="0"/>
                        <a:t>,</a:t>
                      </a:r>
                      <a:r>
                        <a:rPr lang="zh-TW" altLang="en-US" sz="1800" b="1" dirty="0"/>
                        <a:t>應識別、規定並核可資訊安全要求事項。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2572617"/>
                  </a:ext>
                </a:extLst>
              </a:tr>
              <a:tr h="617220">
                <a:tc>
                  <a:txBody>
                    <a:bodyPr/>
                    <a:lstStyle/>
                    <a:p>
                      <a:r>
                        <a:rPr lang="en-US" altLang="zh-TW" sz="1800" b="1" dirty="0"/>
                        <a:t>8.27 </a:t>
                      </a:r>
                      <a:r>
                        <a:rPr lang="zh-TW" altLang="en-US" sz="1800" b="1" dirty="0"/>
                        <a:t>安全系統架構及工程原則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t>應建立、書面記錄及維護工程化安全系統之原則</a:t>
                      </a:r>
                      <a:r>
                        <a:rPr lang="en-US" altLang="zh-TW" sz="1800" b="1" dirty="0"/>
                        <a:t>,</a:t>
                      </a:r>
                      <a:r>
                        <a:rPr lang="zh-TW" altLang="en-US" sz="1800" b="1" dirty="0"/>
                        <a:t>並套用於所有資訊系統開發活動。</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6492325"/>
                  </a:ext>
                </a:extLst>
              </a:tr>
              <a:tr h="342900">
                <a:tc>
                  <a:txBody>
                    <a:bodyPr/>
                    <a:lstStyle/>
                    <a:p>
                      <a:r>
                        <a:rPr lang="en-US" altLang="zh-TW" sz="1800" b="1" dirty="0"/>
                        <a:t>8.28 </a:t>
                      </a:r>
                      <a:r>
                        <a:rPr lang="zh-TW" altLang="en-US" sz="1800" b="1" dirty="0"/>
                        <a:t>安全程式設計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t>軟體開發應施行安全程式設計原則</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0546995"/>
                  </a:ext>
                </a:extLst>
              </a:tr>
              <a:tr h="617220">
                <a:tc>
                  <a:txBody>
                    <a:bodyPr/>
                    <a:lstStyle/>
                    <a:p>
                      <a:r>
                        <a:rPr lang="en-US" altLang="zh-TW" sz="1800" b="1" dirty="0"/>
                        <a:t>8.29 </a:t>
                      </a:r>
                      <a:r>
                        <a:rPr lang="zh-TW" altLang="en-US" sz="1800" b="1" dirty="0"/>
                        <a:t>開發及驗收中之安全測試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應於開發生命週期中定義並實作安全測試過程。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1344600"/>
                  </a:ext>
                </a:extLst>
              </a:tr>
              <a:tr h="342900">
                <a:tc>
                  <a:txBody>
                    <a:bodyPr/>
                    <a:lstStyle/>
                    <a:p>
                      <a:r>
                        <a:rPr lang="en-US" altLang="zh-TW" sz="1800" b="1" dirty="0"/>
                        <a:t>8.30 </a:t>
                      </a:r>
                      <a:r>
                        <a:rPr lang="zh-TW" altLang="en-US" sz="1800" b="1" dirty="0"/>
                        <a:t>委外開發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組織應指引、監視及審查與委外系統開發相關之活動。</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7437346"/>
                  </a:ext>
                </a:extLst>
              </a:tr>
              <a:tr h="617220">
                <a:tc>
                  <a:txBody>
                    <a:bodyPr/>
                    <a:lstStyle/>
                    <a:p>
                      <a:r>
                        <a:rPr lang="en-US" altLang="zh-TW" sz="1800" b="1" dirty="0"/>
                        <a:t>8.31 </a:t>
                      </a:r>
                      <a:r>
                        <a:rPr lang="zh-TW" altLang="en-US" sz="1800" b="1" dirty="0"/>
                        <a:t>開發、測試與運作環境之區隔</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應區隔開發環境、測試環境與生產環境</a:t>
                      </a:r>
                      <a:r>
                        <a:rPr lang="en-US" altLang="zh-TW" sz="1800" b="1" dirty="0"/>
                        <a:t>,</a:t>
                      </a:r>
                      <a:r>
                        <a:rPr lang="zh-TW" altLang="en-US" sz="1800" b="1" dirty="0"/>
                        <a:t>並保全之。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8927698"/>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t>8.32 </a:t>
                      </a:r>
                      <a:r>
                        <a:rPr lang="zh-TW" altLang="en-US" sz="1800" b="1" dirty="0"/>
                        <a:t>變更管理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資訊處理設施及資訊系統之變更</a:t>
                      </a:r>
                      <a:r>
                        <a:rPr lang="en-US" altLang="zh-TW" sz="1800" b="1" dirty="0"/>
                        <a:t>,</a:t>
                      </a:r>
                      <a:r>
                        <a:rPr lang="zh-TW" altLang="en-US" sz="1800" b="1" dirty="0"/>
                        <a:t>應遵循變更管理程式。</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937498"/>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dirty="0"/>
                        <a:t>8.33 </a:t>
                      </a:r>
                      <a:r>
                        <a:rPr lang="zh-TW" altLang="en-US" sz="1800" b="1" dirty="0"/>
                        <a:t>測試資訊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dirty="0"/>
                        <a:t>應適切選擇、保護及管理測試資訊。</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42190556"/>
                  </a:ext>
                </a:extLst>
              </a:tr>
              <a:tr h="617220">
                <a:tc>
                  <a:txBody>
                    <a:bodyPr/>
                    <a:lstStyle/>
                    <a:p>
                      <a:r>
                        <a:rPr lang="en-US" altLang="zh-TW" sz="1800" b="1" dirty="0"/>
                        <a:t>8.34 </a:t>
                      </a:r>
                      <a:r>
                        <a:rPr lang="zh-TW" altLang="en-US" sz="1800" b="1" dirty="0"/>
                        <a:t>稽核測試期間資訊系統之保護</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TW" altLang="en-US" sz="1800" b="1" dirty="0"/>
                        <a:t>涉及運作中系統之評鑑的稽核測試及其他保證活動</a:t>
                      </a:r>
                      <a:r>
                        <a:rPr lang="en-US" altLang="zh-TW" sz="1800" b="1" dirty="0"/>
                        <a:t>,</a:t>
                      </a:r>
                      <a:r>
                        <a:rPr lang="zh-TW" altLang="en-US" sz="1800" b="1" dirty="0"/>
                        <a:t>應於測試者與適切管理階層間規劃並議定。</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80529573"/>
                  </a:ext>
                </a:extLst>
              </a:tr>
            </a:tbl>
          </a:graphicData>
        </a:graphic>
      </p:graphicFrame>
      <p:sp>
        <p:nvSpPr>
          <p:cNvPr id="5" name="矩形 4"/>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32</a:t>
            </a:fld>
            <a:endParaRPr lang="zh-TW" altLang="en-US" dirty="0"/>
          </a:p>
        </p:txBody>
      </p:sp>
    </p:spTree>
    <p:extLst>
      <p:ext uri="{BB962C8B-B14F-4D97-AF65-F5344CB8AC3E}">
        <p14:creationId xmlns:p14="http://schemas.microsoft.com/office/powerpoint/2010/main" val="4274640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659" y="639812"/>
            <a:ext cx="8977313" cy="600551"/>
          </a:xfrm>
        </p:spPr>
        <p:txBody>
          <a:bodyPr>
            <a:normAutofit/>
          </a:bodyPr>
          <a:lstStyle/>
          <a:p>
            <a:r>
              <a:rPr lang="zh-TW" altLang="en-US" sz="2800" b="1" dirty="0">
                <a:effectLst>
                  <a:outerShdw blurRad="38100" dist="38100" dir="2700000" algn="tl">
                    <a:srgbClr val="000000">
                      <a:alpha val="43137"/>
                    </a:srgbClr>
                  </a:outerShdw>
                </a:effectLst>
              </a:rPr>
              <a:t>範例</a:t>
            </a:r>
            <a:r>
              <a:rPr lang="en-US" altLang="zh-TW" sz="2800" b="1" dirty="0">
                <a:effectLst>
                  <a:outerShdw blurRad="38100" dist="38100" dir="2700000" algn="tl">
                    <a:srgbClr val="000000">
                      <a:alpha val="43137"/>
                    </a:srgbClr>
                  </a:outerShdw>
                </a:effectLst>
              </a:rPr>
              <a:t>1: </a:t>
            </a:r>
            <a:r>
              <a:rPr lang="en-US" altLang="zh-TW" sz="2800" b="1" dirty="0" smtClean="0">
                <a:effectLst>
                  <a:outerShdw blurRad="38100" dist="38100" dir="2700000" algn="tl">
                    <a:srgbClr val="000000">
                      <a:alpha val="43137"/>
                    </a:srgbClr>
                  </a:outerShdw>
                </a:effectLst>
              </a:rPr>
              <a:t>5.1 </a:t>
            </a:r>
            <a:r>
              <a:rPr lang="zh-TW" altLang="en-US" sz="2800" b="1" dirty="0">
                <a:effectLst>
                  <a:outerShdw blurRad="38100" dist="38100" dir="2700000" algn="tl">
                    <a:srgbClr val="000000">
                      <a:alpha val="43137"/>
                    </a:srgbClr>
                  </a:outerShdw>
                </a:effectLst>
              </a:rPr>
              <a:t>資訊安全政策</a:t>
            </a:r>
            <a:r>
              <a:rPr lang="en-US" altLang="zh-TW" sz="2800" b="1" dirty="0">
                <a:effectLst>
                  <a:outerShdw blurRad="38100" dist="38100" dir="2700000" algn="tl">
                    <a:srgbClr val="000000">
                      <a:alpha val="43137"/>
                    </a:srgbClr>
                  </a:outerShdw>
                </a:effectLst>
              </a:rPr>
              <a:t>|Policies for information security</a:t>
            </a:r>
            <a:endParaRPr lang="zh-TW" altLang="en-US" sz="2800" b="1" dirty="0">
              <a:effectLst>
                <a:outerShdw blurRad="38100" dist="38100" dir="2700000" algn="tl">
                  <a:srgbClr val="000000">
                    <a:alpha val="43137"/>
                  </a:srgb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1844503294"/>
              </p:ext>
            </p:extLst>
          </p:nvPr>
        </p:nvGraphicFramePr>
        <p:xfrm>
          <a:off x="120240" y="1290795"/>
          <a:ext cx="8908732" cy="1264920"/>
        </p:xfrm>
        <a:graphic>
          <a:graphicData uri="http://schemas.openxmlformats.org/drawingml/2006/table">
            <a:tbl>
              <a:tblPr firstRow="1" bandRow="1">
                <a:tableStyleId>{5C22544A-7EE6-4342-B048-85BDC9FD1C3A}</a:tableStyleId>
              </a:tblPr>
              <a:tblGrid>
                <a:gridCol w="1256651">
                  <a:extLst>
                    <a:ext uri="{9D8B030D-6E8A-4147-A177-3AD203B41FA5}">
                      <a16:colId xmlns:a16="http://schemas.microsoft.com/office/drawing/2014/main" val="1358160590"/>
                    </a:ext>
                  </a:extLst>
                </a:gridCol>
                <a:gridCol w="1737675">
                  <a:extLst>
                    <a:ext uri="{9D8B030D-6E8A-4147-A177-3AD203B41FA5}">
                      <a16:colId xmlns:a16="http://schemas.microsoft.com/office/drawing/2014/main" val="3820532718"/>
                    </a:ext>
                  </a:extLst>
                </a:gridCol>
                <a:gridCol w="1792815">
                  <a:extLst>
                    <a:ext uri="{9D8B030D-6E8A-4147-A177-3AD203B41FA5}">
                      <a16:colId xmlns:a16="http://schemas.microsoft.com/office/drawing/2014/main" val="3937520155"/>
                    </a:ext>
                  </a:extLst>
                </a:gridCol>
                <a:gridCol w="1471661">
                  <a:extLst>
                    <a:ext uri="{9D8B030D-6E8A-4147-A177-3AD203B41FA5}">
                      <a16:colId xmlns:a16="http://schemas.microsoft.com/office/drawing/2014/main" val="1713932711"/>
                    </a:ext>
                  </a:extLst>
                </a:gridCol>
                <a:gridCol w="2649930">
                  <a:extLst>
                    <a:ext uri="{9D8B030D-6E8A-4147-A177-3AD203B41FA5}">
                      <a16:colId xmlns:a16="http://schemas.microsoft.com/office/drawing/2014/main" val="4259325423"/>
                    </a:ext>
                  </a:extLst>
                </a:gridCol>
              </a:tblGrid>
              <a:tr h="7543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控制措施類型</a:t>
                      </a: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Control type</a:t>
                      </a:r>
                      <a:endParaRPr lang="zh-TW" altLang="en-US" sz="1400" dirty="0">
                        <a:solidFill>
                          <a:schemeClr val="tx1"/>
                        </a:solidFill>
                        <a:effectLst>
                          <a:outerShdw blurRad="38100" dist="38100" dir="2700000" algn="tl">
                            <a:srgbClr val="000000">
                              <a:alpha val="43137"/>
                            </a:srgbClr>
                          </a:outerShdw>
                        </a:effectLst>
                      </a:endParaRPr>
                    </a:p>
                    <a:p>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effectLst>
                            <a:outerShdw blurRad="38100" dist="38100" dir="2700000" algn="tl">
                              <a:srgbClr val="000000">
                                <a:alpha val="43137"/>
                              </a:srgbClr>
                            </a:outerShdw>
                          </a:effectLst>
                        </a:rPr>
                        <a:t>資訊安全性質</a:t>
                      </a:r>
                    </a:p>
                    <a:p>
                      <a:r>
                        <a:rPr lang="en-US" altLang="zh-TW" sz="1400" b="1" dirty="0">
                          <a:solidFill>
                            <a:schemeClr val="tx1"/>
                          </a:solidFill>
                          <a:effectLst>
                            <a:outerShdw blurRad="38100" dist="38100" dir="2700000" algn="tl">
                              <a:srgbClr val="000000">
                                <a:alpha val="43137"/>
                              </a:srgbClr>
                            </a:outerShdw>
                          </a:effectLst>
                        </a:rPr>
                        <a:t>Information Security Properties </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網宇安全概念</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Cybersecurity Concepts</a:t>
                      </a:r>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運作能力</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Operational Capabilities</a:t>
                      </a:r>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安全領域</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Security Domains</a:t>
                      </a:r>
                      <a:endParaRPr lang="zh-TW" altLang="en-US" sz="1400" dirty="0">
                        <a:solidFill>
                          <a:schemeClr val="tx1"/>
                        </a:solidFill>
                        <a:effectLst>
                          <a:outerShdw blurRad="38100" dist="38100" dir="2700000" algn="tl">
                            <a:srgbClr val="000000">
                              <a:alpha val="43137"/>
                            </a:srgbClr>
                          </a:outerShdw>
                        </a:effectLst>
                      </a:endParaRPr>
                    </a:p>
                    <a:p>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563078"/>
                  </a:ext>
                </a:extLst>
              </a:tr>
              <a:tr h="480060">
                <a:tc>
                  <a:txBody>
                    <a:bodyPr/>
                    <a:lstStyle/>
                    <a:p>
                      <a:r>
                        <a:rPr lang="en-US" altLang="zh-TW" sz="1800" dirty="0">
                          <a:solidFill>
                            <a:schemeClr val="tx1"/>
                          </a:solidFill>
                        </a:rPr>
                        <a:t>Preventive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dirty="0">
                          <a:solidFill>
                            <a:schemeClr val="tx1"/>
                          </a:solidFill>
                        </a:rPr>
                        <a:t>CIA </a:t>
                      </a:r>
                      <a:endParaRPr lang="zh-TW" altLang="en-US" sz="18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b="1" dirty="0">
                          <a:solidFill>
                            <a:schemeClr val="tx1"/>
                          </a:solidFill>
                          <a:effectLst>
                            <a:outerShdw blurRad="38100" dist="38100" dir="2700000" algn="tl">
                              <a:srgbClr val="000000">
                                <a:alpha val="43137"/>
                              </a:srgbClr>
                            </a:outerShdw>
                          </a:effectLst>
                        </a:rPr>
                        <a:t>Identify</a:t>
                      </a:r>
                      <a:endParaRPr lang="zh-TW" altLang="en-US" sz="18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dirty="0">
                          <a:solidFill>
                            <a:schemeClr val="tx1"/>
                          </a:solidFill>
                        </a:rPr>
                        <a:t>Governance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err="1">
                          <a:solidFill>
                            <a:schemeClr val="tx1"/>
                          </a:solidFill>
                        </a:rPr>
                        <a:t>Governance_and_Ecosystem</a:t>
                      </a:r>
                      <a:endParaRPr lang="en-US" altLang="zh-TW" sz="1400" dirty="0">
                        <a:solidFill>
                          <a:schemeClr val="tx1"/>
                        </a:solidFill>
                      </a:endParaRPr>
                    </a:p>
                    <a:p>
                      <a:r>
                        <a:rPr lang="en-US" altLang="zh-TW" sz="1400" dirty="0">
                          <a:solidFill>
                            <a:schemeClr val="tx1"/>
                          </a:solidFill>
                        </a:rPr>
                        <a:t>Resilience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4330969"/>
                  </a:ext>
                </a:extLst>
              </a:tr>
            </a:tbl>
          </a:graphicData>
        </a:graphic>
      </p:graphicFrame>
      <p:sp>
        <p:nvSpPr>
          <p:cNvPr id="6" name="矩形 5"/>
          <p:cNvSpPr/>
          <p:nvPr/>
        </p:nvSpPr>
        <p:spPr>
          <a:xfrm>
            <a:off x="2446020" y="4688065"/>
            <a:ext cx="4572000" cy="507831"/>
          </a:xfrm>
          <a:prstGeom prst="rect">
            <a:avLst/>
          </a:prstGeom>
        </p:spPr>
        <p:txBody>
          <a:bodyPr>
            <a:spAutoFit/>
          </a:bodyPr>
          <a:lstStyle/>
          <a:p>
            <a:r>
              <a:rPr lang="zh-TW" altLang="en-US" sz="1350" dirty="0"/>
              <a:t>。</a:t>
            </a:r>
          </a:p>
          <a:p>
            <a:r>
              <a:rPr lang="zh-TW" altLang="en-US" sz="1350" dirty="0"/>
              <a:t>。</a:t>
            </a:r>
          </a:p>
        </p:txBody>
      </p:sp>
      <p:graphicFrame>
        <p:nvGraphicFramePr>
          <p:cNvPr id="7" name="表格 6"/>
          <p:cNvGraphicFramePr>
            <a:graphicFrameLocks noGrp="1"/>
          </p:cNvGraphicFramePr>
          <p:nvPr>
            <p:extLst>
              <p:ext uri="{D42A27DB-BD31-4B8C-83A1-F6EECF244321}">
                <p14:modId xmlns:p14="http://schemas.microsoft.com/office/powerpoint/2010/main" val="2340977131"/>
              </p:ext>
            </p:extLst>
          </p:nvPr>
        </p:nvGraphicFramePr>
        <p:xfrm>
          <a:off x="120240" y="2606147"/>
          <a:ext cx="9023760" cy="3489960"/>
        </p:xfrm>
        <a:graphic>
          <a:graphicData uri="http://schemas.openxmlformats.org/drawingml/2006/table">
            <a:tbl>
              <a:tblPr firstRow="1" bandRow="1">
                <a:tableStyleId>{5C22544A-7EE6-4342-B048-85BDC9FD1C3A}</a:tableStyleId>
              </a:tblPr>
              <a:tblGrid>
                <a:gridCol w="1138965">
                  <a:extLst>
                    <a:ext uri="{9D8B030D-6E8A-4147-A177-3AD203B41FA5}">
                      <a16:colId xmlns:a16="http://schemas.microsoft.com/office/drawing/2014/main" val="3005758008"/>
                    </a:ext>
                  </a:extLst>
                </a:gridCol>
                <a:gridCol w="7884795">
                  <a:extLst>
                    <a:ext uri="{9D8B030D-6E8A-4147-A177-3AD203B41FA5}">
                      <a16:colId xmlns:a16="http://schemas.microsoft.com/office/drawing/2014/main" val="1103678614"/>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040331893"/>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控制措施</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i="0" kern="1200" dirty="0">
                          <a:solidFill>
                            <a:schemeClr val="dk1"/>
                          </a:solidFill>
                          <a:effectLst/>
                          <a:latin typeface="+mn-lt"/>
                          <a:ea typeface="+mn-ea"/>
                          <a:cs typeface="+mn-cs"/>
                        </a:rPr>
                        <a:t>Control</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t>資訊安全政策及主題特定政策宜予以定義</a:t>
                      </a:r>
                      <a:endParaRPr lang="en-US" altLang="zh-TW" sz="1600" dirty="0"/>
                    </a:p>
                    <a:p>
                      <a:r>
                        <a:rPr lang="zh-TW" altLang="en-US" sz="1600" dirty="0"/>
                        <a:t>由管理階層核可、發布、傳達予相關人員及相關關注方 </a:t>
                      </a:r>
                      <a:r>
                        <a:rPr lang="en-US" altLang="zh-TW" sz="1600" dirty="0"/>
                        <a:t>, </a:t>
                      </a:r>
                      <a:r>
                        <a:rPr lang="zh-TW" altLang="en-US" sz="1600" dirty="0"/>
                        <a:t>且其係知悉 </a:t>
                      </a:r>
                      <a:r>
                        <a:rPr lang="en-US" altLang="zh-TW" sz="1600" dirty="0"/>
                        <a:t>,</a:t>
                      </a:r>
                      <a:r>
                        <a:rPr lang="zh-TW" altLang="en-US" sz="1600" dirty="0"/>
                        <a:t>並依規劃期間及發生重大變更時審查。</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455856"/>
                  </a:ext>
                </a:extLst>
              </a:tr>
              <a:tr h="8915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目的</a:t>
                      </a:r>
                      <a:r>
                        <a:rPr lang="en-US" altLang="zh-TW" sz="1600" b="1" i="0" kern="1200" dirty="0">
                          <a:solidFill>
                            <a:schemeClr val="dk1"/>
                          </a:solidFill>
                          <a:effectLst/>
                          <a:latin typeface="+mn-lt"/>
                          <a:ea typeface="+mn-ea"/>
                          <a:cs typeface="+mn-cs"/>
                        </a:rPr>
                        <a:t>Purpose</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t>依營運 、法律、法令、法規及契約要求事項 </a:t>
                      </a:r>
                      <a:r>
                        <a:rPr lang="en-US" altLang="zh-TW" sz="1600" dirty="0"/>
                        <a:t>, </a:t>
                      </a:r>
                      <a:r>
                        <a:rPr lang="zh-TW" altLang="en-US" sz="1600" dirty="0"/>
                        <a:t>確保管理指示之持續合宜性、適切性及有效性 </a:t>
                      </a:r>
                      <a:r>
                        <a:rPr lang="en-US" altLang="zh-TW" sz="1600" dirty="0"/>
                        <a:t>,</a:t>
                      </a:r>
                      <a:r>
                        <a:rPr lang="zh-TW" altLang="en-US" sz="1600" dirty="0"/>
                        <a:t>以及對資訊安全的支 持 </a:t>
                      </a:r>
                      <a:endParaRPr lang="en-US" altLang="zh-TW" sz="1600" dirty="0"/>
                    </a:p>
                    <a:p>
                      <a:r>
                        <a:rPr lang="en-US" altLang="zh-TW" sz="1600" b="0" i="0" kern="1200" dirty="0">
                          <a:solidFill>
                            <a:schemeClr val="dk1"/>
                          </a:solidFill>
                          <a:effectLst/>
                          <a:latin typeface="+mn-lt"/>
                          <a:ea typeface="+mn-ea"/>
                          <a:cs typeface="+mn-cs"/>
                        </a:rPr>
                        <a:t>The purpose of the information security policy is to ensure management support for the protection of your company’s sensitive information from theft and </a:t>
                      </a:r>
                      <a:r>
                        <a:rPr lang="en-US" altLang="zh-TW" sz="1600" b="0" i="0" kern="1200" dirty="0" err="1">
                          <a:solidFill>
                            <a:schemeClr val="dk1"/>
                          </a:solidFill>
                          <a:effectLst/>
                          <a:latin typeface="+mn-lt"/>
                          <a:ea typeface="+mn-ea"/>
                          <a:cs typeface="+mn-cs"/>
                        </a:rPr>
                        <a:t>unauthorised</a:t>
                      </a:r>
                      <a:r>
                        <a:rPr lang="en-US" altLang="zh-TW" sz="1600" b="0" i="0" kern="1200" dirty="0">
                          <a:solidFill>
                            <a:schemeClr val="dk1"/>
                          </a:solidFill>
                          <a:effectLst/>
                          <a:latin typeface="+mn-lt"/>
                          <a:ea typeface="+mn-ea"/>
                          <a:cs typeface="+mn-cs"/>
                        </a:rPr>
                        <a:t> access.</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6706782"/>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指引</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Guidance</a:t>
                      </a:r>
                      <a:endParaRPr lang="zh-TW" altLang="en-US" sz="16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t>組織宜於最高層級上定義</a:t>
                      </a:r>
                      <a:r>
                        <a:rPr lang="en-US" altLang="zh-TW" sz="1600" dirty="0"/>
                        <a:t>〝 </a:t>
                      </a:r>
                      <a:r>
                        <a:rPr lang="zh-TW" altLang="en-US" sz="1600" dirty="0"/>
                        <a:t>資 訊 安 全 政 策 </a:t>
                      </a:r>
                      <a:r>
                        <a:rPr lang="en-US" altLang="zh-TW" sz="1600" dirty="0"/>
                        <a:t>〞,</a:t>
                      </a:r>
                      <a:r>
                        <a:rPr lang="zh-TW" altLang="en-US" sz="1600" dirty="0"/>
                        <a:t>明列組織管理其資訊安全之作法</a:t>
                      </a:r>
                      <a:r>
                        <a:rPr lang="en-US" altLang="zh-TW" sz="1600" dirty="0"/>
                        <a:t>,</a:t>
                      </a:r>
                      <a:r>
                        <a:rPr lang="zh-TW" altLang="en-US" sz="1600" dirty="0"/>
                        <a:t>並由最高管理階層核可</a:t>
                      </a:r>
                      <a:endParaRPr lang="en-US" altLang="zh-TW" sz="1600" dirty="0"/>
                    </a:p>
                    <a:p>
                      <a:r>
                        <a:rPr lang="zh-TW" altLang="en-US" sz="1600" dirty="0"/>
                        <a:t>更多說明請參閱下頁簡報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342626"/>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其他資訊</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a:solidFill>
                            <a:schemeClr val="dk1"/>
                          </a:solidFill>
                          <a:effectLst/>
                          <a:latin typeface="+mn-lt"/>
                          <a:ea typeface="+mn-ea"/>
                          <a:cs typeface="+mn-cs"/>
                        </a:rPr>
                        <a:t>Other information</a:t>
                      </a:r>
                      <a:endParaRPr lang="zh-TW" altLang="en-US" sz="12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Wingdings" panose="05000000000000000000" pitchFamily="2" charset="2"/>
                        <a:buNone/>
                      </a:pPr>
                      <a:r>
                        <a:rPr lang="zh-TW" altLang="en-US" sz="1600" dirty="0"/>
                        <a:t>主題特定 政策可能因組織而異</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728274"/>
                  </a:ext>
                </a:extLst>
              </a:tr>
            </a:tbl>
          </a:graphicData>
        </a:graphic>
      </p:graphicFrame>
      <p:sp>
        <p:nvSpPr>
          <p:cNvPr id="4" name="矩形 3"/>
          <p:cNvSpPr/>
          <p:nvPr/>
        </p:nvSpPr>
        <p:spPr>
          <a:xfrm>
            <a:off x="216789" y="6196971"/>
            <a:ext cx="6801231" cy="300082"/>
          </a:xfrm>
          <a:prstGeom prst="rect">
            <a:avLst/>
          </a:prstGeom>
          <a:solidFill>
            <a:schemeClr val="accent6">
              <a:lumMod val="20000"/>
              <a:lumOff val="80000"/>
            </a:schemeClr>
          </a:solidFill>
        </p:spPr>
        <p:txBody>
          <a:bodyPr wrap="square">
            <a:spAutoFit/>
          </a:bodyPr>
          <a:lstStyle/>
          <a:p>
            <a:r>
              <a:rPr lang="en-US" altLang="zh-TW" sz="1350" dirty="0"/>
              <a:t>https://www.isms.online/iso-27002/control-5-1-policies-for-information-security/</a:t>
            </a:r>
            <a:endParaRPr lang="zh-TW" altLang="en-US" sz="1350" dirty="0"/>
          </a:p>
        </p:txBody>
      </p:sp>
      <p:sp>
        <p:nvSpPr>
          <p:cNvPr id="9" name="矩形 8"/>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33</a:t>
            </a:fld>
            <a:endParaRPr lang="zh-TW" altLang="en-US" dirty="0"/>
          </a:p>
        </p:txBody>
      </p:sp>
    </p:spTree>
    <p:extLst>
      <p:ext uri="{BB962C8B-B14F-4D97-AF65-F5344CB8AC3E}">
        <p14:creationId xmlns:p14="http://schemas.microsoft.com/office/powerpoint/2010/main" val="739579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35782" y="639413"/>
            <a:ext cx="3744716" cy="4247317"/>
          </a:xfrm>
          <a:prstGeom prst="rect">
            <a:avLst/>
          </a:prstGeom>
          <a:solidFill>
            <a:schemeClr val="accent4">
              <a:lumMod val="20000"/>
              <a:lumOff val="80000"/>
            </a:schemeClr>
          </a:solidFill>
        </p:spPr>
        <p:txBody>
          <a:bodyPr wrap="square">
            <a:spAutoFit/>
          </a:bodyPr>
          <a:lstStyle/>
          <a:p>
            <a:r>
              <a:rPr lang="en-US" altLang="zh-TW" dirty="0"/>
              <a:t>topic-specific </a:t>
            </a:r>
            <a:r>
              <a:rPr lang="en-US" altLang="zh-TW" dirty="0" smtClean="0"/>
              <a:t>policies</a:t>
            </a:r>
            <a:r>
              <a:rPr lang="zh-TW" altLang="en-US" dirty="0" smtClean="0"/>
              <a:t>主題</a:t>
            </a:r>
            <a:r>
              <a:rPr lang="zh-TW" altLang="en-US" dirty="0"/>
              <a:t>特定政策</a:t>
            </a:r>
          </a:p>
          <a:p>
            <a:r>
              <a:rPr lang="zh-TW" altLang="en-US" dirty="0" smtClean="0"/>
              <a:t>主題</a:t>
            </a:r>
            <a:r>
              <a:rPr lang="zh-TW" altLang="en-US" dirty="0"/>
              <a:t>特定政策宜與組織之資訊安全政策保持一致並補充之。</a:t>
            </a:r>
          </a:p>
          <a:p>
            <a:endParaRPr lang="en-US" altLang="zh-TW" dirty="0"/>
          </a:p>
          <a:p>
            <a:r>
              <a:rPr lang="zh-TW" altLang="en-US" dirty="0"/>
              <a:t>此種主題之例包括 </a:t>
            </a:r>
            <a:r>
              <a:rPr lang="en-US" altLang="zh-TW" dirty="0"/>
              <a:t>:</a:t>
            </a:r>
          </a:p>
          <a:p>
            <a:pPr lvl="1"/>
            <a:r>
              <a:rPr lang="en-US" altLang="zh-TW" sz="1500" b="1" dirty="0">
                <a:effectLst>
                  <a:outerShdw blurRad="38100" dist="38100" dir="2700000" algn="tl">
                    <a:srgbClr val="000000">
                      <a:alpha val="43137"/>
                    </a:srgbClr>
                  </a:outerShdw>
                </a:effectLst>
              </a:rPr>
              <a:t>1.</a:t>
            </a:r>
            <a:r>
              <a:rPr lang="zh-TW" altLang="en-US" sz="1500" b="1" dirty="0">
                <a:effectLst>
                  <a:outerShdw blurRad="38100" dist="38100" dir="2700000" algn="tl">
                    <a:srgbClr val="000000">
                      <a:alpha val="43137"/>
                    </a:srgbClr>
                  </a:outerShdw>
                </a:effectLst>
              </a:rPr>
              <a:t>存取控制。</a:t>
            </a:r>
          </a:p>
          <a:p>
            <a:pPr lvl="1"/>
            <a:r>
              <a:rPr lang="en-US" altLang="zh-TW" sz="1500" b="1" dirty="0">
                <a:effectLst>
                  <a:outerShdw blurRad="38100" dist="38100" dir="2700000" algn="tl">
                    <a:srgbClr val="000000">
                      <a:alpha val="43137"/>
                    </a:srgbClr>
                  </a:outerShdw>
                </a:effectLst>
              </a:rPr>
              <a:t>2.</a:t>
            </a:r>
            <a:r>
              <a:rPr lang="zh-TW" altLang="en-US" sz="1500" b="1" dirty="0">
                <a:effectLst>
                  <a:outerShdw blurRad="38100" dist="38100" dir="2700000" algn="tl">
                    <a:srgbClr val="000000">
                      <a:alpha val="43137"/>
                    </a:srgbClr>
                  </a:outerShdw>
                </a:effectLst>
              </a:rPr>
              <a:t>實體及環境安全 。</a:t>
            </a:r>
          </a:p>
          <a:p>
            <a:pPr lvl="1"/>
            <a:r>
              <a:rPr lang="en-US" altLang="zh-TW" sz="1500" b="1" dirty="0">
                <a:effectLst>
                  <a:outerShdw blurRad="38100" dist="38100" dir="2700000" algn="tl">
                    <a:srgbClr val="000000">
                      <a:alpha val="43137"/>
                    </a:srgbClr>
                  </a:outerShdw>
                </a:effectLst>
              </a:rPr>
              <a:t>3.</a:t>
            </a:r>
            <a:r>
              <a:rPr lang="zh-TW" altLang="en-US" sz="1500" b="1" dirty="0">
                <a:effectLst>
                  <a:outerShdw blurRad="38100" dist="38100" dir="2700000" algn="tl">
                    <a:srgbClr val="000000">
                      <a:alpha val="43137"/>
                    </a:srgbClr>
                  </a:outerShdw>
                </a:effectLst>
              </a:rPr>
              <a:t>資產管理 。</a:t>
            </a:r>
          </a:p>
          <a:p>
            <a:pPr lvl="1"/>
            <a:r>
              <a:rPr lang="en-US" altLang="zh-TW" sz="1500" b="1" dirty="0">
                <a:effectLst>
                  <a:outerShdw blurRad="38100" dist="38100" dir="2700000" algn="tl">
                    <a:srgbClr val="000000">
                      <a:alpha val="43137"/>
                    </a:srgbClr>
                  </a:outerShdw>
                </a:effectLst>
              </a:rPr>
              <a:t>4.</a:t>
            </a:r>
            <a:r>
              <a:rPr lang="zh-TW" altLang="en-US" sz="1500" b="1" dirty="0">
                <a:effectLst>
                  <a:outerShdw blurRad="38100" dist="38100" dir="2700000" algn="tl">
                    <a:srgbClr val="000000">
                      <a:alpha val="43137"/>
                    </a:srgbClr>
                  </a:outerShdw>
                </a:effectLst>
              </a:rPr>
              <a:t>資訊傳送 。</a:t>
            </a:r>
          </a:p>
          <a:p>
            <a:pPr lvl="1"/>
            <a:r>
              <a:rPr lang="en-US" altLang="zh-TW" sz="1500" b="1" dirty="0">
                <a:effectLst>
                  <a:outerShdw blurRad="38100" dist="38100" dir="2700000" algn="tl">
                    <a:srgbClr val="000000">
                      <a:alpha val="43137"/>
                    </a:srgbClr>
                  </a:outerShdw>
                </a:effectLst>
              </a:rPr>
              <a:t>5.</a:t>
            </a:r>
            <a:r>
              <a:rPr lang="zh-TW" altLang="en-US" sz="1500" b="1" dirty="0">
                <a:effectLst>
                  <a:outerShdw blurRad="38100" dist="38100" dir="2700000" algn="tl">
                    <a:srgbClr val="000000">
                      <a:alpha val="43137"/>
                    </a:srgbClr>
                  </a:outerShdw>
                </a:effectLst>
              </a:rPr>
              <a:t>端點裝置之安全組態及處置 。</a:t>
            </a:r>
          </a:p>
          <a:p>
            <a:pPr lvl="1"/>
            <a:r>
              <a:rPr lang="en-US" altLang="zh-TW" sz="1500" b="1" dirty="0">
                <a:effectLst>
                  <a:outerShdw blurRad="38100" dist="38100" dir="2700000" algn="tl">
                    <a:srgbClr val="000000">
                      <a:alpha val="43137"/>
                    </a:srgbClr>
                  </a:outerShdw>
                </a:effectLst>
              </a:rPr>
              <a:t>6.</a:t>
            </a:r>
            <a:r>
              <a:rPr lang="zh-TW" altLang="en-US" sz="1500" b="1" dirty="0">
                <a:effectLst>
                  <a:outerShdw blurRad="38100" dist="38100" dir="2700000" algn="tl">
                    <a:srgbClr val="000000">
                      <a:alpha val="43137"/>
                    </a:srgbClr>
                  </a:outerShdw>
                </a:effectLst>
              </a:rPr>
              <a:t>連網安全</a:t>
            </a:r>
          </a:p>
          <a:p>
            <a:pPr lvl="1"/>
            <a:r>
              <a:rPr lang="en-US" altLang="zh-TW" sz="1500" b="1" dirty="0">
                <a:effectLst>
                  <a:outerShdw blurRad="38100" dist="38100" dir="2700000" algn="tl">
                    <a:srgbClr val="000000">
                      <a:alpha val="43137"/>
                    </a:srgbClr>
                  </a:outerShdw>
                </a:effectLst>
              </a:rPr>
              <a:t>7.</a:t>
            </a:r>
            <a:r>
              <a:rPr lang="zh-TW" altLang="en-US" sz="1500" b="1" dirty="0">
                <a:effectLst>
                  <a:outerShdw blurRad="38100" dist="38100" dir="2700000" algn="tl">
                    <a:srgbClr val="000000">
                      <a:alpha val="43137"/>
                    </a:srgbClr>
                  </a:outerShdw>
                </a:effectLst>
              </a:rPr>
              <a:t>資訊安全事故管理。</a:t>
            </a:r>
          </a:p>
          <a:p>
            <a:pPr lvl="1"/>
            <a:r>
              <a:rPr lang="en-US" altLang="zh-TW" sz="1500" b="1" dirty="0">
                <a:effectLst>
                  <a:outerShdw blurRad="38100" dist="38100" dir="2700000" algn="tl">
                    <a:srgbClr val="000000">
                      <a:alpha val="43137"/>
                    </a:srgbClr>
                  </a:outerShdw>
                </a:effectLst>
              </a:rPr>
              <a:t>8.</a:t>
            </a:r>
            <a:r>
              <a:rPr lang="zh-TW" altLang="en-US" sz="1500" b="1" dirty="0">
                <a:effectLst>
                  <a:outerShdw blurRad="38100" dist="38100" dir="2700000" algn="tl">
                    <a:srgbClr val="000000">
                      <a:alpha val="43137"/>
                    </a:srgbClr>
                  </a:outerShdw>
                </a:effectLst>
              </a:rPr>
              <a:t>備份 。</a:t>
            </a:r>
          </a:p>
          <a:p>
            <a:pPr lvl="1"/>
            <a:r>
              <a:rPr lang="en-US" altLang="zh-TW" sz="1500" b="1" dirty="0">
                <a:effectLst>
                  <a:outerShdw blurRad="38100" dist="38100" dir="2700000" algn="tl">
                    <a:srgbClr val="000000">
                      <a:alpha val="43137"/>
                    </a:srgbClr>
                  </a:outerShdw>
                </a:effectLst>
              </a:rPr>
              <a:t>9.</a:t>
            </a:r>
            <a:r>
              <a:rPr lang="zh-TW" altLang="en-US" sz="1500" b="1" dirty="0">
                <a:effectLst>
                  <a:outerShdw blurRad="38100" dist="38100" dir="2700000" algn="tl">
                    <a:srgbClr val="000000">
                      <a:alpha val="43137"/>
                    </a:srgbClr>
                  </a:outerShdw>
                </a:effectLst>
              </a:rPr>
              <a:t>密碼技術及金鑰管理 。</a:t>
            </a:r>
          </a:p>
          <a:p>
            <a:pPr lvl="1"/>
            <a:r>
              <a:rPr lang="en-US" altLang="zh-TW" sz="1500" b="1" dirty="0">
                <a:effectLst>
                  <a:outerShdw blurRad="38100" dist="38100" dir="2700000" algn="tl">
                    <a:srgbClr val="000000">
                      <a:alpha val="43137"/>
                    </a:srgbClr>
                  </a:outerShdw>
                </a:effectLst>
              </a:rPr>
              <a:t>10.</a:t>
            </a:r>
            <a:r>
              <a:rPr lang="zh-TW" altLang="en-US" sz="1500" b="1" dirty="0">
                <a:effectLst>
                  <a:outerShdw blurRad="38100" dist="38100" dir="2700000" algn="tl">
                    <a:srgbClr val="000000">
                      <a:alpha val="43137"/>
                    </a:srgbClr>
                  </a:outerShdw>
                </a:effectLst>
              </a:rPr>
              <a:t>資訊分類分級及處理 。</a:t>
            </a:r>
          </a:p>
          <a:p>
            <a:pPr lvl="1"/>
            <a:r>
              <a:rPr lang="en-US" altLang="zh-TW" sz="1500" b="1" dirty="0">
                <a:effectLst>
                  <a:outerShdw blurRad="38100" dist="38100" dir="2700000" algn="tl">
                    <a:srgbClr val="000000">
                      <a:alpha val="43137"/>
                    </a:srgbClr>
                  </a:outerShdw>
                </a:effectLst>
              </a:rPr>
              <a:t>11.</a:t>
            </a:r>
            <a:r>
              <a:rPr lang="zh-TW" altLang="en-US" sz="1500" b="1" dirty="0">
                <a:effectLst>
                  <a:outerShdw blurRad="38100" dist="38100" dir="2700000" algn="tl">
                    <a:srgbClr val="000000">
                      <a:alpha val="43137"/>
                    </a:srgbClr>
                  </a:outerShdw>
                </a:effectLst>
              </a:rPr>
              <a:t>技術脆弱性管理 。</a:t>
            </a:r>
          </a:p>
          <a:p>
            <a:pPr lvl="1"/>
            <a:r>
              <a:rPr lang="en-US" altLang="zh-TW" sz="1500" b="1" dirty="0">
                <a:effectLst>
                  <a:outerShdw blurRad="38100" dist="38100" dir="2700000" algn="tl">
                    <a:srgbClr val="000000">
                      <a:alpha val="43137"/>
                    </a:srgbClr>
                  </a:outerShdw>
                </a:effectLst>
              </a:rPr>
              <a:t>12.</a:t>
            </a:r>
            <a:r>
              <a:rPr lang="zh-TW" altLang="en-US" sz="1500" b="1" dirty="0">
                <a:effectLst>
                  <a:outerShdw blurRad="38100" dist="38100" dir="2700000" algn="tl">
                    <a:srgbClr val="000000">
                      <a:alpha val="43137"/>
                    </a:srgbClr>
                  </a:outerShdw>
                </a:effectLst>
              </a:rPr>
              <a:t>安全開發 。</a:t>
            </a:r>
          </a:p>
        </p:txBody>
      </p:sp>
      <p:graphicFrame>
        <p:nvGraphicFramePr>
          <p:cNvPr id="5" name="表格 4"/>
          <p:cNvGraphicFramePr>
            <a:graphicFrameLocks noGrp="1"/>
          </p:cNvGraphicFramePr>
          <p:nvPr>
            <p:extLst>
              <p:ext uri="{D42A27DB-BD31-4B8C-83A1-F6EECF244321}">
                <p14:modId xmlns:p14="http://schemas.microsoft.com/office/powerpoint/2010/main" val="170494242"/>
              </p:ext>
            </p:extLst>
          </p:nvPr>
        </p:nvGraphicFramePr>
        <p:xfrm>
          <a:off x="119061" y="1700564"/>
          <a:ext cx="5116721" cy="4236720"/>
        </p:xfrm>
        <a:graphic>
          <a:graphicData uri="http://schemas.openxmlformats.org/drawingml/2006/table">
            <a:tbl>
              <a:tblPr firstRow="1" bandRow="1">
                <a:tableStyleId>{5C22544A-7EE6-4342-B048-85BDC9FD1C3A}</a:tableStyleId>
              </a:tblPr>
              <a:tblGrid>
                <a:gridCol w="548317">
                  <a:extLst>
                    <a:ext uri="{9D8B030D-6E8A-4147-A177-3AD203B41FA5}">
                      <a16:colId xmlns:a16="http://schemas.microsoft.com/office/drawing/2014/main" val="771165768"/>
                    </a:ext>
                  </a:extLst>
                </a:gridCol>
                <a:gridCol w="4568404">
                  <a:extLst>
                    <a:ext uri="{9D8B030D-6E8A-4147-A177-3AD203B41FA5}">
                      <a16:colId xmlns:a16="http://schemas.microsoft.com/office/drawing/2014/main" val="367931612"/>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477188788"/>
                  </a:ext>
                </a:extLst>
              </a:tr>
              <a:tr h="937260">
                <a:tc>
                  <a:txBody>
                    <a:bodyPr/>
                    <a:lstStyle/>
                    <a:p>
                      <a:r>
                        <a:rPr lang="zh-TW" altLang="en-US" sz="1500" b="1" dirty="0"/>
                        <a:t>考量事項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200" b="1" dirty="0"/>
                        <a:t>資訊安全政策宜將衍生自下列事項之要求事項納入考量 </a:t>
                      </a:r>
                      <a:r>
                        <a:rPr lang="en-US" altLang="zh-TW" sz="1200" b="1" dirty="0"/>
                        <a:t>:</a:t>
                      </a:r>
                    </a:p>
                    <a:p>
                      <a:r>
                        <a:rPr lang="en-US" altLang="zh-TW" sz="1500" b="1" dirty="0"/>
                        <a:t>(a) </a:t>
                      </a:r>
                      <a:r>
                        <a:rPr lang="zh-TW" altLang="en-US" sz="1500" b="1" dirty="0"/>
                        <a:t>營運策略及要求事項。</a:t>
                      </a:r>
                    </a:p>
                    <a:p>
                      <a:r>
                        <a:rPr lang="en-US" altLang="zh-TW" sz="1500" b="1" dirty="0"/>
                        <a:t>(b) </a:t>
                      </a:r>
                      <a:r>
                        <a:rPr lang="zh-TW" altLang="en-US" sz="1500" b="1" dirty="0"/>
                        <a:t>法規 、 法 律及契約。</a:t>
                      </a:r>
                    </a:p>
                    <a:p>
                      <a:r>
                        <a:rPr lang="en-US" altLang="zh-TW" sz="1500" b="1" dirty="0"/>
                        <a:t>(c) </a:t>
                      </a:r>
                      <a:r>
                        <a:rPr lang="zh-TW" altLang="en-US" sz="1500" b="1" dirty="0"/>
                        <a:t>目前及預想之資訊安全風險及威脅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7275725"/>
                  </a:ext>
                </a:extLst>
              </a:tr>
              <a:tr h="1851660">
                <a:tc>
                  <a:txBody>
                    <a:bodyPr/>
                    <a:lstStyle/>
                    <a:p>
                      <a:r>
                        <a:rPr lang="zh-TW" altLang="en-US" sz="1500" b="1" dirty="0"/>
                        <a:t>聲明事項</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200" b="1" dirty="0"/>
                        <a:t>資訊安全政策宜包含與下列事項相關之聲明 </a:t>
                      </a:r>
                      <a:r>
                        <a:rPr lang="en-US" altLang="zh-TW" sz="1200" b="1" dirty="0"/>
                        <a:t>:</a:t>
                      </a:r>
                    </a:p>
                    <a:p>
                      <a:r>
                        <a:rPr lang="en-US" altLang="zh-TW" sz="1500" b="1" dirty="0"/>
                        <a:t>1.</a:t>
                      </a:r>
                      <a:r>
                        <a:rPr lang="zh-TW" altLang="en-US" sz="1500" b="1" dirty="0"/>
                        <a:t>資訊安全之定義 。</a:t>
                      </a:r>
                    </a:p>
                    <a:p>
                      <a:r>
                        <a:rPr lang="en-US" altLang="zh-TW" sz="1500" b="1" dirty="0"/>
                        <a:t>2.</a:t>
                      </a:r>
                      <a:r>
                        <a:rPr lang="zh-TW" altLang="en-US" sz="1500" b="1" dirty="0"/>
                        <a:t>資訊安全目標或 設定資訊安全目標之框架 。</a:t>
                      </a:r>
                    </a:p>
                    <a:p>
                      <a:r>
                        <a:rPr lang="en-US" altLang="zh-TW" sz="1500" b="1" dirty="0"/>
                        <a:t>3.</a:t>
                      </a:r>
                      <a:r>
                        <a:rPr lang="zh-TW" altLang="en-US" sz="1500" b="1" dirty="0"/>
                        <a:t>引導與資訊安全相關 之 所有活動的原則 。</a:t>
                      </a:r>
                    </a:p>
                    <a:p>
                      <a:r>
                        <a:rPr lang="en-US" altLang="zh-TW" sz="1500" b="1" dirty="0"/>
                        <a:t>4.</a:t>
                      </a:r>
                      <a:r>
                        <a:rPr lang="zh-TW" altLang="en-US" sz="1500" b="1" dirty="0"/>
                        <a:t>對滿 足與資訊安全相關之適用要求事項的承諾 。</a:t>
                      </a:r>
                    </a:p>
                    <a:p>
                      <a:r>
                        <a:rPr lang="en-US" altLang="zh-TW" sz="1500" b="1" dirty="0"/>
                        <a:t>5.</a:t>
                      </a:r>
                      <a:r>
                        <a:rPr lang="zh-TW" altLang="en-US" sz="1500" b="1" dirty="0"/>
                        <a:t>對資訊安全管理系統持續改善之承諾 。</a:t>
                      </a:r>
                    </a:p>
                    <a:p>
                      <a:r>
                        <a:rPr lang="en-US" altLang="zh-TW" sz="1500" b="1" dirty="0"/>
                        <a:t>6.</a:t>
                      </a:r>
                      <a:r>
                        <a:rPr lang="zh-TW" altLang="en-US" sz="1500" b="1" dirty="0"/>
                        <a:t>將資訊安全管理 之責任指派予已定義的角色 。</a:t>
                      </a:r>
                    </a:p>
                    <a:p>
                      <a:r>
                        <a:rPr lang="en-US" altLang="zh-TW" sz="1500" b="1" dirty="0"/>
                        <a:t>7.</a:t>
                      </a:r>
                      <a:r>
                        <a:rPr lang="zh-TW" altLang="en-US" sz="1500" b="1" dirty="0"/>
                        <a:t>處理豁免及例外之程式。</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3728956"/>
                  </a:ext>
                </a:extLst>
              </a:tr>
              <a:tr h="982980">
                <a:tc gridSpan="2">
                  <a:txBody>
                    <a:bodyPr/>
                    <a:lstStyle/>
                    <a:p>
                      <a:pPr marL="285750" indent="-285750">
                        <a:buFont typeface="Wingdings" panose="05000000000000000000" pitchFamily="2" charset="2"/>
                        <a:buChar char="n"/>
                      </a:pPr>
                      <a:r>
                        <a:rPr lang="zh-TW" altLang="en-US" sz="1600" b="1" dirty="0"/>
                        <a:t>對資訊安全政策之所有變更 </a:t>
                      </a:r>
                      <a:r>
                        <a:rPr lang="en-US" altLang="zh-TW" sz="1600" b="1" dirty="0"/>
                        <a:t>, </a:t>
                      </a:r>
                      <a:r>
                        <a:rPr lang="zh-TW" altLang="en-US" sz="1600" b="1" dirty="0"/>
                        <a:t>宜經最高管理階層核可 。</a:t>
                      </a:r>
                      <a:endParaRPr lang="en-US" altLang="zh-TW" sz="1600" b="1" dirty="0"/>
                    </a:p>
                    <a:p>
                      <a:pPr marL="285750" indent="-285750">
                        <a:buFont typeface="Wingdings" panose="05000000000000000000" pitchFamily="2" charset="2"/>
                        <a:buChar char="n"/>
                      </a:pPr>
                      <a:r>
                        <a:rPr lang="zh-TW" altLang="en-US" sz="1600" b="1" dirty="0"/>
                        <a:t>於較低層級 上 </a:t>
                      </a:r>
                      <a:r>
                        <a:rPr lang="en-US" altLang="zh-TW" sz="1600" b="1" dirty="0"/>
                        <a:t>, </a:t>
                      </a:r>
                      <a:r>
                        <a:rPr lang="zh-TW" altLang="en-US" sz="1600" b="1" dirty="0"/>
                        <a:t>宜依需 以主題特定政策支持資訊安全政策 </a:t>
                      </a:r>
                      <a:r>
                        <a:rPr lang="en-US" altLang="zh-TW" sz="1600" b="1" dirty="0"/>
                        <a:t>, </a:t>
                      </a:r>
                      <a:r>
                        <a:rPr lang="zh-TW" altLang="en-US" sz="1600" b="1" dirty="0"/>
                        <a:t>其進一步要求實作資訊安全控制措施 。 </a:t>
                      </a:r>
                      <a:endParaRPr lang="en-US" altLang="zh-TW" sz="1600" b="1" dirty="0"/>
                    </a:p>
                    <a:p>
                      <a:pPr marL="285750" indent="-285750">
                        <a:buFont typeface="Wingdings" panose="05000000000000000000" pitchFamily="2" charset="2"/>
                        <a:buChar char="n"/>
                      </a:pPr>
                      <a:r>
                        <a:rPr lang="zh-TW" altLang="en-US" sz="1600" b="1" dirty="0"/>
                        <a:t>主題特定政策通常係結構化 </a:t>
                      </a:r>
                      <a:r>
                        <a:rPr lang="en-US" altLang="zh-TW" sz="1600" b="1" dirty="0"/>
                        <a:t>, </a:t>
                      </a:r>
                      <a:r>
                        <a:rPr lang="zh-TW" altLang="en-US" sz="1600" b="1" dirty="0"/>
                        <a:t>以因應組織內某些目標群組之需要或用以涵蓋某些安全區域</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TW" altLang="en-US" dirty="0"/>
                    </a:p>
                  </a:txBody>
                  <a:tcPr/>
                </a:tc>
                <a:extLst>
                  <a:ext uri="{0D108BD9-81ED-4DB2-BD59-A6C34878D82A}">
                    <a16:rowId xmlns:a16="http://schemas.microsoft.com/office/drawing/2014/main" val="492455029"/>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884308716"/>
              </p:ext>
            </p:extLst>
          </p:nvPr>
        </p:nvGraphicFramePr>
        <p:xfrm>
          <a:off x="85725" y="639413"/>
          <a:ext cx="5043488" cy="1006513"/>
        </p:xfrm>
        <a:graphic>
          <a:graphicData uri="http://schemas.openxmlformats.org/drawingml/2006/table">
            <a:tbl>
              <a:tblPr firstRow="1" bandRow="1">
                <a:tableStyleId>{5C22544A-7EE6-4342-B048-85BDC9FD1C3A}</a:tableStyleId>
              </a:tblPr>
              <a:tblGrid>
                <a:gridCol w="1307070">
                  <a:extLst>
                    <a:ext uri="{9D8B030D-6E8A-4147-A177-3AD203B41FA5}">
                      <a16:colId xmlns:a16="http://schemas.microsoft.com/office/drawing/2014/main" val="4294899451"/>
                    </a:ext>
                  </a:extLst>
                </a:gridCol>
                <a:gridCol w="1907523">
                  <a:extLst>
                    <a:ext uri="{9D8B030D-6E8A-4147-A177-3AD203B41FA5}">
                      <a16:colId xmlns:a16="http://schemas.microsoft.com/office/drawing/2014/main" val="1583235385"/>
                    </a:ext>
                  </a:extLst>
                </a:gridCol>
                <a:gridCol w="1828895">
                  <a:extLst>
                    <a:ext uri="{9D8B030D-6E8A-4147-A177-3AD203B41FA5}">
                      <a16:colId xmlns:a16="http://schemas.microsoft.com/office/drawing/2014/main" val="1877842559"/>
                    </a:ext>
                  </a:extLst>
                </a:gridCol>
              </a:tblGrid>
              <a:tr h="274320">
                <a:tc>
                  <a:txBody>
                    <a:bodyPr/>
                    <a:lstStyle/>
                    <a:p>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400" dirty="0"/>
                        <a:t>資訊安全政策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主題特定政策</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847688"/>
                  </a:ext>
                </a:extLst>
              </a:tr>
              <a:tr h="311468">
                <a:tc>
                  <a:txBody>
                    <a:bodyPr/>
                    <a:lstStyle/>
                    <a:p>
                      <a:r>
                        <a:rPr lang="zh-TW" altLang="en-US" sz="1400" dirty="0"/>
                        <a:t>詳細程度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dirty="0"/>
                        <a:t>一般或高等級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特定且詳盡</a:t>
                      </a:r>
                      <a:endParaRPr lang="en-US" altLang="zh-TW"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3048661"/>
                  </a:ext>
                </a:extLst>
              </a:tr>
              <a:tr h="413105">
                <a:tc>
                  <a:txBody>
                    <a:bodyPr/>
                    <a:lstStyle/>
                    <a:p>
                      <a:r>
                        <a:rPr lang="zh-TW" altLang="en-US" sz="1400" dirty="0" smtClean="0"/>
                        <a:t>正式</a:t>
                      </a:r>
                      <a:r>
                        <a:rPr lang="zh-TW" altLang="en-US" sz="1400" dirty="0"/>
                        <a:t>核可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dirty="0"/>
                        <a:t>最高管理階層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適切管理階層</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858084"/>
                  </a:ext>
                </a:extLst>
              </a:tr>
            </a:tbl>
          </a:graphicData>
        </a:graphic>
      </p:graphicFrame>
      <p:sp>
        <p:nvSpPr>
          <p:cNvPr id="8" name="矩形 7"/>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34</a:t>
            </a:fld>
            <a:endParaRPr lang="zh-TW" altLang="en-US" dirty="0"/>
          </a:p>
        </p:txBody>
      </p:sp>
    </p:spTree>
    <p:extLst>
      <p:ext uri="{BB962C8B-B14F-4D97-AF65-F5344CB8AC3E}">
        <p14:creationId xmlns:p14="http://schemas.microsoft.com/office/powerpoint/2010/main" val="3955379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897471286"/>
              </p:ext>
            </p:extLst>
          </p:nvPr>
        </p:nvGraphicFramePr>
        <p:xfrm>
          <a:off x="1968206" y="786389"/>
          <a:ext cx="5219699" cy="845820"/>
        </p:xfrm>
        <a:graphic>
          <a:graphicData uri="http://schemas.openxmlformats.org/drawingml/2006/table">
            <a:tbl>
              <a:tblPr firstRow="1" bandRow="1">
                <a:tableStyleId>{5C22544A-7EE6-4342-B048-85BDC9FD1C3A}</a:tableStyleId>
              </a:tblPr>
              <a:tblGrid>
                <a:gridCol w="1332112">
                  <a:extLst>
                    <a:ext uri="{9D8B030D-6E8A-4147-A177-3AD203B41FA5}">
                      <a16:colId xmlns:a16="http://schemas.microsoft.com/office/drawing/2014/main" val="4294899451"/>
                    </a:ext>
                  </a:extLst>
                </a:gridCol>
                <a:gridCol w="2147687">
                  <a:extLst>
                    <a:ext uri="{9D8B030D-6E8A-4147-A177-3AD203B41FA5}">
                      <a16:colId xmlns:a16="http://schemas.microsoft.com/office/drawing/2014/main" val="1583235385"/>
                    </a:ext>
                  </a:extLst>
                </a:gridCol>
                <a:gridCol w="1739900">
                  <a:extLst>
                    <a:ext uri="{9D8B030D-6E8A-4147-A177-3AD203B41FA5}">
                      <a16:colId xmlns:a16="http://schemas.microsoft.com/office/drawing/2014/main" val="1877842559"/>
                    </a:ext>
                  </a:extLst>
                </a:gridCol>
              </a:tblGrid>
              <a:tr h="278130">
                <a:tc>
                  <a:txBody>
                    <a:bodyPr/>
                    <a:lstStyle/>
                    <a:p>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400" dirty="0"/>
                        <a:t>資訊安全政策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主題特定政策</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847688"/>
                  </a:ext>
                </a:extLst>
              </a:tr>
              <a:tr h="278130">
                <a:tc>
                  <a:txBody>
                    <a:bodyPr/>
                    <a:lstStyle/>
                    <a:p>
                      <a:r>
                        <a:rPr lang="zh-TW" altLang="en-US" sz="1400" dirty="0"/>
                        <a:t>詳細程度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dirty="0"/>
                        <a:t>一般或高等級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特定且詳盡</a:t>
                      </a:r>
                      <a:endParaRPr lang="en-US" altLang="zh-TW"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3048661"/>
                  </a:ext>
                </a:extLst>
              </a:tr>
              <a:tr h="278130">
                <a:tc>
                  <a:txBody>
                    <a:bodyPr/>
                    <a:lstStyle/>
                    <a:p>
                      <a:r>
                        <a:rPr lang="zh-TW" altLang="en-US" sz="1400" dirty="0" smtClean="0"/>
                        <a:t>正式</a:t>
                      </a:r>
                      <a:r>
                        <a:rPr lang="zh-TW" altLang="en-US" sz="1400" dirty="0"/>
                        <a:t>核可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400" dirty="0"/>
                        <a:t>最高管理階層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適切管理階層</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858084"/>
                  </a:ext>
                </a:extLst>
              </a:tr>
            </a:tbl>
          </a:graphicData>
        </a:graphic>
      </p:graphicFrame>
      <p:sp>
        <p:nvSpPr>
          <p:cNvPr id="4" name="矩形 3"/>
          <p:cNvSpPr/>
          <p:nvPr/>
        </p:nvSpPr>
        <p:spPr>
          <a:xfrm>
            <a:off x="205892" y="2000372"/>
            <a:ext cx="8744328" cy="4708981"/>
          </a:xfrm>
          <a:prstGeom prst="rect">
            <a:avLst/>
          </a:prstGeom>
        </p:spPr>
        <p:txBody>
          <a:bodyPr wrap="square">
            <a:spAutoFit/>
          </a:bodyPr>
          <a:lstStyle/>
          <a:p>
            <a:r>
              <a:rPr lang="zh-TW" altLang="en-US" sz="1500" dirty="0"/>
              <a:t>宜依相關人員之適切權限及技術能力</a:t>
            </a:r>
            <a:r>
              <a:rPr lang="en-US" altLang="zh-TW" sz="1500" dirty="0"/>
              <a:t>,</a:t>
            </a:r>
            <a:r>
              <a:rPr lang="zh-TW" altLang="en-US" sz="1500" dirty="0"/>
              <a:t>將制定、審查及核可主題特定政策的責任配置予相關人員。</a:t>
            </a:r>
            <a:endParaRPr lang="en-US" altLang="zh-TW" sz="1500" dirty="0"/>
          </a:p>
          <a:p>
            <a:endParaRPr lang="en-US" altLang="zh-TW" sz="1500" dirty="0"/>
          </a:p>
          <a:p>
            <a:r>
              <a:rPr lang="zh-TW" altLang="en-US" sz="1500" dirty="0"/>
              <a:t>審查宜包括評鑑改善組織資 訊 安 全 政 策 及 主 題 特 定 政 策 之 機會</a:t>
            </a:r>
            <a:r>
              <a:rPr lang="en-US" altLang="zh-TW" sz="1500" dirty="0"/>
              <a:t>,</a:t>
            </a:r>
            <a:r>
              <a:rPr lang="zh-TW" altLang="en-US" sz="1500" dirty="0"/>
              <a:t>並管理資訊安全 </a:t>
            </a:r>
            <a:r>
              <a:rPr lang="en-US" altLang="zh-TW" sz="1500" dirty="0"/>
              <a:t>, </a:t>
            </a:r>
            <a:r>
              <a:rPr lang="zh-TW" altLang="en-US" sz="1500" dirty="0"/>
              <a:t>以回應下列變更</a:t>
            </a:r>
            <a:r>
              <a:rPr lang="en-US" altLang="zh-TW" sz="1500" dirty="0"/>
              <a:t>:</a:t>
            </a:r>
          </a:p>
          <a:p>
            <a:r>
              <a:rPr lang="en-US" altLang="zh-TW" sz="1500" dirty="0"/>
              <a:t>(a) </a:t>
            </a:r>
            <a:r>
              <a:rPr lang="zh-TW" altLang="en-US" sz="1500" dirty="0"/>
              <a:t>組織之營運策略。</a:t>
            </a:r>
          </a:p>
          <a:p>
            <a:r>
              <a:rPr lang="en-US" altLang="zh-TW" sz="1500" dirty="0"/>
              <a:t>(b) </a:t>
            </a:r>
            <a:r>
              <a:rPr lang="zh-TW" altLang="en-US" sz="1500" dirty="0"/>
              <a:t>組織之技術環境 。</a:t>
            </a:r>
          </a:p>
          <a:p>
            <a:r>
              <a:rPr lang="en-US" altLang="zh-TW" sz="1500" dirty="0"/>
              <a:t>(c) </a:t>
            </a:r>
            <a:r>
              <a:rPr lang="zh-TW" altLang="en-US" sz="1500" dirty="0"/>
              <a:t>法規、法令、法律及契約。</a:t>
            </a:r>
          </a:p>
          <a:p>
            <a:r>
              <a:rPr lang="en-US" altLang="zh-TW" sz="1500" dirty="0"/>
              <a:t>(d) </a:t>
            </a:r>
            <a:r>
              <a:rPr lang="zh-TW" altLang="en-US" sz="1500" dirty="0"/>
              <a:t>資訊安全風險 。</a:t>
            </a:r>
          </a:p>
          <a:p>
            <a:r>
              <a:rPr lang="zh-TW" altLang="en-US" sz="1500" dirty="0"/>
              <a:t>(e) 目前及預想之資訊安全威脅環境 。</a:t>
            </a:r>
          </a:p>
          <a:p>
            <a:r>
              <a:rPr lang="zh-TW" altLang="en-US" sz="1500" dirty="0"/>
              <a:t>(f) 由資訊安全事件及事故中習得之教訓。</a:t>
            </a:r>
          </a:p>
          <a:p>
            <a:endParaRPr lang="en-US" altLang="zh-TW" sz="1500" dirty="0"/>
          </a:p>
          <a:p>
            <a:pPr marL="214313" indent="-214313">
              <a:buFont typeface="Wingdings" panose="05000000000000000000" pitchFamily="2" charset="2"/>
              <a:buChar char="n"/>
            </a:pPr>
            <a:r>
              <a:rPr lang="zh-TW" altLang="en-US" sz="1500" dirty="0"/>
              <a:t>資訊安全政策及主題特定政策之審查, 宜將管理審查及稽核的結果納入考量。</a:t>
            </a:r>
            <a:endParaRPr lang="en-US" altLang="zh-TW" sz="1500" dirty="0"/>
          </a:p>
          <a:p>
            <a:pPr marL="214313" indent="-214313">
              <a:buFont typeface="Wingdings" panose="05000000000000000000" pitchFamily="2" charset="2"/>
              <a:buChar char="n"/>
            </a:pPr>
            <a:r>
              <a:rPr lang="zh-TW" altLang="en-US" sz="1500" dirty="0"/>
              <a:t>於變更 1 項政策以維持一致性時, 宜考量其他相關政策之審查及更新。</a:t>
            </a:r>
          </a:p>
          <a:p>
            <a:pPr marL="214313" indent="-214313">
              <a:buFont typeface="Wingdings" panose="05000000000000000000" pitchFamily="2" charset="2"/>
              <a:buChar char="n"/>
            </a:pPr>
            <a:r>
              <a:rPr lang="zh-TW" altLang="en-US" sz="1500" dirty="0"/>
              <a:t>資訊安全政策及主題特定政策宜採用對預期之對象適切、可取得及可瞭解的形式,向相關人員及關注方傳達</a:t>
            </a:r>
            <a:endParaRPr lang="en-US" altLang="zh-TW" sz="1500" dirty="0"/>
          </a:p>
          <a:p>
            <a:pPr marL="214313" indent="-214313">
              <a:buFont typeface="Wingdings" panose="05000000000000000000" pitchFamily="2" charset="2"/>
              <a:buChar char="n"/>
            </a:pPr>
            <a:r>
              <a:rPr lang="zh-TW" altLang="en-US" sz="1500" dirty="0"/>
              <a:t>宜要求政策之接受者確認其瞭解並同意遵循適用的政策。</a:t>
            </a:r>
            <a:endParaRPr lang="en-US" altLang="zh-TW" sz="1500" dirty="0"/>
          </a:p>
          <a:p>
            <a:pPr marL="214313" indent="-214313">
              <a:buFont typeface="Wingdings" panose="05000000000000000000" pitchFamily="2" charset="2"/>
              <a:buChar char="n"/>
            </a:pPr>
            <a:r>
              <a:rPr lang="zh-TW" altLang="en-US" sz="1500" dirty="0"/>
              <a:t>組織可決定符合組織需要之此等政策檔的格式及名稱。</a:t>
            </a:r>
            <a:endParaRPr lang="en-US" altLang="zh-TW" sz="1500" dirty="0"/>
          </a:p>
          <a:p>
            <a:pPr marL="214313" indent="-214313">
              <a:buFont typeface="Wingdings" panose="05000000000000000000" pitchFamily="2" charset="2"/>
              <a:buChar char="n"/>
            </a:pPr>
            <a:r>
              <a:rPr lang="zh-TW" altLang="en-US" sz="1500" dirty="0"/>
              <a:t>於某些組織中,資訊安全政策及主題特定政策可納入單 一 文件 中 。 </a:t>
            </a:r>
            <a:endParaRPr lang="en-US" altLang="zh-TW" sz="1500" dirty="0"/>
          </a:p>
          <a:p>
            <a:pPr marL="214313" indent="-214313">
              <a:buFont typeface="Wingdings" panose="05000000000000000000" pitchFamily="2" charset="2"/>
              <a:buChar char="n"/>
            </a:pPr>
            <a:r>
              <a:rPr lang="zh-TW" altLang="en-US" sz="1500" dirty="0"/>
              <a:t>組織可將此等主題特定政策命名為標準、指令、政策或其他。</a:t>
            </a:r>
          </a:p>
          <a:p>
            <a:pPr marL="214313" indent="-214313">
              <a:buFont typeface="Wingdings" panose="05000000000000000000" pitchFamily="2" charset="2"/>
              <a:buChar char="n"/>
            </a:pPr>
            <a:r>
              <a:rPr lang="zh-TW" altLang="en-US" sz="1500" dirty="0"/>
              <a:t>若資訊安全政策或任何主題特定政策 散佈至組織外部 , 則宜謹慎,勿不當揭露機密資訊 。</a:t>
            </a:r>
          </a:p>
        </p:txBody>
      </p:sp>
      <p:sp>
        <p:nvSpPr>
          <p:cNvPr id="5" name="矩形 4"/>
          <p:cNvSpPr/>
          <p:nvPr/>
        </p:nvSpPr>
        <p:spPr>
          <a:xfrm>
            <a:off x="302781" y="786389"/>
            <a:ext cx="1454244" cy="854080"/>
          </a:xfrm>
          <a:prstGeom prst="rect">
            <a:avLst/>
          </a:prstGeom>
        </p:spPr>
        <p:txBody>
          <a:bodyPr wrap="none">
            <a:spAutoFit/>
          </a:bodyPr>
          <a:lstStyle/>
          <a:p>
            <a:r>
              <a:rPr lang="zh-TW" altLang="en-US" sz="4950" dirty="0"/>
              <a:t>審查</a:t>
            </a:r>
          </a:p>
        </p:txBody>
      </p:sp>
      <p:sp>
        <p:nvSpPr>
          <p:cNvPr id="7" name="矩形 6"/>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2" name="投影片編號版面配置區 1"/>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35</a:t>
            </a:fld>
            <a:endParaRPr lang="zh-TW" altLang="en-US" dirty="0"/>
          </a:p>
        </p:txBody>
      </p:sp>
    </p:spTree>
    <p:extLst>
      <p:ext uri="{BB962C8B-B14F-4D97-AF65-F5344CB8AC3E}">
        <p14:creationId xmlns:p14="http://schemas.microsoft.com/office/powerpoint/2010/main" val="1561433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1248" y="694287"/>
            <a:ext cx="6257515" cy="573621"/>
          </a:xfrm>
        </p:spPr>
        <p:txBody>
          <a:bodyPr>
            <a:normAutofit/>
          </a:bodyPr>
          <a:lstStyle/>
          <a:p>
            <a:r>
              <a:rPr lang="zh-TW" altLang="en-US" sz="2800" b="1" dirty="0" smtClean="0">
                <a:effectLst>
                  <a:outerShdw blurRad="38100" dist="38100" dir="2700000" algn="tl">
                    <a:srgbClr val="000000">
                      <a:alpha val="43137"/>
                    </a:srgbClr>
                  </a:outerShdw>
                </a:effectLst>
              </a:rPr>
              <a:t>範例</a:t>
            </a:r>
            <a:r>
              <a:rPr lang="en-US" altLang="zh-TW" sz="2800" b="1" dirty="0" smtClean="0">
                <a:effectLst>
                  <a:outerShdw blurRad="38100" dist="38100" dir="2700000" algn="tl">
                    <a:srgbClr val="000000">
                      <a:alpha val="43137"/>
                    </a:srgbClr>
                  </a:outerShdw>
                </a:effectLst>
              </a:rPr>
              <a:t>2: </a:t>
            </a:r>
            <a:r>
              <a:rPr lang="zh-TW" altLang="en-US" sz="2800" b="1" dirty="0" smtClean="0">
                <a:effectLst>
                  <a:outerShdw blurRad="38100" dist="38100" dir="2700000" algn="tl">
                    <a:srgbClr val="000000">
                      <a:alpha val="43137"/>
                    </a:srgbClr>
                  </a:outerShdw>
                </a:effectLst>
              </a:rPr>
              <a:t>資料</a:t>
            </a:r>
            <a:r>
              <a:rPr lang="zh-TW" altLang="en-US" sz="2800" b="1" dirty="0">
                <a:effectLst>
                  <a:outerShdw blurRad="38100" dist="38100" dir="2700000" algn="tl">
                    <a:srgbClr val="000000">
                      <a:alpha val="43137"/>
                    </a:srgbClr>
                  </a:outerShdw>
                </a:effectLst>
              </a:rPr>
              <a:t>遮蔽 </a:t>
            </a:r>
            <a:r>
              <a:rPr lang="en-US" altLang="zh-TW" sz="2800" b="1" dirty="0">
                <a:effectLst>
                  <a:outerShdw blurRad="38100" dist="38100" dir="2700000" algn="tl">
                    <a:srgbClr val="000000">
                      <a:alpha val="43137"/>
                    </a:srgbClr>
                  </a:outerShdw>
                </a:effectLst>
              </a:rPr>
              <a:t>Data masking(8.11)</a:t>
            </a:r>
            <a:r>
              <a:rPr lang="zh-TW" altLang="en-US" sz="2800" b="1" dirty="0">
                <a:effectLst>
                  <a:outerShdw blurRad="38100" dist="38100" dir="2700000" algn="tl">
                    <a:srgbClr val="000000">
                      <a:alpha val="43137"/>
                    </a:srgbClr>
                  </a:outerShdw>
                </a:effectLst>
              </a:rPr>
              <a:t> </a:t>
            </a:r>
          </a:p>
        </p:txBody>
      </p:sp>
      <p:graphicFrame>
        <p:nvGraphicFramePr>
          <p:cNvPr id="6" name="表格 5"/>
          <p:cNvGraphicFramePr>
            <a:graphicFrameLocks noGrp="1"/>
          </p:cNvGraphicFramePr>
          <p:nvPr>
            <p:extLst>
              <p:ext uri="{D42A27DB-BD31-4B8C-83A1-F6EECF244321}">
                <p14:modId xmlns:p14="http://schemas.microsoft.com/office/powerpoint/2010/main" val="546426201"/>
              </p:ext>
            </p:extLst>
          </p:nvPr>
        </p:nvGraphicFramePr>
        <p:xfrm>
          <a:off x="251760" y="1377421"/>
          <a:ext cx="8622030" cy="794969"/>
        </p:xfrm>
        <a:graphic>
          <a:graphicData uri="http://schemas.openxmlformats.org/drawingml/2006/table">
            <a:tbl>
              <a:tblPr firstRow="1" bandRow="1">
                <a:tableStyleId>{5C22544A-7EE6-4342-B048-85BDC9FD1C3A}</a:tableStyleId>
              </a:tblPr>
              <a:tblGrid>
                <a:gridCol w="1186815">
                  <a:extLst>
                    <a:ext uri="{9D8B030D-6E8A-4147-A177-3AD203B41FA5}">
                      <a16:colId xmlns:a16="http://schemas.microsoft.com/office/drawing/2014/main" val="1358160590"/>
                    </a:ext>
                  </a:extLst>
                </a:gridCol>
                <a:gridCol w="2243709">
                  <a:extLst>
                    <a:ext uri="{9D8B030D-6E8A-4147-A177-3AD203B41FA5}">
                      <a16:colId xmlns:a16="http://schemas.microsoft.com/office/drawing/2014/main" val="3820532718"/>
                    </a:ext>
                  </a:extLst>
                </a:gridCol>
                <a:gridCol w="1802511">
                  <a:extLst>
                    <a:ext uri="{9D8B030D-6E8A-4147-A177-3AD203B41FA5}">
                      <a16:colId xmlns:a16="http://schemas.microsoft.com/office/drawing/2014/main" val="3937520155"/>
                    </a:ext>
                  </a:extLst>
                </a:gridCol>
                <a:gridCol w="1885950">
                  <a:extLst>
                    <a:ext uri="{9D8B030D-6E8A-4147-A177-3AD203B41FA5}">
                      <a16:colId xmlns:a16="http://schemas.microsoft.com/office/drawing/2014/main" val="1713932711"/>
                    </a:ext>
                  </a:extLst>
                </a:gridCol>
                <a:gridCol w="1503045">
                  <a:extLst>
                    <a:ext uri="{9D8B030D-6E8A-4147-A177-3AD203B41FA5}">
                      <a16:colId xmlns:a16="http://schemas.microsoft.com/office/drawing/2014/main" val="4259325423"/>
                    </a:ext>
                  </a:extLst>
                </a:gridCol>
              </a:tblGrid>
              <a:tr h="452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chemeClr val="tx1"/>
                          </a:solidFill>
                          <a:effectLst>
                            <a:outerShdw blurRad="38100" dist="38100" dir="2700000" algn="tl">
                              <a:srgbClr val="000000">
                                <a:alpha val="43137"/>
                              </a:srgbClr>
                            </a:outerShdw>
                          </a:effectLst>
                        </a:rPr>
                        <a:t>控制措施類型</a:t>
                      </a:r>
                      <a:r>
                        <a:rPr lang="en-US" altLang="zh-TW" sz="1200" b="1" i="0" kern="1200" dirty="0">
                          <a:solidFill>
                            <a:schemeClr val="tx1"/>
                          </a:solidFill>
                          <a:effectLst>
                            <a:outerShdw blurRad="38100" dist="38100" dir="2700000" algn="tl">
                              <a:srgbClr val="000000">
                                <a:alpha val="43137"/>
                              </a:srgbClr>
                            </a:outerShdw>
                          </a:effectLst>
                          <a:latin typeface="+mn-lt"/>
                          <a:ea typeface="+mn-ea"/>
                          <a:cs typeface="+mn-cs"/>
                        </a:rPr>
                        <a:t>Control type</a:t>
                      </a:r>
                      <a:endParaRPr lang="zh-TW" altLang="en-US" sz="12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chemeClr val="tx1"/>
                          </a:solidFill>
                          <a:effectLst>
                            <a:outerShdw blurRad="38100" dist="38100" dir="2700000" algn="tl">
                              <a:srgbClr val="000000">
                                <a:alpha val="43137"/>
                              </a:srgbClr>
                            </a:outerShdw>
                          </a:effectLst>
                        </a:rPr>
                        <a:t>資訊安全性質</a:t>
                      </a:r>
                    </a:p>
                    <a:p>
                      <a:r>
                        <a:rPr lang="en-US" altLang="zh-TW" sz="1200" b="1" dirty="0">
                          <a:solidFill>
                            <a:schemeClr val="tx1"/>
                          </a:solidFill>
                          <a:effectLst>
                            <a:outerShdw blurRad="38100" dist="38100" dir="2700000" algn="tl">
                              <a:srgbClr val="000000">
                                <a:alpha val="43137"/>
                              </a:srgbClr>
                            </a:outerShdw>
                          </a:effectLst>
                        </a:rPr>
                        <a:t>Information Security Properties </a:t>
                      </a:r>
                      <a:endParaRPr lang="zh-TW" altLang="en-US" sz="12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chemeClr val="tx1"/>
                          </a:solidFill>
                          <a:effectLst>
                            <a:outerShdw blurRad="38100" dist="38100" dir="2700000" algn="tl">
                              <a:srgbClr val="000000">
                                <a:alpha val="43137"/>
                              </a:srgbClr>
                            </a:outerShdw>
                          </a:effectLst>
                        </a:rPr>
                        <a:t>網宇安全概念</a:t>
                      </a:r>
                      <a:endParaRPr lang="en-US" altLang="zh-TW" sz="12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a:solidFill>
                            <a:schemeClr val="tx1"/>
                          </a:solidFill>
                          <a:effectLst>
                            <a:outerShdw blurRad="38100" dist="38100" dir="2700000" algn="tl">
                              <a:srgbClr val="000000">
                                <a:alpha val="43137"/>
                              </a:srgbClr>
                            </a:outerShdw>
                          </a:effectLst>
                          <a:latin typeface="+mn-lt"/>
                          <a:ea typeface="+mn-ea"/>
                          <a:cs typeface="+mn-cs"/>
                        </a:rPr>
                        <a:t>Cybersecurity Concepts</a:t>
                      </a:r>
                      <a:endParaRPr lang="zh-TW" altLang="en-US" sz="12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chemeClr val="tx1"/>
                          </a:solidFill>
                          <a:effectLst>
                            <a:outerShdw blurRad="38100" dist="38100" dir="2700000" algn="tl">
                              <a:srgbClr val="000000">
                                <a:alpha val="43137"/>
                              </a:srgbClr>
                            </a:outerShdw>
                          </a:effectLst>
                        </a:rPr>
                        <a:t>運作能力</a:t>
                      </a:r>
                      <a:endParaRPr lang="en-US" altLang="zh-TW" sz="12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a:solidFill>
                            <a:schemeClr val="tx1"/>
                          </a:solidFill>
                          <a:effectLst>
                            <a:outerShdw blurRad="38100" dist="38100" dir="2700000" algn="tl">
                              <a:srgbClr val="000000">
                                <a:alpha val="43137"/>
                              </a:srgbClr>
                            </a:outerShdw>
                          </a:effectLst>
                          <a:latin typeface="+mn-lt"/>
                          <a:ea typeface="+mn-ea"/>
                          <a:cs typeface="+mn-cs"/>
                        </a:rPr>
                        <a:t>Operational Capabilities</a:t>
                      </a:r>
                      <a:endParaRPr lang="zh-TW" altLang="en-US" sz="12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chemeClr val="tx1"/>
                          </a:solidFill>
                          <a:effectLst>
                            <a:outerShdw blurRad="38100" dist="38100" dir="2700000" algn="tl">
                              <a:srgbClr val="000000">
                                <a:alpha val="43137"/>
                              </a:srgbClr>
                            </a:outerShdw>
                          </a:effectLst>
                        </a:rPr>
                        <a:t>安全領域</a:t>
                      </a:r>
                      <a:endParaRPr lang="en-US" altLang="zh-TW" sz="12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a:solidFill>
                            <a:schemeClr val="tx1"/>
                          </a:solidFill>
                          <a:effectLst>
                            <a:outerShdw blurRad="38100" dist="38100" dir="2700000" algn="tl">
                              <a:srgbClr val="000000">
                                <a:alpha val="43137"/>
                              </a:srgbClr>
                            </a:outerShdw>
                          </a:effectLst>
                          <a:latin typeface="+mn-lt"/>
                          <a:ea typeface="+mn-ea"/>
                          <a:cs typeface="+mn-cs"/>
                        </a:rPr>
                        <a:t>Security Domains</a:t>
                      </a:r>
                      <a:endParaRPr lang="zh-TW" altLang="en-US" sz="12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563078"/>
                  </a:ext>
                </a:extLst>
              </a:tr>
              <a:tr h="278130">
                <a:tc>
                  <a:txBody>
                    <a:bodyPr/>
                    <a:lstStyle/>
                    <a:p>
                      <a:r>
                        <a:rPr lang="en-US" altLang="zh-TW" sz="1800" b="1" dirty="0">
                          <a:solidFill>
                            <a:schemeClr val="tx1"/>
                          </a:solidFill>
                          <a:effectLst>
                            <a:outerShdw blurRad="38100" dist="38100" dir="2700000" algn="tl">
                              <a:srgbClr val="000000">
                                <a:alpha val="43137"/>
                              </a:srgbClr>
                            </a:outerShdw>
                          </a:effectLst>
                        </a:rPr>
                        <a:t>Preventive</a:t>
                      </a: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b="1" dirty="0">
                          <a:solidFill>
                            <a:schemeClr val="tx1"/>
                          </a:solidFill>
                          <a:effectLst>
                            <a:outerShdw blurRad="38100" dist="38100" dir="2700000" algn="tl">
                              <a:srgbClr val="000000">
                                <a:alpha val="43137"/>
                              </a:srgbClr>
                            </a:outerShdw>
                          </a:effectLst>
                        </a:rPr>
                        <a:t>Confidentiality</a:t>
                      </a: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b="1" dirty="0">
                          <a:solidFill>
                            <a:schemeClr val="tx1"/>
                          </a:solidFill>
                          <a:effectLst>
                            <a:outerShdw blurRad="38100" dist="38100" dir="2700000" algn="tl">
                              <a:srgbClr val="000000">
                                <a:alpha val="43137"/>
                              </a:srgbClr>
                            </a:outerShdw>
                          </a:effectLst>
                        </a:rPr>
                        <a:t>Protect </a:t>
                      </a:r>
                      <a:endParaRPr lang="zh-TW" altLang="en-US" sz="18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err="1">
                          <a:solidFill>
                            <a:schemeClr val="tx1"/>
                          </a:solidFill>
                          <a:effectLst>
                            <a:outerShdw blurRad="38100" dist="38100" dir="2700000" algn="tl">
                              <a:srgbClr val="000000">
                                <a:alpha val="43137"/>
                              </a:srgbClr>
                            </a:outerShdw>
                          </a:effectLst>
                        </a:rPr>
                        <a:t>Information_protection</a:t>
                      </a:r>
                      <a:r>
                        <a:rPr lang="en-US" altLang="zh-TW" sz="1400" b="1" dirty="0">
                          <a:solidFill>
                            <a:schemeClr val="tx1"/>
                          </a:solidFill>
                          <a:effectLst>
                            <a:outerShdw blurRad="38100" dist="38100" dir="2700000" algn="tl">
                              <a:srgbClr val="000000">
                                <a:alpha val="43137"/>
                              </a:srgbClr>
                            </a:outerShdw>
                          </a:effectLst>
                        </a:rPr>
                        <a:t> </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tx1"/>
                          </a:solidFill>
                          <a:effectLst>
                            <a:outerShdw blurRad="38100" dist="38100" dir="2700000" algn="tl">
                              <a:srgbClr val="000000">
                                <a:alpha val="43137"/>
                              </a:srgbClr>
                            </a:outerShdw>
                          </a:effectLst>
                        </a:rPr>
                        <a:t>Protection</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4330969"/>
                  </a:ext>
                </a:extLst>
              </a:tr>
            </a:tbl>
          </a:graphicData>
        </a:graphic>
      </p:graphicFrame>
      <p:sp>
        <p:nvSpPr>
          <p:cNvPr id="7" name="矩形 6"/>
          <p:cNvSpPr/>
          <p:nvPr/>
        </p:nvSpPr>
        <p:spPr>
          <a:xfrm>
            <a:off x="2446020" y="4688065"/>
            <a:ext cx="4572000" cy="507831"/>
          </a:xfrm>
          <a:prstGeom prst="rect">
            <a:avLst/>
          </a:prstGeom>
        </p:spPr>
        <p:txBody>
          <a:bodyPr>
            <a:spAutoFit/>
          </a:bodyPr>
          <a:lstStyle/>
          <a:p>
            <a:r>
              <a:rPr lang="zh-TW" altLang="en-US" sz="1350" dirty="0"/>
              <a:t>。</a:t>
            </a:r>
          </a:p>
          <a:p>
            <a:r>
              <a:rPr lang="zh-TW" altLang="en-US" sz="1350" dirty="0"/>
              <a:t>。</a:t>
            </a:r>
          </a:p>
        </p:txBody>
      </p:sp>
      <p:graphicFrame>
        <p:nvGraphicFramePr>
          <p:cNvPr id="8" name="表格 7"/>
          <p:cNvGraphicFramePr>
            <a:graphicFrameLocks noGrp="1"/>
          </p:cNvGraphicFramePr>
          <p:nvPr>
            <p:extLst>
              <p:ext uri="{D42A27DB-BD31-4B8C-83A1-F6EECF244321}">
                <p14:modId xmlns:p14="http://schemas.microsoft.com/office/powerpoint/2010/main" val="1231186001"/>
              </p:ext>
            </p:extLst>
          </p:nvPr>
        </p:nvGraphicFramePr>
        <p:xfrm>
          <a:off x="201248" y="2305985"/>
          <a:ext cx="8809527" cy="3604260"/>
        </p:xfrm>
        <a:graphic>
          <a:graphicData uri="http://schemas.openxmlformats.org/drawingml/2006/table">
            <a:tbl>
              <a:tblPr firstRow="1" bandRow="1">
                <a:tableStyleId>{5C22544A-7EE6-4342-B048-85BDC9FD1C3A}</a:tableStyleId>
              </a:tblPr>
              <a:tblGrid>
                <a:gridCol w="1179721">
                  <a:extLst>
                    <a:ext uri="{9D8B030D-6E8A-4147-A177-3AD203B41FA5}">
                      <a16:colId xmlns:a16="http://schemas.microsoft.com/office/drawing/2014/main" val="3005758008"/>
                    </a:ext>
                  </a:extLst>
                </a:gridCol>
                <a:gridCol w="7629806">
                  <a:extLst>
                    <a:ext uri="{9D8B030D-6E8A-4147-A177-3AD203B41FA5}">
                      <a16:colId xmlns:a16="http://schemas.microsoft.com/office/drawing/2014/main" val="1103678614"/>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040331893"/>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控制措施</a:t>
                      </a:r>
                      <a:endParaRPr lang="en-US" altLang="zh-TW" sz="14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latin typeface="+mn-lt"/>
                          <a:ea typeface="+mn-ea"/>
                          <a:cs typeface="+mn-cs"/>
                        </a:rPr>
                        <a:t>Control</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t>宜使用</a:t>
                      </a:r>
                      <a:r>
                        <a:rPr lang="zh-TW" altLang="en-US" sz="1600" b="1" dirty="0">
                          <a:solidFill>
                            <a:srgbClr val="FF0000"/>
                          </a:solidFill>
                          <a:effectLst>
                            <a:outerShdw blurRad="38100" dist="38100" dir="2700000" algn="tl">
                              <a:srgbClr val="000000">
                                <a:alpha val="43137"/>
                              </a:srgbClr>
                            </a:outerShdw>
                          </a:effectLst>
                        </a:rPr>
                        <a:t>資料遮蔽</a:t>
                      </a:r>
                      <a:r>
                        <a:rPr lang="en-US" altLang="zh-TW" sz="1600" dirty="0"/>
                        <a:t>,</a:t>
                      </a:r>
                      <a:r>
                        <a:rPr lang="zh-TW" altLang="en-US" sz="1600" dirty="0"/>
                        <a:t>依組織關於存取控制之主題特定政策及其他相關的主題特定政策</a:t>
                      </a:r>
                      <a:r>
                        <a:rPr lang="en-US" altLang="zh-TW" sz="1600" dirty="0"/>
                        <a:t>,</a:t>
                      </a:r>
                      <a:r>
                        <a:rPr lang="zh-TW" altLang="en-US" sz="1600" dirty="0"/>
                        <a:t>以及營運要求事項 </a:t>
                      </a:r>
                      <a:r>
                        <a:rPr lang="en-US" altLang="zh-TW" sz="1600" dirty="0"/>
                        <a:t>,</a:t>
                      </a:r>
                      <a:r>
                        <a:rPr lang="zh-TW" altLang="en-US" sz="1600" dirty="0"/>
                        <a:t>並將適用法令納入考量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455856"/>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目的</a:t>
                      </a:r>
                      <a:r>
                        <a:rPr lang="en-US" altLang="zh-TW" sz="1400" b="1" i="0" kern="1200" dirty="0">
                          <a:solidFill>
                            <a:schemeClr val="dk1"/>
                          </a:solidFill>
                          <a:effectLst/>
                          <a:latin typeface="+mn-lt"/>
                          <a:ea typeface="+mn-ea"/>
                          <a:cs typeface="+mn-cs"/>
                        </a:rPr>
                        <a:t> Purpose</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t>限制內含 </a:t>
                      </a:r>
                      <a:r>
                        <a:rPr lang="en-US" altLang="zh-TW" sz="1600" dirty="0"/>
                        <a:t>PII </a:t>
                      </a:r>
                      <a:r>
                        <a:rPr lang="zh-TW" altLang="en-US" sz="1600" dirty="0"/>
                        <a:t>之 敏感性資料的暴露</a:t>
                      </a:r>
                      <a:r>
                        <a:rPr lang="en-US" altLang="zh-TW" sz="1600" dirty="0"/>
                        <a:t>,</a:t>
                      </a:r>
                      <a:r>
                        <a:rPr lang="zh-TW" altLang="en-US" sz="1600" dirty="0"/>
                        <a:t>並遵循法律、法令、法規及契約的要 求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6706782"/>
                  </a:ext>
                </a:extLst>
              </a:tr>
              <a:tr h="8915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指引</a:t>
                      </a:r>
                      <a:endParaRPr lang="en-US" altLang="zh-TW" sz="14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tx1"/>
                          </a:solidFill>
                          <a:effectLst>
                            <a:outerShdw blurRad="38100" dist="38100" dir="2700000" algn="tl">
                              <a:srgbClr val="000000">
                                <a:alpha val="43137"/>
                              </a:srgbClr>
                            </a:outerShdw>
                          </a:effectLst>
                        </a:rPr>
                        <a:t>Guidance</a:t>
                      </a:r>
                      <a:endParaRPr lang="zh-TW" altLang="en-US" sz="1400" b="1" dirty="0">
                        <a:solidFill>
                          <a:schemeClr val="tx1"/>
                        </a:solidFill>
                        <a:effectLst>
                          <a:outerShdw blurRad="38100" dist="38100" dir="2700000" algn="tl">
                            <a:srgbClr val="000000">
                              <a:alpha val="43137"/>
                            </a:srgbClr>
                          </a:outerShdw>
                        </a:effectLst>
                      </a:endParaRPr>
                    </a:p>
                    <a:p>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於考量敏感性資料 </a:t>
                      </a:r>
                      <a:r>
                        <a:rPr lang="en-US" altLang="zh-TW" sz="1600" dirty="0"/>
                        <a:t>(</a:t>
                      </a:r>
                      <a:r>
                        <a:rPr lang="zh-TW" altLang="en-US" sz="1600" dirty="0"/>
                        <a:t>例</a:t>
                      </a:r>
                      <a:r>
                        <a:rPr lang="en-US" altLang="zh-TW" sz="1600" dirty="0"/>
                        <a:t>:PII)</a:t>
                      </a:r>
                      <a:r>
                        <a:rPr lang="zh-TW" altLang="en-US" sz="1600" dirty="0"/>
                        <a:t>之保護的情況下</a:t>
                      </a:r>
                      <a:r>
                        <a:rPr lang="en-US" altLang="zh-TW" sz="1600" dirty="0"/>
                        <a:t>,</a:t>
                      </a:r>
                      <a:r>
                        <a:rPr lang="zh-TW" altLang="en-US" sz="1600" dirty="0"/>
                        <a:t>組織宜考量使用諸如</a:t>
                      </a:r>
                      <a:r>
                        <a:rPr lang="zh-TW" altLang="en-US" sz="1600" b="1" dirty="0">
                          <a:solidFill>
                            <a:srgbClr val="FF0000"/>
                          </a:solidFill>
                          <a:effectLst>
                            <a:outerShdw blurRad="38100" dist="38100" dir="2700000" algn="tl">
                              <a:srgbClr val="000000">
                                <a:alpha val="43137"/>
                              </a:srgbClr>
                            </a:outerShdw>
                          </a:effectLst>
                        </a:rPr>
                        <a:t>資料遮蔽 </a:t>
                      </a:r>
                      <a:r>
                        <a:rPr lang="en-US" altLang="zh-TW" sz="1600" b="1" dirty="0">
                          <a:solidFill>
                            <a:srgbClr val="FF0000"/>
                          </a:solidFill>
                          <a:effectLst>
                            <a:outerShdw blurRad="38100" dist="38100" dir="2700000" algn="tl">
                              <a:srgbClr val="000000">
                                <a:alpha val="43137"/>
                              </a:srgbClr>
                            </a:outerShdw>
                          </a:effectLst>
                        </a:rPr>
                        <a:t>(data masking)</a:t>
                      </a:r>
                      <a:r>
                        <a:rPr lang="zh-TW" altLang="en-US" sz="1600" dirty="0"/>
                        <a:t>、 </a:t>
                      </a:r>
                      <a:r>
                        <a:rPr lang="zh-TW" altLang="en-US" sz="1600" b="1" dirty="0">
                          <a:solidFill>
                            <a:srgbClr val="FF0000"/>
                          </a:solidFill>
                          <a:effectLst>
                            <a:outerShdw blurRad="38100" dist="38100" dir="2700000" algn="tl">
                              <a:srgbClr val="000000">
                                <a:alpha val="43137"/>
                              </a:srgbClr>
                            </a:outerShdw>
                          </a:effectLst>
                        </a:rPr>
                        <a:t>假名化 </a:t>
                      </a:r>
                      <a:r>
                        <a:rPr lang="en-US" altLang="zh-TW" sz="1600" b="1" dirty="0">
                          <a:solidFill>
                            <a:srgbClr val="FF0000"/>
                          </a:solidFill>
                          <a:effectLst>
                            <a:outerShdw blurRad="38100" dist="38100" dir="2700000" algn="tl">
                              <a:srgbClr val="000000">
                                <a:alpha val="43137"/>
                              </a:srgbClr>
                            </a:outerShdw>
                          </a:effectLst>
                        </a:rPr>
                        <a:t>(</a:t>
                      </a:r>
                      <a:r>
                        <a:rPr lang="en-US" altLang="zh-TW" sz="1600" b="1" dirty="0" err="1">
                          <a:solidFill>
                            <a:srgbClr val="FF0000"/>
                          </a:solidFill>
                          <a:effectLst>
                            <a:outerShdw blurRad="38100" dist="38100" dir="2700000" algn="tl">
                              <a:srgbClr val="000000">
                                <a:alpha val="43137"/>
                              </a:srgbClr>
                            </a:outerShdw>
                          </a:effectLst>
                        </a:rPr>
                        <a:t>pseudonymization</a:t>
                      </a:r>
                      <a:r>
                        <a:rPr lang="en-US" altLang="zh-TW" sz="1600" b="1" dirty="0">
                          <a:solidFill>
                            <a:srgbClr val="FF0000"/>
                          </a:solidFill>
                          <a:effectLst>
                            <a:outerShdw blurRad="38100" dist="38100" dir="2700000" algn="tl">
                              <a:srgbClr val="000000">
                                <a:alpha val="43137"/>
                              </a:srgbClr>
                            </a:outerShdw>
                          </a:effectLst>
                        </a:rPr>
                        <a:t>)</a:t>
                      </a:r>
                      <a:r>
                        <a:rPr lang="zh-TW" altLang="en-US" sz="1600" dirty="0"/>
                        <a:t>或</a:t>
                      </a:r>
                      <a:r>
                        <a:rPr lang="zh-TW" altLang="en-US" sz="1600" b="1" dirty="0">
                          <a:solidFill>
                            <a:srgbClr val="FF0000"/>
                          </a:solidFill>
                          <a:effectLst>
                            <a:outerShdw blurRad="38100" dist="38100" dir="2700000" algn="tl">
                              <a:srgbClr val="000000">
                                <a:alpha val="43137"/>
                              </a:srgbClr>
                            </a:outerShdw>
                          </a:effectLst>
                        </a:rPr>
                        <a:t>匿名化 </a:t>
                      </a:r>
                      <a:r>
                        <a:rPr lang="en-US" altLang="zh-TW" sz="1600" b="1" dirty="0">
                          <a:solidFill>
                            <a:srgbClr val="FF0000"/>
                          </a:solidFill>
                          <a:effectLst>
                            <a:outerShdw blurRad="38100" dist="38100" dir="2700000" algn="tl">
                              <a:srgbClr val="000000">
                                <a:alpha val="43137"/>
                              </a:srgbClr>
                            </a:outerShdw>
                          </a:effectLst>
                        </a:rPr>
                        <a:t>(anonymization)</a:t>
                      </a:r>
                      <a:r>
                        <a:rPr lang="zh-TW" altLang="en-US" sz="1600" dirty="0"/>
                        <a:t>等技術隱藏此種資料 。</a:t>
                      </a:r>
                      <a:endParaRPr lang="en-US" altLang="zh-TW" sz="16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600" dirty="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很多</a:t>
                      </a:r>
                      <a:r>
                        <a:rPr lang="en-US" altLang="zh-TW" sz="1600" dirty="0"/>
                        <a:t>............</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342626"/>
                  </a:ext>
                </a:extLst>
              </a:tr>
              <a:tr h="1097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t>其他資訊</a:t>
                      </a:r>
                      <a:endParaRPr lang="en-US" altLang="zh-TW" sz="14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latin typeface="+mn-lt"/>
                          <a:ea typeface="+mn-ea"/>
                          <a:cs typeface="+mn-cs"/>
                        </a:rPr>
                        <a:t> Other information</a:t>
                      </a:r>
                      <a:endParaRPr lang="zh-TW" altLang="en-US" sz="1400" dirty="0"/>
                    </a:p>
                    <a:p>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n"/>
                      </a:pPr>
                      <a:r>
                        <a:rPr lang="zh-TW" altLang="en-US" sz="1600" dirty="0"/>
                        <a:t>匿名化 以不可逆方式變更 </a:t>
                      </a:r>
                      <a:r>
                        <a:rPr lang="en-US" altLang="zh-TW" sz="1600" dirty="0"/>
                        <a:t>PII,</a:t>
                      </a:r>
                      <a:r>
                        <a:rPr lang="zh-TW" altLang="en-US" sz="1600" dirty="0"/>
                        <a:t>使得不再 能直接或間接識別 </a:t>
                      </a:r>
                      <a:r>
                        <a:rPr lang="en-US" altLang="zh-TW" sz="1600" dirty="0"/>
                        <a:t>PII </a:t>
                      </a:r>
                      <a:r>
                        <a:rPr lang="zh-TW" altLang="en-US" sz="1600" dirty="0"/>
                        <a:t>當事人 。</a:t>
                      </a:r>
                    </a:p>
                    <a:p>
                      <a:pPr marL="285750" indent="-285750">
                        <a:buFont typeface="Wingdings" panose="05000000000000000000" pitchFamily="2" charset="2"/>
                        <a:buChar char="n"/>
                      </a:pPr>
                      <a:r>
                        <a:rPr lang="zh-TW" altLang="en-US" sz="1600" dirty="0"/>
                        <a:t>假名化 用別名替換識別資訊 。</a:t>
                      </a:r>
                      <a:endParaRPr lang="en-US" altLang="zh-TW" sz="1600" dirty="0"/>
                    </a:p>
                    <a:p>
                      <a:pPr marL="285750" indent="-285750">
                        <a:buFont typeface="Wingdings" panose="05000000000000000000" pitchFamily="2" charset="2"/>
                        <a:buChar char="n"/>
                      </a:pPr>
                      <a:r>
                        <a:rPr lang="zh-TW" altLang="en-US" sz="1600" dirty="0"/>
                        <a:t>用於執行假名化之演算法知識 </a:t>
                      </a:r>
                      <a:r>
                        <a:rPr lang="en-US" altLang="zh-TW" sz="1600" dirty="0"/>
                        <a:t>(</a:t>
                      </a:r>
                      <a:r>
                        <a:rPr lang="zh-TW" altLang="en-US" sz="1600" dirty="0"/>
                        <a:t>有時稱為 </a:t>
                      </a:r>
                      <a:r>
                        <a:rPr lang="en-US" altLang="zh-TW" sz="1600" dirty="0"/>
                        <a:t>〝 </a:t>
                      </a:r>
                      <a:r>
                        <a:rPr lang="zh-TW" altLang="en-US" sz="1600" dirty="0"/>
                        <a:t>額外資訊 </a:t>
                      </a:r>
                      <a:r>
                        <a:rPr lang="en-US" altLang="zh-TW" sz="1600" dirty="0"/>
                        <a:t>〞)</a:t>
                      </a:r>
                      <a:r>
                        <a:rPr lang="zh-TW" altLang="en-US" sz="1600" dirty="0"/>
                        <a:t>容 許至少以某種形式識別 </a:t>
                      </a:r>
                      <a:r>
                        <a:rPr lang="en-US" altLang="zh-TW" sz="1600" dirty="0"/>
                        <a:t>PII </a:t>
                      </a:r>
                      <a:r>
                        <a:rPr lang="zh-TW" altLang="en-US" sz="1600" dirty="0"/>
                        <a:t>當事人。</a:t>
                      </a:r>
                      <a:endParaRPr lang="en-US" altLang="zh-TW" sz="1600" dirty="0"/>
                    </a:p>
                    <a:p>
                      <a:pPr marL="285750" indent="-285750">
                        <a:buFont typeface="Wingdings" panose="05000000000000000000" pitchFamily="2" charset="2"/>
                        <a:buChar char="n"/>
                      </a:pPr>
                      <a:r>
                        <a:rPr lang="zh-TW" altLang="en-US" sz="1600" dirty="0"/>
                        <a:t>因 此</a:t>
                      </a:r>
                      <a:r>
                        <a:rPr lang="en-US" altLang="zh-TW" sz="1600" dirty="0"/>
                        <a:t>,</a:t>
                      </a:r>
                      <a:r>
                        <a:rPr lang="zh-TW" altLang="en-US" sz="1600" dirty="0"/>
                        <a:t>此等</a:t>
                      </a:r>
                      <a:r>
                        <a:rPr lang="en-US" altLang="zh-TW" sz="1600" dirty="0"/>
                        <a:t>〝 </a:t>
                      </a:r>
                      <a:r>
                        <a:rPr lang="zh-TW" altLang="en-US" sz="1600" dirty="0"/>
                        <a:t>額 外 資 訊 </a:t>
                      </a:r>
                      <a:r>
                        <a:rPr lang="en-US" altLang="zh-TW" sz="1600" dirty="0"/>
                        <a:t>〞</a:t>
                      </a:r>
                      <a:r>
                        <a:rPr lang="zh-TW" altLang="en-US" sz="1600" dirty="0"/>
                        <a:t>宜分開保存並受保護。</a:t>
                      </a:r>
                      <a:endParaRPr lang="en-US" altLang="zh-TW" sz="1600" dirty="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dirty="0"/>
                        <a:t>很多</a:t>
                      </a:r>
                      <a:r>
                        <a:rPr lang="en-US" altLang="zh-TW" sz="1600" dirty="0"/>
                        <a:t>............</a:t>
                      </a:r>
                      <a:endParaRPr lang="zh-TW" altLang="en-US" sz="16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728274"/>
                  </a:ext>
                </a:extLst>
              </a:tr>
            </a:tbl>
          </a:graphicData>
        </a:graphic>
      </p:graphicFrame>
      <p:sp>
        <p:nvSpPr>
          <p:cNvPr id="10" name="矩形 9"/>
          <p:cNvSpPr/>
          <p:nvPr/>
        </p:nvSpPr>
        <p:spPr>
          <a:xfrm>
            <a:off x="251760" y="6196971"/>
            <a:ext cx="7069455" cy="300082"/>
          </a:xfrm>
          <a:prstGeom prst="rect">
            <a:avLst/>
          </a:prstGeom>
        </p:spPr>
        <p:txBody>
          <a:bodyPr wrap="square">
            <a:spAutoFit/>
          </a:bodyPr>
          <a:lstStyle/>
          <a:p>
            <a:r>
              <a:rPr lang="en-US" altLang="zh-TW" sz="1350" dirty="0"/>
              <a:t>https://www.advantio.com/blog/whats-new-in-iso/iec-27002-2022-updates</a:t>
            </a:r>
            <a:endParaRPr lang="zh-TW" altLang="en-US" sz="1350" dirty="0"/>
          </a:p>
        </p:txBody>
      </p:sp>
      <p:sp>
        <p:nvSpPr>
          <p:cNvPr id="11" name="矩形 10"/>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36</a:t>
            </a:fld>
            <a:endParaRPr lang="zh-TW" altLang="en-US" dirty="0"/>
          </a:p>
        </p:txBody>
      </p:sp>
    </p:spTree>
    <p:extLst>
      <p:ext uri="{BB962C8B-B14F-4D97-AF65-F5344CB8AC3E}">
        <p14:creationId xmlns:p14="http://schemas.microsoft.com/office/powerpoint/2010/main" val="1021220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7292" y="510149"/>
            <a:ext cx="8986471" cy="1892826"/>
          </a:xfrm>
          <a:prstGeom prst="rect">
            <a:avLst/>
          </a:prstGeom>
        </p:spPr>
        <p:txBody>
          <a:bodyPr wrap="square">
            <a:spAutoFit/>
          </a:bodyPr>
          <a:lstStyle/>
          <a:p>
            <a:r>
              <a:rPr lang="zh-TW" altLang="en-US" sz="2700" b="1" dirty="0" smtClean="0">
                <a:effectLst>
                  <a:outerShdw blurRad="38100" dist="38100" dir="2700000" algn="tl">
                    <a:srgbClr val="000000">
                      <a:alpha val="43137"/>
                    </a:srgbClr>
                  </a:outerShdw>
                </a:effectLst>
              </a:rPr>
              <a:t>指引</a:t>
            </a:r>
            <a:r>
              <a:rPr lang="en-US" altLang="zh-TW" sz="2700" b="1" dirty="0" smtClean="0">
                <a:effectLst>
                  <a:outerShdw blurRad="38100" dist="38100" dir="2700000" algn="tl">
                    <a:srgbClr val="000000">
                      <a:alpha val="43137"/>
                    </a:srgbClr>
                  </a:outerShdw>
                </a:effectLst>
              </a:rPr>
              <a:t>(Guidance):</a:t>
            </a:r>
          </a:p>
          <a:p>
            <a:pPr marL="214313" indent="-214313">
              <a:buFont typeface="Wingdings" panose="05000000000000000000" pitchFamily="2" charset="2"/>
              <a:buChar char="n"/>
            </a:pPr>
            <a:r>
              <a:rPr lang="zh-TW" altLang="en-US" dirty="0"/>
              <a:t>假名化或匿名化技術可隱 藏 </a:t>
            </a:r>
            <a:r>
              <a:rPr lang="en-US" altLang="zh-TW" dirty="0"/>
              <a:t>PII,</a:t>
            </a:r>
            <a:r>
              <a:rPr lang="zh-TW" altLang="en-US" dirty="0"/>
              <a:t>偽 裝 </a:t>
            </a:r>
            <a:r>
              <a:rPr lang="en-US" altLang="zh-TW" dirty="0"/>
              <a:t>PII </a:t>
            </a:r>
            <a:r>
              <a:rPr lang="zh-TW" altLang="en-US" dirty="0"/>
              <a:t>當事人之真實身分或其他敏感性資訊 </a:t>
            </a:r>
            <a:r>
              <a:rPr lang="en-US" altLang="zh-TW" dirty="0"/>
              <a:t>,</a:t>
            </a:r>
            <a:r>
              <a:rPr lang="zh-TW" altLang="en-US" dirty="0"/>
              <a:t>切 斷 </a:t>
            </a:r>
            <a:r>
              <a:rPr lang="en-US" altLang="zh-TW" dirty="0"/>
              <a:t>PII </a:t>
            </a:r>
            <a:r>
              <a:rPr lang="zh-TW" altLang="en-US" dirty="0"/>
              <a:t>與 </a:t>
            </a:r>
            <a:r>
              <a:rPr lang="en-US" altLang="zh-TW" dirty="0"/>
              <a:t>PII </a:t>
            </a:r>
            <a:r>
              <a:rPr lang="zh-TW" altLang="en-US" dirty="0"/>
              <a:t>當事人 身分間的連結 </a:t>
            </a:r>
            <a:r>
              <a:rPr lang="en-US" altLang="zh-TW" dirty="0"/>
              <a:t>, </a:t>
            </a:r>
            <a:r>
              <a:rPr lang="zh-TW" altLang="en-US" dirty="0"/>
              <a:t>或其他敏感性資訊之間的連結。</a:t>
            </a:r>
          </a:p>
          <a:p>
            <a:pPr marL="214313" indent="-214313">
              <a:buFont typeface="Wingdings" panose="05000000000000000000" pitchFamily="2" charset="2"/>
              <a:buChar char="n"/>
            </a:pPr>
            <a:r>
              <a:rPr lang="zh-TW" altLang="en-US" dirty="0"/>
              <a:t>使用假名化或匿名化技術時</a:t>
            </a:r>
            <a:r>
              <a:rPr lang="en-US" altLang="zh-TW" dirty="0"/>
              <a:t>,</a:t>
            </a:r>
            <a:r>
              <a:rPr lang="zh-TW" altLang="en-US" dirty="0"/>
              <a:t>宜查證資料是否已充分假名化或匿名化。</a:t>
            </a:r>
            <a:endParaRPr lang="en-US" altLang="zh-TW" dirty="0"/>
          </a:p>
          <a:p>
            <a:pPr marL="214313" indent="-214313">
              <a:buFont typeface="Wingdings" panose="05000000000000000000" pitchFamily="2" charset="2"/>
              <a:buChar char="n"/>
            </a:pPr>
            <a:r>
              <a:rPr lang="zh-TW" altLang="en-US" dirty="0"/>
              <a:t>資料匿名化宜考量敏感性資訊之所有元素皆屬有效。例</a:t>
            </a:r>
            <a:r>
              <a:rPr lang="en-US" altLang="zh-TW" dirty="0"/>
              <a:t>:</a:t>
            </a:r>
            <a:r>
              <a:rPr lang="zh-TW" altLang="en-US" dirty="0"/>
              <a:t>若考量不周</a:t>
            </a:r>
            <a:r>
              <a:rPr lang="en-US" altLang="zh-TW" dirty="0"/>
              <a:t>,</a:t>
            </a:r>
            <a:r>
              <a:rPr lang="zh-TW" altLang="en-US" dirty="0"/>
              <a:t>即使可直接識別某人之資料已匿名化</a:t>
            </a:r>
            <a:r>
              <a:rPr lang="en-US" altLang="zh-TW" dirty="0"/>
              <a:t>,</a:t>
            </a:r>
            <a:r>
              <a:rPr lang="zh-TW" altLang="en-US" dirty="0"/>
              <a:t>則 亦可藉由出現之容許間接識別其人的進一步資料</a:t>
            </a:r>
            <a:r>
              <a:rPr lang="en-US" altLang="zh-TW" dirty="0"/>
              <a:t>,</a:t>
            </a:r>
            <a:r>
              <a:rPr lang="zh-TW" altLang="en-US" dirty="0"/>
              <a:t>識別該人 </a:t>
            </a:r>
            <a:r>
              <a:rPr lang="zh-TW" altLang="en-US" dirty="0" smtClean="0"/>
              <a:t>。</a:t>
            </a:r>
            <a:endParaRPr lang="zh-TW" altLang="en-US" dirty="0"/>
          </a:p>
        </p:txBody>
      </p:sp>
      <p:sp>
        <p:nvSpPr>
          <p:cNvPr id="7" name="矩形 6"/>
          <p:cNvSpPr/>
          <p:nvPr/>
        </p:nvSpPr>
        <p:spPr>
          <a:xfrm>
            <a:off x="182653" y="2535126"/>
            <a:ext cx="7898130" cy="1846659"/>
          </a:xfrm>
          <a:prstGeom prst="rect">
            <a:avLst/>
          </a:prstGeom>
          <a:solidFill>
            <a:schemeClr val="accent6">
              <a:lumMod val="20000"/>
              <a:lumOff val="80000"/>
            </a:schemeClr>
          </a:solidFill>
        </p:spPr>
        <p:txBody>
          <a:bodyPr wrap="square">
            <a:spAutoFit/>
          </a:bodyPr>
          <a:lstStyle/>
          <a:p>
            <a:r>
              <a:rPr lang="zh-TW" altLang="en-US" sz="2400" dirty="0"/>
              <a:t>資料遮蔽之額外技術 </a:t>
            </a:r>
            <a:r>
              <a:rPr lang="zh-TW" altLang="en-US" sz="1350" dirty="0"/>
              <a:t>包括 </a:t>
            </a:r>
            <a:r>
              <a:rPr lang="en-US" altLang="zh-TW" sz="1350" dirty="0" smtClean="0"/>
              <a:t>:</a:t>
            </a:r>
            <a:endParaRPr lang="en-US" altLang="zh-TW" sz="1350" dirty="0"/>
          </a:p>
          <a:p>
            <a:r>
              <a:rPr lang="en-US" altLang="zh-TW" dirty="0"/>
              <a:t>1.</a:t>
            </a:r>
            <a:r>
              <a:rPr lang="zh-TW" altLang="en-US" dirty="0"/>
              <a:t>加密 </a:t>
            </a:r>
            <a:r>
              <a:rPr lang="en-US" altLang="zh-TW" dirty="0"/>
              <a:t>(</a:t>
            </a:r>
            <a:r>
              <a:rPr lang="zh-TW" altLang="en-US" dirty="0"/>
              <a:t>要求僅經授權之使用者持有金鑰</a:t>
            </a:r>
            <a:r>
              <a:rPr lang="en-US" altLang="zh-TW" dirty="0"/>
              <a:t>)</a:t>
            </a:r>
            <a:r>
              <a:rPr lang="zh-TW" altLang="en-US" dirty="0"/>
              <a:t>。</a:t>
            </a:r>
          </a:p>
          <a:p>
            <a:r>
              <a:rPr lang="en-US" altLang="zh-TW" dirty="0"/>
              <a:t>2.</a:t>
            </a:r>
            <a:r>
              <a:rPr lang="zh-TW" altLang="en-US" dirty="0"/>
              <a:t>清空或刪除字元 </a:t>
            </a:r>
            <a:r>
              <a:rPr lang="en-US" altLang="zh-TW" dirty="0"/>
              <a:t>(</a:t>
            </a:r>
            <a:r>
              <a:rPr lang="zh-TW" altLang="en-US" dirty="0"/>
              <a:t>防止未經授權 之使用者看到完整訊息</a:t>
            </a:r>
            <a:r>
              <a:rPr lang="en-US" altLang="zh-TW" dirty="0"/>
              <a:t>)</a:t>
            </a:r>
            <a:r>
              <a:rPr lang="zh-TW" altLang="en-US" dirty="0"/>
              <a:t>。</a:t>
            </a:r>
          </a:p>
          <a:p>
            <a:r>
              <a:rPr lang="en-US" altLang="zh-TW" dirty="0"/>
              <a:t>3.</a:t>
            </a:r>
            <a:r>
              <a:rPr lang="zh-TW" altLang="en-US" dirty="0"/>
              <a:t>變更數字及日期 。</a:t>
            </a:r>
          </a:p>
          <a:p>
            <a:r>
              <a:rPr lang="en-US" altLang="zh-TW" dirty="0"/>
              <a:t>4.</a:t>
            </a:r>
            <a:r>
              <a:rPr lang="zh-TW" altLang="en-US" dirty="0"/>
              <a:t>替換 </a:t>
            </a:r>
            <a:r>
              <a:rPr lang="en-US" altLang="zh-TW" dirty="0"/>
              <a:t>(</a:t>
            </a:r>
            <a:r>
              <a:rPr lang="zh-TW" altLang="en-US" dirty="0"/>
              <a:t>將一值變更為另 一 值以隱藏敏感性資料 </a:t>
            </a:r>
            <a:r>
              <a:rPr lang="en-US" altLang="zh-TW" dirty="0"/>
              <a:t>)</a:t>
            </a:r>
            <a:r>
              <a:rPr lang="zh-TW" altLang="en-US" dirty="0"/>
              <a:t>。</a:t>
            </a:r>
          </a:p>
          <a:p>
            <a:r>
              <a:rPr lang="en-US" altLang="zh-TW" dirty="0"/>
              <a:t>5.</a:t>
            </a:r>
            <a:r>
              <a:rPr lang="zh-TW" altLang="en-US" dirty="0"/>
              <a:t>以雜湊值替換原值 。</a:t>
            </a:r>
          </a:p>
        </p:txBody>
      </p:sp>
      <p:sp>
        <p:nvSpPr>
          <p:cNvPr id="8" name="矩形 7"/>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9" name="矩形 8"/>
          <p:cNvSpPr/>
          <p:nvPr/>
        </p:nvSpPr>
        <p:spPr>
          <a:xfrm>
            <a:off x="119062" y="4513936"/>
            <a:ext cx="8789670" cy="1915909"/>
          </a:xfrm>
          <a:prstGeom prst="rect">
            <a:avLst/>
          </a:prstGeom>
        </p:spPr>
        <p:txBody>
          <a:bodyPr wrap="square">
            <a:spAutoFit/>
          </a:bodyPr>
          <a:lstStyle/>
          <a:p>
            <a:r>
              <a:rPr lang="zh-TW" altLang="en-US" sz="2400" b="1" dirty="0">
                <a:effectLst>
                  <a:outerShdw blurRad="38100" dist="38100" dir="2700000" algn="tl">
                    <a:srgbClr val="000000">
                      <a:alpha val="43137"/>
                    </a:srgbClr>
                  </a:outerShdw>
                </a:effectLst>
              </a:rPr>
              <a:t>實作考量事項 </a:t>
            </a:r>
            <a:r>
              <a:rPr lang="en-US" altLang="zh-TW" sz="1350" dirty="0"/>
              <a:t>== &gt; </a:t>
            </a:r>
            <a:r>
              <a:rPr lang="zh-TW" altLang="en-US" sz="1350" dirty="0"/>
              <a:t>實作資料遮蔽 技術時</a:t>
            </a:r>
            <a:r>
              <a:rPr lang="en-US" altLang="zh-TW" sz="1350" dirty="0"/>
              <a:t>, </a:t>
            </a:r>
            <a:r>
              <a:rPr lang="zh-TW" altLang="en-US" sz="1350" dirty="0"/>
              <a:t>宜考量下列事項 </a:t>
            </a:r>
            <a:r>
              <a:rPr lang="en-US" altLang="zh-TW" sz="1350" dirty="0" smtClean="0"/>
              <a:t>:</a:t>
            </a:r>
            <a:endParaRPr lang="en-US" altLang="zh-TW" sz="1350" dirty="0"/>
          </a:p>
          <a:p>
            <a:r>
              <a:rPr lang="en-US" altLang="zh-TW" sz="1350" dirty="0"/>
              <a:t>1.</a:t>
            </a:r>
            <a:r>
              <a:rPr lang="zh-TW" altLang="en-US" sz="1350" dirty="0"/>
              <a:t>不 對所有使用者 授予存取所有資料之權限</a:t>
            </a:r>
            <a:r>
              <a:rPr lang="en-US" altLang="zh-TW" sz="1350" dirty="0"/>
              <a:t>,</a:t>
            </a:r>
            <a:r>
              <a:rPr lang="zh-TW" altLang="en-US" sz="1350" dirty="0"/>
              <a:t>因此設計查詢及遮 罩 </a:t>
            </a:r>
            <a:r>
              <a:rPr lang="en-US" altLang="zh-TW" sz="1350" dirty="0"/>
              <a:t>, </a:t>
            </a:r>
            <a:r>
              <a:rPr lang="zh-TW" altLang="en-US" sz="1350" dirty="0"/>
              <a:t>以便僅向使用者顯示所要求</a:t>
            </a:r>
            <a:r>
              <a:rPr lang="zh-TW" altLang="en-US" sz="1350" b="1" dirty="0">
                <a:solidFill>
                  <a:srgbClr val="FF0000"/>
                </a:solidFill>
                <a:effectLst>
                  <a:outerShdw blurRad="38100" dist="38100" dir="2700000" algn="tl">
                    <a:srgbClr val="000000">
                      <a:alpha val="43137"/>
                    </a:srgbClr>
                  </a:outerShdw>
                </a:effectLst>
              </a:rPr>
              <a:t>的最少資料</a:t>
            </a:r>
            <a:r>
              <a:rPr lang="zh-TW" altLang="en-US" sz="1350" dirty="0"/>
              <a:t>。</a:t>
            </a:r>
          </a:p>
          <a:p>
            <a:r>
              <a:rPr lang="en-US" altLang="zh-TW" sz="1350" dirty="0"/>
              <a:t>2.</a:t>
            </a:r>
            <a:r>
              <a:rPr lang="zh-TW" altLang="en-US" sz="1350" b="1" dirty="0">
                <a:solidFill>
                  <a:srgbClr val="FF0000"/>
                </a:solidFill>
                <a:effectLst>
                  <a:outerShdw blurRad="38100" dist="38100" dir="2700000" algn="tl">
                    <a:srgbClr val="000000">
                      <a:alpha val="43137"/>
                    </a:srgbClr>
                  </a:outerShdw>
                </a:effectLst>
              </a:rPr>
              <a:t>資料模糊化 </a:t>
            </a:r>
            <a:r>
              <a:rPr lang="en-US" altLang="zh-TW" sz="1350" b="1" dirty="0">
                <a:solidFill>
                  <a:srgbClr val="FF0000"/>
                </a:solidFill>
                <a:effectLst>
                  <a:outerShdw blurRad="38100" dist="38100" dir="2700000" algn="tl">
                    <a:srgbClr val="000000">
                      <a:alpha val="43137"/>
                    </a:srgbClr>
                  </a:outerShdw>
                </a:effectLst>
              </a:rPr>
              <a:t>(obfuscation)</a:t>
            </a:r>
            <a:r>
              <a:rPr lang="zh-TW" altLang="en-US" sz="1350" b="1" dirty="0">
                <a:solidFill>
                  <a:srgbClr val="FF0000"/>
                </a:solidFill>
                <a:effectLst>
                  <a:outerShdw blurRad="38100" dist="38100" dir="2700000" algn="tl">
                    <a:srgbClr val="000000">
                      <a:alpha val="43137"/>
                    </a:srgbClr>
                  </a:outerShdw>
                </a:effectLst>
              </a:rPr>
              <a:t>機制 </a:t>
            </a:r>
            <a:r>
              <a:rPr lang="en-US" altLang="zh-TW" sz="1350" dirty="0"/>
              <a:t>== &gt; </a:t>
            </a:r>
            <a:r>
              <a:rPr lang="zh-TW" altLang="en-US" sz="1350" dirty="0"/>
              <a:t>於某些情況下</a:t>
            </a:r>
            <a:r>
              <a:rPr lang="en-US" altLang="zh-TW" sz="1350" dirty="0"/>
              <a:t>, </a:t>
            </a:r>
            <a:r>
              <a:rPr lang="zh-TW" altLang="en-US" sz="1350" dirty="0"/>
              <a:t>不宜使資料集之 某些紀錄 的 使用者看見某 些資料 。於此情況下</a:t>
            </a:r>
            <a:r>
              <a:rPr lang="en-US" altLang="zh-TW" sz="1350" dirty="0"/>
              <a:t>,</a:t>
            </a:r>
            <a:r>
              <a:rPr lang="zh-TW" altLang="en-US" sz="1350" dirty="0"/>
              <a:t>設計並實作資料模糊化 </a:t>
            </a:r>
            <a:r>
              <a:rPr lang="en-US" altLang="zh-TW" sz="1350" dirty="0"/>
              <a:t>(obfuscation)</a:t>
            </a:r>
            <a:r>
              <a:rPr lang="zh-TW" altLang="en-US" sz="1350" dirty="0"/>
              <a:t>機制 </a:t>
            </a:r>
            <a:r>
              <a:rPr lang="en-US" altLang="zh-TW" sz="1350" dirty="0"/>
              <a:t>[</a:t>
            </a:r>
            <a:r>
              <a:rPr lang="zh-TW" altLang="en-US" sz="1350" dirty="0"/>
              <a:t>例</a:t>
            </a:r>
            <a:r>
              <a:rPr lang="en-US" altLang="zh-TW" sz="1350" dirty="0"/>
              <a:t>:</a:t>
            </a:r>
            <a:r>
              <a:rPr lang="zh-TW" altLang="en-US" sz="1350" dirty="0"/>
              <a:t>若患者不希望醫院員工 能看到其所有紀錄 </a:t>
            </a:r>
            <a:r>
              <a:rPr lang="en-US" altLang="zh-TW" sz="1350" dirty="0"/>
              <a:t>(</a:t>
            </a:r>
            <a:r>
              <a:rPr lang="zh-TW" altLang="en-US" sz="1350" dirty="0"/>
              <a:t>即使於緊急情況下 </a:t>
            </a:r>
            <a:r>
              <a:rPr lang="en-US" altLang="zh-TW" sz="1350" dirty="0"/>
              <a:t>),</a:t>
            </a:r>
            <a:r>
              <a:rPr lang="zh-TW" altLang="en-US" sz="1350" dirty="0"/>
              <a:t>則醫院 員 工 將看到部分遭 模糊化 之 資料</a:t>
            </a:r>
            <a:r>
              <a:rPr lang="en-US" altLang="zh-TW" sz="1350" dirty="0"/>
              <a:t>,</a:t>
            </a:r>
            <a:r>
              <a:rPr lang="zh-TW" altLang="en-US" sz="1350" dirty="0"/>
              <a:t>且 若資料包含對適切治療有用的資訊</a:t>
            </a:r>
            <a:r>
              <a:rPr lang="en-US" altLang="zh-TW" sz="1350" dirty="0"/>
              <a:t>,</a:t>
            </a:r>
            <a:r>
              <a:rPr lang="zh-TW" altLang="en-US" sz="1350" dirty="0"/>
              <a:t>則僅能由具特定角色之人員存取 </a:t>
            </a:r>
            <a:r>
              <a:rPr lang="en-US" altLang="zh-TW" sz="1350" dirty="0"/>
              <a:t>]</a:t>
            </a:r>
            <a:r>
              <a:rPr lang="zh-TW" altLang="en-US" sz="1350" dirty="0"/>
              <a:t>。</a:t>
            </a:r>
          </a:p>
          <a:p>
            <a:r>
              <a:rPr lang="en-US" altLang="zh-TW" sz="1350" dirty="0"/>
              <a:t>3.</a:t>
            </a:r>
            <a:r>
              <a:rPr lang="zh-TW" altLang="en-US" sz="1350" b="1" dirty="0">
                <a:solidFill>
                  <a:srgbClr val="FF0000"/>
                </a:solidFill>
                <a:effectLst>
                  <a:outerShdw blurRad="38100" dist="38100" dir="2700000" algn="tl">
                    <a:srgbClr val="000000">
                      <a:alpha val="43137"/>
                    </a:srgbClr>
                  </a:outerShdw>
                </a:effectLst>
              </a:rPr>
              <a:t>模糊化 之 模糊化  </a:t>
            </a:r>
            <a:r>
              <a:rPr lang="en-US" altLang="zh-TW" sz="1350" b="1" dirty="0">
                <a:solidFill>
                  <a:srgbClr val="FF0000"/>
                </a:solidFill>
                <a:effectLst>
                  <a:outerShdw blurRad="38100" dist="38100" dir="2700000" algn="tl">
                    <a:srgbClr val="000000">
                      <a:alpha val="43137"/>
                    </a:srgbClr>
                  </a:outerShdw>
                </a:effectLst>
              </a:rPr>
              <a:t>== &gt; </a:t>
            </a:r>
            <a:r>
              <a:rPr lang="zh-TW" altLang="en-US" sz="1350" dirty="0"/>
              <a:t>當資料遭 模糊化 時 </a:t>
            </a:r>
            <a:r>
              <a:rPr lang="en-US" altLang="zh-TW" sz="1350" dirty="0"/>
              <a:t>, PII </a:t>
            </a:r>
            <a:r>
              <a:rPr lang="zh-TW" altLang="en-US" sz="1350" dirty="0"/>
              <a:t>當事人可要求使用者無法看出資料是否 遭模糊化 </a:t>
            </a:r>
            <a:r>
              <a:rPr lang="en-US" altLang="zh-TW" sz="1350" dirty="0"/>
              <a:t>(</a:t>
            </a:r>
            <a:r>
              <a:rPr lang="zh-TW" altLang="en-US" sz="1350" dirty="0"/>
              <a:t>模糊化 之 模糊化 。 例 </a:t>
            </a:r>
            <a:r>
              <a:rPr lang="en-US" altLang="zh-TW" sz="1350" dirty="0"/>
              <a:t>: </a:t>
            </a:r>
            <a:r>
              <a:rPr lang="zh-TW" altLang="en-US" sz="1350" dirty="0"/>
              <a:t>此用於醫療機構</a:t>
            </a:r>
            <a:r>
              <a:rPr lang="en-US" altLang="zh-TW" sz="1350" dirty="0"/>
              <a:t>, </a:t>
            </a:r>
            <a:r>
              <a:rPr lang="zh-TW" altLang="en-US" sz="1350" dirty="0"/>
              <a:t>已先將患者不希望他人看到 之 諸如懷孕或血液檢查結果等 敏感性資訊 </a:t>
            </a:r>
            <a:r>
              <a:rPr lang="en-US" altLang="zh-TW" sz="1350" dirty="0"/>
              <a:t>)</a:t>
            </a:r>
            <a:r>
              <a:rPr lang="zh-TW" altLang="en-US" sz="1350" dirty="0"/>
              <a:t>模糊化 。</a:t>
            </a:r>
          </a:p>
          <a:p>
            <a:r>
              <a:rPr lang="en-US" altLang="zh-TW" sz="1350" dirty="0"/>
              <a:t>4.</a:t>
            </a:r>
            <a:r>
              <a:rPr lang="zh-TW" altLang="en-US" sz="1350" b="1" dirty="0">
                <a:effectLst>
                  <a:outerShdw blurRad="38100" dist="38100" dir="2700000" algn="tl">
                    <a:srgbClr val="000000">
                      <a:alpha val="43137"/>
                    </a:srgbClr>
                  </a:outerShdw>
                </a:effectLst>
              </a:rPr>
              <a:t>法律或法規 </a:t>
            </a:r>
            <a:r>
              <a:rPr lang="zh-TW" altLang="en-US" sz="1350" dirty="0"/>
              <a:t>之所有 要 求 </a:t>
            </a:r>
            <a:r>
              <a:rPr lang="en-US" altLang="zh-TW" sz="1350" dirty="0"/>
              <a:t>(</a:t>
            </a:r>
            <a:r>
              <a:rPr lang="zh-TW" altLang="en-US" sz="1350" dirty="0"/>
              <a:t>例 </a:t>
            </a:r>
            <a:r>
              <a:rPr lang="en-US" altLang="zh-TW" sz="1350" dirty="0"/>
              <a:t>: </a:t>
            </a:r>
            <a:r>
              <a:rPr lang="zh-TW" altLang="en-US" sz="1350" dirty="0"/>
              <a:t>於 處 理 期 間 或 儲 存 時 </a:t>
            </a:r>
            <a:r>
              <a:rPr lang="en-US" altLang="zh-TW" sz="1350" dirty="0"/>
              <a:t>, </a:t>
            </a:r>
            <a:r>
              <a:rPr lang="zh-TW" altLang="en-US" sz="1350" dirty="0"/>
              <a:t>要 求 遮 蔽 支付卡 資 訊 </a:t>
            </a:r>
            <a:r>
              <a:rPr lang="en-US" altLang="zh-TW" sz="1350" dirty="0"/>
              <a:t>)</a:t>
            </a:r>
            <a:r>
              <a:rPr lang="zh-TW" altLang="en-US" sz="1350" dirty="0"/>
              <a:t>。</a:t>
            </a:r>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37</a:t>
            </a:fld>
            <a:endParaRPr lang="zh-TW" altLang="en-US" dirty="0"/>
          </a:p>
        </p:txBody>
      </p:sp>
    </p:spTree>
    <p:extLst>
      <p:ext uri="{BB962C8B-B14F-4D97-AF65-F5344CB8AC3E}">
        <p14:creationId xmlns:p14="http://schemas.microsoft.com/office/powerpoint/2010/main" val="41044199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8961" y="661379"/>
            <a:ext cx="8752652" cy="526276"/>
          </a:xfrm>
        </p:spPr>
        <p:txBody>
          <a:bodyPr>
            <a:normAutofit/>
          </a:bodyPr>
          <a:lstStyle/>
          <a:p>
            <a:r>
              <a:rPr lang="zh-TW" altLang="en-US" sz="2400" dirty="0" smtClean="0">
                <a:effectLst>
                  <a:outerShdw blurRad="38100" dist="38100" dir="2700000" algn="tl">
                    <a:srgbClr val="000000">
                      <a:alpha val="43137"/>
                    </a:srgbClr>
                  </a:outerShdw>
                </a:effectLst>
              </a:rPr>
              <a:t>範例</a:t>
            </a:r>
            <a:r>
              <a:rPr lang="en-US" altLang="zh-TW" sz="2400" dirty="0" smtClean="0">
                <a:effectLst>
                  <a:outerShdw blurRad="38100" dist="38100" dir="2700000" algn="tl">
                    <a:srgbClr val="000000">
                      <a:alpha val="43137"/>
                    </a:srgbClr>
                  </a:outerShdw>
                </a:effectLst>
              </a:rPr>
              <a:t>3: 8.13</a:t>
            </a:r>
            <a:r>
              <a:rPr lang="zh-TW" altLang="en-US" sz="2400" dirty="0">
                <a:effectLst>
                  <a:outerShdw blurRad="38100" dist="38100" dir="2700000" algn="tl">
                    <a:srgbClr val="000000">
                      <a:alpha val="43137"/>
                    </a:srgbClr>
                  </a:outerShdw>
                </a:effectLst>
              </a:rPr>
              <a:t>系統資料備份</a:t>
            </a:r>
            <a:r>
              <a:rPr lang="en-US" altLang="zh-TW" sz="2400" dirty="0">
                <a:effectLst>
                  <a:outerShdw blurRad="38100" dist="38100" dir="2700000" algn="tl">
                    <a:srgbClr val="000000">
                      <a:alpha val="43137"/>
                    </a:srgbClr>
                  </a:outerShdw>
                </a:effectLst>
              </a:rPr>
              <a:t>(Information backup</a:t>
            </a:r>
            <a:r>
              <a:rPr lang="en-US" altLang="zh-TW" sz="2400" dirty="0" smtClean="0">
                <a:effectLst>
                  <a:outerShdw blurRad="38100" dist="38100" dir="2700000" algn="tl">
                    <a:srgbClr val="000000">
                      <a:alpha val="43137"/>
                    </a:srgbClr>
                  </a:outerShdw>
                </a:effectLst>
              </a:rPr>
              <a:t>)</a:t>
            </a:r>
            <a:endParaRPr lang="zh-TW" altLang="en-US" sz="2400" dirty="0">
              <a:effectLst>
                <a:outerShdw blurRad="38100" dist="38100" dir="2700000" algn="tl">
                  <a:srgbClr val="000000">
                    <a:alpha val="43137"/>
                  </a:srgb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2752720280"/>
              </p:ext>
            </p:extLst>
          </p:nvPr>
        </p:nvGraphicFramePr>
        <p:xfrm>
          <a:off x="218961" y="1264259"/>
          <a:ext cx="8576311" cy="1051560"/>
        </p:xfrm>
        <a:graphic>
          <a:graphicData uri="http://schemas.openxmlformats.org/drawingml/2006/table">
            <a:tbl>
              <a:tblPr firstRow="1" bandRow="1">
                <a:tableStyleId>{5C22544A-7EE6-4342-B048-85BDC9FD1C3A}</a:tableStyleId>
              </a:tblPr>
              <a:tblGrid>
                <a:gridCol w="1538090">
                  <a:extLst>
                    <a:ext uri="{9D8B030D-6E8A-4147-A177-3AD203B41FA5}">
                      <a16:colId xmlns:a16="http://schemas.microsoft.com/office/drawing/2014/main" val="1358160590"/>
                    </a:ext>
                  </a:extLst>
                </a:gridCol>
                <a:gridCol w="1892435">
                  <a:extLst>
                    <a:ext uri="{9D8B030D-6E8A-4147-A177-3AD203B41FA5}">
                      <a16:colId xmlns:a16="http://schemas.microsoft.com/office/drawing/2014/main" val="3820532718"/>
                    </a:ext>
                  </a:extLst>
                </a:gridCol>
                <a:gridCol w="1355077">
                  <a:extLst>
                    <a:ext uri="{9D8B030D-6E8A-4147-A177-3AD203B41FA5}">
                      <a16:colId xmlns:a16="http://schemas.microsoft.com/office/drawing/2014/main" val="3937520155"/>
                    </a:ext>
                  </a:extLst>
                </a:gridCol>
                <a:gridCol w="2075447">
                  <a:extLst>
                    <a:ext uri="{9D8B030D-6E8A-4147-A177-3AD203B41FA5}">
                      <a16:colId xmlns:a16="http://schemas.microsoft.com/office/drawing/2014/main" val="1713932711"/>
                    </a:ext>
                  </a:extLst>
                </a:gridCol>
                <a:gridCol w="1715262">
                  <a:extLst>
                    <a:ext uri="{9D8B030D-6E8A-4147-A177-3AD203B41FA5}">
                      <a16:colId xmlns:a16="http://schemas.microsoft.com/office/drawing/2014/main" val="4259325423"/>
                    </a:ext>
                  </a:extLst>
                </a:gridCol>
              </a:tblGrid>
              <a:tr h="7543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控制措施類型</a:t>
                      </a: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Control type</a:t>
                      </a:r>
                      <a:endParaRPr lang="zh-TW" altLang="en-US" sz="1400" dirty="0">
                        <a:solidFill>
                          <a:schemeClr val="tx1"/>
                        </a:solidFill>
                        <a:effectLst>
                          <a:outerShdw blurRad="38100" dist="38100" dir="2700000" algn="tl">
                            <a:srgbClr val="000000">
                              <a:alpha val="43137"/>
                            </a:srgbClr>
                          </a:outerShdw>
                        </a:effectLst>
                      </a:endParaRPr>
                    </a:p>
                    <a:p>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effectLst>
                            <a:outerShdw blurRad="38100" dist="38100" dir="2700000" algn="tl">
                              <a:srgbClr val="000000">
                                <a:alpha val="43137"/>
                              </a:srgbClr>
                            </a:outerShdw>
                          </a:effectLst>
                        </a:rPr>
                        <a:t>資訊安全性質</a:t>
                      </a:r>
                    </a:p>
                    <a:p>
                      <a:r>
                        <a:rPr lang="en-US" altLang="zh-TW" sz="1400" b="1" dirty="0">
                          <a:solidFill>
                            <a:schemeClr val="tx1"/>
                          </a:solidFill>
                          <a:effectLst>
                            <a:outerShdw blurRad="38100" dist="38100" dir="2700000" algn="tl">
                              <a:srgbClr val="000000">
                                <a:alpha val="43137"/>
                              </a:srgbClr>
                            </a:outerShdw>
                          </a:effectLst>
                        </a:rPr>
                        <a:t>Information Security Properties </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網宇安全概念</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Cybersecurity Concepts</a:t>
                      </a:r>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運作能力</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Operational Capabilities</a:t>
                      </a:r>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effectLst>
                            <a:outerShdw blurRad="38100" dist="38100" dir="2700000" algn="tl">
                              <a:srgbClr val="000000">
                                <a:alpha val="43137"/>
                              </a:srgbClr>
                            </a:outerShdw>
                          </a:effectLst>
                        </a:rPr>
                        <a:t>安全領域</a:t>
                      </a:r>
                      <a:endParaRPr lang="en-US" altLang="zh-TW" sz="1400"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tx1"/>
                          </a:solidFill>
                          <a:effectLst>
                            <a:outerShdw blurRad="38100" dist="38100" dir="2700000" algn="tl">
                              <a:srgbClr val="000000">
                                <a:alpha val="43137"/>
                              </a:srgbClr>
                            </a:outerShdw>
                          </a:effectLst>
                          <a:latin typeface="+mn-lt"/>
                          <a:ea typeface="+mn-ea"/>
                          <a:cs typeface="+mn-cs"/>
                        </a:rPr>
                        <a:t>Security Domains</a:t>
                      </a:r>
                      <a:endParaRPr lang="zh-TW" altLang="en-US" sz="1400" dirty="0">
                        <a:solidFill>
                          <a:schemeClr val="tx1"/>
                        </a:solidFill>
                        <a:effectLst>
                          <a:outerShdw blurRad="38100" dist="38100" dir="2700000" algn="tl">
                            <a:srgbClr val="000000">
                              <a:alpha val="43137"/>
                            </a:srgbClr>
                          </a:outerShdw>
                        </a:effectLst>
                      </a:endParaRPr>
                    </a:p>
                    <a:p>
                      <a:endParaRPr lang="zh-TW" altLang="en-US" sz="1400"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563078"/>
                  </a:ext>
                </a:extLst>
              </a:tr>
              <a:tr h="278130">
                <a:tc>
                  <a:txBody>
                    <a:bodyPr/>
                    <a:lstStyle/>
                    <a:p>
                      <a:r>
                        <a:rPr lang="en-US" altLang="zh-TW" sz="1400" dirty="0">
                          <a:solidFill>
                            <a:schemeClr val="tx1"/>
                          </a:solidFill>
                        </a:rPr>
                        <a:t>Corrective</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solidFill>
                            <a:schemeClr val="tx1"/>
                          </a:solidFill>
                        </a:rPr>
                        <a:t>Integrity</a:t>
                      </a:r>
                      <a:r>
                        <a:rPr lang="en-US" altLang="zh-TW" sz="1400" baseline="0" dirty="0">
                          <a:solidFill>
                            <a:schemeClr val="tx1"/>
                          </a:solidFill>
                        </a:rPr>
                        <a:t> +  </a:t>
                      </a:r>
                      <a:r>
                        <a:rPr lang="en-US" altLang="zh-TW" sz="1400" dirty="0">
                          <a:solidFill>
                            <a:schemeClr val="tx1"/>
                          </a:solidFill>
                        </a:rPr>
                        <a:t>Availability</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b="1" dirty="0">
                          <a:solidFill>
                            <a:schemeClr val="tx1"/>
                          </a:solidFill>
                          <a:effectLst>
                            <a:outerShdw blurRad="38100" dist="38100" dir="2700000" algn="tl">
                              <a:srgbClr val="000000">
                                <a:alpha val="43137"/>
                              </a:srgbClr>
                            </a:outerShdw>
                          </a:effectLst>
                        </a:rPr>
                        <a:t>Recover</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solidFill>
                            <a:schemeClr val="tx1"/>
                          </a:solidFill>
                        </a:rPr>
                        <a:t>Continuity</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schemeClr val="tx1"/>
                          </a:solidFill>
                        </a:rPr>
                        <a:t>Protection</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4330969"/>
                  </a:ext>
                </a:extLst>
              </a:tr>
            </a:tbl>
          </a:graphicData>
        </a:graphic>
      </p:graphicFrame>
      <p:sp>
        <p:nvSpPr>
          <p:cNvPr id="6" name="矩形 5"/>
          <p:cNvSpPr/>
          <p:nvPr/>
        </p:nvSpPr>
        <p:spPr>
          <a:xfrm>
            <a:off x="2446020" y="4688065"/>
            <a:ext cx="4572000" cy="507831"/>
          </a:xfrm>
          <a:prstGeom prst="rect">
            <a:avLst/>
          </a:prstGeom>
        </p:spPr>
        <p:txBody>
          <a:bodyPr>
            <a:spAutoFit/>
          </a:bodyPr>
          <a:lstStyle/>
          <a:p>
            <a:r>
              <a:rPr lang="zh-TW" altLang="en-US" sz="1350" dirty="0"/>
              <a:t>。</a:t>
            </a:r>
          </a:p>
          <a:p>
            <a:r>
              <a:rPr lang="zh-TW" altLang="en-US" sz="1350" dirty="0"/>
              <a:t>。</a:t>
            </a:r>
          </a:p>
        </p:txBody>
      </p:sp>
      <p:graphicFrame>
        <p:nvGraphicFramePr>
          <p:cNvPr id="7" name="表格 6"/>
          <p:cNvGraphicFramePr>
            <a:graphicFrameLocks noGrp="1"/>
          </p:cNvGraphicFramePr>
          <p:nvPr>
            <p:extLst>
              <p:ext uri="{D42A27DB-BD31-4B8C-83A1-F6EECF244321}">
                <p14:modId xmlns:p14="http://schemas.microsoft.com/office/powerpoint/2010/main" val="1765260936"/>
              </p:ext>
            </p:extLst>
          </p:nvPr>
        </p:nvGraphicFramePr>
        <p:xfrm>
          <a:off x="119062" y="2496553"/>
          <a:ext cx="8884824" cy="4000500"/>
        </p:xfrm>
        <a:graphic>
          <a:graphicData uri="http://schemas.openxmlformats.org/drawingml/2006/table">
            <a:tbl>
              <a:tblPr firstRow="1" bandRow="1">
                <a:tableStyleId>{5C22544A-7EE6-4342-B048-85BDC9FD1C3A}</a:tableStyleId>
              </a:tblPr>
              <a:tblGrid>
                <a:gridCol w="1189804">
                  <a:extLst>
                    <a:ext uri="{9D8B030D-6E8A-4147-A177-3AD203B41FA5}">
                      <a16:colId xmlns:a16="http://schemas.microsoft.com/office/drawing/2014/main" val="3005758008"/>
                    </a:ext>
                  </a:extLst>
                </a:gridCol>
                <a:gridCol w="7695020">
                  <a:extLst>
                    <a:ext uri="{9D8B030D-6E8A-4147-A177-3AD203B41FA5}">
                      <a16:colId xmlns:a16="http://schemas.microsoft.com/office/drawing/2014/main" val="1103678614"/>
                    </a:ext>
                  </a:extLst>
                </a:gridCol>
              </a:tblGrid>
              <a:tr h="160020">
                <a:tc gridSpan="2">
                  <a:txBody>
                    <a:bodyPr/>
                    <a:lstStyle/>
                    <a:p>
                      <a:endParaRPr lang="zh-TW" altLang="en-US" sz="600" dirty="0"/>
                    </a:p>
                  </a:txBody>
                  <a:tcPr marL="68580" marR="68580" marT="34290" marB="34290">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040331893"/>
                  </a:ext>
                </a:extLst>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控制措施</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latin typeface="+mn-lt"/>
                          <a:ea typeface="+mn-ea"/>
                          <a:cs typeface="+mn-cs"/>
                        </a:rPr>
                        <a:t>Control</a:t>
                      </a:r>
                      <a:endParaRPr lang="zh-TW" altLang="en-US"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t>宜依議定之關於</a:t>
                      </a:r>
                      <a:r>
                        <a:rPr lang="zh-TW" altLang="en-US" sz="1800" b="1" dirty="0">
                          <a:solidFill>
                            <a:srgbClr val="FF0000"/>
                          </a:solidFill>
                          <a:effectLst>
                            <a:outerShdw blurRad="38100" dist="38100" dir="2700000" algn="tl">
                              <a:srgbClr val="000000">
                                <a:alpha val="43137"/>
                              </a:srgbClr>
                            </a:outerShdw>
                          </a:effectLst>
                        </a:rPr>
                        <a:t>備份</a:t>
                      </a:r>
                      <a:r>
                        <a:rPr lang="zh-TW" altLang="en-US" sz="1800" b="1" dirty="0"/>
                        <a:t>的主題特定政策</a:t>
                      </a:r>
                      <a:r>
                        <a:rPr lang="en-US" altLang="zh-TW" sz="1800" b="1" dirty="0"/>
                        <a:t>,</a:t>
                      </a:r>
                      <a:r>
                        <a:rPr lang="zh-TW" altLang="en-US" sz="1800" b="1" dirty="0"/>
                        <a:t>維護資訊、軟體及系統之 備份複本</a:t>
                      </a:r>
                      <a:r>
                        <a:rPr lang="en-US" altLang="zh-TW" sz="1800" b="1" dirty="0"/>
                        <a:t>,</a:t>
                      </a:r>
                      <a:r>
                        <a:rPr lang="zh-TW" altLang="en-US" sz="1800" b="1" dirty="0"/>
                        <a:t>並定期測試之。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455856"/>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目的</a:t>
                      </a:r>
                      <a:r>
                        <a:rPr lang="en-US" altLang="zh-TW" sz="1400" b="1" i="0" kern="1200" dirty="0">
                          <a:solidFill>
                            <a:schemeClr val="dk1"/>
                          </a:solidFill>
                          <a:effectLst/>
                          <a:latin typeface="+mn-lt"/>
                          <a:ea typeface="+mn-ea"/>
                          <a:cs typeface="+mn-cs"/>
                        </a:rPr>
                        <a:t>Purpose</a:t>
                      </a:r>
                      <a:endParaRPr lang="zh-TW" altLang="en-US"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800" b="1" dirty="0"/>
                        <a:t>能由資料遺失或系統受損中復原</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6706782"/>
                  </a:ext>
                </a:extLst>
              </a:tr>
              <a:tr h="8915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指引</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tx1"/>
                          </a:solidFill>
                          <a:effectLst>
                            <a:outerShdw blurRad="38100" dist="38100" dir="2700000" algn="tl">
                              <a:srgbClr val="000000">
                                <a:alpha val="43137"/>
                              </a:srgbClr>
                            </a:outerShdw>
                          </a:effectLst>
                        </a:rPr>
                        <a:t>Guidance</a:t>
                      </a:r>
                      <a:endParaRPr lang="zh-TW" altLang="en-US" sz="1400" b="1" dirty="0">
                        <a:solidFill>
                          <a:schemeClr val="tx1"/>
                        </a:solidFill>
                        <a:effectLst>
                          <a:outerShdw blurRad="38100" dist="38100" dir="2700000" algn="tl">
                            <a:srgbClr val="000000">
                              <a:alpha val="43137"/>
                            </a:srgbClr>
                          </a:outerShdw>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n"/>
                      </a:pPr>
                      <a:r>
                        <a:rPr lang="zh-TW" altLang="en-US" sz="1800" b="1" dirty="0"/>
                        <a:t>宜建立關於</a:t>
                      </a:r>
                      <a:r>
                        <a:rPr lang="zh-TW" altLang="en-US" sz="1800" b="1" dirty="0">
                          <a:solidFill>
                            <a:srgbClr val="FF0000"/>
                          </a:solidFill>
                          <a:effectLst>
                            <a:outerShdw blurRad="38100" dist="38100" dir="2700000" algn="tl">
                              <a:srgbClr val="000000">
                                <a:alpha val="43137"/>
                              </a:srgbClr>
                            </a:outerShdw>
                          </a:effectLst>
                        </a:rPr>
                        <a:t>備份</a:t>
                      </a:r>
                      <a:r>
                        <a:rPr lang="zh-TW" altLang="en-US" sz="1800" b="1" dirty="0"/>
                        <a:t>之主題特定政策 </a:t>
                      </a:r>
                      <a:r>
                        <a:rPr lang="en-US" altLang="zh-TW" sz="1800" b="1" dirty="0"/>
                        <a:t>, </a:t>
                      </a:r>
                      <a:r>
                        <a:rPr lang="zh-TW" altLang="en-US" sz="1800" b="1" dirty="0"/>
                        <a:t>以因應組織之資料留存及資訊安全要求事項 。</a:t>
                      </a:r>
                    </a:p>
                    <a:p>
                      <a:pPr marL="285750" indent="-285750">
                        <a:buFont typeface="Wingdings" panose="05000000000000000000" pitchFamily="2" charset="2"/>
                        <a:buChar char="n"/>
                      </a:pPr>
                      <a:r>
                        <a:rPr lang="zh-TW" altLang="en-US" sz="1800" b="1" dirty="0"/>
                        <a:t>宜提供足夠之</a:t>
                      </a:r>
                      <a:r>
                        <a:rPr lang="zh-TW" altLang="en-US" sz="1800" b="1" dirty="0">
                          <a:solidFill>
                            <a:srgbClr val="FF0000"/>
                          </a:solidFill>
                          <a:effectLst>
                            <a:outerShdw blurRad="38100" dist="38100" dir="2700000" algn="tl">
                              <a:srgbClr val="000000">
                                <a:alpha val="43137"/>
                              </a:srgbClr>
                            </a:outerShdw>
                          </a:effectLst>
                        </a:rPr>
                        <a:t>備份設施</a:t>
                      </a:r>
                      <a:r>
                        <a:rPr lang="en-US" altLang="zh-TW" sz="1800" b="1" dirty="0"/>
                        <a:t>,</a:t>
                      </a:r>
                      <a:r>
                        <a:rPr lang="zh-TW" altLang="en-US" sz="1800" b="1" dirty="0"/>
                        <a:t>確保所有不可或缺之資訊及軟體於事故後或儲存媒體失效或遺失後可復原 。</a:t>
                      </a:r>
                    </a:p>
                    <a:p>
                      <a:pPr marL="285750" indent="-285750">
                        <a:buFont typeface="Wingdings" panose="05000000000000000000" pitchFamily="2" charset="2"/>
                        <a:buChar char="n"/>
                      </a:pPr>
                      <a:r>
                        <a:rPr lang="zh-TW" altLang="en-US" sz="1800" b="1" dirty="0"/>
                        <a:t>宜制定並實作組織</a:t>
                      </a:r>
                      <a:r>
                        <a:rPr lang="zh-TW" altLang="en-US" sz="1800" b="1" dirty="0">
                          <a:solidFill>
                            <a:srgbClr val="FF0000"/>
                          </a:solidFill>
                          <a:effectLst>
                            <a:outerShdw blurRad="38100" dist="38100" dir="2700000" algn="tl">
                              <a:srgbClr val="000000">
                                <a:alpha val="43137"/>
                              </a:srgbClr>
                            </a:outerShdw>
                          </a:effectLst>
                        </a:rPr>
                        <a:t>如何備份</a:t>
                      </a:r>
                      <a:r>
                        <a:rPr lang="zh-TW" altLang="en-US" sz="1800" b="1" dirty="0"/>
                        <a:t>資訊、軟體及系統之計畫</a:t>
                      </a:r>
                      <a:r>
                        <a:rPr lang="en-US" altLang="zh-TW" sz="1800" b="1" dirty="0"/>
                        <a:t>,</a:t>
                      </a:r>
                      <a:r>
                        <a:rPr lang="zh-TW" altLang="en-US" sz="1800" b="1" dirty="0"/>
                        <a:t>以因 應備份主題特定政策。</a:t>
                      </a:r>
                      <a:endParaRPr lang="en-US" altLang="zh-TW" sz="1800" b="1" dirty="0"/>
                    </a:p>
                    <a:p>
                      <a:pPr marL="285750" indent="-285750">
                        <a:buFont typeface="Wingdings" panose="05000000000000000000" pitchFamily="2" charset="2"/>
                        <a:buChar char="n"/>
                      </a:pPr>
                      <a:r>
                        <a:rPr lang="zh-TW" altLang="en-US" sz="1800" b="1" dirty="0"/>
                        <a:t>設計備份計畫考量要點</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342626"/>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b="1" dirty="0"/>
                        <a:t>其他資訊</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i="0" kern="1200" dirty="0">
                          <a:solidFill>
                            <a:schemeClr val="dk1"/>
                          </a:solidFill>
                          <a:effectLst/>
                          <a:latin typeface="+mn-lt"/>
                          <a:ea typeface="+mn-ea"/>
                          <a:cs typeface="+mn-cs"/>
                        </a:rPr>
                        <a:t>Other information</a:t>
                      </a:r>
                      <a:endParaRPr lang="zh-TW" altLang="en-US"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Wingdings" panose="05000000000000000000" pitchFamily="2" charset="2"/>
                        <a:buNone/>
                      </a:pPr>
                      <a:r>
                        <a:rPr lang="zh-TW" altLang="en-US" sz="1800" b="1" dirty="0"/>
                        <a:t>關於儲存安全性 </a:t>
                      </a:r>
                      <a:r>
                        <a:rPr lang="en-US" altLang="zh-TW" sz="1800" b="1" dirty="0"/>
                        <a:t>(</a:t>
                      </a:r>
                      <a:r>
                        <a:rPr lang="zh-TW" altLang="en-US" sz="1800" b="1" dirty="0"/>
                        <a:t>包括留存考量 </a:t>
                      </a:r>
                      <a:r>
                        <a:rPr lang="en-US" altLang="zh-TW" sz="1800" b="1" dirty="0"/>
                        <a:t>)</a:t>
                      </a:r>
                      <a:r>
                        <a:rPr lang="zh-TW" altLang="en-US" sz="1800" b="1" dirty="0"/>
                        <a:t>之進一步資訊 </a:t>
                      </a:r>
                      <a:r>
                        <a:rPr lang="en-US" altLang="zh-TW" sz="1800" b="1" dirty="0"/>
                        <a:t>, </a:t>
                      </a:r>
                      <a:r>
                        <a:rPr lang="zh-TW" altLang="en-US" sz="1800" b="1" dirty="0"/>
                        <a:t>參 照 </a:t>
                      </a:r>
                      <a:r>
                        <a:rPr lang="en-US" altLang="zh-TW" sz="1800" b="1" dirty="0"/>
                        <a:t>ISO/IEC 27040</a:t>
                      </a:r>
                      <a:r>
                        <a:rPr lang="zh-TW" altLang="en-US" sz="1800" b="1" dirty="0"/>
                        <a:t>。</a:t>
                      </a:r>
                      <a:endParaRPr lang="en-US" altLang="zh-TW" sz="1800" b="1" dirty="0"/>
                    </a:p>
                    <a:p>
                      <a:pPr marL="0" indent="0">
                        <a:buFont typeface="Wingdings" panose="05000000000000000000" pitchFamily="2" charset="2"/>
                        <a:buNone/>
                      </a:pPr>
                      <a:r>
                        <a:rPr lang="en-US" altLang="zh-TW" sz="1800" b="1" dirty="0"/>
                        <a:t>ISO/IEC 27040:2015</a:t>
                      </a:r>
                    </a:p>
                    <a:p>
                      <a:pPr marL="0" indent="0">
                        <a:buFont typeface="Wingdings" panose="05000000000000000000" pitchFamily="2" charset="2"/>
                        <a:buNone/>
                      </a:pPr>
                      <a:r>
                        <a:rPr lang="en-US" altLang="zh-TW" sz="1800" b="1" dirty="0"/>
                        <a:t>Information technology — Security techniques — Storage security</a:t>
                      </a:r>
                      <a:endParaRPr lang="zh-TW"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728274"/>
                  </a:ext>
                </a:extLst>
              </a:tr>
            </a:tbl>
          </a:graphicData>
        </a:graphic>
      </p:graphicFrame>
      <p:sp>
        <p:nvSpPr>
          <p:cNvPr id="8" name="矩形 7"/>
          <p:cNvSpPr/>
          <p:nvPr/>
        </p:nvSpPr>
        <p:spPr>
          <a:xfrm>
            <a:off x="119062" y="0"/>
            <a:ext cx="6494085" cy="584775"/>
          </a:xfrm>
          <a:prstGeom prst="rect">
            <a:avLst/>
          </a:prstGeom>
        </p:spPr>
        <p:txBody>
          <a:bodyPr wrap="none">
            <a:spAutoFit/>
          </a:bodyPr>
          <a:lstStyle/>
          <a:p>
            <a:r>
              <a:rPr lang="en-US" altLang="zh-TW" sz="3200" dirty="0"/>
              <a:t>1.3.</a:t>
            </a:r>
            <a:r>
              <a:rPr lang="zh-TW" altLang="en-US" sz="3200" dirty="0"/>
              <a:t>安全控制措施 與 </a:t>
            </a:r>
            <a:r>
              <a:rPr lang="en-US" altLang="zh-TW" sz="3200" dirty="0"/>
              <a:t>CNS/ISO 27002 </a:t>
            </a:r>
            <a:endParaRPr lang="zh-TW" altLang="en-US" sz="3200" dirty="0"/>
          </a:p>
        </p:txBody>
      </p:sp>
      <p:sp>
        <p:nvSpPr>
          <p:cNvPr id="3" name="投影片編號版面配置區 2"/>
          <p:cNvSpPr>
            <a:spLocks noGrp="1"/>
          </p:cNvSpPr>
          <p:nvPr>
            <p:ph type="sldNum" sz="quarter" idx="12"/>
          </p:nvPr>
        </p:nvSpPr>
        <p:spPr/>
        <p:txBody>
          <a:bodyPr/>
          <a:lstStyle/>
          <a:p>
            <a:r>
              <a:rPr lang="zh-TW" altLang="en-US" smtClean="0"/>
              <a:t>資訊安全規劃實務</a:t>
            </a:r>
            <a:r>
              <a:rPr lang="en-US" altLang="zh-TW" smtClean="0"/>
              <a:t>_</a:t>
            </a:r>
            <a:r>
              <a:rPr lang="zh-TW" altLang="en-US" smtClean="0"/>
              <a:t>單元</a:t>
            </a:r>
            <a:r>
              <a:rPr lang="en-US" altLang="zh-TW" smtClean="0"/>
              <a:t>1_</a:t>
            </a:r>
            <a:r>
              <a:rPr lang="zh-TW" altLang="en-US" smtClean="0"/>
              <a:t>資訊安全管理系統</a:t>
            </a:r>
            <a:r>
              <a:rPr lang="en-US" altLang="zh-TW" smtClean="0"/>
              <a:t>_ </a:t>
            </a:r>
            <a:fld id="{B6ED6842-2155-4AC2-A0D1-3136F8EBDE27}" type="slidenum">
              <a:rPr lang="zh-TW" altLang="en-US" smtClean="0"/>
              <a:t>38</a:t>
            </a:fld>
            <a:endParaRPr lang="zh-TW" altLang="en-US" dirty="0"/>
          </a:p>
        </p:txBody>
      </p:sp>
    </p:spTree>
    <p:extLst>
      <p:ext uri="{BB962C8B-B14F-4D97-AF65-F5344CB8AC3E}">
        <p14:creationId xmlns:p14="http://schemas.microsoft.com/office/powerpoint/2010/main" val="288988418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762</TotalTime>
  <Words>8770</Words>
  <Application>Microsoft Office PowerPoint</Application>
  <PresentationFormat>如螢幕大小 (4:3)</PresentationFormat>
  <Paragraphs>925</Paragraphs>
  <Slides>38</Slides>
  <Notes>0</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38</vt:i4>
      </vt:variant>
    </vt:vector>
  </HeadingPairs>
  <TitlesOfParts>
    <vt:vector size="50" baseType="lpstr">
      <vt:lpstr>Noto Sans TC</vt:lpstr>
      <vt:lpstr>Oswald Bold</vt:lpstr>
      <vt:lpstr>Poppins</vt:lpstr>
      <vt:lpstr>SimSun</vt:lpstr>
      <vt:lpstr>微軟正黑體</vt:lpstr>
      <vt:lpstr>新細明體</vt:lpstr>
      <vt:lpstr>標楷體</vt:lpstr>
      <vt:lpstr>Arial</vt:lpstr>
      <vt:lpstr>Calibri</vt:lpstr>
      <vt:lpstr>Calibri Light</vt:lpstr>
      <vt:lpstr>Wingdings</vt:lpstr>
      <vt:lpstr>Office 佈景主題</vt:lpstr>
      <vt:lpstr>PowerPoint 簡報</vt:lpstr>
      <vt:lpstr>1.1.資訊安全管理系統 ISMS Information security management systems</vt:lpstr>
      <vt:lpstr>ISO-27000系列標準</vt:lpstr>
      <vt:lpstr>ISO27000系列標準</vt:lpstr>
      <vt:lpstr>導入ISMS</vt:lpstr>
      <vt:lpstr>PowerPoint 簡報</vt:lpstr>
      <vt:lpstr>PowerPoint 簡報</vt:lpstr>
      <vt:lpstr>CNS/ISO 27001:2022文件架構</vt:lpstr>
      <vt:lpstr>ISO/IEC 27001:2013  14個關鍵領域</vt:lpstr>
      <vt:lpstr>導入ISMS的過程與程式:PDCA</vt:lpstr>
      <vt:lpstr>計畫(Plan)、執行(Do)、檢查(Check)及行動(Act)程式</vt:lpstr>
      <vt:lpstr>4. Context of the organization 組織背景</vt:lpstr>
      <vt:lpstr>5.Leadership領導力</vt:lpstr>
      <vt:lpstr>5.Leadership領導力</vt:lpstr>
      <vt:lpstr>PowerPoint 簡報</vt:lpstr>
      <vt:lpstr>10.Improvement改進</vt:lpstr>
      <vt:lpstr>Internal audit內部稽核(9.2)</vt:lpstr>
      <vt:lpstr>PowerPoint 簡報</vt:lpstr>
      <vt:lpstr>附錄 A 資訊安全控制項參考 Information security controls reference</vt:lpstr>
      <vt:lpstr>PowerPoint 簡報</vt:lpstr>
      <vt:lpstr>PowerPoint 簡報</vt:lpstr>
      <vt:lpstr>PowerPoint 簡報</vt:lpstr>
      <vt:lpstr>PowerPoint 簡報</vt:lpstr>
      <vt:lpstr>PowerPoint 簡報</vt:lpstr>
      <vt:lpstr>PowerPoint 簡報</vt:lpstr>
      <vt:lpstr>PowerPoint 簡報</vt:lpstr>
      <vt:lpstr>PowerPoint 簡報</vt:lpstr>
      <vt:lpstr>實體 A7 Physical controls(7.1-7.14)</vt:lpstr>
      <vt:lpstr>PowerPoint 簡報</vt:lpstr>
      <vt:lpstr>PowerPoint 簡報</vt:lpstr>
      <vt:lpstr>PowerPoint 簡報</vt:lpstr>
      <vt:lpstr>PowerPoint 簡報</vt:lpstr>
      <vt:lpstr>範例1: 5.1 資訊安全政策|Policies for information security</vt:lpstr>
      <vt:lpstr>PowerPoint 簡報</vt:lpstr>
      <vt:lpstr>PowerPoint 簡報</vt:lpstr>
      <vt:lpstr>範例2: 資料遮蔽 Data masking(8.11) </vt:lpstr>
      <vt:lpstr>PowerPoint 簡報</vt:lpstr>
      <vt:lpstr>範例3: 8.13系統資料備份(Information backup)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資訊安全規劃實務_單元1_資訊安全管理系統</dc:title>
  <dc:creator>user</dc:creator>
  <cp:lastModifiedBy>user</cp:lastModifiedBy>
  <cp:revision>27</cp:revision>
  <dcterms:created xsi:type="dcterms:W3CDTF">2023-12-04T17:46:55Z</dcterms:created>
  <dcterms:modified xsi:type="dcterms:W3CDTF">2026-03-04T00:51:25Z</dcterms:modified>
</cp:coreProperties>
</file>